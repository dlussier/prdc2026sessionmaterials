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98" r:id="rId4"/>
    <p:sldId id="299" r:id="rId5"/>
    <p:sldId id="258" r:id="rId6"/>
    <p:sldId id="259" r:id="rId7"/>
    <p:sldId id="261" r:id="rId8"/>
    <p:sldId id="260" r:id="rId9"/>
    <p:sldId id="262" r:id="rId10"/>
    <p:sldId id="264" r:id="rId11"/>
    <p:sldId id="265" r:id="rId12"/>
    <p:sldId id="266" r:id="rId13"/>
    <p:sldId id="267" r:id="rId14"/>
    <p:sldId id="268" r:id="rId15"/>
    <p:sldId id="291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96" r:id="rId26"/>
    <p:sldId id="297" r:id="rId27"/>
    <p:sldId id="281" r:id="rId28"/>
    <p:sldId id="282" r:id="rId29"/>
    <p:sldId id="295" r:id="rId30"/>
    <p:sldId id="283" r:id="rId31"/>
    <p:sldId id="284" r:id="rId32"/>
    <p:sldId id="285" r:id="rId33"/>
    <p:sldId id="286" r:id="rId34"/>
    <p:sldId id="287" r:id="rId35"/>
    <p:sldId id="292" r:id="rId36"/>
    <p:sldId id="288" r:id="rId37"/>
    <p:sldId id="290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689AA"/>
    <a:srgbClr val="BEB6B0"/>
    <a:srgbClr val="7ACDF6"/>
    <a:srgbClr val="D5CE84"/>
    <a:srgbClr val="4AC3B1"/>
    <a:srgbClr val="4181C7"/>
    <a:srgbClr val="F652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2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E103D-02F3-8663-6BDF-BB62CCCBD9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5B7A58-5857-CC45-D78D-8CE6CE1D91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BD8C01-6D7F-0DA3-754D-DC3CBA7E5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EE426-8AD5-4245-B0EB-EA1F1EE4AD9C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D0A29F-720F-B384-05CE-49F70C1B7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281762-C8C8-8E65-3A22-74389D031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82498-F3C3-47F0-8428-9109E4901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4913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727CD-392F-6510-C7AC-C67CE4644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281C1A-AB66-1990-FF18-4DBB8E1E6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6AAE7C-65FD-4747-CCE4-3F5794064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EE426-8AD5-4245-B0EB-EA1F1EE4AD9C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038E97-94CA-7045-BFFC-320FC953A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A4A311-B763-1EDB-5ADB-E9DE90803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82498-F3C3-47F0-8428-9109E4901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128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5ED78-F5A1-7D2B-B3ED-8A35E1426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35FE8-A2B9-75DF-3562-1BC2726247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3AE0B8-0BF4-4849-3D25-AD70BB16E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EE426-8AD5-4245-B0EB-EA1F1EE4AD9C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B68305-59F8-7D84-AD8F-C5F8AB25D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5E9CD7-34CC-A17D-FCA5-2721C069C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82498-F3C3-47F0-8428-9109E4901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429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DA3FE-C387-78C2-74BA-F2C338192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F631D3-1066-C6E6-3648-9B126A5A0A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26F6E9-D1BC-2FCB-94BE-DB0E831C75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808116-5079-0999-B9A8-F12385BB8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EE426-8AD5-4245-B0EB-EA1F1EE4AD9C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576286-7796-0246-0E52-97FDE6D89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D58FE0-C6B7-AD84-B077-B44711C3E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82498-F3C3-47F0-8428-9109E4901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6630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AA9BD-5389-75FF-B0B7-6310D9FEC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C43BC5-AFFA-5BDF-6DD7-4FC688AC4A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64AA98-E01C-79E2-FA2E-BAB47AEA4A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C38C6B-A52A-0D0E-55F8-6D30563725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8B8EE2-7B00-0F6C-4C27-A036C2A16A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EB3B34-363A-A58E-446E-E6EA07287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EE426-8AD5-4245-B0EB-EA1F1EE4AD9C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0A1E4F-1472-F213-99C1-01245BC9B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8D19CC-0443-DF7A-920C-2B16E22E8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82498-F3C3-47F0-8428-9109E4901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618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9E5FC-55FB-A767-2E7E-623F6725B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2A5510-2749-BFC5-1C03-38B9797E3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EE426-8AD5-4245-B0EB-EA1F1EE4AD9C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4F3FA8-89F5-4FFC-7AA6-3B5743BEA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FB2B6F-4592-FBC7-B4EB-84CEAE88F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82498-F3C3-47F0-8428-9109E4901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155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B15955-22EC-2323-F3AA-A6771DAFD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EE426-8AD5-4245-B0EB-EA1F1EE4AD9C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74FBA0-1C52-0A56-9EFF-1DF1B7A93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452864-B8EE-B893-5276-D16A7E703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82498-F3C3-47F0-8428-9109E4901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8713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CB556-8857-E3C6-8340-80901AE9C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3C2BFC-6486-F7E3-4FE8-13E397BF0D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C28C68-F4C3-AC35-5194-4609ABB839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7634F4-1469-61D8-5127-0ECF99980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EE426-8AD5-4245-B0EB-EA1F1EE4AD9C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C0A545-B93B-EE11-4BFC-BEB9E7929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8EE8E2-2853-0332-ACA6-7D5105D3E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82498-F3C3-47F0-8428-9109E4901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365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BFF83-AB35-3E39-E794-26FEC2A5D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BE34D1-8281-93BE-8305-BEF332DEF5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9CE098-F7DC-7A45-17F1-537A76D9EB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17B482-19DE-4153-A8E9-E51B673C4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EE426-8AD5-4245-B0EB-EA1F1EE4AD9C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9E59C5-E09C-8720-9F4D-5B12C7870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F1D849-0FAB-5BB4-DCDA-1F49DDD00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82498-F3C3-47F0-8428-9109E4901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74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076F2-F9AC-10EC-8900-D1FD5E849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A510AC-AD15-EA8A-7329-30B7CAC3AE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4D3C68-59E7-197E-A08C-FC0FAF927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EE426-8AD5-4245-B0EB-EA1F1EE4AD9C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9F6DDB-48DC-39F4-005B-528A4795B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80BF7A-727A-60E3-63AE-083F9E259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82498-F3C3-47F0-8428-9109E4901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7341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877BCE-7EE2-88BC-A63F-277798E22C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3EE77E-F578-7B2E-1B82-C2495EEB3F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1F1B1A-678F-BC55-CA42-8D35F7B8E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EE426-8AD5-4245-B0EB-EA1F1EE4AD9C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E27049-D7D0-4041-D92C-35455BEB9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1B0960-0EB5-DF14-6C09-96419B166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82498-F3C3-47F0-8428-9109E4901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9201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E6859E-D845-6875-99F4-4E6322895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500AE6-48CB-8F35-0ED0-E6EF247AF3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7DE19A-2C47-AD36-13F8-56C3CDFF2B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AEE426-8AD5-4245-B0EB-EA1F1EE4AD9C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CE5DE4-46D4-F9F8-7FF6-40DD6347CD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F2B8CD-CFB3-DF5C-755D-3E8E10D745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F82498-F3C3-47F0-8428-9109E4901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836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jpe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27.jpeg"/><Relationship Id="rId9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25.png"/><Relationship Id="rId7" Type="http://schemas.openxmlformats.org/officeDocument/2006/relationships/image" Target="../media/image39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jpeg"/><Relationship Id="rId5" Type="http://schemas.openxmlformats.org/officeDocument/2006/relationships/image" Target="../media/image37.png"/><Relationship Id="rId10" Type="http://schemas.openxmlformats.org/officeDocument/2006/relationships/image" Target="../media/image42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2.jpeg"/><Relationship Id="rId4" Type="http://schemas.openxmlformats.org/officeDocument/2006/relationships/image" Target="../media/image51.jpe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e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jpeg"/><Relationship Id="rId5" Type="http://schemas.openxmlformats.org/officeDocument/2006/relationships/image" Target="../media/image47.png"/><Relationship Id="rId4" Type="http://schemas.openxmlformats.org/officeDocument/2006/relationships/image" Target="../media/image59.jpe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Lines and dots connected representing a network">
            <a:extLst>
              <a:ext uri="{FF2B5EF4-FFF2-40B4-BE49-F238E27FC236}">
                <a16:creationId xmlns:a16="http://schemas.microsoft.com/office/drawing/2014/main" id="{FC9AA322-0A81-95FE-C08D-EFD602374D9C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alphaModFix amt="20000"/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2" y="0"/>
            <a:ext cx="12191356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969142F-3916-C703-48B4-E040B8567D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250" y="1462087"/>
            <a:ext cx="10477500" cy="1300163"/>
          </a:xfrm>
        </p:spPr>
        <p:txBody>
          <a:bodyPr>
            <a:noAutofit/>
          </a:bodyPr>
          <a:lstStyle/>
          <a:p>
            <a:r>
              <a:rPr lang="en-US" sz="8000" dirty="0">
                <a:solidFill>
                  <a:schemeClr val="tx2"/>
                </a:solidFill>
              </a:rPr>
              <a:t>Embrace the Analogical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0235EC-1368-3DFD-C9BC-0055108E18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95750"/>
            <a:ext cx="9144000" cy="1162050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accent1"/>
                </a:solidFill>
              </a:rPr>
              <a:t>The value of understanding analogical reasoning </a:t>
            </a:r>
          </a:p>
          <a:p>
            <a:r>
              <a:rPr lang="en-US" sz="3200" dirty="0">
                <a:solidFill>
                  <a:schemeClr val="accent1"/>
                </a:solidFill>
              </a:rPr>
              <a:t>and the metaphors we code by</a:t>
            </a:r>
          </a:p>
        </p:txBody>
      </p:sp>
    </p:spTree>
    <p:extLst>
      <p:ext uri="{BB962C8B-B14F-4D97-AF65-F5344CB8AC3E}">
        <p14:creationId xmlns:p14="http://schemas.microsoft.com/office/powerpoint/2010/main" val="18998285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7ABCA-3DB9-07E0-BD76-2315AC7AB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Is a Hotdog a Sandwich?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39E2AA-2DEE-A77C-7C80-FAC9D2EC2E5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66825" y="2039874"/>
            <a:ext cx="3821430" cy="382143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CB52B8B-C00C-9460-442D-4539394C6B5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03747" y="2486827"/>
            <a:ext cx="4389143" cy="29275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DDD2E42-D148-617B-96BA-676F2472F64D}"/>
              </a:ext>
            </a:extLst>
          </p:cNvPr>
          <p:cNvSpPr txBox="1"/>
          <p:nvPr/>
        </p:nvSpPr>
        <p:spPr>
          <a:xfrm>
            <a:off x="5352848" y="2486827"/>
            <a:ext cx="1486304" cy="3016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000" dirty="0"/>
              <a:t>=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3877FE-89A0-4118-271C-921BEF0B7426}"/>
              </a:ext>
            </a:extLst>
          </p:cNvPr>
          <p:cNvSpPr txBox="1"/>
          <p:nvPr/>
        </p:nvSpPr>
        <p:spPr>
          <a:xfrm>
            <a:off x="5578069" y="4202851"/>
            <a:ext cx="955711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0568280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A663F13-BF80-EFDB-922C-EF48F6E9827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52984"/>
            <a:ext cx="12192000" cy="6352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0137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BD9DE-0474-09FF-ABB4-2F80BC594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198D-B551-EE98-D6E5-124C986F2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Is a Hotdog a Sandwich?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E6266F-0D10-54B8-10AE-B3362C5266B4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66825" y="2039874"/>
            <a:ext cx="3821430" cy="382143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278BF84-D1C6-910B-D00D-A3258F70560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03747" y="2486827"/>
            <a:ext cx="4389143" cy="29275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33601FA-C1A7-74F7-8515-1C1289B44E4B}"/>
              </a:ext>
            </a:extLst>
          </p:cNvPr>
          <p:cNvSpPr txBox="1"/>
          <p:nvPr/>
        </p:nvSpPr>
        <p:spPr>
          <a:xfrm>
            <a:off x="5352848" y="2486827"/>
            <a:ext cx="1486304" cy="3016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000" dirty="0"/>
              <a:t>=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BCB3F6-8BD6-E438-D331-F2ACBE630492}"/>
              </a:ext>
            </a:extLst>
          </p:cNvPr>
          <p:cNvSpPr txBox="1"/>
          <p:nvPr/>
        </p:nvSpPr>
        <p:spPr>
          <a:xfrm>
            <a:off x="5578069" y="4202851"/>
            <a:ext cx="955711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3987960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357ECEE-116D-F775-D091-3A684A37EF24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60464" y="257175"/>
            <a:ext cx="3619500" cy="2714625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9C5F382-649F-E7EB-98EB-DE0BC6E20FF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6546" y="4352925"/>
            <a:ext cx="3748125" cy="2133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CA59952-C4B3-D924-8413-0D8CF269FD89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318963" y="3505200"/>
            <a:ext cx="3096491" cy="2362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4F55533-2E76-BBAB-4A4D-5A48778AA003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90650" y="604838"/>
            <a:ext cx="4438650" cy="310365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78771DF-3D36-D9C3-5F79-EACE9A25DF36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26127" y="4291012"/>
            <a:ext cx="3286629" cy="2257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703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5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75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4FEA0-CC5A-A7F3-59BA-B5CC87EFC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Is Sandwich a Set?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91E854-F098-B7CF-21D5-9F41325DA8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43200"/>
            <a:ext cx="10515600" cy="3433762"/>
          </a:xfrm>
        </p:spPr>
        <p:txBody>
          <a:bodyPr/>
          <a:lstStyle/>
          <a:p>
            <a:pPr marL="0" indent="0" algn="ctr">
              <a:buNone/>
            </a:pPr>
            <a:r>
              <a:rPr lang="en-US" sz="7200" dirty="0"/>
              <a:t>🥪(x) ⇔ …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sz="3600" dirty="0"/>
              <a:t>Need a </a:t>
            </a:r>
            <a:r>
              <a:rPr lang="en-US" sz="3600" i="1" dirty="0"/>
              <a:t>necessary</a:t>
            </a:r>
            <a:r>
              <a:rPr lang="en-US" sz="3600" dirty="0"/>
              <a:t> and </a:t>
            </a:r>
            <a:r>
              <a:rPr lang="en-US" sz="3600" i="1" dirty="0"/>
              <a:t>sufficient</a:t>
            </a:r>
            <a:r>
              <a:rPr lang="en-US" sz="3600" dirty="0"/>
              <a:t> condition</a:t>
            </a:r>
          </a:p>
        </p:txBody>
      </p:sp>
    </p:spTree>
    <p:extLst>
      <p:ext uri="{BB962C8B-B14F-4D97-AF65-F5344CB8AC3E}">
        <p14:creationId xmlns:p14="http://schemas.microsoft.com/office/powerpoint/2010/main" val="4013175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B33E3-48B7-19D4-99D2-44EA11C36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Sets can be very useful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C1BBEE-2956-582C-F66D-637F133EB55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340863"/>
                <a:ext cx="10515600" cy="3836099"/>
              </a:xfrm>
            </p:spPr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3600" dirty="0"/>
                  <a:t>Even(x) ⇔ ∃y ∈ </a:t>
                </a:r>
                <a14:m>
                  <m:oMath xmlns:m="http://schemas.openxmlformats.org/officeDocument/2006/math">
                    <m:r>
                      <a:rPr lang="en-US" sz="3600" i="1" smtClean="0">
                        <a:latin typeface="Cambria Math" panose="02040503050406030204" pitchFamily="18" charset="0"/>
                      </a:rPr>
                      <m:t>ℤ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600" dirty="0"/>
                  <a:t>: x = 2y</a:t>
                </a:r>
              </a:p>
              <a:p>
                <a:pPr marL="0" indent="0" algn="ctr">
                  <a:buNone/>
                </a:pPr>
                <a:endParaRPr lang="en-US" sz="3600" dirty="0"/>
              </a:p>
              <a:p>
                <a:pPr marL="0" indent="0" algn="ctr">
                  <a:buNone/>
                </a:pPr>
                <a:r>
                  <a:rPr lang="en-US" sz="3600" dirty="0"/>
                  <a:t>Odd(x) ⇔ ∃y ∈ </a:t>
                </a:r>
                <a14:m>
                  <m:oMath xmlns:m="http://schemas.openxmlformats.org/officeDocument/2006/math">
                    <m:r>
                      <a:rPr lang="en-US" sz="3600" i="1" smtClean="0">
                        <a:latin typeface="Cambria Math" panose="02040503050406030204" pitchFamily="18" charset="0"/>
                      </a:rPr>
                      <m:t>ℤ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600" dirty="0"/>
                  <a:t>: x = 2y+1</a:t>
                </a:r>
              </a:p>
              <a:p>
                <a:pPr marL="0" indent="0" algn="ctr">
                  <a:buNone/>
                </a:pPr>
                <a:endParaRPr lang="en-US" sz="3600" dirty="0"/>
              </a:p>
              <a:p>
                <a:pPr marL="0" indent="0" algn="ctr">
                  <a:buNone/>
                </a:pPr>
                <a:r>
                  <a:rPr lang="en-US" sz="3600" dirty="0"/>
                  <a:t>Prime(x) ⇔ x &gt; 1 ∧ ∀y ∈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6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i="1" smtClean="0"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sz="3600" dirty="0"/>
                  <a:t>: y ∣ x ⇒ (y = 1 ∨ y = x)</a:t>
                </a:r>
              </a:p>
              <a:p>
                <a:pPr marL="0" indent="0" algn="ctr">
                  <a:buNone/>
                </a:pPr>
                <a:endParaRPr lang="en-US" sz="36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C1BBEE-2956-582C-F66D-637F133EB55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340863"/>
                <a:ext cx="10515600" cy="3836099"/>
              </a:xfrm>
              <a:blipFill>
                <a:blip r:embed="rId2"/>
                <a:stretch>
                  <a:fillRect t="-42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267854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BFC0C5C-CDAF-1C76-32D4-BE3CD78179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375" y="975340"/>
            <a:ext cx="3238500" cy="490732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D8C7B63-9B3C-2E3D-3483-16DAB9E9F326}"/>
              </a:ext>
            </a:extLst>
          </p:cNvPr>
          <p:cNvSpPr txBox="1"/>
          <p:nvPr/>
        </p:nvSpPr>
        <p:spPr>
          <a:xfrm>
            <a:off x="4810127" y="1118880"/>
            <a:ext cx="6096000" cy="46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000" dirty="0">
                <a:solidFill>
                  <a:schemeClr val="tx2"/>
                </a:solidFill>
              </a:rPr>
              <a:t>“This set-theoretical concept of a category does not accord with the way people categorize things and experiences.”</a:t>
            </a:r>
          </a:p>
        </p:txBody>
      </p:sp>
    </p:spTree>
    <p:extLst>
      <p:ext uri="{BB962C8B-B14F-4D97-AF65-F5344CB8AC3E}">
        <p14:creationId xmlns:p14="http://schemas.microsoft.com/office/powerpoint/2010/main" val="23972328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E3771-F3CC-D99A-9E53-DB09A5BFA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Foundational Metaphors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E844BF-9AC6-E061-8E0A-6ADC73E56FE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058024" y="2449830"/>
            <a:ext cx="3143631" cy="29870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2A0D6ED-6033-6DEF-ED1E-C5EE08E00A8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990346" y="2432594"/>
            <a:ext cx="3143631" cy="30042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C87CE62-FD1A-4313-1E77-AC9C36D7B96B}"/>
              </a:ext>
            </a:extLst>
          </p:cNvPr>
          <p:cNvSpPr txBox="1"/>
          <p:nvPr/>
        </p:nvSpPr>
        <p:spPr>
          <a:xfrm>
            <a:off x="3214951" y="5646256"/>
            <a:ext cx="6944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Up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40EFC6-0D5B-ED11-CD4A-C0F272304C43}"/>
              </a:ext>
            </a:extLst>
          </p:cNvPr>
          <p:cNvSpPr txBox="1"/>
          <p:nvPr/>
        </p:nvSpPr>
        <p:spPr>
          <a:xfrm>
            <a:off x="8024160" y="5646256"/>
            <a:ext cx="12113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Down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1B5DBD-0C92-2399-E2E8-5D17403E44D2}"/>
              </a:ext>
            </a:extLst>
          </p:cNvPr>
          <p:cNvSpPr txBox="1"/>
          <p:nvPr/>
        </p:nvSpPr>
        <p:spPr>
          <a:xfrm>
            <a:off x="3518984" y="1602924"/>
            <a:ext cx="50488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/>
              <a:t>Orientational Metaphors</a:t>
            </a:r>
          </a:p>
        </p:txBody>
      </p:sp>
    </p:spTree>
    <p:extLst>
      <p:ext uri="{BB962C8B-B14F-4D97-AF65-F5344CB8AC3E}">
        <p14:creationId xmlns:p14="http://schemas.microsoft.com/office/powerpoint/2010/main" val="36860990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265B57-27CB-B8FA-05F7-3A055A6AC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8D743-B110-C905-487F-55D0DE88A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Foundational Metaphors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D25678-36C3-A170-E80E-4AF5B5E47B54}"/>
              </a:ext>
            </a:extLst>
          </p:cNvPr>
          <p:cNvSpPr txBox="1"/>
          <p:nvPr/>
        </p:nvSpPr>
        <p:spPr>
          <a:xfrm>
            <a:off x="1585505" y="2742048"/>
            <a:ext cx="39533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“The deadline is approaching quickly.”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756D21-5DF0-C40F-A5F4-BAEE3502B3D6}"/>
              </a:ext>
            </a:extLst>
          </p:cNvPr>
          <p:cNvSpPr txBox="1"/>
          <p:nvPr/>
        </p:nvSpPr>
        <p:spPr>
          <a:xfrm>
            <a:off x="6417069" y="2742048"/>
            <a:ext cx="4425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“We’re moving into the Christmas season.”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79B686C-C824-23E4-CE16-2DE0B54CF22D}"/>
              </a:ext>
            </a:extLst>
          </p:cNvPr>
          <p:cNvGrpSpPr/>
          <p:nvPr/>
        </p:nvGrpSpPr>
        <p:grpSpPr>
          <a:xfrm>
            <a:off x="1738593" y="3298194"/>
            <a:ext cx="3647150" cy="1268054"/>
            <a:chOff x="1989217" y="3500832"/>
            <a:chExt cx="3647150" cy="1268054"/>
          </a:xfrm>
        </p:grpSpPr>
        <p:pic>
          <p:nvPicPr>
            <p:cNvPr id="12" name="Graphic 11" descr="Clock with solid fill">
              <a:extLst>
                <a:ext uri="{FF2B5EF4-FFF2-40B4-BE49-F238E27FC236}">
                  <a16:creationId xmlns:a16="http://schemas.microsoft.com/office/drawing/2014/main" id="{D357265E-07B8-8F36-7D4A-1EB0408909C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755556" y="3551820"/>
              <a:ext cx="1217066" cy="1217066"/>
            </a:xfrm>
            <a:prstGeom prst="rect">
              <a:avLst/>
            </a:prstGeom>
          </p:spPr>
        </p:pic>
        <p:pic>
          <p:nvPicPr>
            <p:cNvPr id="14" name="Graphic 13" descr="Woman with solid fill">
              <a:extLst>
                <a:ext uri="{FF2B5EF4-FFF2-40B4-BE49-F238E27FC236}">
                  <a16:creationId xmlns:a16="http://schemas.microsoft.com/office/drawing/2014/main" id="{175F7832-4335-7F47-9868-8BE7E3870F3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989217" y="3500832"/>
              <a:ext cx="1217066" cy="1217066"/>
            </a:xfrm>
            <a:prstGeom prst="rect">
              <a:avLst/>
            </a:prstGeom>
          </p:spPr>
        </p:pic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17DC5733-45FA-3DCE-7AE3-572BE64442ED}"/>
                </a:ext>
              </a:extLst>
            </p:cNvPr>
            <p:cNvCxnSpPr/>
            <p:nvPr/>
          </p:nvCxnSpPr>
          <p:spPr>
            <a:xfrm flipH="1">
              <a:off x="3128102" y="4160353"/>
              <a:ext cx="578473" cy="0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9A993762-52D9-6913-17E8-88C2B72701A4}"/>
                </a:ext>
              </a:extLst>
            </p:cNvPr>
            <p:cNvCxnSpPr/>
            <p:nvPr/>
          </p:nvCxnSpPr>
          <p:spPr>
            <a:xfrm>
              <a:off x="4972622" y="3931920"/>
              <a:ext cx="566209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C27F84EC-245C-4D75-F530-C3F479CE5743}"/>
                </a:ext>
              </a:extLst>
            </p:cNvPr>
            <p:cNvCxnSpPr/>
            <p:nvPr/>
          </p:nvCxnSpPr>
          <p:spPr>
            <a:xfrm>
              <a:off x="5070158" y="4160353"/>
              <a:ext cx="566209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15E7536-BEDC-BEFA-CDD3-F885CB3934A5}"/>
                </a:ext>
              </a:extLst>
            </p:cNvPr>
            <p:cNvCxnSpPr/>
            <p:nvPr/>
          </p:nvCxnSpPr>
          <p:spPr>
            <a:xfrm>
              <a:off x="4972622" y="4388953"/>
              <a:ext cx="566209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C7D498CE-F1BE-BE08-D88E-E42D90011CA5}"/>
              </a:ext>
            </a:extLst>
          </p:cNvPr>
          <p:cNvGrpSpPr/>
          <p:nvPr/>
        </p:nvGrpSpPr>
        <p:grpSpPr>
          <a:xfrm>
            <a:off x="7064013" y="3292759"/>
            <a:ext cx="3576905" cy="1222501"/>
            <a:chOff x="6639878" y="3495397"/>
            <a:chExt cx="3576905" cy="1222501"/>
          </a:xfrm>
        </p:grpSpPr>
        <p:pic>
          <p:nvPicPr>
            <p:cNvPr id="16" name="Graphic 15" descr="Walk with solid fill">
              <a:extLst>
                <a:ext uri="{FF2B5EF4-FFF2-40B4-BE49-F238E27FC236}">
                  <a16:creationId xmlns:a16="http://schemas.microsoft.com/office/drawing/2014/main" id="{DAD13194-AC50-C5CD-37F5-03D55C2DD15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146228" y="3495397"/>
              <a:ext cx="1217066" cy="1217066"/>
            </a:xfrm>
            <a:prstGeom prst="rect">
              <a:avLst/>
            </a:prstGeom>
          </p:spPr>
        </p:pic>
        <p:pic>
          <p:nvPicPr>
            <p:cNvPr id="18" name="Graphic 17" descr="Clock with solid fill">
              <a:extLst>
                <a:ext uri="{FF2B5EF4-FFF2-40B4-BE49-F238E27FC236}">
                  <a16:creationId xmlns:a16="http://schemas.microsoft.com/office/drawing/2014/main" id="{AFD751BD-C048-7212-F10D-70733991FDA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8999717" y="3500832"/>
              <a:ext cx="1217066" cy="1217066"/>
            </a:xfrm>
            <a:prstGeom prst="rect">
              <a:avLst/>
            </a:prstGeom>
          </p:spPr>
        </p:pic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A331351E-F347-D66C-A182-C2CF4DA12461}"/>
                </a:ext>
              </a:extLst>
            </p:cNvPr>
            <p:cNvCxnSpPr/>
            <p:nvPr/>
          </p:nvCxnSpPr>
          <p:spPr>
            <a:xfrm flipH="1">
              <a:off x="8340601" y="4111418"/>
              <a:ext cx="578473" cy="0"/>
            </a:xfrm>
            <a:prstGeom prst="straightConnector1">
              <a:avLst/>
            </a:prstGeom>
            <a:ln w="7620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9EE16BF6-2E0C-F30F-33DB-F4F298175A05}"/>
                </a:ext>
              </a:extLst>
            </p:cNvPr>
            <p:cNvCxnSpPr/>
            <p:nvPr/>
          </p:nvCxnSpPr>
          <p:spPr>
            <a:xfrm>
              <a:off x="6697790" y="3928872"/>
              <a:ext cx="566209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6AB3823-8446-EA4E-B2B5-BA901AB49CC6}"/>
                </a:ext>
              </a:extLst>
            </p:cNvPr>
            <p:cNvCxnSpPr/>
            <p:nvPr/>
          </p:nvCxnSpPr>
          <p:spPr>
            <a:xfrm>
              <a:off x="6639878" y="4157305"/>
              <a:ext cx="566209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4CD8AB3-786A-8E86-D8AD-542A46DBE338}"/>
                </a:ext>
              </a:extLst>
            </p:cNvPr>
            <p:cNvCxnSpPr/>
            <p:nvPr/>
          </p:nvCxnSpPr>
          <p:spPr>
            <a:xfrm>
              <a:off x="6697790" y="4385905"/>
              <a:ext cx="566209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3A76DF43-3162-B8BF-08F4-4045E5206471}"/>
              </a:ext>
            </a:extLst>
          </p:cNvPr>
          <p:cNvSpPr txBox="1"/>
          <p:nvPr/>
        </p:nvSpPr>
        <p:spPr>
          <a:xfrm>
            <a:off x="3339546" y="5617608"/>
            <a:ext cx="55129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/>
              <a:t>Spatial Metaphors for Time</a:t>
            </a:r>
          </a:p>
        </p:txBody>
      </p:sp>
    </p:spTree>
    <p:extLst>
      <p:ext uri="{BB962C8B-B14F-4D97-AF65-F5344CB8AC3E}">
        <p14:creationId xmlns:p14="http://schemas.microsoft.com/office/powerpoint/2010/main" val="21231211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076D5-9F17-EDAB-A40A-3055A6416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729E2-3B06-054C-7E7B-70E3B0EEC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Foundational Metaphors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833D1FC-96D2-71D4-FFCA-70E80399EF34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76" t="439" r="1026" b="544"/>
          <a:stretch>
            <a:fillRect/>
          </a:stretch>
        </p:blipFill>
        <p:spPr>
          <a:xfrm>
            <a:off x="1425575" y="1971674"/>
            <a:ext cx="2203450" cy="4044951"/>
          </a:xfrm>
          <a:prstGeom prst="rect">
            <a:avLst/>
          </a:prstGeom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2C19F24-D374-FB13-1CC2-20AC1651370D}"/>
              </a:ext>
            </a:extLst>
          </p:cNvPr>
          <p:cNvSpPr txBox="1"/>
          <p:nvPr/>
        </p:nvSpPr>
        <p:spPr>
          <a:xfrm>
            <a:off x="2163780" y="2809875"/>
            <a:ext cx="8242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inside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7C061A-70AA-C277-92D2-94835B1EE167}"/>
              </a:ext>
            </a:extLst>
          </p:cNvPr>
          <p:cNvSpPr txBox="1"/>
          <p:nvPr/>
        </p:nvSpPr>
        <p:spPr>
          <a:xfrm>
            <a:off x="673639" y="2440543"/>
            <a:ext cx="977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outside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C35C84A-AACA-56DA-CBAD-83A24B1EA36D}"/>
              </a:ext>
            </a:extLst>
          </p:cNvPr>
          <p:cNvCxnSpPr/>
          <p:nvPr/>
        </p:nvCxnSpPr>
        <p:spPr>
          <a:xfrm flipH="1" flipV="1">
            <a:off x="2976544" y="4857750"/>
            <a:ext cx="938231" cy="1619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4C41BF69-7141-E062-E785-810553C87913}"/>
              </a:ext>
            </a:extLst>
          </p:cNvPr>
          <p:cNvSpPr txBox="1"/>
          <p:nvPr/>
        </p:nvSpPr>
        <p:spPr>
          <a:xfrm>
            <a:off x="3914775" y="4857750"/>
            <a:ext cx="11835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boundary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5ED974A-3FB1-2B35-E461-A6AD97D101F0}"/>
              </a:ext>
            </a:extLst>
          </p:cNvPr>
          <p:cNvSpPr txBox="1"/>
          <p:nvPr/>
        </p:nvSpPr>
        <p:spPr>
          <a:xfrm>
            <a:off x="5937773" y="2243381"/>
            <a:ext cx="5002908" cy="35015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The Container Metaphor</a:t>
            </a:r>
            <a:endParaRPr lang="en-US" sz="2800" dirty="0"/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In or Out – but not both or neither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Experiential root of set theory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Significant utility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But…</a:t>
            </a:r>
          </a:p>
        </p:txBody>
      </p:sp>
    </p:spTree>
    <p:extLst>
      <p:ext uri="{BB962C8B-B14F-4D97-AF65-F5344CB8AC3E}">
        <p14:creationId xmlns:p14="http://schemas.microsoft.com/office/powerpoint/2010/main" val="25128004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25157-B358-BF4A-D865-BB9817943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Reality Isn’t Set Based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D59DC2-B7C7-E4BB-9084-C74F9E7A233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95227" y="1843087"/>
            <a:ext cx="3601545" cy="24479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54D3AFF-007D-B3B1-A0C2-2AFC15354E9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77275" y="4044950"/>
            <a:ext cx="2447925" cy="24479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2E130CC-31D6-8140-DC0B-172A4D42CB56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990053" y="4044949"/>
            <a:ext cx="2447926" cy="2447926"/>
          </a:xfrm>
          <a:prstGeom prst="rect">
            <a:avLst/>
          </a:prstGeom>
        </p:spPr>
      </p:pic>
      <p:sp>
        <p:nvSpPr>
          <p:cNvPr id="9" name="Speech Bubble: Oval 8">
            <a:extLst>
              <a:ext uri="{FF2B5EF4-FFF2-40B4-BE49-F238E27FC236}">
                <a16:creationId xmlns:a16="http://schemas.microsoft.com/office/drawing/2014/main" id="{CD6D17EA-C77E-D520-DCDD-48BEED61921D}"/>
              </a:ext>
            </a:extLst>
          </p:cNvPr>
          <p:cNvSpPr/>
          <p:nvPr/>
        </p:nvSpPr>
        <p:spPr>
          <a:xfrm>
            <a:off x="1866624" y="3086101"/>
            <a:ext cx="2038351" cy="958848"/>
          </a:xfrm>
          <a:prstGeom prst="wedgeEllipse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ysClr val="windowText" lastClr="000000"/>
                </a:solidFill>
              </a:rPr>
              <a:t>Fruit</a:t>
            </a:r>
          </a:p>
        </p:txBody>
      </p:sp>
      <p:sp>
        <p:nvSpPr>
          <p:cNvPr id="11" name="Speech Bubble: Oval 10">
            <a:extLst>
              <a:ext uri="{FF2B5EF4-FFF2-40B4-BE49-F238E27FC236}">
                <a16:creationId xmlns:a16="http://schemas.microsoft.com/office/drawing/2014/main" id="{9FF54C7A-EF29-ACB9-47D3-85A70F76F5AF}"/>
              </a:ext>
            </a:extLst>
          </p:cNvPr>
          <p:cNvSpPr/>
          <p:nvPr/>
        </p:nvSpPr>
        <p:spPr>
          <a:xfrm>
            <a:off x="8125095" y="3086101"/>
            <a:ext cx="2038351" cy="958848"/>
          </a:xfrm>
          <a:prstGeom prst="wedgeEllipseCallout">
            <a:avLst>
              <a:gd name="adj1" fmla="val 20756"/>
              <a:gd name="adj2" fmla="val 7144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sz="2800" dirty="0">
                <a:solidFill>
                  <a:sysClr val="windowText" lastClr="000000"/>
                </a:solidFill>
              </a:rPr>
              <a:t>Vegetable</a:t>
            </a:r>
          </a:p>
        </p:txBody>
      </p:sp>
    </p:spTree>
    <p:extLst>
      <p:ext uri="{BB962C8B-B14F-4D97-AF65-F5344CB8AC3E}">
        <p14:creationId xmlns:p14="http://schemas.microsoft.com/office/powerpoint/2010/main" val="2083457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EFD907-66B6-3ADA-90C5-EF52C6260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CD37A-B087-CC5D-3A43-6463E7117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Cognition Isn’t Set Based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AB35EE-C68B-D45A-1D37-AB07902BBF24}"/>
              </a:ext>
            </a:extLst>
          </p:cNvPr>
          <p:cNvSpPr txBox="1"/>
          <p:nvPr/>
        </p:nvSpPr>
        <p:spPr>
          <a:xfrm>
            <a:off x="4431858" y="1952625"/>
            <a:ext cx="33282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Think of a bird…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44D4C5-84D3-CA51-3991-9732620091B4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21983" y="2847974"/>
            <a:ext cx="2809875" cy="28098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F69ABA8-D320-CCE0-7C9A-9F5C08D4888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35452" y="2282607"/>
            <a:ext cx="5199176" cy="360997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7201F12-4942-5C1E-0E24-0897D83319AC}"/>
              </a:ext>
            </a:extLst>
          </p:cNvPr>
          <p:cNvSpPr txBox="1"/>
          <p:nvPr/>
        </p:nvSpPr>
        <p:spPr>
          <a:xfrm>
            <a:off x="2537364" y="6051114"/>
            <a:ext cx="71172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Which one is closer to what you had in mind?</a:t>
            </a:r>
          </a:p>
        </p:txBody>
      </p:sp>
    </p:spTree>
    <p:extLst>
      <p:ext uri="{BB962C8B-B14F-4D97-AF65-F5344CB8AC3E}">
        <p14:creationId xmlns:p14="http://schemas.microsoft.com/office/powerpoint/2010/main" val="3360939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5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F207376-8CBA-DF58-ADB2-A0494826D6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2637" y="1847578"/>
            <a:ext cx="2968105" cy="4147026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E76B60F5-E26B-8FA5-9B3F-D56CAFA4DB43}"/>
              </a:ext>
            </a:extLst>
          </p:cNvPr>
          <p:cNvSpPr/>
          <p:nvPr/>
        </p:nvSpPr>
        <p:spPr>
          <a:xfrm>
            <a:off x="3407069" y="3208432"/>
            <a:ext cx="770013" cy="770012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2152E18-16D3-5590-A759-2433F6A48F63}"/>
              </a:ext>
            </a:extLst>
          </p:cNvPr>
          <p:cNvSpPr/>
          <p:nvPr/>
        </p:nvSpPr>
        <p:spPr>
          <a:xfrm>
            <a:off x="4124630" y="2106433"/>
            <a:ext cx="968016" cy="462007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5465FBB-7125-0873-40C6-7A9CF648C8B4}"/>
              </a:ext>
            </a:extLst>
          </p:cNvPr>
          <p:cNvSpPr/>
          <p:nvPr/>
        </p:nvSpPr>
        <p:spPr>
          <a:xfrm>
            <a:off x="2549054" y="2548421"/>
            <a:ext cx="608677" cy="54634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1A96B92-DADB-3EE9-D0D2-7F9E35EC83C5}"/>
              </a:ext>
            </a:extLst>
          </p:cNvPr>
          <p:cNvSpPr/>
          <p:nvPr/>
        </p:nvSpPr>
        <p:spPr>
          <a:xfrm>
            <a:off x="1145346" y="1921452"/>
            <a:ext cx="572009" cy="536153"/>
          </a:xfrm>
          <a:prstGeom prst="rect">
            <a:avLst/>
          </a:prstGeom>
          <a:solidFill>
            <a:srgbClr val="F6525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71C9A8E3-4AD6-B0C9-D747-26AC73F23D4D}"/>
              </a:ext>
            </a:extLst>
          </p:cNvPr>
          <p:cNvSpPr/>
          <p:nvPr/>
        </p:nvSpPr>
        <p:spPr>
          <a:xfrm>
            <a:off x="2534388" y="4308450"/>
            <a:ext cx="696678" cy="600585"/>
          </a:xfrm>
          <a:prstGeom prst="hexagon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7FEE2090-FDC9-368C-A399-04B4334D720D}"/>
              </a:ext>
            </a:extLst>
          </p:cNvPr>
          <p:cNvSpPr/>
          <p:nvPr/>
        </p:nvSpPr>
        <p:spPr>
          <a:xfrm>
            <a:off x="1579817" y="5034461"/>
            <a:ext cx="731585" cy="630677"/>
          </a:xfrm>
          <a:prstGeom prst="triangle">
            <a:avLst/>
          </a:prstGeom>
          <a:solidFill>
            <a:srgbClr val="F6525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C62E355-D779-90FC-410E-EAF02C7657D9}"/>
              </a:ext>
            </a:extLst>
          </p:cNvPr>
          <p:cNvCxnSpPr/>
          <p:nvPr/>
        </p:nvCxnSpPr>
        <p:spPr>
          <a:xfrm flipH="1">
            <a:off x="3168731" y="3978444"/>
            <a:ext cx="348340" cy="33000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84A15AF-BCA0-35A6-DA75-4D2036AA3E44}"/>
              </a:ext>
            </a:extLst>
          </p:cNvPr>
          <p:cNvCxnSpPr/>
          <p:nvPr/>
        </p:nvCxnSpPr>
        <p:spPr>
          <a:xfrm flipH="1">
            <a:off x="2153049" y="4821791"/>
            <a:ext cx="407005" cy="4033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9CFC8C7-D19E-729E-566C-F14F9511FB57}"/>
              </a:ext>
            </a:extLst>
          </p:cNvPr>
          <p:cNvCxnSpPr>
            <a:cxnSpLocks/>
          </p:cNvCxnSpPr>
          <p:nvPr/>
        </p:nvCxnSpPr>
        <p:spPr>
          <a:xfrm flipH="1" flipV="1">
            <a:off x="3231066" y="2981095"/>
            <a:ext cx="260967" cy="29168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123C211-3EF1-E41B-84AD-71172EE740DE}"/>
              </a:ext>
            </a:extLst>
          </p:cNvPr>
          <p:cNvCxnSpPr>
            <a:cxnSpLocks/>
          </p:cNvCxnSpPr>
          <p:nvPr/>
        </p:nvCxnSpPr>
        <p:spPr>
          <a:xfrm flipH="1" flipV="1">
            <a:off x="1827877" y="2314575"/>
            <a:ext cx="640510" cy="3511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CBEF461-69DD-A7CE-E4FC-D39FF574B472}"/>
              </a:ext>
            </a:extLst>
          </p:cNvPr>
          <p:cNvCxnSpPr>
            <a:cxnSpLocks/>
          </p:cNvCxnSpPr>
          <p:nvPr/>
        </p:nvCxnSpPr>
        <p:spPr>
          <a:xfrm flipV="1">
            <a:off x="4017107" y="2657043"/>
            <a:ext cx="335712" cy="55138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Smiley Face 20">
            <a:extLst>
              <a:ext uri="{FF2B5EF4-FFF2-40B4-BE49-F238E27FC236}">
                <a16:creationId xmlns:a16="http://schemas.microsoft.com/office/drawing/2014/main" id="{6EF18369-69F1-2CD7-3950-FA4AE11503F3}"/>
              </a:ext>
            </a:extLst>
          </p:cNvPr>
          <p:cNvSpPr/>
          <p:nvPr/>
        </p:nvSpPr>
        <p:spPr>
          <a:xfrm>
            <a:off x="4483179" y="4367117"/>
            <a:ext cx="696678" cy="696678"/>
          </a:xfrm>
          <a:prstGeom prst="smileyFac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Heart 21">
            <a:extLst>
              <a:ext uri="{FF2B5EF4-FFF2-40B4-BE49-F238E27FC236}">
                <a16:creationId xmlns:a16="http://schemas.microsoft.com/office/drawing/2014/main" id="{4465397F-7A53-120A-DBF4-0CEA64B486C6}"/>
              </a:ext>
            </a:extLst>
          </p:cNvPr>
          <p:cNvSpPr/>
          <p:nvPr/>
        </p:nvSpPr>
        <p:spPr>
          <a:xfrm>
            <a:off x="5504182" y="5404801"/>
            <a:ext cx="674139" cy="674139"/>
          </a:xfrm>
          <a:prstGeom prst="heart">
            <a:avLst/>
          </a:prstGeom>
          <a:solidFill>
            <a:srgbClr val="F6525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D6DD873-F647-9888-AB67-C02146F65E5F}"/>
              </a:ext>
            </a:extLst>
          </p:cNvPr>
          <p:cNvCxnSpPr>
            <a:cxnSpLocks/>
          </p:cNvCxnSpPr>
          <p:nvPr/>
        </p:nvCxnSpPr>
        <p:spPr>
          <a:xfrm>
            <a:off x="4067070" y="3921091"/>
            <a:ext cx="416109" cy="50206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648B41A-F78C-C1F0-2B00-BEB8DC130075}"/>
              </a:ext>
            </a:extLst>
          </p:cNvPr>
          <p:cNvCxnSpPr>
            <a:cxnSpLocks/>
          </p:cNvCxnSpPr>
          <p:nvPr/>
        </p:nvCxnSpPr>
        <p:spPr>
          <a:xfrm>
            <a:off x="5157856" y="5063795"/>
            <a:ext cx="331642" cy="34100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Moon 26">
            <a:extLst>
              <a:ext uri="{FF2B5EF4-FFF2-40B4-BE49-F238E27FC236}">
                <a16:creationId xmlns:a16="http://schemas.microsoft.com/office/drawing/2014/main" id="{084B8CF1-39F7-28CB-BB9A-3519E6FC70B2}"/>
              </a:ext>
            </a:extLst>
          </p:cNvPr>
          <p:cNvSpPr/>
          <p:nvPr/>
        </p:nvSpPr>
        <p:spPr>
          <a:xfrm>
            <a:off x="3839733" y="5665138"/>
            <a:ext cx="396076" cy="770012"/>
          </a:xfrm>
          <a:prstGeom prst="moon">
            <a:avLst/>
          </a:prstGeom>
          <a:solidFill>
            <a:srgbClr val="F6525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CC8BC32-F4DB-5540-66A3-E487E294CB46}"/>
              </a:ext>
            </a:extLst>
          </p:cNvPr>
          <p:cNvCxnSpPr>
            <a:cxnSpLocks/>
          </p:cNvCxnSpPr>
          <p:nvPr/>
        </p:nvCxnSpPr>
        <p:spPr>
          <a:xfrm flipH="1">
            <a:off x="4294407" y="5063795"/>
            <a:ext cx="291440" cy="50075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3220B8BF-16B1-DFF0-3E8F-5811BEF47C94}"/>
              </a:ext>
            </a:extLst>
          </p:cNvPr>
          <p:cNvSpPr txBox="1"/>
          <p:nvPr/>
        </p:nvSpPr>
        <p:spPr>
          <a:xfrm>
            <a:off x="857890" y="627881"/>
            <a:ext cx="1064086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tx2"/>
                </a:solidFill>
              </a:rPr>
              <a:t>Radially Structured Prototypical Categories</a:t>
            </a:r>
          </a:p>
        </p:txBody>
      </p:sp>
      <p:sp>
        <p:nvSpPr>
          <p:cNvPr id="33" name="Rectangle: Diagonal Corners Snipped 32">
            <a:extLst>
              <a:ext uri="{FF2B5EF4-FFF2-40B4-BE49-F238E27FC236}">
                <a16:creationId xmlns:a16="http://schemas.microsoft.com/office/drawing/2014/main" id="{13B0704D-FA0F-4064-43FB-966B1B27109E}"/>
              </a:ext>
            </a:extLst>
          </p:cNvPr>
          <p:cNvSpPr/>
          <p:nvPr/>
        </p:nvSpPr>
        <p:spPr>
          <a:xfrm>
            <a:off x="1219200" y="3094764"/>
            <a:ext cx="608677" cy="608677"/>
          </a:xfrm>
          <a:prstGeom prst="snip2DiagRect">
            <a:avLst/>
          </a:prstGeom>
          <a:solidFill>
            <a:srgbClr val="F6525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874EC70D-7C13-5180-BF2F-0CC09F953DD9}"/>
              </a:ext>
            </a:extLst>
          </p:cNvPr>
          <p:cNvCxnSpPr/>
          <p:nvPr/>
        </p:nvCxnSpPr>
        <p:spPr>
          <a:xfrm flipH="1">
            <a:off x="1984379" y="2981095"/>
            <a:ext cx="484008" cy="3145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Speech Bubble: Oval 41">
            <a:extLst>
              <a:ext uri="{FF2B5EF4-FFF2-40B4-BE49-F238E27FC236}">
                <a16:creationId xmlns:a16="http://schemas.microsoft.com/office/drawing/2014/main" id="{AC217C79-153A-61EE-749D-F5733FA600D9}"/>
              </a:ext>
            </a:extLst>
          </p:cNvPr>
          <p:cNvSpPr/>
          <p:nvPr/>
        </p:nvSpPr>
        <p:spPr>
          <a:xfrm>
            <a:off x="5654285" y="2646555"/>
            <a:ext cx="1017566" cy="523220"/>
          </a:xfrm>
          <a:prstGeom prst="wedgeEllipseCallout">
            <a:avLst/>
          </a:prstGeom>
          <a:solidFill>
            <a:srgbClr val="F6525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9A145135-321D-6CF6-A8BC-44EEB4A078E9}"/>
              </a:ext>
            </a:extLst>
          </p:cNvPr>
          <p:cNvCxnSpPr>
            <a:cxnSpLocks/>
          </p:cNvCxnSpPr>
          <p:nvPr/>
        </p:nvCxnSpPr>
        <p:spPr>
          <a:xfrm>
            <a:off x="5136998" y="2438137"/>
            <a:ext cx="509485" cy="3145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3813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5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75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25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75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25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75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000"/>
                            </p:stCondLst>
                            <p:childTnLst>
                              <p:par>
                                <p:cTn id="41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25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500"/>
                            </p:stCondLst>
                            <p:childTnLst>
                              <p:par>
                                <p:cTn id="47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75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000"/>
                            </p:stCondLst>
                            <p:childTnLst>
                              <p:par>
                                <p:cTn id="53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425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4500"/>
                            </p:stCondLst>
                            <p:childTnLst>
                              <p:par>
                                <p:cTn id="59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4750"/>
                            </p:stCondLst>
                            <p:childTnLst>
                              <p:par>
                                <p:cTn id="62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21" grpId="0" animBg="1"/>
      <p:bldP spid="22" grpId="0" animBg="1"/>
      <p:bldP spid="27" grpId="0" animBg="1"/>
      <p:bldP spid="33" grpId="0" animBg="1"/>
      <p:bldP spid="4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1C120-A6C1-D758-6798-76F7EE221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A6617-E31B-5D08-AF59-0C1F6EFA1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Which sounds </a:t>
            </a:r>
            <a:r>
              <a:rPr lang="en-US" i="1" dirty="0">
                <a:solidFill>
                  <a:schemeClr val="tx2"/>
                </a:solidFill>
              </a:rPr>
              <a:t>weirder</a:t>
            </a:r>
            <a:r>
              <a:rPr lang="en-US" dirty="0">
                <a:solidFill>
                  <a:schemeClr val="tx2"/>
                </a:solidFill>
              </a:rPr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9C245C-18EC-4169-FFBA-156F193D71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43150"/>
            <a:ext cx="10515600" cy="1763460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“It’s like a sandwich, </a:t>
            </a:r>
            <a:r>
              <a:rPr lang="en-US" b="1" dirty="0"/>
              <a:t>but</a:t>
            </a:r>
            <a:r>
              <a:rPr lang="en-US" dirty="0"/>
              <a:t> it’s made on an elongated hinged bun”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“It’s like a sandwich, </a:t>
            </a:r>
            <a:r>
              <a:rPr lang="en-US" b="1" dirty="0"/>
              <a:t>but</a:t>
            </a:r>
            <a:r>
              <a:rPr lang="en-US" dirty="0"/>
              <a:t> it’s made on two slices of bread”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1BE23C4-A39E-AA96-8A41-F77728D3358C}"/>
              </a:ext>
            </a:extLst>
          </p:cNvPr>
          <p:cNvGrpSpPr/>
          <p:nvPr/>
        </p:nvGrpSpPr>
        <p:grpSpPr>
          <a:xfrm>
            <a:off x="3244529" y="4106609"/>
            <a:ext cx="5702941" cy="2070354"/>
            <a:chOff x="2663108" y="4106609"/>
            <a:chExt cx="5702941" cy="207035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BCA1057-6B49-0C55-8588-EFC435F7721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295695" y="4106609"/>
              <a:ext cx="2070354" cy="2070354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AF4D4842-5C01-5C12-E00B-CC85B5CAC91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663108" y="4340558"/>
              <a:ext cx="2377927" cy="1586058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0601A76-30B1-C975-0613-1805FB758C52}"/>
                </a:ext>
              </a:extLst>
            </p:cNvPr>
            <p:cNvSpPr txBox="1"/>
            <p:nvPr/>
          </p:nvSpPr>
          <p:spPr>
            <a:xfrm>
              <a:off x="5280754" y="4348757"/>
              <a:ext cx="841897" cy="15696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600" dirty="0"/>
                <a:t>&gt;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3528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F7E1C39-B48B-6397-81C8-95A13966E91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16831" y="3391066"/>
            <a:ext cx="1190559" cy="119055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245AD6D-156E-D9BD-BDBB-D50D8FEED83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12285" y="2555202"/>
            <a:ext cx="1367429" cy="9120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86539AA-F3BF-E243-0518-79B89D5079DE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215345" y="1014417"/>
            <a:ext cx="2516546" cy="962141"/>
          </a:xfrm>
          <a:prstGeom prst="rect">
            <a:avLst/>
          </a:prstGeom>
        </p:spPr>
      </p:pic>
      <p:pic>
        <p:nvPicPr>
          <p:cNvPr id="10" name="Picture 9" descr="Texas T-Brand Taco® | Sides Menu | Texas Dairy Queen®">
            <a:extLst>
              <a:ext uri="{FF2B5EF4-FFF2-40B4-BE49-F238E27FC236}">
                <a16:creationId xmlns:a16="http://schemas.microsoft.com/office/drawing/2014/main" id="{C36A9218-6B47-BB82-7EC6-0C277D05F9D0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24331" y="4450555"/>
            <a:ext cx="1190560" cy="119056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56BAE0A-E30C-CD03-A161-B560F9415901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13030" y="542925"/>
            <a:ext cx="2199255" cy="164944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7204B01-9D32-7C54-E2CE-039345BD3468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8200" y="2977858"/>
            <a:ext cx="1539017" cy="97881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80D15CC-6294-7216-AFA9-BEEA817425BF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1373" y="5068575"/>
            <a:ext cx="1138404" cy="98296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ED6D3C3-9F57-4BEC-3A2D-ADA732AEE0DB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55755" y="4830907"/>
            <a:ext cx="1515560" cy="1325563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9B26B7F-D1F7-8C22-58EB-26D82F8B736B}"/>
              </a:ext>
            </a:extLst>
          </p:cNvPr>
          <p:cNvCxnSpPr/>
          <p:nvPr/>
        </p:nvCxnSpPr>
        <p:spPr>
          <a:xfrm flipV="1">
            <a:off x="6779714" y="1885950"/>
            <a:ext cx="1435631" cy="76200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E5D50F4-7C91-8B49-2BAE-ADB8C028A970}"/>
              </a:ext>
            </a:extLst>
          </p:cNvPr>
          <p:cNvCxnSpPr/>
          <p:nvPr/>
        </p:nvCxnSpPr>
        <p:spPr>
          <a:xfrm>
            <a:off x="6779714" y="3244235"/>
            <a:ext cx="1307011" cy="51814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77C3B21-D308-1BCC-69B1-5BD050482625}"/>
              </a:ext>
            </a:extLst>
          </p:cNvPr>
          <p:cNvCxnSpPr/>
          <p:nvPr/>
        </p:nvCxnSpPr>
        <p:spPr>
          <a:xfrm>
            <a:off x="8953500" y="4141665"/>
            <a:ext cx="870831" cy="627917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375EB58-0B67-F05C-D711-0AB56D380C11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6096000" y="3467266"/>
            <a:ext cx="117755" cy="1578569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B3CE736-4017-51F8-DAE2-6BE166B7D596}"/>
              </a:ext>
            </a:extLst>
          </p:cNvPr>
          <p:cNvCxnSpPr/>
          <p:nvPr/>
        </p:nvCxnSpPr>
        <p:spPr>
          <a:xfrm flipH="1">
            <a:off x="4181475" y="3324225"/>
            <a:ext cx="1230810" cy="91440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1A9FCC8-216F-94FC-BB1B-1899950C5C71}"/>
              </a:ext>
            </a:extLst>
          </p:cNvPr>
          <p:cNvCxnSpPr/>
          <p:nvPr/>
        </p:nvCxnSpPr>
        <p:spPr>
          <a:xfrm flipH="1" flipV="1">
            <a:off x="2333625" y="3848100"/>
            <a:ext cx="685800" cy="45720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13DDCF7-648F-7714-199A-0EC5D081DE02}"/>
              </a:ext>
            </a:extLst>
          </p:cNvPr>
          <p:cNvCxnSpPr/>
          <p:nvPr/>
        </p:nvCxnSpPr>
        <p:spPr>
          <a:xfrm flipH="1" flipV="1">
            <a:off x="4924425" y="1885950"/>
            <a:ext cx="561975" cy="669252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D429FF4C-7BF1-015D-646C-D1A54EA58904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2739" y="3986345"/>
            <a:ext cx="1137117" cy="1137117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B5C113B-05EC-E4BF-FA78-CB0865608D35}"/>
              </a:ext>
            </a:extLst>
          </p:cNvPr>
          <p:cNvCxnSpPr>
            <a:cxnSpLocks/>
            <a:endCxn id="14" idx="3"/>
          </p:cNvCxnSpPr>
          <p:nvPr/>
        </p:nvCxnSpPr>
        <p:spPr>
          <a:xfrm flipH="1">
            <a:off x="2299777" y="5068575"/>
            <a:ext cx="913253" cy="491484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703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5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75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25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75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25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750"/>
                            </p:stCondLst>
                            <p:childTnLst>
                              <p:par>
                                <p:cTn id="38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000"/>
                            </p:stCondLst>
                            <p:childTnLst>
                              <p:par>
                                <p:cTn id="41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250"/>
                            </p:stCondLst>
                            <p:childTnLst>
                              <p:par>
                                <p:cTn id="44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500"/>
                            </p:stCondLst>
                            <p:childTnLst>
                              <p:par>
                                <p:cTn id="47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750"/>
                            </p:stCondLst>
                            <p:childTnLst>
                              <p:par>
                                <p:cTn id="50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000"/>
                            </p:stCondLst>
                            <p:childTnLst>
                              <p:par>
                                <p:cTn id="53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75939-6495-E2E5-F504-A922520E49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7350" y="1371600"/>
            <a:ext cx="6162674" cy="4114800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dirty="0">
                <a:solidFill>
                  <a:schemeClr val="tx2"/>
                </a:solidFill>
              </a:rPr>
              <a:t>“The ceaseless activity of making mappings between freshly minted mental structures (new percepts) and older mental structures (old concepts) … constitutes the analogical fabric of thought …”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05D5AC-DD78-CCF1-DA76-A1A3005D1C56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8201" y="857250"/>
            <a:ext cx="4100736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3463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3B09D9-8603-BD70-0F51-4A2457499B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24600" y="1273175"/>
            <a:ext cx="5029200" cy="4351338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3600" dirty="0">
                <a:solidFill>
                  <a:schemeClr val="tx2"/>
                </a:solidFill>
              </a:rPr>
              <a:t>Essences</a:t>
            </a:r>
          </a:p>
          <a:p>
            <a:pPr>
              <a:lnSpc>
                <a:spcPct val="150000"/>
              </a:lnSpc>
            </a:pPr>
            <a:r>
              <a:rPr lang="en-US" dirty="0"/>
              <a:t>Conceptual structure</a:t>
            </a:r>
          </a:p>
          <a:p>
            <a:pPr>
              <a:lnSpc>
                <a:spcPct val="150000"/>
              </a:lnSpc>
            </a:pPr>
            <a:r>
              <a:rPr lang="en-US" dirty="0"/>
              <a:t>Abstract patterns</a:t>
            </a:r>
          </a:p>
          <a:p>
            <a:pPr>
              <a:lnSpc>
                <a:spcPct val="150000"/>
              </a:lnSpc>
            </a:pPr>
            <a:r>
              <a:rPr lang="en-US" dirty="0"/>
              <a:t>Cognitive, relational</a:t>
            </a:r>
          </a:p>
          <a:p>
            <a:pPr>
              <a:lnSpc>
                <a:spcPct val="150000"/>
              </a:lnSpc>
            </a:pPr>
            <a:r>
              <a:rPr lang="en-US" dirty="0"/>
              <a:t>Independent of context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DE6A13F-4B29-DB73-B3E7-7DD8D76CB037}"/>
              </a:ext>
            </a:extLst>
          </p:cNvPr>
          <p:cNvSpPr txBox="1">
            <a:spLocks/>
          </p:cNvSpPr>
          <p:nvPr/>
        </p:nvSpPr>
        <p:spPr>
          <a:xfrm>
            <a:off x="838201" y="1273175"/>
            <a:ext cx="50292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sz="3600" dirty="0">
                <a:solidFill>
                  <a:schemeClr val="tx2"/>
                </a:solidFill>
              </a:rPr>
              <a:t>Surfaces</a:t>
            </a:r>
          </a:p>
          <a:p>
            <a:pPr>
              <a:lnSpc>
                <a:spcPct val="150000"/>
              </a:lnSpc>
            </a:pPr>
            <a:r>
              <a:rPr lang="en-US" dirty="0"/>
              <a:t>Immediate perception</a:t>
            </a:r>
          </a:p>
          <a:p>
            <a:pPr>
              <a:lnSpc>
                <a:spcPct val="150000"/>
              </a:lnSpc>
            </a:pPr>
            <a:r>
              <a:rPr lang="en-US" dirty="0"/>
              <a:t>Concrete features</a:t>
            </a:r>
          </a:p>
          <a:p>
            <a:pPr>
              <a:lnSpc>
                <a:spcPct val="150000"/>
              </a:lnSpc>
            </a:pPr>
            <a:r>
              <a:rPr lang="en-US" dirty="0"/>
              <a:t>Sensory, literal</a:t>
            </a:r>
          </a:p>
          <a:p>
            <a:pPr>
              <a:lnSpc>
                <a:spcPct val="150000"/>
              </a:lnSpc>
            </a:pPr>
            <a:r>
              <a:rPr lang="en-US" dirty="0"/>
              <a:t>Context specific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102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E6C5632-E199-BBB1-9DD5-0EE3A05FC4EB}"/>
              </a:ext>
            </a:extLst>
          </p:cNvPr>
          <p:cNvSpPr txBox="1"/>
          <p:nvPr/>
        </p:nvSpPr>
        <p:spPr>
          <a:xfrm>
            <a:off x="1618300" y="657225"/>
            <a:ext cx="904677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tx2"/>
                </a:solidFill>
              </a:rPr>
              <a:t>Thinking ≈ Continual Analogy Making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A95E8D-07A1-42DC-5C6D-30D7FA617B9A}"/>
              </a:ext>
            </a:extLst>
          </p:cNvPr>
          <p:cNvSpPr txBox="1"/>
          <p:nvPr/>
        </p:nvSpPr>
        <p:spPr>
          <a:xfrm>
            <a:off x="1526928" y="5667375"/>
            <a:ext cx="913814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“Analogy-making, far from happening at rare intervals, occurs at all moments, defining thinking from top to toe…”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5EA05991-6531-BCDB-F707-B2AE52CEA4C4}"/>
              </a:ext>
            </a:extLst>
          </p:cNvPr>
          <p:cNvGrpSpPr/>
          <p:nvPr/>
        </p:nvGrpSpPr>
        <p:grpSpPr>
          <a:xfrm>
            <a:off x="2836847" y="1789658"/>
            <a:ext cx="6518306" cy="3419475"/>
            <a:chOff x="1401731" y="1719262"/>
            <a:chExt cx="6518306" cy="3419475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8CD537E4-60E3-A3EC-AF94-2B424A9A420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31226"/>
            <a:stretch>
              <a:fillRect/>
            </a:stretch>
          </p:blipFill>
          <p:spPr>
            <a:xfrm flipH="1">
              <a:off x="4271962" y="1719262"/>
              <a:ext cx="3648075" cy="3419475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CCEEE63A-9095-2E24-0CB8-E120B68D2B0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401731" y="2457616"/>
              <a:ext cx="1190559" cy="1190559"/>
            </a:xfrm>
            <a:prstGeom prst="rect">
              <a:avLst/>
            </a:prstGeom>
          </p:spPr>
        </p:pic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39E1AD48-73E9-921C-99AE-6776C15F243F}"/>
                </a:ext>
              </a:extLst>
            </p:cNvPr>
            <p:cNvGrpSpPr/>
            <p:nvPr/>
          </p:nvGrpSpPr>
          <p:grpSpPr>
            <a:xfrm>
              <a:off x="5192346" y="2077441"/>
              <a:ext cx="1807306" cy="1273175"/>
              <a:chOff x="3046314" y="542925"/>
              <a:chExt cx="7968577" cy="5613545"/>
            </a:xfrm>
          </p:grpSpPr>
          <p:pic>
            <p:nvPicPr>
              <p:cNvPr id="26" name="Picture 25">
                <a:extLst>
                  <a:ext uri="{FF2B5EF4-FFF2-40B4-BE49-F238E27FC236}">
                    <a16:creationId xmlns:a16="http://schemas.microsoft.com/office/drawing/2014/main" id="{A3F80DC6-562A-FE3A-1A0A-B95934AB397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7916831" y="3391066"/>
                <a:ext cx="1190559" cy="1190559"/>
              </a:xfrm>
              <a:prstGeom prst="rect">
                <a:avLst/>
              </a:prstGeom>
            </p:spPr>
          </p:pic>
          <p:pic>
            <p:nvPicPr>
              <p:cNvPr id="27" name="Picture 26">
                <a:extLst>
                  <a:ext uri="{FF2B5EF4-FFF2-40B4-BE49-F238E27FC236}">
                    <a16:creationId xmlns:a16="http://schemas.microsoft.com/office/drawing/2014/main" id="{96710542-58B1-F270-5788-902A7CC85C5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5412285" y="2555202"/>
                <a:ext cx="1367429" cy="912064"/>
              </a:xfrm>
              <a:prstGeom prst="rect">
                <a:avLst/>
              </a:prstGeom>
            </p:spPr>
          </p:pic>
          <p:pic>
            <p:nvPicPr>
              <p:cNvPr id="28" name="Picture 27">
                <a:extLst>
                  <a:ext uri="{FF2B5EF4-FFF2-40B4-BE49-F238E27FC236}">
                    <a16:creationId xmlns:a16="http://schemas.microsoft.com/office/drawing/2014/main" id="{D11375E4-35FD-F955-FBC6-C567A48483A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7695225" y="850393"/>
                <a:ext cx="2516546" cy="962143"/>
              </a:xfrm>
              <a:prstGeom prst="rect">
                <a:avLst/>
              </a:prstGeom>
            </p:spPr>
          </p:pic>
          <p:pic>
            <p:nvPicPr>
              <p:cNvPr id="29" name="Picture 28" descr="Texas T-Brand Taco® | Sides Menu | Texas Dairy Queen®">
                <a:extLst>
                  <a:ext uri="{FF2B5EF4-FFF2-40B4-BE49-F238E27FC236}">
                    <a16:creationId xmlns:a16="http://schemas.microsoft.com/office/drawing/2014/main" id="{0D336D63-CA30-45A7-A8E0-5CEBADCCD22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9824331" y="4450555"/>
                <a:ext cx="1190560" cy="1190560"/>
              </a:xfrm>
              <a:prstGeom prst="rect">
                <a:avLst/>
              </a:prstGeom>
            </p:spPr>
          </p:pic>
          <p:pic>
            <p:nvPicPr>
              <p:cNvPr id="30" name="Picture 29">
                <a:extLst>
                  <a:ext uri="{FF2B5EF4-FFF2-40B4-BE49-F238E27FC236}">
                    <a16:creationId xmlns:a16="http://schemas.microsoft.com/office/drawing/2014/main" id="{05A47649-FAE8-0A22-8B2F-9FFF16EABC2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3213030" y="542925"/>
                <a:ext cx="2199255" cy="1649441"/>
              </a:xfrm>
              <a:prstGeom prst="rect">
                <a:avLst/>
              </a:prstGeom>
            </p:spPr>
          </p:pic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85B42533-F729-79E2-425C-974F72D3872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3046314" y="4108755"/>
                <a:ext cx="1138404" cy="982968"/>
              </a:xfrm>
              <a:prstGeom prst="rect">
                <a:avLst/>
              </a:prstGeom>
            </p:spPr>
          </p:pic>
          <p:pic>
            <p:nvPicPr>
              <p:cNvPr id="32" name="Picture 31">
                <a:extLst>
                  <a:ext uri="{FF2B5EF4-FFF2-40B4-BE49-F238E27FC236}">
                    <a16:creationId xmlns:a16="http://schemas.microsoft.com/office/drawing/2014/main" id="{86522B45-ACEC-F0C6-CEB1-9FBCE10B4EE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5655755" y="4830907"/>
                <a:ext cx="1515560" cy="1325563"/>
              </a:xfrm>
              <a:prstGeom prst="rect">
                <a:avLst/>
              </a:prstGeom>
            </p:spPr>
          </p:pic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D2508275-7E47-F532-63E6-9C0D2F73FD7E}"/>
                  </a:ext>
                </a:extLst>
              </p:cNvPr>
              <p:cNvCxnSpPr/>
              <p:nvPr/>
            </p:nvCxnSpPr>
            <p:spPr>
              <a:xfrm flipV="1">
                <a:off x="6779714" y="1885950"/>
                <a:ext cx="1435631" cy="7620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A013CFCC-BF26-7BF4-B167-C14F2FBEAEAC}"/>
                  </a:ext>
                </a:extLst>
              </p:cNvPr>
              <p:cNvCxnSpPr/>
              <p:nvPr/>
            </p:nvCxnSpPr>
            <p:spPr>
              <a:xfrm>
                <a:off x="6779714" y="3244235"/>
                <a:ext cx="1307011" cy="51814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6A01805D-82CD-185D-E014-8BEE457B2208}"/>
                  </a:ext>
                </a:extLst>
              </p:cNvPr>
              <p:cNvCxnSpPr/>
              <p:nvPr/>
            </p:nvCxnSpPr>
            <p:spPr>
              <a:xfrm>
                <a:off x="8953500" y="4141665"/>
                <a:ext cx="870831" cy="627917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3B4A7221-3857-5952-5751-2FFEB51AFE5D}"/>
                  </a:ext>
                </a:extLst>
              </p:cNvPr>
              <p:cNvCxnSpPr>
                <a:cxnSpLocks/>
                <a:stCxn id="27" idx="2"/>
              </p:cNvCxnSpPr>
              <p:nvPr/>
            </p:nvCxnSpPr>
            <p:spPr>
              <a:xfrm>
                <a:off x="6096000" y="3467266"/>
                <a:ext cx="117755" cy="157856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525C07A1-23DB-6820-585A-9C4F85A9652B}"/>
                  </a:ext>
                </a:extLst>
              </p:cNvPr>
              <p:cNvCxnSpPr/>
              <p:nvPr/>
            </p:nvCxnSpPr>
            <p:spPr>
              <a:xfrm flipH="1">
                <a:off x="4181475" y="3324225"/>
                <a:ext cx="1230810" cy="9144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F7CF7089-CE02-EDC3-E41A-4A02B8FA6441}"/>
                  </a:ext>
                </a:extLst>
              </p:cNvPr>
              <p:cNvCxnSpPr/>
              <p:nvPr/>
            </p:nvCxnSpPr>
            <p:spPr>
              <a:xfrm flipH="1" flipV="1">
                <a:off x="4924425" y="1885950"/>
                <a:ext cx="561975" cy="669252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2406D02B-F557-8818-50EF-800B2A5419F3}"/>
                </a:ext>
              </a:extLst>
            </p:cNvPr>
            <p:cNvCxnSpPr/>
            <p:nvPr/>
          </p:nvCxnSpPr>
          <p:spPr>
            <a:xfrm>
              <a:off x="2735580" y="3049973"/>
              <a:ext cx="1737360" cy="0"/>
            </a:xfrm>
            <a:prstGeom prst="straightConnector1">
              <a:avLst/>
            </a:prstGeom>
            <a:ln w="57150">
              <a:solidFill>
                <a:schemeClr val="tx1"/>
              </a:solidFill>
              <a:prstDash val="dash"/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44925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FD654B-8572-2EF7-9C40-9F75121D4A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3387"/>
            <a:ext cx="10515600" cy="3451225"/>
          </a:xfrm>
        </p:spPr>
        <p:txBody>
          <a:bodyPr/>
          <a:lstStyle/>
          <a:p>
            <a:pPr marL="0" indent="0">
              <a:buNone/>
            </a:pPr>
            <a:r>
              <a:rPr lang="en-US" sz="3600" dirty="0">
                <a:solidFill>
                  <a:schemeClr val="tx2"/>
                </a:solidFill>
              </a:rPr>
              <a:t>Abstraction</a:t>
            </a:r>
          </a:p>
          <a:p>
            <a:pPr marL="0" indent="0">
              <a:buNone/>
            </a:pPr>
            <a:r>
              <a:rPr lang="en-US" dirty="0"/>
              <a:t>Stripping away surface details to retain a deeper relational structure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3600" dirty="0">
                <a:solidFill>
                  <a:schemeClr val="tx2"/>
                </a:solidFill>
              </a:rPr>
              <a:t>Generalization</a:t>
            </a:r>
          </a:p>
          <a:p>
            <a:pPr marL="0" indent="0">
              <a:buNone/>
            </a:pPr>
            <a:r>
              <a:rPr lang="en-US" dirty="0"/>
              <a:t>Extending from several cases to a broader category or pattern</a:t>
            </a:r>
          </a:p>
        </p:txBody>
      </p:sp>
    </p:spTree>
    <p:extLst>
      <p:ext uri="{BB962C8B-B14F-4D97-AF65-F5344CB8AC3E}">
        <p14:creationId xmlns:p14="http://schemas.microsoft.com/office/powerpoint/2010/main" val="752441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F4057B0-D151-01AC-F93C-6102319221A0}"/>
              </a:ext>
            </a:extLst>
          </p:cNvPr>
          <p:cNvCxnSpPr>
            <a:cxnSpLocks/>
          </p:cNvCxnSpPr>
          <p:nvPr/>
        </p:nvCxnSpPr>
        <p:spPr>
          <a:xfrm>
            <a:off x="5815012" y="1441966"/>
            <a:ext cx="0" cy="3876675"/>
          </a:xfrm>
          <a:prstGeom prst="line">
            <a:avLst/>
          </a:prstGeom>
          <a:ln w="38100">
            <a:solidFill>
              <a:schemeClr val="accent1"/>
            </a:solidFill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2449C1F-6A8C-368A-BD0B-5CD93201FF1D}"/>
              </a:ext>
            </a:extLst>
          </p:cNvPr>
          <p:cNvCxnSpPr>
            <a:cxnSpLocks/>
          </p:cNvCxnSpPr>
          <p:nvPr/>
        </p:nvCxnSpPr>
        <p:spPr>
          <a:xfrm>
            <a:off x="2886075" y="3380303"/>
            <a:ext cx="5857875" cy="0"/>
          </a:xfrm>
          <a:prstGeom prst="line">
            <a:avLst/>
          </a:prstGeom>
          <a:ln w="38100">
            <a:solidFill>
              <a:schemeClr val="accent1"/>
            </a:solidFill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27742DC-755E-94EF-6EC7-D09C81EC9972}"/>
              </a:ext>
            </a:extLst>
          </p:cNvPr>
          <p:cNvSpPr txBox="1"/>
          <p:nvPr/>
        </p:nvSpPr>
        <p:spPr>
          <a:xfrm>
            <a:off x="4975807" y="857191"/>
            <a:ext cx="167840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>
                <a:solidFill>
                  <a:schemeClr val="tx2"/>
                </a:solidFill>
              </a:rPr>
              <a:t>Abstract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501D34-3C27-F48A-57AB-B94BF1426223}"/>
              </a:ext>
            </a:extLst>
          </p:cNvPr>
          <p:cNvSpPr txBox="1"/>
          <p:nvPr/>
        </p:nvSpPr>
        <p:spPr>
          <a:xfrm>
            <a:off x="4899344" y="5416034"/>
            <a:ext cx="18313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>
                <a:solidFill>
                  <a:schemeClr val="tx2"/>
                </a:solidFill>
              </a:rPr>
              <a:t>Concrete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ECA0408-9931-FCD0-6102-AE1DFC92E275}"/>
              </a:ext>
            </a:extLst>
          </p:cNvPr>
          <p:cNvSpPr txBox="1"/>
          <p:nvPr/>
        </p:nvSpPr>
        <p:spPr>
          <a:xfrm>
            <a:off x="1273133" y="3087914"/>
            <a:ext cx="16129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>
                <a:solidFill>
                  <a:schemeClr val="tx2"/>
                </a:solidFill>
              </a:rPr>
              <a:t>Specific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A4B5E4C-B8E0-9299-4735-86728357471D}"/>
              </a:ext>
            </a:extLst>
          </p:cNvPr>
          <p:cNvSpPr txBox="1"/>
          <p:nvPr/>
        </p:nvSpPr>
        <p:spPr>
          <a:xfrm>
            <a:off x="8743950" y="3087915"/>
            <a:ext cx="15846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>
                <a:solidFill>
                  <a:schemeClr val="tx2"/>
                </a:solidFill>
              </a:rPr>
              <a:t>General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5F44056C-E999-5200-7794-912816C7B9A1}"/>
              </a:ext>
            </a:extLst>
          </p:cNvPr>
          <p:cNvSpPr/>
          <p:nvPr/>
        </p:nvSpPr>
        <p:spPr>
          <a:xfrm>
            <a:off x="3034959" y="4765431"/>
            <a:ext cx="465287" cy="465287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63E02A5-2462-EC41-026A-C6830A631EA2}"/>
              </a:ext>
            </a:extLst>
          </p:cNvPr>
          <p:cNvSpPr/>
          <p:nvPr/>
        </p:nvSpPr>
        <p:spPr>
          <a:xfrm>
            <a:off x="3034959" y="1537976"/>
            <a:ext cx="465287" cy="465287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90C0C94-EA90-FECB-3713-CAF6D7E7E8A8}"/>
              </a:ext>
            </a:extLst>
          </p:cNvPr>
          <p:cNvSpPr/>
          <p:nvPr/>
        </p:nvSpPr>
        <p:spPr>
          <a:xfrm>
            <a:off x="7674192" y="1537976"/>
            <a:ext cx="465287" cy="465287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A512A19-B094-4468-2341-1A5CAD2702CD}"/>
              </a:ext>
            </a:extLst>
          </p:cNvPr>
          <p:cNvSpPr/>
          <p:nvPr/>
        </p:nvSpPr>
        <p:spPr>
          <a:xfrm>
            <a:off x="3500246" y="1997896"/>
            <a:ext cx="465287" cy="465287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07A84A7-D385-BAC9-FA98-20234885E72A}"/>
              </a:ext>
            </a:extLst>
          </p:cNvPr>
          <p:cNvSpPr/>
          <p:nvPr/>
        </p:nvSpPr>
        <p:spPr>
          <a:xfrm>
            <a:off x="3500246" y="4300144"/>
            <a:ext cx="465287" cy="465287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A7F3979-16F1-A0F9-8545-ECBA93F0E967}"/>
              </a:ext>
            </a:extLst>
          </p:cNvPr>
          <p:cNvCxnSpPr>
            <a:stCxn id="2" idx="0"/>
            <a:endCxn id="4" idx="4"/>
          </p:cNvCxnSpPr>
          <p:nvPr/>
        </p:nvCxnSpPr>
        <p:spPr>
          <a:xfrm flipV="1">
            <a:off x="3267603" y="2003263"/>
            <a:ext cx="0" cy="2762168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B65BD57-A876-DA02-7DFE-4C07D80C3FA1}"/>
              </a:ext>
            </a:extLst>
          </p:cNvPr>
          <p:cNvCxnSpPr>
            <a:stCxn id="4" idx="6"/>
            <a:endCxn id="9" idx="2"/>
          </p:cNvCxnSpPr>
          <p:nvPr/>
        </p:nvCxnSpPr>
        <p:spPr>
          <a:xfrm>
            <a:off x="3500246" y="1770620"/>
            <a:ext cx="4173946" cy="0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68DB55D-03C9-9084-A3C2-26C75CB106D7}"/>
              </a:ext>
            </a:extLst>
          </p:cNvPr>
          <p:cNvCxnSpPr>
            <a:stCxn id="9" idx="2"/>
            <a:endCxn id="13" idx="6"/>
          </p:cNvCxnSpPr>
          <p:nvPr/>
        </p:nvCxnSpPr>
        <p:spPr>
          <a:xfrm flipH="1">
            <a:off x="3965533" y="1770620"/>
            <a:ext cx="3708659" cy="459920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7D16FF2-5408-B7C6-E2FE-8E99920D6A8B}"/>
              </a:ext>
            </a:extLst>
          </p:cNvPr>
          <p:cNvCxnSpPr>
            <a:stCxn id="13" idx="4"/>
            <a:endCxn id="17" idx="0"/>
          </p:cNvCxnSpPr>
          <p:nvPr/>
        </p:nvCxnSpPr>
        <p:spPr>
          <a:xfrm>
            <a:off x="3732890" y="2463183"/>
            <a:ext cx="0" cy="1836961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C11185BA-9164-ECD1-EC01-221A4D9F5521}"/>
              </a:ext>
            </a:extLst>
          </p:cNvPr>
          <p:cNvSpPr txBox="1"/>
          <p:nvPr/>
        </p:nvSpPr>
        <p:spPr>
          <a:xfrm>
            <a:off x="4822816" y="5995422"/>
            <a:ext cx="19843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i="1" dirty="0">
                <a:solidFill>
                  <a:schemeClr val="tx2"/>
                </a:solidFill>
              </a:rPr>
              <a:t>(Surfaces)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73962AD-6E39-66E3-6149-7DF3DFDE0837}"/>
              </a:ext>
            </a:extLst>
          </p:cNvPr>
          <p:cNvSpPr txBox="1"/>
          <p:nvPr/>
        </p:nvSpPr>
        <p:spPr>
          <a:xfrm>
            <a:off x="4753664" y="376023"/>
            <a:ext cx="21226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i="1" dirty="0">
                <a:solidFill>
                  <a:schemeClr val="tx2"/>
                </a:solidFill>
              </a:rPr>
              <a:t>(Essences)</a:t>
            </a:r>
          </a:p>
        </p:txBody>
      </p:sp>
    </p:spTree>
    <p:extLst>
      <p:ext uri="{BB962C8B-B14F-4D97-AF65-F5344CB8AC3E}">
        <p14:creationId xmlns:p14="http://schemas.microsoft.com/office/powerpoint/2010/main" val="187828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9" grpId="0" animBg="1"/>
      <p:bldP spid="13" grpId="0" animBg="1"/>
      <p:bldP spid="1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6BB164-08DA-421C-CDCE-C9C2191771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3175"/>
            <a:ext cx="5057775" cy="4351338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3600" dirty="0">
                <a:solidFill>
                  <a:schemeClr val="tx2"/>
                </a:solidFill>
              </a:rPr>
              <a:t>Good Analogies</a:t>
            </a:r>
          </a:p>
          <a:p>
            <a:pPr>
              <a:lnSpc>
                <a:spcPct val="150000"/>
              </a:lnSpc>
            </a:pPr>
            <a:r>
              <a:rPr lang="en-US" sz="2600" dirty="0"/>
              <a:t>Identify the essential</a:t>
            </a:r>
          </a:p>
          <a:p>
            <a:pPr>
              <a:lnSpc>
                <a:spcPct val="150000"/>
              </a:lnSpc>
            </a:pPr>
            <a:r>
              <a:rPr lang="en-US" sz="2600" dirty="0"/>
              <a:t>Ignore the irrelevant</a:t>
            </a:r>
          </a:p>
          <a:p>
            <a:pPr>
              <a:lnSpc>
                <a:spcPct val="150000"/>
              </a:lnSpc>
            </a:pPr>
            <a:r>
              <a:rPr lang="en-US" sz="2600" dirty="0"/>
              <a:t>Preserve relational structure</a:t>
            </a:r>
          </a:p>
          <a:p>
            <a:pPr>
              <a:lnSpc>
                <a:spcPct val="150000"/>
              </a:lnSpc>
            </a:pPr>
            <a:r>
              <a:rPr lang="en-US" sz="2600" dirty="0"/>
              <a:t>Support useful inference</a:t>
            </a:r>
          </a:p>
          <a:p>
            <a:pPr>
              <a:lnSpc>
                <a:spcPct val="150000"/>
              </a:lnSpc>
            </a:pPr>
            <a:r>
              <a:rPr lang="en-US" sz="2600" dirty="0"/>
              <a:t>Bridge different domains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9385188-DD09-F53F-FAD3-36DEFA8DBCE0}"/>
              </a:ext>
            </a:extLst>
          </p:cNvPr>
          <p:cNvSpPr txBox="1">
            <a:spLocks/>
          </p:cNvSpPr>
          <p:nvPr/>
        </p:nvSpPr>
        <p:spPr>
          <a:xfrm>
            <a:off x="6296027" y="1273175"/>
            <a:ext cx="5057775" cy="435133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3600" dirty="0">
                <a:solidFill>
                  <a:schemeClr val="tx2"/>
                </a:solidFill>
              </a:rPr>
              <a:t>Poor Analogies</a:t>
            </a:r>
          </a:p>
          <a:p>
            <a:pPr>
              <a:lnSpc>
                <a:spcPct val="150000"/>
              </a:lnSpc>
            </a:pPr>
            <a:r>
              <a:rPr lang="en-US" sz="2600" dirty="0"/>
              <a:t>Depend on surface resemblance</a:t>
            </a:r>
          </a:p>
          <a:p>
            <a:pPr>
              <a:lnSpc>
                <a:spcPct val="150000"/>
              </a:lnSpc>
            </a:pPr>
            <a:r>
              <a:rPr lang="en-US" sz="2600" dirty="0"/>
              <a:t>Map the salient but irrelevant</a:t>
            </a:r>
          </a:p>
          <a:p>
            <a:pPr>
              <a:lnSpc>
                <a:spcPct val="150000"/>
              </a:lnSpc>
            </a:pPr>
            <a:r>
              <a:rPr lang="en-US" sz="2600" dirty="0"/>
              <a:t>Ignore structural differences</a:t>
            </a:r>
          </a:p>
          <a:p>
            <a:pPr>
              <a:lnSpc>
                <a:spcPct val="150000"/>
              </a:lnSpc>
            </a:pPr>
            <a:r>
              <a:rPr lang="en-US" sz="2600" dirty="0"/>
              <a:t>Encourage invalid inference</a:t>
            </a:r>
          </a:p>
          <a:p>
            <a:pPr>
              <a:lnSpc>
                <a:spcPct val="150000"/>
              </a:lnSpc>
            </a:pPr>
            <a:r>
              <a:rPr lang="en-US" sz="2600" dirty="0"/>
              <a:t>Fail to extend across domains</a:t>
            </a:r>
          </a:p>
        </p:txBody>
      </p:sp>
    </p:spTree>
    <p:extLst>
      <p:ext uri="{BB962C8B-B14F-4D97-AF65-F5344CB8AC3E}">
        <p14:creationId xmlns:p14="http://schemas.microsoft.com/office/powerpoint/2010/main" val="898316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6CCBC-8323-D44F-F795-BE9ADC593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9600" dirty="0">
                <a:solidFill>
                  <a:schemeClr val="tx2"/>
                </a:solidFill>
              </a:rPr>
              <a:t>So what?</a:t>
            </a:r>
          </a:p>
        </p:txBody>
      </p:sp>
    </p:spTree>
    <p:extLst>
      <p:ext uri="{BB962C8B-B14F-4D97-AF65-F5344CB8AC3E}">
        <p14:creationId xmlns:p14="http://schemas.microsoft.com/office/powerpoint/2010/main" val="20579453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961854-E168-86A5-1561-ECCC4602B6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0552" y="1845500"/>
            <a:ext cx="7930896" cy="3166999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/>
              <a:t>There are two hard problems in computer science: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0. Cache invalidation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1. Naming things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2. Off-by-one errors</a:t>
            </a:r>
          </a:p>
        </p:txBody>
      </p:sp>
    </p:spTree>
    <p:extLst>
      <p:ext uri="{BB962C8B-B14F-4D97-AF65-F5344CB8AC3E}">
        <p14:creationId xmlns:p14="http://schemas.microsoft.com/office/powerpoint/2010/main" val="3159178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8473CE-E6D1-365F-F5A7-2ACF32275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00A1D-D7CE-BB5F-85F9-837453F18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What’s in a name?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2D676C2-A7AB-C985-F0A1-09D41B1A188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04337" y="1685942"/>
            <a:ext cx="2122551" cy="23276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4431EFD-5E84-6970-C9AE-D5F4FE6AD92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29597" y="1685942"/>
            <a:ext cx="2090471" cy="210238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6CCC811-E760-E730-D433-D567C0899269}"/>
              </a:ext>
            </a:extLst>
          </p:cNvPr>
          <p:cNvSpPr txBox="1"/>
          <p:nvPr/>
        </p:nvSpPr>
        <p:spPr>
          <a:xfrm>
            <a:off x="1634211" y="4204070"/>
            <a:ext cx="242566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Glass and wood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Hinged or sliding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Handle mechanism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F43287-5DFE-0E17-6070-7F6A58A68674}"/>
              </a:ext>
            </a:extLst>
          </p:cNvPr>
          <p:cNvSpPr txBox="1"/>
          <p:nvPr/>
        </p:nvSpPr>
        <p:spPr>
          <a:xfrm>
            <a:off x="7852629" y="4204070"/>
            <a:ext cx="282596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Region of colored pixels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Drag, min, max, close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Running program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B35DD8-4AAD-F021-F46D-7BB31E94D742}"/>
              </a:ext>
            </a:extLst>
          </p:cNvPr>
          <p:cNvSpPr txBox="1"/>
          <p:nvPr/>
        </p:nvSpPr>
        <p:spPr>
          <a:xfrm>
            <a:off x="5161417" y="5078977"/>
            <a:ext cx="186916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Frame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Bounded view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Open / close</a:t>
            </a:r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D403AB62-60EA-43E4-BBF9-13BB2631ECFC}"/>
              </a:ext>
            </a:extLst>
          </p:cNvPr>
          <p:cNvSpPr/>
          <p:nvPr/>
        </p:nvSpPr>
        <p:spPr>
          <a:xfrm rot="6439677">
            <a:off x="6496034" y="3392339"/>
            <a:ext cx="1951258" cy="2964789"/>
          </a:xfrm>
          <a:prstGeom prst="arc">
            <a:avLst/>
          </a:prstGeom>
          <a:ln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AF6F50BD-F5C0-78C8-918C-A4006F190BDF}"/>
              </a:ext>
            </a:extLst>
          </p:cNvPr>
          <p:cNvSpPr/>
          <p:nvPr/>
        </p:nvSpPr>
        <p:spPr>
          <a:xfrm rot="15160323" flipH="1">
            <a:off x="3577113" y="3392339"/>
            <a:ext cx="1951258" cy="2964789"/>
          </a:xfrm>
          <a:prstGeom prst="arc">
            <a:avLst/>
          </a:prstGeom>
          <a:ln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4343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37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37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9" grpId="0"/>
      <p:bldP spid="15" grpId="0" animBg="1"/>
      <p:bldP spid="1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21D18-F7A5-3747-4B80-096B90F17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797B4-3810-977E-5749-E4767BA4C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What’s in a name?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86EC71-AEE1-C119-00B7-E76BFA89DF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987" y="1964245"/>
            <a:ext cx="2691706" cy="201339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6A163CC-438B-2C01-5343-2BBF69851DBD}"/>
              </a:ext>
            </a:extLst>
          </p:cNvPr>
          <p:cNvSpPr txBox="1"/>
          <p:nvPr/>
        </p:nvSpPr>
        <p:spPr>
          <a:xfrm>
            <a:off x="8177537" y="2054777"/>
            <a:ext cx="3062476" cy="1922864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rgbClr val="4181C7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public</a:t>
            </a:r>
            <a:r>
              <a:rPr lang="en-US" sz="8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4181C7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class</a:t>
            </a:r>
            <a:r>
              <a:rPr lang="en-US" sz="8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800" dirty="0" err="1">
                <a:solidFill>
                  <a:srgbClr val="4AC3B1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CarFactory</a:t>
            </a:r>
            <a:r>
              <a:rPr lang="en-US" sz="8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BEB6B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8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800" dirty="0" err="1">
                <a:solidFill>
                  <a:srgbClr val="4AC3B1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IFactory</a:t>
            </a:r>
            <a:r>
              <a:rPr lang="en-US" sz="800" dirty="0">
                <a:solidFill>
                  <a:srgbClr val="BEB6B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&lt;</a:t>
            </a:r>
            <a:r>
              <a:rPr lang="en-US" sz="800" dirty="0">
                <a:solidFill>
                  <a:srgbClr val="4AC3B1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Car</a:t>
            </a:r>
            <a:r>
              <a:rPr lang="en-US" sz="800" dirty="0">
                <a:solidFill>
                  <a:srgbClr val="BEB6B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800" dirty="0" err="1">
                <a:solidFill>
                  <a:srgbClr val="4AC3B1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CarSpec</a:t>
            </a:r>
            <a:r>
              <a:rPr lang="en-US" sz="800" dirty="0">
                <a:solidFill>
                  <a:srgbClr val="BEB6B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&gt;</a:t>
            </a:r>
          </a:p>
          <a:p>
            <a:r>
              <a:rPr lang="en-US" sz="800" dirty="0">
                <a:solidFill>
                  <a:srgbClr val="BEB6B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{</a:t>
            </a:r>
          </a:p>
          <a:p>
            <a:r>
              <a:rPr lang="en-US" sz="800" dirty="0">
                <a:solidFill>
                  <a:srgbClr val="BEB6B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</a:t>
            </a:r>
            <a:r>
              <a:rPr lang="en-US" sz="800" dirty="0">
                <a:solidFill>
                  <a:srgbClr val="4181C7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public</a:t>
            </a:r>
            <a:r>
              <a:rPr lang="en-US" sz="800" dirty="0">
                <a:solidFill>
                  <a:srgbClr val="BEB6B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800" dirty="0" err="1">
                <a:solidFill>
                  <a:srgbClr val="4AC3B1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CarFactory</a:t>
            </a:r>
            <a:r>
              <a:rPr lang="en-US" sz="800" dirty="0">
                <a:solidFill>
                  <a:srgbClr val="BEB6B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</a:p>
          <a:p>
            <a:r>
              <a:rPr lang="en-US" sz="800" dirty="0">
                <a:solidFill>
                  <a:srgbClr val="BEB6B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  ...</a:t>
            </a:r>
          </a:p>
          <a:p>
            <a:r>
              <a:rPr lang="en-US" sz="800" dirty="0">
                <a:solidFill>
                  <a:srgbClr val="BEB6B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)</a:t>
            </a:r>
          </a:p>
          <a:p>
            <a:endParaRPr lang="en-US" sz="800" dirty="0">
              <a:solidFill>
                <a:srgbClr val="BEB6B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8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</a:t>
            </a:r>
            <a:r>
              <a:rPr lang="en-US" sz="800" dirty="0">
                <a:solidFill>
                  <a:srgbClr val="4181C7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public</a:t>
            </a:r>
            <a:r>
              <a:rPr lang="en-US" sz="8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4AC3B1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Car</a:t>
            </a:r>
            <a:r>
              <a:rPr lang="en-US" sz="8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D5CE84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Create</a:t>
            </a:r>
            <a:r>
              <a:rPr lang="en-US" sz="800" dirty="0">
                <a:solidFill>
                  <a:srgbClr val="BEB6B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800" dirty="0" err="1">
                <a:solidFill>
                  <a:srgbClr val="4AC3B1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CarSpec</a:t>
            </a:r>
            <a:r>
              <a:rPr lang="en-US" sz="8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7ACDF6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spec</a:t>
            </a:r>
            <a:r>
              <a:rPr lang="en-US" sz="800" dirty="0">
                <a:solidFill>
                  <a:srgbClr val="BEB6B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</a:p>
          <a:p>
            <a:r>
              <a:rPr lang="en-US" sz="8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</a:t>
            </a:r>
            <a:r>
              <a:rPr lang="en-US" sz="800" dirty="0">
                <a:solidFill>
                  <a:srgbClr val="BEB6B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{</a:t>
            </a:r>
          </a:p>
          <a:p>
            <a:r>
              <a:rPr lang="en-US" sz="8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  </a:t>
            </a:r>
            <a:r>
              <a:rPr lang="en-US" sz="800" dirty="0">
                <a:solidFill>
                  <a:srgbClr val="4181C7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var</a:t>
            </a:r>
            <a:r>
              <a:rPr lang="en-US" sz="8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7ACDF6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car</a:t>
            </a:r>
            <a:r>
              <a:rPr lang="en-US" sz="8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BEB6B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=</a:t>
            </a:r>
            <a:r>
              <a:rPr lang="en-US" sz="8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4181C7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new</a:t>
            </a:r>
            <a:r>
              <a:rPr lang="en-US" sz="8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4AC3B1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Car</a:t>
            </a:r>
            <a:r>
              <a:rPr lang="en-US" sz="800" dirty="0">
                <a:solidFill>
                  <a:srgbClr val="BEB6B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();</a:t>
            </a:r>
          </a:p>
          <a:p>
            <a:endParaRPr lang="en-US" sz="800" dirty="0">
              <a:solidFill>
                <a:srgbClr val="FF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8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  </a:t>
            </a:r>
            <a:r>
              <a:rPr lang="en-US" sz="800" dirty="0">
                <a:solidFill>
                  <a:srgbClr val="BEB6B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...</a:t>
            </a:r>
          </a:p>
          <a:p>
            <a:endParaRPr lang="en-US" sz="800" dirty="0">
              <a:solidFill>
                <a:srgbClr val="FF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8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  </a:t>
            </a:r>
            <a:r>
              <a:rPr lang="en-US" sz="800" dirty="0">
                <a:solidFill>
                  <a:srgbClr val="C689AA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return</a:t>
            </a:r>
            <a:r>
              <a:rPr lang="en-US" sz="8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7ACDF6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car</a:t>
            </a:r>
            <a:r>
              <a:rPr lang="en-US" sz="800" dirty="0">
                <a:solidFill>
                  <a:srgbClr val="BEB6B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;</a:t>
            </a:r>
          </a:p>
          <a:p>
            <a:r>
              <a:rPr lang="en-US" sz="8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</a:t>
            </a:r>
            <a:r>
              <a:rPr lang="en-US" sz="800" dirty="0">
                <a:solidFill>
                  <a:srgbClr val="BEB6B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}</a:t>
            </a:r>
          </a:p>
          <a:p>
            <a:r>
              <a:rPr lang="en-US" sz="800" dirty="0">
                <a:solidFill>
                  <a:srgbClr val="BEB6B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AD43D4-A714-5464-0BF4-CB2A599262BF}"/>
              </a:ext>
            </a:extLst>
          </p:cNvPr>
          <p:cNvSpPr txBox="1"/>
          <p:nvPr/>
        </p:nvSpPr>
        <p:spPr>
          <a:xfrm>
            <a:off x="693311" y="4123943"/>
            <a:ext cx="319959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Concrete and steel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Conveyors, stations, stocks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Workers performing tasks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D9DA85-00AF-D8D7-1442-58CB1829A36C}"/>
              </a:ext>
            </a:extLst>
          </p:cNvPr>
          <p:cNvSpPr txBox="1"/>
          <p:nvPr/>
        </p:nvSpPr>
        <p:spPr>
          <a:xfrm>
            <a:off x="7843809" y="4122966"/>
            <a:ext cx="372993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Sequence of characters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C# abstract syntax tree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Class inheriting generic interface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7E7E26-C127-83D4-9327-502BC95B2DC3}"/>
              </a:ext>
            </a:extLst>
          </p:cNvPr>
          <p:cNvSpPr txBox="1"/>
          <p:nvPr/>
        </p:nvSpPr>
        <p:spPr>
          <a:xfrm>
            <a:off x="4362961" y="5324271"/>
            <a:ext cx="34660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Encapsulation of construction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Repetitive consistency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42D87D5F-87EF-4447-1C80-9A4C0A37F575}"/>
              </a:ext>
            </a:extLst>
          </p:cNvPr>
          <p:cNvSpPr/>
          <p:nvPr/>
        </p:nvSpPr>
        <p:spPr>
          <a:xfrm rot="6439677">
            <a:off x="7489833" y="3392336"/>
            <a:ext cx="1951258" cy="2964789"/>
          </a:xfrm>
          <a:prstGeom prst="arc">
            <a:avLst/>
          </a:prstGeom>
          <a:ln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5AF202D8-611F-6CA0-E17E-25AB67A2CFB6}"/>
              </a:ext>
            </a:extLst>
          </p:cNvPr>
          <p:cNvSpPr/>
          <p:nvPr/>
        </p:nvSpPr>
        <p:spPr>
          <a:xfrm rot="15160323" flipH="1">
            <a:off x="2750908" y="3392337"/>
            <a:ext cx="1951258" cy="2964789"/>
          </a:xfrm>
          <a:prstGeom prst="arc">
            <a:avLst/>
          </a:prstGeom>
          <a:ln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39245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37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8" grpId="0"/>
      <p:bldP spid="10" grpId="0"/>
      <p:bldP spid="12" grpId="0" animBg="1"/>
      <p:bldP spid="1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03C25F-D91D-8BA3-2DD6-D3E31E719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6524" y="738282"/>
            <a:ext cx="8378952" cy="5381435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3600" dirty="0">
                <a:solidFill>
                  <a:schemeClr val="tx2"/>
                </a:solidFill>
              </a:rPr>
              <a:t>To name things well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Abstract away the details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Look for metaphors and analogies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endParaRPr lang="en-US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3600" dirty="0">
                <a:solidFill>
                  <a:schemeClr val="tx2"/>
                </a:solidFill>
              </a:rPr>
              <a:t>Hint: #2 gets easier when</a:t>
            </a:r>
          </a:p>
          <a:p>
            <a:pPr>
              <a:lnSpc>
                <a:spcPct val="150000"/>
              </a:lnSpc>
            </a:pPr>
            <a:r>
              <a:rPr lang="en-US" dirty="0"/>
              <a:t>You understand how metaphors and analogies work</a:t>
            </a:r>
          </a:p>
          <a:p>
            <a:pPr>
              <a:lnSpc>
                <a:spcPct val="150000"/>
              </a:lnSpc>
            </a:pPr>
            <a:r>
              <a:rPr lang="en-US" dirty="0"/>
              <a:t>You have a lot of other mental models to draw on</a:t>
            </a:r>
          </a:p>
        </p:txBody>
      </p:sp>
    </p:spTree>
    <p:extLst>
      <p:ext uri="{BB962C8B-B14F-4D97-AF65-F5344CB8AC3E}">
        <p14:creationId xmlns:p14="http://schemas.microsoft.com/office/powerpoint/2010/main" val="2326278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8925ED1-78B7-D876-5806-EB728EA7ECB3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02855" y="857250"/>
            <a:ext cx="3425571" cy="5143500"/>
          </a:xfrm>
          <a:prstGeom prst="rect">
            <a:avLst/>
          </a:prstGeom>
        </p:spPr>
      </p:pic>
      <p:pic>
        <p:nvPicPr>
          <p:cNvPr id="5" name="Picture 4" descr="The Great Mental Models">
            <a:extLst>
              <a:ext uri="{FF2B5EF4-FFF2-40B4-BE49-F238E27FC236}">
                <a16:creationId xmlns:a16="http://schemas.microsoft.com/office/drawing/2014/main" id="{4B0ECF20-602E-E9DC-ADE0-A7AF88E495BC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49210" y="857250"/>
            <a:ext cx="3339935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8654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585546E-EB5F-8F2C-A2A5-707605791E16}"/>
              </a:ext>
            </a:extLst>
          </p:cNvPr>
          <p:cNvSpPr txBox="1"/>
          <p:nvPr/>
        </p:nvSpPr>
        <p:spPr>
          <a:xfrm>
            <a:off x="2368296" y="1655064"/>
            <a:ext cx="896694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CA" sz="3600" dirty="0">
                <a:solidFill>
                  <a:schemeClr val="tx2"/>
                </a:solidFill>
              </a:rPr>
              <a:t>“All models are wrong, but some are useful.”</a:t>
            </a:r>
          </a:p>
          <a:p>
            <a:pPr algn="r"/>
            <a:r>
              <a:rPr lang="en-CA" sz="2000" dirty="0"/>
              <a:t>George E.P. Box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2B7C93-3303-8FEF-B0C1-27C21AF446D9}"/>
              </a:ext>
            </a:extLst>
          </p:cNvPr>
          <p:cNvSpPr txBox="1"/>
          <p:nvPr/>
        </p:nvSpPr>
        <p:spPr>
          <a:xfrm>
            <a:off x="892443" y="4632878"/>
            <a:ext cx="595932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CA" sz="3600" dirty="0">
                <a:solidFill>
                  <a:schemeClr val="tx2"/>
                </a:solidFill>
              </a:rPr>
              <a:t>“The map is not the territory.”</a:t>
            </a:r>
          </a:p>
          <a:p>
            <a:pPr algn="r"/>
            <a:r>
              <a:rPr lang="en-CA" sz="2000" dirty="0"/>
              <a:t>Alfred Korzybski</a:t>
            </a:r>
          </a:p>
        </p:txBody>
      </p:sp>
    </p:spTree>
    <p:extLst>
      <p:ext uri="{BB962C8B-B14F-4D97-AF65-F5344CB8AC3E}">
        <p14:creationId xmlns:p14="http://schemas.microsoft.com/office/powerpoint/2010/main" val="2759166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0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9FC98-445A-932C-D1A4-363C96742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How does this relate to AI?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8C592A-6486-35A6-2B90-476C609D50E6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238" t="12203" r="70255" b="26902"/>
          <a:stretch>
            <a:fillRect/>
          </a:stretch>
        </p:blipFill>
        <p:spPr>
          <a:xfrm>
            <a:off x="7479792" y="2295144"/>
            <a:ext cx="3602736" cy="32993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8DE6502-7DFD-56B9-ED59-B897FA00EEA8}"/>
              </a:ext>
            </a:extLst>
          </p:cNvPr>
          <p:cNvSpPr txBox="1"/>
          <p:nvPr/>
        </p:nvSpPr>
        <p:spPr>
          <a:xfrm>
            <a:off x="838199" y="2295144"/>
            <a:ext cx="639127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LLMs: Massive learned model of analogical relationships</a:t>
            </a:r>
          </a:p>
          <a:p>
            <a:endParaRPr lang="en-US" sz="3200" dirty="0"/>
          </a:p>
          <a:p>
            <a:r>
              <a:rPr lang="en-US" sz="3200" b="1" dirty="0"/>
              <a:t>But!</a:t>
            </a:r>
          </a:p>
          <a:p>
            <a:endParaRPr lang="en-US" sz="3200" dirty="0"/>
          </a:p>
          <a:p>
            <a:r>
              <a:rPr lang="en-US" sz="3200" dirty="0"/>
              <a:t>LLMs are oriented around </a:t>
            </a:r>
            <a:r>
              <a:rPr lang="en-US" sz="3200" i="1" dirty="0"/>
              <a:t>surfaces</a:t>
            </a:r>
            <a:r>
              <a:rPr lang="en-US" sz="3200" dirty="0"/>
              <a:t>, not essences</a:t>
            </a:r>
          </a:p>
        </p:txBody>
      </p:sp>
    </p:spTree>
    <p:extLst>
      <p:ext uri="{BB962C8B-B14F-4D97-AF65-F5344CB8AC3E}">
        <p14:creationId xmlns:p14="http://schemas.microsoft.com/office/powerpoint/2010/main" val="417733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81E35E5-8783-2C65-6B73-1000354F8159}"/>
              </a:ext>
            </a:extLst>
          </p:cNvPr>
          <p:cNvGrpSpPr/>
          <p:nvPr/>
        </p:nvGrpSpPr>
        <p:grpSpPr>
          <a:xfrm>
            <a:off x="1774929" y="1455801"/>
            <a:ext cx="2202180" cy="1836714"/>
            <a:chOff x="1774929" y="1455801"/>
            <a:chExt cx="2202180" cy="1836714"/>
          </a:xfrm>
        </p:grpSpPr>
        <p:pic>
          <p:nvPicPr>
            <p:cNvPr id="5" name="Picture 4" descr="Tree by waterfalls">
              <a:extLst>
                <a:ext uri="{FF2B5EF4-FFF2-40B4-BE49-F238E27FC236}">
                  <a16:creationId xmlns:a16="http://schemas.microsoft.com/office/drawing/2014/main" id="{091F0C59-F5AF-2DB2-5FBB-3B445044C74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774929" y="1455801"/>
              <a:ext cx="2202180" cy="1468120"/>
            </a:xfrm>
            <a:prstGeom prst="round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3FE75EE-A50B-0B5F-DFAC-583AFE7E14B5}"/>
                </a:ext>
              </a:extLst>
            </p:cNvPr>
            <p:cNvSpPr txBox="1"/>
            <p:nvPr/>
          </p:nvSpPr>
          <p:spPr>
            <a:xfrm>
              <a:off x="2444650" y="2923183"/>
              <a:ext cx="8627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i="1" dirty="0"/>
                <a:t>Reality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84F1173B-2FD7-8437-9132-A4A746FA7AF0}"/>
              </a:ext>
            </a:extLst>
          </p:cNvPr>
          <p:cNvGrpSpPr/>
          <p:nvPr/>
        </p:nvGrpSpPr>
        <p:grpSpPr>
          <a:xfrm>
            <a:off x="5021049" y="1455063"/>
            <a:ext cx="2202180" cy="1837452"/>
            <a:chOff x="5021049" y="1455063"/>
            <a:chExt cx="2202180" cy="1837452"/>
          </a:xfrm>
        </p:grpSpPr>
        <p:pic>
          <p:nvPicPr>
            <p:cNvPr id="11" name="Picture 10" descr="Portrait of man with facial hair in nature holding binoculars to face, looking up">
              <a:extLst>
                <a:ext uri="{FF2B5EF4-FFF2-40B4-BE49-F238E27FC236}">
                  <a16:creationId xmlns:a16="http://schemas.microsoft.com/office/drawing/2014/main" id="{E6AE2F4B-31B8-AAC7-CAAE-5A4FEAC6527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021049" y="1455063"/>
              <a:ext cx="2202180" cy="1468120"/>
            </a:xfrm>
            <a:prstGeom prst="round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A5C2A33-F135-574C-080E-9068F6F21801}"/>
                </a:ext>
              </a:extLst>
            </p:cNvPr>
            <p:cNvSpPr txBox="1"/>
            <p:nvPr/>
          </p:nvSpPr>
          <p:spPr>
            <a:xfrm>
              <a:off x="5476771" y="2923183"/>
              <a:ext cx="12907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i="1" dirty="0"/>
                <a:t>Experience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EC85AA0D-EF14-AA8A-3721-DB9FFB11AD47}"/>
              </a:ext>
            </a:extLst>
          </p:cNvPr>
          <p:cNvGrpSpPr/>
          <p:nvPr/>
        </p:nvGrpSpPr>
        <p:grpSpPr>
          <a:xfrm>
            <a:off x="8214891" y="1455801"/>
            <a:ext cx="2202180" cy="1836714"/>
            <a:chOff x="8214891" y="1455801"/>
            <a:chExt cx="2202180" cy="1836714"/>
          </a:xfrm>
        </p:grpSpPr>
        <p:pic>
          <p:nvPicPr>
            <p:cNvPr id="15" name="Picture 14" descr="Person writing with fountain pen">
              <a:extLst>
                <a:ext uri="{FF2B5EF4-FFF2-40B4-BE49-F238E27FC236}">
                  <a16:creationId xmlns:a16="http://schemas.microsoft.com/office/drawing/2014/main" id="{A3AF9DE0-B726-3718-F483-58172F8CBA4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214891" y="1455801"/>
              <a:ext cx="2202180" cy="1468858"/>
            </a:xfrm>
            <a:prstGeom prst="round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350E559-CCC1-A69E-6AB1-83CA4FAF1137}"/>
                </a:ext>
              </a:extLst>
            </p:cNvPr>
            <p:cNvSpPr txBox="1"/>
            <p:nvPr/>
          </p:nvSpPr>
          <p:spPr>
            <a:xfrm>
              <a:off x="8810747" y="2923183"/>
              <a:ext cx="10104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i="1" dirty="0"/>
                <a:t>Records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9F949B16-F871-689B-B75C-3BDC59944966}"/>
              </a:ext>
            </a:extLst>
          </p:cNvPr>
          <p:cNvGrpSpPr/>
          <p:nvPr/>
        </p:nvGrpSpPr>
        <p:grpSpPr>
          <a:xfrm>
            <a:off x="3397989" y="4125849"/>
            <a:ext cx="2202180" cy="1837452"/>
            <a:chOff x="3397989" y="4125849"/>
            <a:chExt cx="2202180" cy="1837452"/>
          </a:xfrm>
        </p:grpSpPr>
        <p:pic>
          <p:nvPicPr>
            <p:cNvPr id="17" name="Picture 16" descr="Interior of server room">
              <a:extLst>
                <a:ext uri="{FF2B5EF4-FFF2-40B4-BE49-F238E27FC236}">
                  <a16:creationId xmlns:a16="http://schemas.microsoft.com/office/drawing/2014/main" id="{B2B9F614-2AF8-3476-5737-E3E49B2F2A7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397989" y="4125849"/>
              <a:ext cx="2202180" cy="1468120"/>
            </a:xfrm>
            <a:prstGeom prst="round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846C1BA-74D0-728C-4574-0CC087BF26F4}"/>
                </a:ext>
              </a:extLst>
            </p:cNvPr>
            <p:cNvSpPr txBox="1"/>
            <p:nvPr/>
          </p:nvSpPr>
          <p:spPr>
            <a:xfrm>
              <a:off x="4022636" y="5593969"/>
              <a:ext cx="9528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i="1" dirty="0"/>
                <a:t>Training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EC2894AC-E3BE-6581-71D2-0442D1D60B55}"/>
              </a:ext>
            </a:extLst>
          </p:cNvPr>
          <p:cNvGrpSpPr/>
          <p:nvPr/>
        </p:nvGrpSpPr>
        <p:grpSpPr>
          <a:xfrm>
            <a:off x="6644109" y="4125849"/>
            <a:ext cx="2202180" cy="1837452"/>
            <a:chOff x="6644109" y="4125849"/>
            <a:chExt cx="2202180" cy="1837452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C126B6F8-1E4E-3B01-283F-FC85807FAC3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6644109" y="4125849"/>
              <a:ext cx="2202180" cy="1470184"/>
            </a:xfrm>
            <a:prstGeom prst="round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E619CFB-B426-76E0-812D-023B16256BF2}"/>
                </a:ext>
              </a:extLst>
            </p:cNvPr>
            <p:cNvSpPr txBox="1"/>
            <p:nvPr/>
          </p:nvSpPr>
          <p:spPr>
            <a:xfrm>
              <a:off x="7180743" y="5593969"/>
              <a:ext cx="11243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i="1" dirty="0"/>
                <a:t>Inference</a:t>
              </a:r>
            </a:p>
          </p:txBody>
        </p:sp>
      </p:grpSp>
      <p:cxnSp>
        <p:nvCxnSpPr>
          <p:cNvPr id="32" name="Connector: Curved 31">
            <a:extLst>
              <a:ext uri="{FF2B5EF4-FFF2-40B4-BE49-F238E27FC236}">
                <a16:creationId xmlns:a16="http://schemas.microsoft.com/office/drawing/2014/main" id="{26F63B99-6EC1-5A72-99EC-D66CBE4E9A29}"/>
              </a:ext>
            </a:extLst>
          </p:cNvPr>
          <p:cNvCxnSpPr>
            <a:stCxn id="15" idx="3"/>
            <a:endCxn id="17" idx="1"/>
          </p:cNvCxnSpPr>
          <p:nvPr/>
        </p:nvCxnSpPr>
        <p:spPr>
          <a:xfrm flipH="1">
            <a:off x="3397989" y="2190230"/>
            <a:ext cx="7019082" cy="2669679"/>
          </a:xfrm>
          <a:prstGeom prst="curvedConnector5">
            <a:avLst>
              <a:gd name="adj1" fmla="val -5021"/>
              <a:gd name="adj2" fmla="val 57856"/>
              <a:gd name="adj3" fmla="val 108685"/>
            </a:avLst>
          </a:prstGeom>
          <a:ln>
            <a:solidFill>
              <a:schemeClr val="accent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97CB06F-D66A-1892-F97F-C6BFB2BF926F}"/>
              </a:ext>
            </a:extLst>
          </p:cNvPr>
          <p:cNvCxnSpPr>
            <a:stCxn id="5" idx="3"/>
            <a:endCxn id="11" idx="1"/>
          </p:cNvCxnSpPr>
          <p:nvPr/>
        </p:nvCxnSpPr>
        <p:spPr>
          <a:xfrm flipV="1">
            <a:off x="3977109" y="2189123"/>
            <a:ext cx="1043940" cy="738"/>
          </a:xfrm>
          <a:prstGeom prst="straightConnector1">
            <a:avLst/>
          </a:prstGeom>
          <a:ln>
            <a:solidFill>
              <a:schemeClr val="accent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5F9F0B46-B46E-923A-4FDB-27683AA7700C}"/>
              </a:ext>
            </a:extLst>
          </p:cNvPr>
          <p:cNvCxnSpPr>
            <a:stCxn id="11" idx="3"/>
            <a:endCxn id="15" idx="1"/>
          </p:cNvCxnSpPr>
          <p:nvPr/>
        </p:nvCxnSpPr>
        <p:spPr>
          <a:xfrm>
            <a:off x="7223229" y="2189123"/>
            <a:ext cx="991662" cy="1107"/>
          </a:xfrm>
          <a:prstGeom prst="straightConnector1">
            <a:avLst/>
          </a:prstGeom>
          <a:ln>
            <a:solidFill>
              <a:schemeClr val="accent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627A9631-16EE-8738-9451-735E90838D2F}"/>
              </a:ext>
            </a:extLst>
          </p:cNvPr>
          <p:cNvCxnSpPr>
            <a:stCxn id="17" idx="3"/>
            <a:endCxn id="19" idx="1"/>
          </p:cNvCxnSpPr>
          <p:nvPr/>
        </p:nvCxnSpPr>
        <p:spPr>
          <a:xfrm>
            <a:off x="5600169" y="4859909"/>
            <a:ext cx="1043940" cy="1032"/>
          </a:xfrm>
          <a:prstGeom prst="straightConnector1">
            <a:avLst/>
          </a:prstGeom>
          <a:ln>
            <a:solidFill>
              <a:schemeClr val="accent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63A42A44-9353-FF2B-3F5D-9D0E93485EE5}"/>
              </a:ext>
            </a:extLst>
          </p:cNvPr>
          <p:cNvSpPr txBox="1"/>
          <p:nvPr/>
        </p:nvSpPr>
        <p:spPr>
          <a:xfrm>
            <a:off x="402136" y="485013"/>
            <a:ext cx="1138773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dirty="0">
                <a:solidFill>
                  <a:schemeClr val="tx2"/>
                </a:solidFill>
              </a:rPr>
              <a:t>Attempt to reverse engineer experiential semantics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92C5A61-0B34-E2E5-B19C-8AAFEC52176F}"/>
              </a:ext>
            </a:extLst>
          </p:cNvPr>
          <p:cNvSpPr txBox="1"/>
          <p:nvPr/>
        </p:nvSpPr>
        <p:spPr>
          <a:xfrm>
            <a:off x="1427531" y="5963301"/>
            <a:ext cx="93892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solidFill>
                  <a:schemeClr val="tx2"/>
                </a:solidFill>
              </a:rPr>
              <a:t>from </a:t>
            </a:r>
            <a:r>
              <a:rPr lang="en-US" sz="3600">
                <a:solidFill>
                  <a:schemeClr val="tx2"/>
                </a:solidFill>
              </a:rPr>
              <a:t>a massive </a:t>
            </a:r>
            <a:r>
              <a:rPr lang="en-US" sz="3600" dirty="0">
                <a:solidFill>
                  <a:schemeClr val="tx2"/>
                </a:solidFill>
              </a:rPr>
              <a:t>number of experiential records</a:t>
            </a:r>
          </a:p>
        </p:txBody>
      </p:sp>
    </p:spTree>
    <p:extLst>
      <p:ext uri="{BB962C8B-B14F-4D97-AF65-F5344CB8AC3E}">
        <p14:creationId xmlns:p14="http://schemas.microsoft.com/office/powerpoint/2010/main" val="3519354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8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BAA9D314-8944-EE2C-2F7B-C06418D5E6B3}"/>
              </a:ext>
            </a:extLst>
          </p:cNvPr>
          <p:cNvSpPr/>
          <p:nvPr/>
        </p:nvSpPr>
        <p:spPr>
          <a:xfrm>
            <a:off x="929640" y="524256"/>
            <a:ext cx="960120" cy="960120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0D5EB0F-6C6C-6F29-882C-1C516C34929F}"/>
              </a:ext>
            </a:extLst>
          </p:cNvPr>
          <p:cNvSpPr/>
          <p:nvPr/>
        </p:nvSpPr>
        <p:spPr>
          <a:xfrm>
            <a:off x="2023872" y="1793748"/>
            <a:ext cx="960120" cy="960120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E7A9CB0-97F9-EA54-EEC6-2148D3D888B7}"/>
              </a:ext>
            </a:extLst>
          </p:cNvPr>
          <p:cNvSpPr/>
          <p:nvPr/>
        </p:nvSpPr>
        <p:spPr>
          <a:xfrm>
            <a:off x="5446776" y="524256"/>
            <a:ext cx="960120" cy="960120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7ED23DA-9BD7-C895-1EF4-CEB029318ED3}"/>
              </a:ext>
            </a:extLst>
          </p:cNvPr>
          <p:cNvSpPr/>
          <p:nvPr/>
        </p:nvSpPr>
        <p:spPr>
          <a:xfrm>
            <a:off x="3078480" y="524256"/>
            <a:ext cx="960120" cy="960120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737661-8221-53F7-157A-C8397435EA84}"/>
              </a:ext>
            </a:extLst>
          </p:cNvPr>
          <p:cNvSpPr/>
          <p:nvPr/>
        </p:nvSpPr>
        <p:spPr>
          <a:xfrm>
            <a:off x="4108704" y="1793748"/>
            <a:ext cx="960120" cy="960120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D256B1A-E626-EA6E-CED4-A86E219429CF}"/>
              </a:ext>
            </a:extLst>
          </p:cNvPr>
          <p:cNvCxnSpPr/>
          <p:nvPr/>
        </p:nvCxnSpPr>
        <p:spPr>
          <a:xfrm flipV="1">
            <a:off x="2983992" y="1188720"/>
            <a:ext cx="2462784" cy="905256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B1882D4-5F5F-0613-A613-6CF699B3BE23}"/>
              </a:ext>
            </a:extLst>
          </p:cNvPr>
          <p:cNvCxnSpPr>
            <a:cxnSpLocks/>
            <a:stCxn id="4" idx="6"/>
            <a:endCxn id="12" idx="2"/>
          </p:cNvCxnSpPr>
          <p:nvPr/>
        </p:nvCxnSpPr>
        <p:spPr>
          <a:xfrm>
            <a:off x="1889760" y="1004316"/>
            <a:ext cx="1188720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599375B-E67F-2A8C-C4E5-DDB84A1FE1C9}"/>
              </a:ext>
            </a:extLst>
          </p:cNvPr>
          <p:cNvCxnSpPr>
            <a:cxnSpLocks/>
            <a:stCxn id="14" idx="1"/>
          </p:cNvCxnSpPr>
          <p:nvPr/>
        </p:nvCxnSpPr>
        <p:spPr>
          <a:xfrm flipH="1" flipV="1">
            <a:off x="3794760" y="1484376"/>
            <a:ext cx="454550" cy="449978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3C02E0D1-CC24-D029-1A7E-8E46D9A04EF6}"/>
              </a:ext>
            </a:extLst>
          </p:cNvPr>
          <p:cNvSpPr txBox="1"/>
          <p:nvPr/>
        </p:nvSpPr>
        <p:spPr>
          <a:xfrm>
            <a:off x="7214615" y="0"/>
            <a:ext cx="4389119" cy="2540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tx2"/>
                </a:solidFill>
              </a:rPr>
              <a:t>Surfaces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Concrete (syntactic) patterns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Positional (attentional) relations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Derived from data about experience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LLMs can only operate here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D638B67-3583-3076-601B-52D485CED7B4}"/>
              </a:ext>
            </a:extLst>
          </p:cNvPr>
          <p:cNvCxnSpPr>
            <a:stCxn id="4" idx="4"/>
            <a:endCxn id="24" idx="0"/>
          </p:cNvCxnSpPr>
          <p:nvPr/>
        </p:nvCxnSpPr>
        <p:spPr>
          <a:xfrm>
            <a:off x="1409700" y="1484376"/>
            <a:ext cx="132588" cy="3279648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E0C5B6A8-236A-AB2F-C4CB-B408ED89669A}"/>
              </a:ext>
            </a:extLst>
          </p:cNvPr>
          <p:cNvCxnSpPr>
            <a:cxnSpLocks/>
          </p:cNvCxnSpPr>
          <p:nvPr/>
        </p:nvCxnSpPr>
        <p:spPr>
          <a:xfrm>
            <a:off x="4815840" y="2699004"/>
            <a:ext cx="707136" cy="206502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5DC8A0A7-6669-25D4-87E6-071012D6C3BB}"/>
              </a:ext>
            </a:extLst>
          </p:cNvPr>
          <p:cNvCxnSpPr>
            <a:cxnSpLocks/>
            <a:endCxn id="26" idx="0"/>
          </p:cNvCxnSpPr>
          <p:nvPr/>
        </p:nvCxnSpPr>
        <p:spPr>
          <a:xfrm>
            <a:off x="2729484" y="2699004"/>
            <a:ext cx="929640" cy="2793493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E13C6BB6-81D6-6846-2D8F-34AD39352F81}"/>
              </a:ext>
            </a:extLst>
          </p:cNvPr>
          <p:cNvSpPr txBox="1"/>
          <p:nvPr/>
        </p:nvSpPr>
        <p:spPr>
          <a:xfrm>
            <a:off x="7214615" y="4115872"/>
            <a:ext cx="4297680" cy="2540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tx2"/>
                </a:solidFill>
              </a:rPr>
              <a:t>Essences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Abstract (semantic) patterns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Analogical / metaphorical relations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Derived directly from experience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We can operate here</a:t>
            </a: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DD5B26A0-5916-5FB4-AAF3-3F408D6F5C6E}"/>
              </a:ext>
            </a:extLst>
          </p:cNvPr>
          <p:cNvSpPr/>
          <p:nvPr/>
        </p:nvSpPr>
        <p:spPr>
          <a:xfrm>
            <a:off x="438912" y="283464"/>
            <a:ext cx="6382512" cy="2715765"/>
          </a:xfrm>
          <a:prstGeom prst="round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71E78D6-73E8-8534-73A3-099FF684A71D}"/>
              </a:ext>
            </a:extLst>
          </p:cNvPr>
          <p:cNvGrpSpPr/>
          <p:nvPr/>
        </p:nvGrpSpPr>
        <p:grpSpPr>
          <a:xfrm>
            <a:off x="467868" y="4398263"/>
            <a:ext cx="6382512" cy="2258561"/>
            <a:chOff x="467868" y="4398263"/>
            <a:chExt cx="6382512" cy="2258561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F81481AB-D663-432B-026D-04845F4F6721}"/>
                </a:ext>
              </a:extLst>
            </p:cNvPr>
            <p:cNvSpPr/>
            <p:nvPr/>
          </p:nvSpPr>
          <p:spPr>
            <a:xfrm>
              <a:off x="1062228" y="4764024"/>
              <a:ext cx="960120" cy="960119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716EF215-432D-9C27-8518-B793EAC85781}"/>
                </a:ext>
              </a:extLst>
            </p:cNvPr>
            <p:cNvSpPr/>
            <p:nvPr/>
          </p:nvSpPr>
          <p:spPr>
            <a:xfrm>
              <a:off x="3179064" y="5492497"/>
              <a:ext cx="960120" cy="960119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8B1E4280-D4C8-C605-1B84-14CF5E3B6960}"/>
                </a:ext>
              </a:extLst>
            </p:cNvPr>
            <p:cNvSpPr/>
            <p:nvPr/>
          </p:nvSpPr>
          <p:spPr>
            <a:xfrm>
              <a:off x="5295900" y="4764025"/>
              <a:ext cx="960120" cy="960119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B4C5DD86-9A50-FFB4-07A4-6E937957D08F}"/>
                </a:ext>
              </a:extLst>
            </p:cNvPr>
            <p:cNvCxnSpPr>
              <a:cxnSpLocks/>
              <a:stCxn id="26" idx="3"/>
            </p:cNvCxnSpPr>
            <p:nvPr/>
          </p:nvCxnSpPr>
          <p:spPr>
            <a:xfrm flipV="1">
              <a:off x="4139184" y="5423917"/>
              <a:ext cx="1126236" cy="548640"/>
            </a:xfrm>
            <a:prstGeom prst="straightConnector1">
              <a:avLst/>
            </a:prstGeom>
            <a:ln w="38100">
              <a:solidFill>
                <a:schemeClr val="tx1">
                  <a:lumMod val="85000"/>
                  <a:lumOff val="15000"/>
                </a:schemeClr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4DC7A454-9BC2-32BD-CD22-C8C780BEE80D}"/>
                </a:ext>
              </a:extLst>
            </p:cNvPr>
            <p:cNvCxnSpPr>
              <a:cxnSpLocks/>
              <a:stCxn id="28" idx="1"/>
              <a:endCxn id="24" idx="3"/>
            </p:cNvCxnSpPr>
            <p:nvPr/>
          </p:nvCxnSpPr>
          <p:spPr>
            <a:xfrm flipH="1" flipV="1">
              <a:off x="2022348" y="5244084"/>
              <a:ext cx="3273552" cy="1"/>
            </a:xfrm>
            <a:prstGeom prst="straightConnector1">
              <a:avLst/>
            </a:prstGeom>
            <a:ln w="38100">
              <a:solidFill>
                <a:schemeClr val="tx1">
                  <a:lumMod val="85000"/>
                  <a:lumOff val="15000"/>
                </a:schemeClr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6CC8662E-3F4F-98CA-DCB5-44C761CBCD63}"/>
                </a:ext>
              </a:extLst>
            </p:cNvPr>
            <p:cNvSpPr/>
            <p:nvPr/>
          </p:nvSpPr>
          <p:spPr>
            <a:xfrm>
              <a:off x="467868" y="4398263"/>
              <a:ext cx="6382512" cy="2258561"/>
            </a:xfrm>
            <a:prstGeom prst="roundRect">
              <a:avLst/>
            </a:prstGeom>
            <a:noFill/>
            <a:ln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2577750C-2729-7494-85FA-69E57FC36A24}"/>
              </a:ext>
            </a:extLst>
          </p:cNvPr>
          <p:cNvCxnSpPr>
            <a:cxnSpLocks/>
            <a:stCxn id="10" idx="4"/>
          </p:cNvCxnSpPr>
          <p:nvPr/>
        </p:nvCxnSpPr>
        <p:spPr>
          <a:xfrm>
            <a:off x="5926836" y="1484376"/>
            <a:ext cx="0" cy="3279648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0101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2" presetClass="entr" presetSubtype="1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1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02EA7-C84F-035F-FEB6-2103C8C43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86446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LLMs can’t discover </a:t>
            </a:r>
            <a:r>
              <a:rPr lang="en-US" i="1" dirty="0">
                <a:solidFill>
                  <a:schemeClr val="tx2"/>
                </a:solidFill>
              </a:rPr>
              <a:t>novel abstractions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F0D5C9-145A-CB63-D4E9-054F364C9F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4087" y="2777265"/>
            <a:ext cx="8083826" cy="3249824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3500" dirty="0"/>
              <a:t>Novel abstractions: </a:t>
            </a:r>
          </a:p>
          <a:p>
            <a:pPr>
              <a:lnSpc>
                <a:spcPct val="150000"/>
              </a:lnSpc>
            </a:pPr>
            <a:r>
              <a:rPr lang="en-US" sz="2600" dirty="0"/>
              <a:t>Derive from analogies about </a:t>
            </a:r>
            <a:r>
              <a:rPr lang="en-US" sz="2600" i="1" dirty="0"/>
              <a:t>embodied</a:t>
            </a:r>
            <a:r>
              <a:rPr lang="en-US" sz="2600" dirty="0"/>
              <a:t> </a:t>
            </a:r>
            <a:r>
              <a:rPr lang="en-US" sz="2600" i="1" dirty="0"/>
              <a:t>experience</a:t>
            </a:r>
          </a:p>
          <a:p>
            <a:pPr>
              <a:lnSpc>
                <a:spcPct val="150000"/>
              </a:lnSpc>
            </a:pPr>
            <a:r>
              <a:rPr lang="en-US" sz="2600" dirty="0"/>
              <a:t>Require </a:t>
            </a:r>
            <a:r>
              <a:rPr lang="en-US" sz="2600" i="1" dirty="0"/>
              <a:t>us</a:t>
            </a:r>
            <a:r>
              <a:rPr lang="en-US" sz="2600" dirty="0"/>
              <a:t> to abstract surfaces into essences</a:t>
            </a:r>
          </a:p>
          <a:p>
            <a:pPr>
              <a:lnSpc>
                <a:spcPct val="150000"/>
              </a:lnSpc>
            </a:pPr>
            <a:r>
              <a:rPr lang="en-US" sz="2600" dirty="0"/>
              <a:t>Form our </a:t>
            </a:r>
            <a:r>
              <a:rPr lang="en-US" sz="2600" i="1" dirty="0"/>
              <a:t>deep insights</a:t>
            </a:r>
            <a:r>
              <a:rPr lang="en-US" sz="2600" dirty="0"/>
              <a:t> into problem and solution domains</a:t>
            </a:r>
            <a:endParaRPr lang="en-US" sz="2600" i="1" dirty="0"/>
          </a:p>
          <a:p>
            <a:pPr>
              <a:lnSpc>
                <a:spcPct val="15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3624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F017C-A8C1-0A45-A5F3-666A926C1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Wrapping it 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55E5D8-B1D3-B8AE-5247-1C48D2BFEF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794" y="1825625"/>
            <a:ext cx="7305675" cy="4667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Metaphors and analogies</a:t>
            </a:r>
          </a:p>
          <a:p>
            <a:r>
              <a:rPr lang="en-US" sz="2400" dirty="0"/>
              <a:t>Not just for prose and poetry!</a:t>
            </a:r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dirty="0"/>
              <a:t>Cognitive categories and analogical reasoning</a:t>
            </a:r>
          </a:p>
          <a:p>
            <a:r>
              <a:rPr lang="en-US" sz="2400" dirty="0"/>
              <a:t>Better naming</a:t>
            </a:r>
          </a:p>
          <a:p>
            <a:r>
              <a:rPr lang="en-US" sz="2400" dirty="0"/>
              <a:t>Improved communication</a:t>
            </a:r>
          </a:p>
          <a:p>
            <a:r>
              <a:rPr lang="en-US" sz="2400" dirty="0"/>
              <a:t>Novel abstractions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Build a toolbox of diverse mental models!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12D251-D040-67E4-D62C-01205F068F5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8531" y="1322705"/>
            <a:ext cx="3744468" cy="374446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461EF36-39C1-8A85-3F91-665B0CD09AD6}"/>
              </a:ext>
            </a:extLst>
          </p:cNvPr>
          <p:cNvSpPr txBox="1"/>
          <p:nvPr/>
        </p:nvSpPr>
        <p:spPr>
          <a:xfrm>
            <a:off x="1032787" y="5067173"/>
            <a:ext cx="2555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(hey look – a metaphor!)</a:t>
            </a:r>
          </a:p>
        </p:txBody>
      </p:sp>
    </p:spTree>
    <p:extLst>
      <p:ext uri="{BB962C8B-B14F-4D97-AF65-F5344CB8AC3E}">
        <p14:creationId xmlns:p14="http://schemas.microsoft.com/office/powerpoint/2010/main" val="141327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8E435-FFDA-CE46-D4E5-3562E6507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F7216-76CD-6953-ECC7-E626E18E4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So is a Hotdog a Sandwich?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DDBE1F6-2C69-88D2-65B6-7697930610A2}"/>
              </a:ext>
            </a:extLst>
          </p:cNvPr>
          <p:cNvGrpSpPr/>
          <p:nvPr/>
        </p:nvGrpSpPr>
        <p:grpSpPr>
          <a:xfrm>
            <a:off x="2591752" y="1536954"/>
            <a:ext cx="7008495" cy="3421401"/>
            <a:chOff x="1266825" y="2039874"/>
            <a:chExt cx="10226065" cy="4992152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B82B05B-CD06-0280-703D-BDCF79EADED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266825" y="2039874"/>
              <a:ext cx="3821430" cy="3821430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22AF4A4-1675-7F02-9CD8-30BC1E20B93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103747" y="2486827"/>
              <a:ext cx="4389143" cy="2927524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FCA889E-FC7B-D8A5-89E6-D28989E45831}"/>
                </a:ext>
              </a:extLst>
            </p:cNvPr>
            <p:cNvSpPr txBox="1"/>
            <p:nvPr/>
          </p:nvSpPr>
          <p:spPr>
            <a:xfrm>
              <a:off x="5352847" y="2486827"/>
              <a:ext cx="1469320" cy="28291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0" dirty="0"/>
                <a:t>=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B51B871-9E2C-A96C-495E-B55456FDA8F4}"/>
                </a:ext>
              </a:extLst>
            </p:cNvPr>
            <p:cNvSpPr txBox="1"/>
            <p:nvPr/>
          </p:nvSpPr>
          <p:spPr>
            <a:xfrm>
              <a:off x="5352847" y="4202851"/>
              <a:ext cx="1394474" cy="28291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0" dirty="0"/>
                <a:t>?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9DDD9EE7-57C6-EFEC-1011-7E4C15BEAC80}"/>
              </a:ext>
            </a:extLst>
          </p:cNvPr>
          <p:cNvSpPr txBox="1"/>
          <p:nvPr/>
        </p:nvSpPr>
        <p:spPr>
          <a:xfrm>
            <a:off x="3022091" y="4457343"/>
            <a:ext cx="5695790" cy="24006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5000" dirty="0">
                <a:solidFill>
                  <a:schemeClr val="tx2"/>
                </a:solidFill>
              </a:rPr>
              <a:t>“</a:t>
            </a:r>
            <a:r>
              <a:rPr lang="en-US" sz="12000" dirty="0">
                <a:solidFill>
                  <a:schemeClr val="tx2"/>
                </a:solidFill>
              </a:rPr>
              <a:t>Kinda</a:t>
            </a:r>
            <a:r>
              <a:rPr lang="en-US" sz="15000" dirty="0">
                <a:solidFill>
                  <a:schemeClr val="tx2"/>
                </a:solidFill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49283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E420A5C-8B80-5658-517A-CE933772C11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97235" y="883900"/>
            <a:ext cx="1619250" cy="24536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D528BCE-ABCD-0429-B313-6D960EE02D1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9450" y="883901"/>
            <a:ext cx="1756131" cy="245366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53A6342-7741-C101-B671-8090CBBAA957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38546" y="883900"/>
            <a:ext cx="1956219" cy="2453660"/>
          </a:xfrm>
          <a:prstGeom prst="rect">
            <a:avLst/>
          </a:prstGeom>
        </p:spPr>
      </p:pic>
      <p:pic>
        <p:nvPicPr>
          <p:cNvPr id="11" name="Picture 10" descr="The Great Mental Models">
            <a:extLst>
              <a:ext uri="{FF2B5EF4-FFF2-40B4-BE49-F238E27FC236}">
                <a16:creationId xmlns:a16="http://schemas.microsoft.com/office/drawing/2014/main" id="{6492B5D6-453A-60CA-78FD-592240093125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86646" y="3900463"/>
            <a:ext cx="1595144" cy="245652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26D9243-53DB-CD0E-D180-68B9F34A5D94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73239" y="3903325"/>
            <a:ext cx="1634138" cy="2453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36760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99FD084-736A-80AC-B9E7-644647DF830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00100" y="1309687"/>
            <a:ext cx="4876800" cy="42386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5FC9C3C-D965-0FAE-5F17-247E12B9931B}"/>
              </a:ext>
            </a:extLst>
          </p:cNvPr>
          <p:cNvSpPr txBox="1"/>
          <p:nvPr/>
        </p:nvSpPr>
        <p:spPr>
          <a:xfrm>
            <a:off x="6096000" y="2670041"/>
            <a:ext cx="5006242" cy="1261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tx2"/>
                </a:solidFill>
              </a:rPr>
              <a:t>Andrew Kuipers</a:t>
            </a:r>
          </a:p>
          <a:p>
            <a:endParaRPr lang="en-US" dirty="0"/>
          </a:p>
          <a:p>
            <a:r>
              <a:rPr lang="en-US" dirty="0"/>
              <a:t>Software Development, Architecture, Philosophy</a:t>
            </a:r>
          </a:p>
        </p:txBody>
      </p:sp>
    </p:spTree>
    <p:extLst>
      <p:ext uri="{BB962C8B-B14F-4D97-AF65-F5344CB8AC3E}">
        <p14:creationId xmlns:p14="http://schemas.microsoft.com/office/powerpoint/2010/main" val="37863970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bb1d3edb-34e9-4ee4-996e-f2a69bd0c45c}" enabled="1" method="Standard" siteId="{b4e19cf5-ed91-44d3-81ce-70c848fa684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3961</TotalTime>
  <Words>766</Words>
  <Application>Microsoft Office PowerPoint</Application>
  <PresentationFormat>Widescreen</PresentationFormat>
  <Paragraphs>183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3" baseType="lpstr">
      <vt:lpstr>Aptos</vt:lpstr>
      <vt:lpstr>Aptos Display</vt:lpstr>
      <vt:lpstr>Arial</vt:lpstr>
      <vt:lpstr>Cambria Math</vt:lpstr>
      <vt:lpstr>Cascadia Mono</vt:lpstr>
      <vt:lpstr>Office Theme</vt:lpstr>
      <vt:lpstr>Embrace the Analogical</vt:lpstr>
      <vt:lpstr>Is a Hotdog a Sandwich?</vt:lpstr>
      <vt:lpstr>PowerPoint Presentation</vt:lpstr>
      <vt:lpstr>Is a Hotdog a Sandwich?</vt:lpstr>
      <vt:lpstr>PowerPoint Presentation</vt:lpstr>
      <vt:lpstr>Is Sandwich a Set?</vt:lpstr>
      <vt:lpstr>Sets can be very useful</vt:lpstr>
      <vt:lpstr>PowerPoint Presentation</vt:lpstr>
      <vt:lpstr>Foundational Metaphors</vt:lpstr>
      <vt:lpstr>Foundational Metaphors</vt:lpstr>
      <vt:lpstr>Foundational Metaphors</vt:lpstr>
      <vt:lpstr>Reality Isn’t Set Based</vt:lpstr>
      <vt:lpstr>Cognition Isn’t Set Based</vt:lpstr>
      <vt:lpstr>PowerPoint Presentation</vt:lpstr>
      <vt:lpstr>Which sounds weirder?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So what?</vt:lpstr>
      <vt:lpstr>PowerPoint Presentation</vt:lpstr>
      <vt:lpstr>What’s in a name?</vt:lpstr>
      <vt:lpstr>What’s in a name?</vt:lpstr>
      <vt:lpstr>PowerPoint Presentation</vt:lpstr>
      <vt:lpstr>PowerPoint Presentation</vt:lpstr>
      <vt:lpstr>PowerPoint Presentation</vt:lpstr>
      <vt:lpstr>How does this relate to AI?</vt:lpstr>
      <vt:lpstr>PowerPoint Presentation</vt:lpstr>
      <vt:lpstr>PowerPoint Presentation</vt:lpstr>
      <vt:lpstr>LLMs can’t discover novel abstractions</vt:lpstr>
      <vt:lpstr>Wrapping it up</vt:lpstr>
      <vt:lpstr>So is a Hotdog a Sandwich?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Kuipers</dc:creator>
  <cp:lastModifiedBy>Nihil Sum</cp:lastModifiedBy>
  <cp:revision>22</cp:revision>
  <dcterms:created xsi:type="dcterms:W3CDTF">2026-09-14T16:33:15Z</dcterms:created>
  <dcterms:modified xsi:type="dcterms:W3CDTF">2026-09-22T20:09:57Z</dcterms:modified>
</cp:coreProperties>
</file>
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89" r:id="rId3"/>
    <p:sldId id="258" r:id="rId4"/>
    <p:sldId id="279" r:id="rId5"/>
    <p:sldId id="259" r:id="rId6"/>
    <p:sldId id="260" r:id="rId7"/>
    <p:sldId id="282" r:id="rId8"/>
    <p:sldId id="262" r:id="rId9"/>
    <p:sldId id="284" r:id="rId10"/>
    <p:sldId id="286" r:id="rId11"/>
    <p:sldId id="266" r:id="rId12"/>
    <p:sldId id="287" r:id="rId13"/>
    <p:sldId id="268" r:id="rId14"/>
    <p:sldId id="281" r:id="rId15"/>
    <p:sldId id="261" r:id="rId16"/>
    <p:sldId id="263" r:id="rId17"/>
    <p:sldId id="264" r:id="rId18"/>
    <p:sldId id="288" r:id="rId19"/>
    <p:sldId id="292" r:id="rId20"/>
    <p:sldId id="269" r:id="rId21"/>
    <p:sldId id="270" r:id="rId22"/>
    <p:sldId id="271" r:id="rId23"/>
    <p:sldId id="272" r:id="rId24"/>
    <p:sldId id="293" r:id="rId25"/>
    <p:sldId id="274" r:id="rId26"/>
    <p:sldId id="265"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ACAC"/>
    <a:srgbClr val="64748B"/>
    <a:srgbClr val="3B82F6"/>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9DDE0-30B4-44B0-A9FA-2DF535113066}" v="4" dt="2026-09-13T17:10:11.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44" autoAdjust="0"/>
    <p:restoredTop sz="48796" autoAdjust="0"/>
  </p:normalViewPr>
  <p:slideViewPr>
    <p:cSldViewPr snapToGrid="0" snapToObjects="1">
      <p:cViewPr varScale="1">
        <p:scale>
          <a:sx n="49" d="100"/>
          <a:sy n="49" d="100"/>
        </p:scale>
        <p:origin x="1736" y="4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Drenea" userId="ce31b3b0-d50b-419c-bff1-98e4c71466e7" providerId="ADAL" clId="{D293DEBA-7A69-4B74-ADD1-1EC038A40D7E}"/>
    <pc:docChg chg="undo custSel modSld">
      <pc:chgData name="Alex Drenea" userId="ce31b3b0-d50b-419c-bff1-98e4c71466e7" providerId="ADAL" clId="{D293DEBA-7A69-4B74-ADD1-1EC038A40D7E}" dt="2026-09-13T17:19:09.723" v="1434" actId="6549"/>
      <pc:docMkLst>
        <pc:docMk/>
      </pc:docMkLst>
      <pc:sldChg chg="addSp delSp modSp mod modNotesTx">
        <pc:chgData name="Alex Drenea" userId="ce31b3b0-d50b-419c-bff1-98e4c71466e7" providerId="ADAL" clId="{D293DEBA-7A69-4B74-ADD1-1EC038A40D7E}" dt="2026-09-13T17:11:55.859" v="1341" actId="113"/>
        <pc:sldMkLst>
          <pc:docMk/>
          <pc:sldMk cId="0" sldId="257"/>
        </pc:sldMkLst>
        <pc:spChg chg="mod">
          <ac:chgData name="Alex Drenea" userId="ce31b3b0-d50b-419c-bff1-98e4c71466e7" providerId="ADAL" clId="{D293DEBA-7A69-4B74-ADD1-1EC038A40D7E}" dt="2026-09-13T16:49:32.354" v="47" actId="14100"/>
          <ac:spMkLst>
            <pc:docMk/>
            <pc:sldMk cId="0" sldId="257"/>
            <ac:spMk id="4" creationId="{00000000-0000-0000-0000-000000000000}"/>
          </ac:spMkLst>
        </pc:spChg>
        <pc:spChg chg="mod">
          <ac:chgData name="Alex Drenea" userId="ce31b3b0-d50b-419c-bff1-98e4c71466e7" providerId="ADAL" clId="{D293DEBA-7A69-4B74-ADD1-1EC038A40D7E}" dt="2026-09-13T16:50:19.157" v="54" actId="20577"/>
          <ac:spMkLst>
            <pc:docMk/>
            <pc:sldMk cId="0" sldId="257"/>
            <ac:spMk id="7" creationId="{00000000-0000-0000-0000-000000000000}"/>
          </ac:spMkLst>
        </pc:spChg>
        <pc:spChg chg="mod">
          <ac:chgData name="Alex Drenea" userId="ce31b3b0-d50b-419c-bff1-98e4c71466e7" providerId="ADAL" clId="{D293DEBA-7A69-4B74-ADD1-1EC038A40D7E}" dt="2026-09-13T16:50:23.640" v="57" actId="20577"/>
          <ac:spMkLst>
            <pc:docMk/>
            <pc:sldMk cId="0" sldId="257"/>
            <ac:spMk id="10" creationId="{00000000-0000-0000-0000-000000000000}"/>
          </ac:spMkLst>
        </pc:spChg>
        <pc:spChg chg="mod">
          <ac:chgData name="Alex Drenea" userId="ce31b3b0-d50b-419c-bff1-98e4c71466e7" providerId="ADAL" clId="{D293DEBA-7A69-4B74-ADD1-1EC038A40D7E}" dt="2026-09-13T16:50:27.461" v="60" actId="20577"/>
          <ac:spMkLst>
            <pc:docMk/>
            <pc:sldMk cId="0" sldId="257"/>
            <ac:spMk id="13" creationId="{00000000-0000-0000-0000-000000000000}"/>
          </ac:spMkLst>
        </pc:spChg>
        <pc:spChg chg="mod">
          <ac:chgData name="Alex Drenea" userId="ce31b3b0-d50b-419c-bff1-98e4c71466e7" providerId="ADAL" clId="{D293DEBA-7A69-4B74-ADD1-1EC038A40D7E}" dt="2026-09-13T16:50:32.549" v="65" actId="20577"/>
          <ac:spMkLst>
            <pc:docMk/>
            <pc:sldMk cId="0" sldId="257"/>
            <ac:spMk id="16" creationId="{00000000-0000-0000-0000-000000000000}"/>
          </ac:spMkLst>
        </pc:spChg>
        <pc:spChg chg="mod">
          <ac:chgData name="Alex Drenea" userId="ce31b3b0-d50b-419c-bff1-98e4c71466e7" providerId="ADAL" clId="{D293DEBA-7A69-4B74-ADD1-1EC038A40D7E}" dt="2026-09-13T16:50:42.759" v="74" actId="20577"/>
          <ac:spMkLst>
            <pc:docMk/>
            <pc:sldMk cId="0" sldId="257"/>
            <ac:spMk id="19" creationId="{00000000-0000-0000-0000-000000000000}"/>
          </ac:spMkLst>
        </pc:spChg>
        <pc:spChg chg="mod">
          <ac:chgData name="Alex Drenea" userId="ce31b3b0-d50b-419c-bff1-98e4c71466e7" providerId="ADAL" clId="{D293DEBA-7A69-4B74-ADD1-1EC038A40D7E}" dt="2026-09-13T16:49:10.559" v="41" actId="1076"/>
          <ac:spMkLst>
            <pc:docMk/>
            <pc:sldMk cId="0" sldId="257"/>
            <ac:spMk id="21" creationId="{00000000-0000-0000-0000-000000000000}"/>
          </ac:spMkLst>
        </pc:spChg>
        <pc:spChg chg="mod">
          <ac:chgData name="Alex Drenea" userId="ce31b3b0-d50b-419c-bff1-98e4c71466e7" providerId="ADAL" clId="{D293DEBA-7A69-4B74-ADD1-1EC038A40D7E}" dt="2026-09-13T16:44:09.609" v="1" actId="27636"/>
          <ac:spMkLst>
            <pc:docMk/>
            <pc:sldMk cId="0" sldId="257"/>
            <ac:spMk id="23" creationId="{00000000-0000-0000-0000-000000000000}"/>
          </ac:spMkLst>
        </pc:spChg>
        <pc:spChg chg="mod">
          <ac:chgData name="Alex Drenea" userId="ce31b3b0-d50b-419c-bff1-98e4c71466e7" providerId="ADAL" clId="{D293DEBA-7A69-4B74-ADD1-1EC038A40D7E}" dt="2026-09-13T16:44:09.612" v="2" actId="27636"/>
          <ac:spMkLst>
            <pc:docMk/>
            <pc:sldMk cId="0" sldId="257"/>
            <ac:spMk id="25" creationId="{00000000-0000-0000-0000-000000000000}"/>
          </ac:spMkLst>
        </pc:spChg>
        <pc:spChg chg="add del mod">
          <ac:chgData name="Alex Drenea" userId="ce31b3b0-d50b-419c-bff1-98e4c71466e7" providerId="ADAL" clId="{D293DEBA-7A69-4B74-ADD1-1EC038A40D7E}" dt="2026-09-13T16:44:24.557" v="37"/>
          <ac:spMkLst>
            <pc:docMk/>
            <pc:sldMk cId="0" sldId="257"/>
            <ac:spMk id="31" creationId="{9CF46DFD-2B70-D074-7A24-8BDFC29CC8CA}"/>
          </ac:spMkLst>
        </pc:spChg>
        <pc:grpChg chg="add mod">
          <ac:chgData name="Alex Drenea" userId="ce31b3b0-d50b-419c-bff1-98e4c71466e7" providerId="ADAL" clId="{D293DEBA-7A69-4B74-ADD1-1EC038A40D7E}" dt="2026-09-13T16:49:18.281" v="43" actId="1076"/>
          <ac:grpSpMkLst>
            <pc:docMk/>
            <pc:sldMk cId="0" sldId="257"/>
            <ac:grpSpMk id="32" creationId="{A9546445-78F2-8418-99E9-89311F2D4EAA}"/>
          </ac:grpSpMkLst>
        </pc:grpChg>
        <pc:grpChg chg="add mod">
          <ac:chgData name="Alex Drenea" userId="ce31b3b0-d50b-419c-bff1-98e4c71466e7" providerId="ADAL" clId="{D293DEBA-7A69-4B74-ADD1-1EC038A40D7E}" dt="2026-09-13T16:49:46.655" v="49" actId="1076"/>
          <ac:grpSpMkLst>
            <pc:docMk/>
            <pc:sldMk cId="0" sldId="257"/>
            <ac:grpSpMk id="33" creationId="{ECCDA99B-C388-106E-EC5C-F9CC9DD54E17}"/>
          </ac:grpSpMkLst>
        </pc:grpChg>
      </pc:sldChg>
      <pc:sldChg chg="addSp delSp modSp mod modNotesTx">
        <pc:chgData name="Alex Drenea" userId="ce31b3b0-d50b-419c-bff1-98e4c71466e7" providerId="ADAL" clId="{D293DEBA-7A69-4B74-ADD1-1EC038A40D7E}" dt="2026-09-13T17:19:09.723" v="1434" actId="6549"/>
        <pc:sldMkLst>
          <pc:docMk/>
          <pc:sldMk cId="0" sldId="258"/>
        </pc:sldMkLst>
        <pc:spChg chg="mod">
          <ac:chgData name="Alex Drenea" userId="ce31b3b0-d50b-419c-bff1-98e4c71466e7" providerId="ADAL" clId="{D293DEBA-7A69-4B74-ADD1-1EC038A40D7E}" dt="2026-09-13T17:15:39.230" v="1402" actId="1076"/>
          <ac:spMkLst>
            <pc:docMk/>
            <pc:sldMk cId="0" sldId="258"/>
            <ac:spMk id="4" creationId="{00000000-0000-0000-0000-000000000000}"/>
          </ac:spMkLst>
        </pc:spChg>
        <pc:spChg chg="mod">
          <ac:chgData name="Alex Drenea" userId="ce31b3b0-d50b-419c-bff1-98e4c71466e7" providerId="ADAL" clId="{D293DEBA-7A69-4B74-ADD1-1EC038A40D7E}" dt="2026-09-13T17:13:34.052" v="1373" actId="404"/>
          <ac:spMkLst>
            <pc:docMk/>
            <pc:sldMk cId="0" sldId="258"/>
            <ac:spMk id="6" creationId="{00000000-0000-0000-0000-000000000000}"/>
          </ac:spMkLst>
        </pc:spChg>
        <pc:spChg chg="mod">
          <ac:chgData name="Alex Drenea" userId="ce31b3b0-d50b-419c-bff1-98e4c71466e7" providerId="ADAL" clId="{D293DEBA-7A69-4B74-ADD1-1EC038A40D7E}" dt="2026-09-13T17:15:35.771" v="1400" actId="1076"/>
          <ac:spMkLst>
            <pc:docMk/>
            <pc:sldMk cId="0" sldId="258"/>
            <ac:spMk id="11" creationId="{00000000-0000-0000-0000-000000000000}"/>
          </ac:spMkLst>
        </pc:spChg>
        <pc:spChg chg="mod">
          <ac:chgData name="Alex Drenea" userId="ce31b3b0-d50b-419c-bff1-98e4c71466e7" providerId="ADAL" clId="{D293DEBA-7A69-4B74-ADD1-1EC038A40D7E}" dt="2026-09-13T17:13:46.640" v="1379" actId="14100"/>
          <ac:spMkLst>
            <pc:docMk/>
            <pc:sldMk cId="0" sldId="258"/>
            <ac:spMk id="13" creationId="{00000000-0000-0000-0000-000000000000}"/>
          </ac:spMkLst>
        </pc:spChg>
        <pc:spChg chg="mod">
          <ac:chgData name="Alex Drenea" userId="ce31b3b0-d50b-419c-bff1-98e4c71466e7" providerId="ADAL" clId="{D293DEBA-7A69-4B74-ADD1-1EC038A40D7E}" dt="2026-09-13T17:15:20.444" v="1398" actId="1076"/>
          <ac:spMkLst>
            <pc:docMk/>
            <pc:sldMk cId="0" sldId="258"/>
            <ac:spMk id="15" creationId="{00000000-0000-0000-0000-000000000000}"/>
          </ac:spMkLst>
        </pc:spChg>
        <pc:spChg chg="mod">
          <ac:chgData name="Alex Drenea" userId="ce31b3b0-d50b-419c-bff1-98e4c71466e7" providerId="ADAL" clId="{D293DEBA-7A69-4B74-ADD1-1EC038A40D7E}" dt="2026-09-13T17:14:33.816" v="1385" actId="1076"/>
          <ac:spMkLst>
            <pc:docMk/>
            <pc:sldMk cId="0" sldId="258"/>
            <ac:spMk id="17" creationId="{00000000-0000-0000-0000-000000000000}"/>
          </ac:spMkLst>
        </pc:spChg>
        <pc:spChg chg="mod">
          <ac:chgData name="Alex Drenea" userId="ce31b3b0-d50b-419c-bff1-98e4c71466e7" providerId="ADAL" clId="{D293DEBA-7A69-4B74-ADD1-1EC038A40D7E}" dt="2026-09-13T17:14:48.007" v="1388" actId="1076"/>
          <ac:spMkLst>
            <pc:docMk/>
            <pc:sldMk cId="0" sldId="258"/>
            <ac:spMk id="19" creationId="{00000000-0000-0000-0000-000000000000}"/>
          </ac:spMkLst>
        </pc:spChg>
        <pc:spChg chg="mod">
          <ac:chgData name="Alex Drenea" userId="ce31b3b0-d50b-419c-bff1-98e4c71466e7" providerId="ADAL" clId="{D293DEBA-7A69-4B74-ADD1-1EC038A40D7E}" dt="2026-09-13T17:15:04.131" v="1391" actId="1076"/>
          <ac:spMkLst>
            <pc:docMk/>
            <pc:sldMk cId="0" sldId="258"/>
            <ac:spMk id="21" creationId="{00000000-0000-0000-0000-000000000000}"/>
          </ac:spMkLst>
        </pc:spChg>
        <pc:spChg chg="mod topLvl">
          <ac:chgData name="Alex Drenea" userId="ce31b3b0-d50b-419c-bff1-98e4c71466e7" providerId="ADAL" clId="{D293DEBA-7A69-4B74-ADD1-1EC038A40D7E}" dt="2026-09-13T17:12:09.133" v="1348" actId="1076"/>
          <ac:spMkLst>
            <pc:docMk/>
            <pc:sldMk cId="0" sldId="258"/>
            <ac:spMk id="22" creationId="{00000000-0000-0000-0000-000000000000}"/>
          </ac:spMkLst>
        </pc:spChg>
        <pc:spChg chg="topLvl">
          <ac:chgData name="Alex Drenea" userId="ce31b3b0-d50b-419c-bff1-98e4c71466e7" providerId="ADAL" clId="{D293DEBA-7A69-4B74-ADD1-1EC038A40D7E}" dt="2026-09-13T17:11:55.395" v="1340" actId="164"/>
          <ac:spMkLst>
            <pc:docMk/>
            <pc:sldMk cId="0" sldId="258"/>
            <ac:spMk id="23" creationId="{00000000-0000-0000-0000-000000000000}"/>
          </ac:spMkLst>
        </pc:spChg>
        <pc:grpChg chg="add del">
          <ac:chgData name="Alex Drenea" userId="ce31b3b0-d50b-419c-bff1-98e4c71466e7" providerId="ADAL" clId="{D293DEBA-7A69-4B74-ADD1-1EC038A40D7E}" dt="2026-09-13T17:11:55.395" v="1340" actId="164"/>
          <ac:grpSpMkLst>
            <pc:docMk/>
            <pc:sldMk cId="0" sldId="258"/>
            <ac:grpSpMk id="26" creationId="{54A0A5C0-4DD0-2249-3E24-8D6C13806B6F}"/>
          </ac:grpSpMkLst>
        </pc:grpChg>
        <pc:grpChg chg="add mod">
          <ac:chgData name="Alex Drenea" userId="ce31b3b0-d50b-419c-bff1-98e4c71466e7" providerId="ADAL" clId="{D293DEBA-7A69-4B74-ADD1-1EC038A40D7E}" dt="2026-09-13T17:12:35.384" v="1360" actId="1076"/>
          <ac:grpSpMkLst>
            <pc:docMk/>
            <pc:sldMk cId="0" sldId="258"/>
            <ac:grpSpMk id="27" creationId="{E2F42D56-EA33-DAEA-FDF7-EF67B27389CD}"/>
          </ac:grpSpMkLst>
        </pc:grpChg>
        <pc:grpChg chg="add mod">
          <ac:chgData name="Alex Drenea" userId="ce31b3b0-d50b-419c-bff1-98e4c71466e7" providerId="ADAL" clId="{D293DEBA-7A69-4B74-ADD1-1EC038A40D7E}" dt="2026-09-13T17:12:52.327" v="1364" actId="1076"/>
          <ac:grpSpMkLst>
            <pc:docMk/>
            <pc:sldMk cId="0" sldId="258"/>
            <ac:grpSpMk id="28" creationId="{4AD1E9D8-479E-7FC3-E585-D272ABBABC3C}"/>
          </ac:grpSpMkLst>
        </pc:grpChg>
        <pc:grpChg chg="add">
          <ac:chgData name="Alex Drenea" userId="ce31b3b0-d50b-419c-bff1-98e4c71466e7" providerId="ADAL" clId="{D293DEBA-7A69-4B74-ADD1-1EC038A40D7E}" dt="2026-09-13T17:14:13.984" v="1381" actId="164"/>
          <ac:grpSpMkLst>
            <pc:docMk/>
            <pc:sldMk cId="0" sldId="258"/>
            <ac:grpSpMk id="29" creationId="{0C8DE7DF-3AD3-64B7-9981-231E53B497A4}"/>
          </ac:grpSpMkLst>
        </pc:grpChg>
        <pc:grpChg chg="add">
          <ac:chgData name="Alex Drenea" userId="ce31b3b0-d50b-419c-bff1-98e4c71466e7" providerId="ADAL" clId="{D293DEBA-7A69-4B74-ADD1-1EC038A40D7E}" dt="2026-09-13T17:14:37.471" v="1386" actId="164"/>
          <ac:grpSpMkLst>
            <pc:docMk/>
            <pc:sldMk cId="0" sldId="258"/>
            <ac:grpSpMk id="30" creationId="{3E3F94C1-2934-E066-E044-46440FB151F0}"/>
          </ac:grpSpMkLst>
        </pc:grpChg>
        <pc:grpChg chg="add">
          <ac:chgData name="Alex Drenea" userId="ce31b3b0-d50b-419c-bff1-98e4c71466e7" providerId="ADAL" clId="{D293DEBA-7A69-4B74-ADD1-1EC038A40D7E}" dt="2026-09-13T17:14:51.489" v="1389" actId="164"/>
          <ac:grpSpMkLst>
            <pc:docMk/>
            <pc:sldMk cId="0" sldId="258"/>
            <ac:grpSpMk id="31" creationId="{97BAC764-6B71-9DE8-DC84-173B5B9C3B42}"/>
          </ac:grpSpMkLst>
        </pc:grpChg>
        <pc:grpChg chg="add">
          <ac:chgData name="Alex Drenea" userId="ce31b3b0-d50b-419c-bff1-98e4c71466e7" providerId="ADAL" clId="{D293DEBA-7A69-4B74-ADD1-1EC038A40D7E}" dt="2026-09-13T17:15:07.838" v="1392" actId="164"/>
          <ac:grpSpMkLst>
            <pc:docMk/>
            <pc:sldMk cId="0" sldId="258"/>
            <ac:grpSpMk id="32" creationId="{7A917E5A-0096-963D-BBC1-FA5A46566DAE}"/>
          </ac:grpSpMkLst>
        </pc:grpChg>
      </pc:sldChg>
      <pc:sldChg chg="modSp mod">
        <pc:chgData name="Alex Drenea" userId="ce31b3b0-d50b-419c-bff1-98e4c71466e7" providerId="ADAL" clId="{D293DEBA-7A69-4B74-ADD1-1EC038A40D7E}" dt="2026-09-13T16:44:09.651" v="6" actId="27636"/>
        <pc:sldMkLst>
          <pc:docMk/>
          <pc:sldMk cId="0" sldId="259"/>
        </pc:sldMkLst>
        <pc:spChg chg="mod">
          <ac:chgData name="Alex Drenea" userId="ce31b3b0-d50b-419c-bff1-98e4c71466e7" providerId="ADAL" clId="{D293DEBA-7A69-4B74-ADD1-1EC038A40D7E}" dt="2026-09-13T16:44:09.648" v="5" actId="27636"/>
          <ac:spMkLst>
            <pc:docMk/>
            <pc:sldMk cId="0" sldId="259"/>
            <ac:spMk id="7" creationId="{00000000-0000-0000-0000-000000000000}"/>
          </ac:spMkLst>
        </pc:spChg>
        <pc:spChg chg="mod">
          <ac:chgData name="Alex Drenea" userId="ce31b3b0-d50b-419c-bff1-98e4c71466e7" providerId="ADAL" clId="{D293DEBA-7A69-4B74-ADD1-1EC038A40D7E}" dt="2026-09-13T16:44:09.651" v="6" actId="27636"/>
          <ac:spMkLst>
            <pc:docMk/>
            <pc:sldMk cId="0" sldId="259"/>
            <ac:spMk id="19" creationId="{00000000-0000-0000-0000-000000000000}"/>
          </ac:spMkLst>
        </pc:spChg>
        <pc:spChg chg="mod">
          <ac:chgData name="Alex Drenea" userId="ce31b3b0-d50b-419c-bff1-98e4c71466e7" providerId="ADAL" clId="{D293DEBA-7A69-4B74-ADD1-1EC038A40D7E}" dt="2026-09-13T16:44:09.646" v="4" actId="27636"/>
          <ac:spMkLst>
            <pc:docMk/>
            <pc:sldMk cId="0" sldId="259"/>
            <ac:spMk id="26" creationId="{00000000-0000-0000-0000-000000000000}"/>
          </ac:spMkLst>
        </pc:spChg>
      </pc:sldChg>
      <pc:sldChg chg="modSp mod">
        <pc:chgData name="Alex Drenea" userId="ce31b3b0-d50b-419c-bff1-98e4c71466e7" providerId="ADAL" clId="{D293DEBA-7A69-4B74-ADD1-1EC038A40D7E}" dt="2026-09-13T16:44:09.681" v="13" actId="27636"/>
        <pc:sldMkLst>
          <pc:docMk/>
          <pc:sldMk cId="0" sldId="260"/>
        </pc:sldMkLst>
        <pc:spChg chg="mod">
          <ac:chgData name="Alex Drenea" userId="ce31b3b0-d50b-419c-bff1-98e4c71466e7" providerId="ADAL" clId="{D293DEBA-7A69-4B74-ADD1-1EC038A40D7E}" dt="2026-09-13T16:44:09.675" v="11" actId="27636"/>
          <ac:spMkLst>
            <pc:docMk/>
            <pc:sldMk cId="0" sldId="260"/>
            <ac:spMk id="6" creationId="{00000000-0000-0000-0000-000000000000}"/>
          </ac:spMkLst>
        </pc:spChg>
        <pc:spChg chg="mod">
          <ac:chgData name="Alex Drenea" userId="ce31b3b0-d50b-419c-bff1-98e4c71466e7" providerId="ADAL" clId="{D293DEBA-7A69-4B74-ADD1-1EC038A40D7E}" dt="2026-09-13T16:44:09.678" v="12" actId="27636"/>
          <ac:spMkLst>
            <pc:docMk/>
            <pc:sldMk cId="0" sldId="260"/>
            <ac:spMk id="10" creationId="{00000000-0000-0000-0000-000000000000}"/>
          </ac:spMkLst>
        </pc:spChg>
        <pc:spChg chg="mod">
          <ac:chgData name="Alex Drenea" userId="ce31b3b0-d50b-419c-bff1-98e4c71466e7" providerId="ADAL" clId="{D293DEBA-7A69-4B74-ADD1-1EC038A40D7E}" dt="2026-09-13T16:44:09.681" v="13" actId="27636"/>
          <ac:spMkLst>
            <pc:docMk/>
            <pc:sldMk cId="0" sldId="260"/>
            <ac:spMk id="14" creationId="{00000000-0000-0000-0000-000000000000}"/>
          </ac:spMkLst>
        </pc:spChg>
        <pc:spChg chg="mod">
          <ac:chgData name="Alex Drenea" userId="ce31b3b0-d50b-419c-bff1-98e4c71466e7" providerId="ADAL" clId="{D293DEBA-7A69-4B74-ADD1-1EC038A40D7E}" dt="2026-09-13T16:44:09.671" v="10" actId="27636"/>
          <ac:spMkLst>
            <pc:docMk/>
            <pc:sldMk cId="0" sldId="260"/>
            <ac:spMk id="18" creationId="{00000000-0000-0000-0000-000000000000}"/>
          </ac:spMkLst>
        </pc:spChg>
        <pc:spChg chg="mod">
          <ac:chgData name="Alex Drenea" userId="ce31b3b0-d50b-419c-bff1-98e4c71466e7" providerId="ADAL" clId="{D293DEBA-7A69-4B74-ADD1-1EC038A40D7E}" dt="2026-09-13T16:44:09.663" v="7" actId="27636"/>
          <ac:spMkLst>
            <pc:docMk/>
            <pc:sldMk cId="0" sldId="260"/>
            <ac:spMk id="22" creationId="{00000000-0000-0000-0000-000000000000}"/>
          </ac:spMkLst>
        </pc:spChg>
        <pc:spChg chg="mod">
          <ac:chgData name="Alex Drenea" userId="ce31b3b0-d50b-419c-bff1-98e4c71466e7" providerId="ADAL" clId="{D293DEBA-7A69-4B74-ADD1-1EC038A40D7E}" dt="2026-09-13T16:44:09.668" v="9" actId="27636"/>
          <ac:spMkLst>
            <pc:docMk/>
            <pc:sldMk cId="0" sldId="260"/>
            <ac:spMk id="26" creationId="{00000000-0000-0000-0000-000000000000}"/>
          </ac:spMkLst>
        </pc:spChg>
        <pc:spChg chg="mod">
          <ac:chgData name="Alex Drenea" userId="ce31b3b0-d50b-419c-bff1-98e4c71466e7" providerId="ADAL" clId="{D293DEBA-7A69-4B74-ADD1-1EC038A40D7E}" dt="2026-09-13T16:44:09.666" v="8" actId="27636"/>
          <ac:spMkLst>
            <pc:docMk/>
            <pc:sldMk cId="0" sldId="260"/>
            <ac:spMk id="32" creationId="{00000000-0000-0000-0000-000000000000}"/>
          </ac:spMkLst>
        </pc:spChg>
      </pc:sldChg>
      <pc:sldChg chg="modSp mod">
        <pc:chgData name="Alex Drenea" userId="ce31b3b0-d50b-419c-bff1-98e4c71466e7" providerId="ADAL" clId="{D293DEBA-7A69-4B74-ADD1-1EC038A40D7E}" dt="2026-09-13T16:44:09.694" v="14" actId="27636"/>
        <pc:sldMkLst>
          <pc:docMk/>
          <pc:sldMk cId="0" sldId="261"/>
        </pc:sldMkLst>
        <pc:spChg chg="mod">
          <ac:chgData name="Alex Drenea" userId="ce31b3b0-d50b-419c-bff1-98e4c71466e7" providerId="ADAL" clId="{D293DEBA-7A69-4B74-ADD1-1EC038A40D7E}" dt="2026-09-13T16:44:09.694" v="14" actId="27636"/>
          <ac:spMkLst>
            <pc:docMk/>
            <pc:sldMk cId="0" sldId="261"/>
            <ac:spMk id="5" creationId="{00000000-0000-0000-0000-000000000000}"/>
          </ac:spMkLst>
        </pc:spChg>
      </pc:sldChg>
      <pc:sldChg chg="modSp mod">
        <pc:chgData name="Alex Drenea" userId="ce31b3b0-d50b-419c-bff1-98e4c71466e7" providerId="ADAL" clId="{D293DEBA-7A69-4B74-ADD1-1EC038A40D7E}" dt="2026-09-13T16:44:09.709" v="17" actId="27636"/>
        <pc:sldMkLst>
          <pc:docMk/>
          <pc:sldMk cId="0" sldId="262"/>
        </pc:sldMkLst>
        <pc:spChg chg="mod">
          <ac:chgData name="Alex Drenea" userId="ce31b3b0-d50b-419c-bff1-98e4c71466e7" providerId="ADAL" clId="{D293DEBA-7A69-4B74-ADD1-1EC038A40D7E}" dt="2026-09-13T16:44:09.706" v="16" actId="27636"/>
          <ac:spMkLst>
            <pc:docMk/>
            <pc:sldMk cId="0" sldId="262"/>
            <ac:spMk id="7" creationId="{00000000-0000-0000-0000-000000000000}"/>
          </ac:spMkLst>
        </pc:spChg>
        <pc:spChg chg="mod">
          <ac:chgData name="Alex Drenea" userId="ce31b3b0-d50b-419c-bff1-98e4c71466e7" providerId="ADAL" clId="{D293DEBA-7A69-4B74-ADD1-1EC038A40D7E}" dt="2026-09-13T16:44:09.709" v="17" actId="27636"/>
          <ac:spMkLst>
            <pc:docMk/>
            <pc:sldMk cId="0" sldId="262"/>
            <ac:spMk id="16" creationId="{00000000-0000-0000-0000-000000000000}"/>
          </ac:spMkLst>
        </pc:spChg>
        <pc:spChg chg="mod">
          <ac:chgData name="Alex Drenea" userId="ce31b3b0-d50b-419c-bff1-98e4c71466e7" providerId="ADAL" clId="{D293DEBA-7A69-4B74-ADD1-1EC038A40D7E}" dt="2026-09-13T16:44:09.704" v="15" actId="27636"/>
          <ac:spMkLst>
            <pc:docMk/>
            <pc:sldMk cId="0" sldId="262"/>
            <ac:spMk id="39" creationId="{00000000-0000-0000-0000-000000000000}"/>
          </ac:spMkLst>
        </pc:spChg>
      </pc:sldChg>
      <pc:sldChg chg="modSp mod">
        <pc:chgData name="Alex Drenea" userId="ce31b3b0-d50b-419c-bff1-98e4c71466e7" providerId="ADAL" clId="{D293DEBA-7A69-4B74-ADD1-1EC038A40D7E}" dt="2026-09-13T16:44:09.723" v="19" actId="27636"/>
        <pc:sldMkLst>
          <pc:docMk/>
          <pc:sldMk cId="0" sldId="264"/>
        </pc:sldMkLst>
        <pc:spChg chg="mod">
          <ac:chgData name="Alex Drenea" userId="ce31b3b0-d50b-419c-bff1-98e4c71466e7" providerId="ADAL" clId="{D293DEBA-7A69-4B74-ADD1-1EC038A40D7E}" dt="2026-09-13T16:44:09.719" v="18" actId="27636"/>
          <ac:spMkLst>
            <pc:docMk/>
            <pc:sldMk cId="0" sldId="264"/>
            <ac:spMk id="21" creationId="{00000000-0000-0000-0000-000000000000}"/>
          </ac:spMkLst>
        </pc:spChg>
        <pc:spChg chg="mod">
          <ac:chgData name="Alex Drenea" userId="ce31b3b0-d50b-419c-bff1-98e4c71466e7" providerId="ADAL" clId="{D293DEBA-7A69-4B74-ADD1-1EC038A40D7E}" dt="2026-09-13T16:44:09.723" v="19" actId="27636"/>
          <ac:spMkLst>
            <pc:docMk/>
            <pc:sldMk cId="0" sldId="264"/>
            <ac:spMk id="28" creationId="{00000000-0000-0000-0000-000000000000}"/>
          </ac:spMkLst>
        </pc:spChg>
      </pc:sldChg>
      <pc:sldChg chg="modSp mod">
        <pc:chgData name="Alex Drenea" userId="ce31b3b0-d50b-419c-bff1-98e4c71466e7" providerId="ADAL" clId="{D293DEBA-7A69-4B74-ADD1-1EC038A40D7E}" dt="2026-09-13T16:44:09.735" v="22" actId="27636"/>
        <pc:sldMkLst>
          <pc:docMk/>
          <pc:sldMk cId="0" sldId="266"/>
        </pc:sldMkLst>
        <pc:spChg chg="mod">
          <ac:chgData name="Alex Drenea" userId="ce31b3b0-d50b-419c-bff1-98e4c71466e7" providerId="ADAL" clId="{D293DEBA-7A69-4B74-ADD1-1EC038A40D7E}" dt="2026-09-13T16:44:09.735" v="22" actId="27636"/>
          <ac:spMkLst>
            <pc:docMk/>
            <pc:sldMk cId="0" sldId="266"/>
            <ac:spMk id="9" creationId="{00000000-0000-0000-0000-000000000000}"/>
          </ac:spMkLst>
        </pc:spChg>
        <pc:spChg chg="mod">
          <ac:chgData name="Alex Drenea" userId="ce31b3b0-d50b-419c-bff1-98e4c71466e7" providerId="ADAL" clId="{D293DEBA-7A69-4B74-ADD1-1EC038A40D7E}" dt="2026-09-13T16:44:09.730" v="20" actId="27636"/>
          <ac:spMkLst>
            <pc:docMk/>
            <pc:sldMk cId="0" sldId="266"/>
            <ac:spMk id="15" creationId="{00000000-0000-0000-0000-000000000000}"/>
          </ac:spMkLst>
        </pc:spChg>
        <pc:spChg chg="mod">
          <ac:chgData name="Alex Drenea" userId="ce31b3b0-d50b-419c-bff1-98e4c71466e7" providerId="ADAL" clId="{D293DEBA-7A69-4B74-ADD1-1EC038A40D7E}" dt="2026-09-13T16:44:09.731" v="21" actId="27636"/>
          <ac:spMkLst>
            <pc:docMk/>
            <pc:sldMk cId="0" sldId="266"/>
            <ac:spMk id="21" creationId="{00000000-0000-0000-0000-000000000000}"/>
          </ac:spMkLst>
        </pc:spChg>
      </pc:sldChg>
      <pc:sldChg chg="modSp mod">
        <pc:chgData name="Alex Drenea" userId="ce31b3b0-d50b-419c-bff1-98e4c71466e7" providerId="ADAL" clId="{D293DEBA-7A69-4B74-ADD1-1EC038A40D7E}" dt="2026-09-13T16:44:09.750" v="25" actId="27636"/>
        <pc:sldMkLst>
          <pc:docMk/>
          <pc:sldMk cId="0" sldId="267"/>
        </pc:sldMkLst>
        <pc:spChg chg="mod">
          <ac:chgData name="Alex Drenea" userId="ce31b3b0-d50b-419c-bff1-98e4c71466e7" providerId="ADAL" clId="{D293DEBA-7A69-4B74-ADD1-1EC038A40D7E}" dt="2026-09-13T16:44:09.750" v="25" actId="27636"/>
          <ac:spMkLst>
            <pc:docMk/>
            <pc:sldMk cId="0" sldId="267"/>
            <ac:spMk id="8" creationId="{00000000-0000-0000-0000-000000000000}"/>
          </ac:spMkLst>
        </pc:spChg>
        <pc:spChg chg="mod">
          <ac:chgData name="Alex Drenea" userId="ce31b3b0-d50b-419c-bff1-98e4c71466e7" providerId="ADAL" clId="{D293DEBA-7A69-4B74-ADD1-1EC038A40D7E}" dt="2026-09-13T16:44:09.746" v="23" actId="27636"/>
          <ac:spMkLst>
            <pc:docMk/>
            <pc:sldMk cId="0" sldId="267"/>
            <ac:spMk id="20" creationId="{00000000-0000-0000-0000-000000000000}"/>
          </ac:spMkLst>
        </pc:spChg>
        <pc:spChg chg="mod">
          <ac:chgData name="Alex Drenea" userId="ce31b3b0-d50b-419c-bff1-98e4c71466e7" providerId="ADAL" clId="{D293DEBA-7A69-4B74-ADD1-1EC038A40D7E}" dt="2026-09-13T16:44:09.748" v="24" actId="27636"/>
          <ac:spMkLst>
            <pc:docMk/>
            <pc:sldMk cId="0" sldId="267"/>
            <ac:spMk id="23" creationId="{00000000-0000-0000-0000-000000000000}"/>
          </ac:spMkLst>
        </pc:spChg>
      </pc:sldChg>
      <pc:sldChg chg="modSp mod">
        <pc:chgData name="Alex Drenea" userId="ce31b3b0-d50b-419c-bff1-98e4c71466e7" providerId="ADAL" clId="{D293DEBA-7A69-4B74-ADD1-1EC038A40D7E}" dt="2026-09-13T16:44:09.757" v="26" actId="27636"/>
        <pc:sldMkLst>
          <pc:docMk/>
          <pc:sldMk cId="0" sldId="268"/>
        </pc:sldMkLst>
        <pc:spChg chg="mod">
          <ac:chgData name="Alex Drenea" userId="ce31b3b0-d50b-419c-bff1-98e4c71466e7" providerId="ADAL" clId="{D293DEBA-7A69-4B74-ADD1-1EC038A40D7E}" dt="2026-09-13T16:44:09.757" v="26" actId="27636"/>
          <ac:spMkLst>
            <pc:docMk/>
            <pc:sldMk cId="0" sldId="268"/>
            <ac:spMk id="41" creationId="{00000000-0000-0000-0000-000000000000}"/>
          </ac:spMkLst>
        </pc:spChg>
      </pc:sldChg>
      <pc:sldChg chg="modSp mod">
        <pc:chgData name="Alex Drenea" userId="ce31b3b0-d50b-419c-bff1-98e4c71466e7" providerId="ADAL" clId="{D293DEBA-7A69-4B74-ADD1-1EC038A40D7E}" dt="2026-09-13T16:44:09.768" v="28" actId="27636"/>
        <pc:sldMkLst>
          <pc:docMk/>
          <pc:sldMk cId="0" sldId="270"/>
        </pc:sldMkLst>
        <pc:spChg chg="mod">
          <ac:chgData name="Alex Drenea" userId="ce31b3b0-d50b-419c-bff1-98e4c71466e7" providerId="ADAL" clId="{D293DEBA-7A69-4B74-ADD1-1EC038A40D7E}" dt="2026-09-13T16:44:09.768" v="28" actId="27636"/>
          <ac:spMkLst>
            <pc:docMk/>
            <pc:sldMk cId="0" sldId="270"/>
            <ac:spMk id="8" creationId="{00000000-0000-0000-0000-000000000000}"/>
          </ac:spMkLst>
        </pc:spChg>
        <pc:spChg chg="mod">
          <ac:chgData name="Alex Drenea" userId="ce31b3b0-d50b-419c-bff1-98e4c71466e7" providerId="ADAL" clId="{D293DEBA-7A69-4B74-ADD1-1EC038A40D7E}" dt="2026-09-13T16:44:09.767" v="27" actId="27636"/>
          <ac:spMkLst>
            <pc:docMk/>
            <pc:sldMk cId="0" sldId="270"/>
            <ac:spMk id="17" creationId="{00000000-0000-0000-0000-000000000000}"/>
          </ac:spMkLst>
        </pc:spChg>
      </pc:sldChg>
      <pc:sldChg chg="modSp mod">
        <pc:chgData name="Alex Drenea" userId="ce31b3b0-d50b-419c-bff1-98e4c71466e7" providerId="ADAL" clId="{D293DEBA-7A69-4B74-ADD1-1EC038A40D7E}" dt="2026-09-13T16:44:09.775" v="29" actId="27636"/>
        <pc:sldMkLst>
          <pc:docMk/>
          <pc:sldMk cId="0" sldId="271"/>
        </pc:sldMkLst>
        <pc:spChg chg="mod">
          <ac:chgData name="Alex Drenea" userId="ce31b3b0-d50b-419c-bff1-98e4c71466e7" providerId="ADAL" clId="{D293DEBA-7A69-4B74-ADD1-1EC038A40D7E}" dt="2026-09-13T16:44:09.775" v="29" actId="27636"/>
          <ac:spMkLst>
            <pc:docMk/>
            <pc:sldMk cId="0" sldId="271"/>
            <ac:spMk id="20" creationId="{00000000-0000-0000-0000-000000000000}"/>
          </ac:spMkLst>
        </pc:spChg>
      </pc:sldChg>
      <pc:sldChg chg="modSp mod">
        <pc:chgData name="Alex Drenea" userId="ce31b3b0-d50b-419c-bff1-98e4c71466e7" providerId="ADAL" clId="{D293DEBA-7A69-4B74-ADD1-1EC038A40D7E}" dt="2026-09-13T16:44:09.783" v="30" actId="27636"/>
        <pc:sldMkLst>
          <pc:docMk/>
          <pc:sldMk cId="0" sldId="272"/>
        </pc:sldMkLst>
        <pc:spChg chg="mod">
          <ac:chgData name="Alex Drenea" userId="ce31b3b0-d50b-419c-bff1-98e4c71466e7" providerId="ADAL" clId="{D293DEBA-7A69-4B74-ADD1-1EC038A40D7E}" dt="2026-09-13T16:44:09.783" v="30" actId="27636"/>
          <ac:spMkLst>
            <pc:docMk/>
            <pc:sldMk cId="0" sldId="272"/>
            <ac:spMk id="23" creationId="{00000000-0000-0000-0000-000000000000}"/>
          </ac:spMkLst>
        </pc:spChg>
      </pc:sldChg>
      <pc:sldChg chg="modSp mod">
        <pc:chgData name="Alex Drenea" userId="ce31b3b0-d50b-419c-bff1-98e4c71466e7" providerId="ADAL" clId="{D293DEBA-7A69-4B74-ADD1-1EC038A40D7E}" dt="2026-09-13T16:44:09.795" v="31" actId="27636"/>
        <pc:sldMkLst>
          <pc:docMk/>
          <pc:sldMk cId="0" sldId="274"/>
        </pc:sldMkLst>
        <pc:spChg chg="mod">
          <ac:chgData name="Alex Drenea" userId="ce31b3b0-d50b-419c-bff1-98e4c71466e7" providerId="ADAL" clId="{D293DEBA-7A69-4B74-ADD1-1EC038A40D7E}" dt="2026-09-13T16:44:09.795" v="31" actId="27636"/>
          <ac:spMkLst>
            <pc:docMk/>
            <pc:sldMk cId="0" sldId="274"/>
            <ac:spMk id="22" creationId="{00000000-0000-0000-0000-000000000000}"/>
          </ac:spMkLst>
        </pc:spChg>
      </pc:sldChg>
      <pc:sldChg chg="modSp mod">
        <pc:chgData name="Alex Drenea" userId="ce31b3b0-d50b-419c-bff1-98e4c71466e7" providerId="ADAL" clId="{D293DEBA-7A69-4B74-ADD1-1EC038A40D7E}" dt="2026-09-13T16:44:09.813" v="34" actId="27636"/>
        <pc:sldMkLst>
          <pc:docMk/>
          <pc:sldMk cId="0" sldId="276"/>
        </pc:sldMkLst>
        <pc:spChg chg="mod">
          <ac:chgData name="Alex Drenea" userId="ce31b3b0-d50b-419c-bff1-98e4c71466e7" providerId="ADAL" clId="{D293DEBA-7A69-4B74-ADD1-1EC038A40D7E}" dt="2026-09-13T16:44:09.813" v="34" actId="27636"/>
          <ac:spMkLst>
            <pc:docMk/>
            <pc:sldMk cId="0" sldId="276"/>
            <ac:spMk id="12" creationId="{00000000-0000-0000-0000-000000000000}"/>
          </ac:spMkLst>
        </pc:spChg>
        <pc:spChg chg="mod">
          <ac:chgData name="Alex Drenea" userId="ce31b3b0-d50b-419c-bff1-98e4c71466e7" providerId="ADAL" clId="{D293DEBA-7A69-4B74-ADD1-1EC038A40D7E}" dt="2026-09-13T16:44:09.810" v="33" actId="27636"/>
          <ac:spMkLst>
            <pc:docMk/>
            <pc:sldMk cId="0" sldId="276"/>
            <ac:spMk id="17" creationId="{00000000-0000-0000-0000-000000000000}"/>
          </ac:spMkLst>
        </pc:spChg>
        <pc:spChg chg="mod">
          <ac:chgData name="Alex Drenea" userId="ce31b3b0-d50b-419c-bff1-98e4c71466e7" providerId="ADAL" clId="{D293DEBA-7A69-4B74-ADD1-1EC038A40D7E}" dt="2026-09-13T16:44:09.808" v="32" actId="27636"/>
          <ac:spMkLst>
            <pc:docMk/>
            <pc:sldMk cId="0" sldId="276"/>
            <ac:spMk id="35" creationId="{00000000-0000-0000-0000-000000000000}"/>
          </ac:spMkLst>
        </pc:spChg>
      </pc:sldChg>
      <pc:sldChg chg="modSp mod">
        <pc:chgData name="Alex Drenea" userId="ce31b3b0-d50b-419c-bff1-98e4c71466e7" providerId="ADAL" clId="{D293DEBA-7A69-4B74-ADD1-1EC038A40D7E}" dt="2026-09-13T16:44:09.827" v="35" actId="27636"/>
        <pc:sldMkLst>
          <pc:docMk/>
          <pc:sldMk cId="0" sldId="277"/>
        </pc:sldMkLst>
        <pc:spChg chg="mod">
          <ac:chgData name="Alex Drenea" userId="ce31b3b0-d50b-419c-bff1-98e4c71466e7" providerId="ADAL" clId="{D293DEBA-7A69-4B74-ADD1-1EC038A40D7E}" dt="2026-09-13T16:44:09.827" v="35" actId="27636"/>
          <ac:spMkLst>
            <pc:docMk/>
            <pc:sldMk cId="0" sldId="27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215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 — AGENTIC SDLC ACROSS GITHUB AND AZURE
This is a talk about AI-driven engineering, but it is not a talk about generating more code. It is about what happens after generation becomes cheap: context has to be reconstructed, decisions have to be reviewed, changes have to be verified, production has to be protected, and whatever we learn has to survive the chat that produced it.</a:t>
            </a:r>
          </a:p>
          <a:p>
            <a:r>
              <a:rPr lang="en-US" dirty="0"/>
              <a:t>
Hypervelocity engineering is not just typing code faster. It is designing an engineering system in which context, constraints, agents, verification, and learning safely compound.”</a:t>
            </a:r>
          </a:p>
          <a:p>
            <a:r>
              <a:rPr lang="en-US" dirty="0"/>
              <a:t>
I want to start with the moment this approach shined, because that is where its engineering value becomes visible.
</a:t>
            </a:r>
          </a:p>
        </p:txBody>
      </p:sp>
      <p:sp>
        <p:nvSpPr>
          <p:cNvPr id="4" name="Slide Number Placeholder 3"/>
          <p:cNvSpPr>
            <a:spLocks noGrp="1"/>
          </p:cNvSpPr>
          <p:nvPr>
            <p:ph type="sldNum" sz="quarter" idx="10"/>
          </p:nvPr>
        </p:nvSpPr>
        <p:spPr/>
        <p:txBody>
          <a:bodyPr/>
          <a:lstStyle/>
          <a:p>
            <a:r>
              <a:rPr lang="en-US"/>
              <a:t>1</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6B40-6AF7-32C3-0CA8-0CC7F5F0A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EF729-B400-CF91-B1FE-A02BDC28B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39C5E-03DB-FDA2-7171-152CB599ACFE}"/>
              </a:ext>
            </a:extLst>
          </p:cNvPr>
          <p:cNvSpPr>
            <a:spLocks noGrp="1"/>
          </p:cNvSpPr>
          <p:nvPr>
            <p:ph type="body" idx="1"/>
          </p:nvPr>
        </p:nvSpPr>
        <p:spPr/>
        <p:txBody>
          <a:bodyPr/>
          <a:lstStyle/>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At 06:39pm, I approved a production configuration. At 06:43, a restart exposed a startup failure. At 06:46, the service was returning 503. By 06:50, the cause was understood. By 06:55, the complete configuration had been restored and the service was healthy.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That is sixteen minutes from approved change to verified recovery. The clearly observed customer-visible 503 window was about nine minutes.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So, </a:t>
            </a:r>
            <a:r>
              <a:rPr lang="en-CA" sz="1200" b="0" i="1" kern="1200" dirty="0">
                <a:solidFill>
                  <a:schemeClr val="tx1"/>
                </a:solidFill>
                <a:effectLst/>
                <a:latin typeface="+mn-lt"/>
                <a:ea typeface="+mn-ea"/>
                <a:cs typeface="+mn-cs"/>
              </a:rPr>
              <a:t>*</a:t>
            </a:r>
            <a:r>
              <a:rPr lang="en-CA" sz="1200" b="0" i="1" kern="1200" dirty="0" err="1">
                <a:solidFill>
                  <a:schemeClr val="tx1"/>
                </a:solidFill>
                <a:effectLst/>
                <a:latin typeface="+mn-lt"/>
                <a:ea typeface="+mn-ea"/>
                <a:cs typeface="+mn-cs"/>
              </a:rPr>
              <a:t>i</a:t>
            </a:r>
            <a:r>
              <a:rPr lang="en-CA" sz="1200" b="0" i="1" kern="1200" dirty="0">
                <a:solidFill>
                  <a:schemeClr val="tx1"/>
                </a:solidFill>
                <a:effectLst/>
                <a:latin typeface="+mn-lt"/>
                <a:ea typeface="+mn-ea"/>
                <a:cs typeface="+mn-cs"/>
              </a:rPr>
              <a:t>*</a:t>
            </a:r>
            <a:r>
              <a:rPr lang="en-CA" sz="1200" b="0" kern="1200" dirty="0">
                <a:solidFill>
                  <a:schemeClr val="tx1"/>
                </a:solidFill>
                <a:effectLst/>
                <a:latin typeface="+mn-lt"/>
                <a:ea typeface="+mn-ea"/>
                <a:cs typeface="+mn-cs"/>
              </a:rPr>
              <a:t> just took prod down! Seems pretty mundane right? Can happen to anyone, </a:t>
            </a:r>
            <a:r>
              <a:rPr lang="en-CA" sz="1200" b="0" i="1" kern="1200" dirty="0">
                <a:solidFill>
                  <a:schemeClr val="tx1"/>
                </a:solidFill>
                <a:effectLst/>
                <a:latin typeface="+mn-lt"/>
                <a:ea typeface="+mn-ea"/>
                <a:cs typeface="+mn-cs"/>
              </a:rPr>
              <a:t>*has*</a:t>
            </a:r>
            <a:r>
              <a:rPr lang="en-CA" sz="1200" b="0" kern="1200" dirty="0">
                <a:solidFill>
                  <a:schemeClr val="tx1"/>
                </a:solidFill>
                <a:effectLst/>
                <a:latin typeface="+mn-lt"/>
                <a:ea typeface="+mn-ea"/>
                <a:cs typeface="+mn-cs"/>
              </a:rPr>
              <a:t> happened to everyone... The kicker is, even though I was responsible for breaking it.. </a:t>
            </a:r>
            <a:r>
              <a:rPr lang="en-CA" sz="1200" b="0" i="1" kern="1200" dirty="0">
                <a:solidFill>
                  <a:schemeClr val="tx1"/>
                </a:solidFill>
                <a:effectLst/>
                <a:latin typeface="+mn-lt"/>
                <a:ea typeface="+mn-ea"/>
                <a:cs typeface="+mn-cs"/>
              </a:rPr>
              <a:t>*and*</a:t>
            </a:r>
            <a:r>
              <a:rPr lang="en-CA" sz="1200" b="0" kern="1200" dirty="0">
                <a:solidFill>
                  <a:schemeClr val="tx1"/>
                </a:solidFill>
                <a:effectLst/>
                <a:latin typeface="+mn-lt"/>
                <a:ea typeface="+mn-ea"/>
                <a:cs typeface="+mn-cs"/>
              </a:rPr>
              <a:t> fixing it, I had a single interaction with the system. Can anyone guess what was my contribution?... </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Pause for effect. </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Slide animation - highlight the word "approve.".</a:t>
            </a:r>
          </a:p>
          <a:p>
            <a:br>
              <a:rPr lang="en-CA" sz="1200" b="0" kern="1200" dirty="0">
                <a:solidFill>
                  <a:schemeClr val="tx1"/>
                </a:solidFill>
                <a:effectLst/>
                <a:latin typeface="+mn-lt"/>
                <a:ea typeface="+mn-ea"/>
                <a:cs typeface="+mn-cs"/>
              </a:rPr>
            </a:br>
            <a:r>
              <a:rPr lang="en-CA" sz="1200" b="0" kern="1200" dirty="0">
                <a:solidFill>
                  <a:schemeClr val="tx1"/>
                </a:solidFill>
                <a:effectLst/>
                <a:latin typeface="+mn-lt"/>
                <a:ea typeface="+mn-ea"/>
                <a:cs typeface="+mn-cs"/>
              </a:rPr>
              <a:t>Here’s what happened. While troubleshooting a bug, the agent recommended a secret needed to be added to the web app configuration. I approved the change. The agent used a PUT command instead of PATCH to update the settings collection which caused the entire collection to be replaced. The command succeeded and an immediate API test showed success because the worker had not yet restarted. The problem became visible only when the application restarted and a new worker tried to boot without required settings.</a:t>
            </a:r>
          </a:p>
          <a:p>
            <a:r>
              <a:rPr lang="en-CA" sz="1200" b="0" kern="1200" dirty="0">
                <a:solidFill>
                  <a:schemeClr val="tx1"/>
                </a:solidFill>
                <a:effectLst/>
                <a:latin typeface="+mn-lt"/>
                <a:ea typeface="+mn-ea"/>
                <a:cs typeface="+mn-cs"/>
              </a:rPr>
              <a:t>Five minutes in, the app started behaving strangely with requests failing “out of the blue”</a:t>
            </a:r>
          </a:p>
          <a:p>
            <a:r>
              <a:rPr lang="en-CA" sz="1200" b="0" kern="1200" dirty="0">
                <a:solidFill>
                  <a:schemeClr val="tx1"/>
                </a:solidFill>
                <a:effectLst/>
                <a:latin typeface="+mn-lt"/>
                <a:ea typeface="+mn-ea"/>
                <a:cs typeface="+mn-cs"/>
              </a:rPr>
              <a:t>Health probes, telemetry, and startup logs were all used to narrow the fault. The Agent repaired the full declarative configuration, restarted, and verified health.</a:t>
            </a:r>
          </a:p>
          <a:p>
            <a:br>
              <a:rPr lang="en-CA" sz="1200" b="0" kern="1200" dirty="0">
                <a:solidFill>
                  <a:schemeClr val="tx1"/>
                </a:solidFill>
                <a:effectLst/>
                <a:latin typeface="+mn-lt"/>
                <a:ea typeface="+mn-ea"/>
                <a:cs typeface="+mn-cs"/>
              </a:rPr>
            </a:br>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But this is what makes this extraordinary... Yes the human approved, and yes the agent made a mistake, not a hallucination, an honest mistake, but the engineering rigor built into the agentic workflows allowed this to self heal and end in a healthy and corrected state - not a rollback. </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And the lessons, while they are ordinary engineering lessons: validate the response shape in read-modify-write APIs; back up configuration, treat restart as part of the success confirmation process ; and remember that an exit code is not evidence that the product is healthy - have been automatically recorded and will be used in the future to reduce the chances of this happening again .</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 Transition</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This incident changed my definition of velocity…. Hypervelocity is not how quickly an agent can make a change. It is how quickly the engineering system can move from intent to verified outcome—and recover when the outcome is wrong.   </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Automation amplifies both delivery speed and failure speed which means you need to ensure you provide the </a:t>
            </a:r>
            <a:r>
              <a:rPr lang="en-CA" sz="1200" b="0" kern="1200" dirty="0" err="1">
                <a:solidFill>
                  <a:schemeClr val="tx1"/>
                </a:solidFill>
                <a:effectLst/>
                <a:latin typeface="+mn-lt"/>
                <a:ea typeface="+mn-ea"/>
                <a:cs typeface="+mn-cs"/>
              </a:rPr>
              <a:t>rigth</a:t>
            </a:r>
            <a:r>
              <a:rPr lang="en-CA" sz="1200" b="0" kern="1200" dirty="0">
                <a:solidFill>
                  <a:schemeClr val="tx1"/>
                </a:solidFill>
                <a:effectLst/>
                <a:latin typeface="+mn-lt"/>
                <a:ea typeface="+mn-ea"/>
                <a:cs typeface="+mn-cs"/>
              </a:rPr>
              <a:t> tools to amplify the speed at every layer of the SDLC. </a:t>
            </a:r>
          </a:p>
        </p:txBody>
      </p:sp>
      <p:sp>
        <p:nvSpPr>
          <p:cNvPr id="4" name="Slide Number Placeholder 3">
            <a:extLst>
              <a:ext uri="{FF2B5EF4-FFF2-40B4-BE49-F238E27FC236}">
                <a16:creationId xmlns:a16="http://schemas.microsoft.com/office/drawing/2014/main" id="{F8ADF6A0-142B-2B4D-B9D7-66B0F84D712D}"/>
              </a:ext>
            </a:extLst>
          </p:cNvPr>
          <p:cNvSpPr>
            <a:spLocks noGrp="1"/>
          </p:cNvSpPr>
          <p:nvPr>
            <p:ph type="sldNum" sz="quarter" idx="10"/>
          </p:nvPr>
        </p:nvSpPr>
        <p:spPr/>
        <p:txBody>
          <a:bodyPr/>
          <a:lstStyle/>
          <a:p>
            <a:r>
              <a:rPr lang="en-US"/>
              <a:t>2</a:t>
            </a:r>
          </a:p>
        </p:txBody>
      </p:sp>
    </p:spTree>
    <p:extLst>
      <p:ext uri="{BB962C8B-B14F-4D97-AF65-F5344CB8AC3E}">
        <p14:creationId xmlns:p14="http://schemas.microsoft.com/office/powerpoint/2010/main" val="81495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3 — Hypervelocity is not code velocity
AI is very good at compressing the time from a request (aka the prompt) to a </a:t>
            </a:r>
            <a:r>
              <a:rPr lang="en-US" b="1" dirty="0"/>
              <a:t>plausible</a:t>
            </a:r>
            <a:r>
              <a:rPr lang="en-US" dirty="0"/>
              <a:t> change (the code it wrote). </a:t>
            </a:r>
          </a:p>
          <a:p>
            <a:r>
              <a:rPr lang="en-US" dirty="0"/>
              <a:t>But that does not automatically make it  correct, reviewed, or releasable. So, for that code to be useful we need to review, test, integrate, </a:t>
            </a:r>
            <a:r>
              <a:rPr lang="en-US" dirty="0" err="1"/>
              <a:t>etc</a:t>
            </a:r>
            <a:r>
              <a:rPr lang="en-US" dirty="0"/>
              <a:t>… which means we’re simply “kicking the can down the road”.  I am not saying to verify less, I am saying to ‘design verification into the path earlier, automate what can be deterministic, and route the right context before work begins.’
</a:t>
            </a:r>
          </a:p>
          <a:p>
            <a:r>
              <a:rPr lang="en-US" dirty="0"/>
              <a:t>So, our real metric should not be generated code – it should be “evidence” – things like a code that passes a review gate, tests that cover the entire contract of the change, that pass, evaluations around nondeterministic behaviors, even non-code elements such a complete and correct ticket.
And then there is a second loop – Just as important-&gt; What did we learn, and where does that lesson go? </a:t>
            </a:r>
          </a:p>
          <a:p>
            <a:r>
              <a:rPr lang="en-US" dirty="0"/>
              <a:t>If it stays in my head or in an old session, the next agent and the next engineer pay the same discovery cost again. </a:t>
            </a:r>
          </a:p>
          <a:p>
            <a:r>
              <a:rPr lang="en-US" dirty="0"/>
              <a:t>If it becomes an issue constraint, a test, an instruction, a skill, an architecture decision, the repository gets smarter over time.
So my working definition is: True AI driven hypervelocity engineering is the shortest safe path from intent to trusted evidence, followed by the shortest path from that evidence to reusable organizational knowledge.”
</a:t>
            </a:r>
          </a:p>
          <a:p>
            <a:r>
              <a:rPr lang="en-US" dirty="0"/>
              <a:t>### Transition
Here is what that evolution looked like in a real product—and first, what the evidence can and cannot tell us.”</a:t>
            </a:r>
          </a:p>
        </p:txBody>
      </p:sp>
      <p:sp>
        <p:nvSpPr>
          <p:cNvPr id="4" name="Slide Number Placeholder 3"/>
          <p:cNvSpPr>
            <a:spLocks noGrp="1"/>
          </p:cNvSpPr>
          <p:nvPr>
            <p:ph type="sldNum" sz="quarter" idx="10"/>
          </p:nvPr>
        </p:nvSpPr>
        <p:spPr/>
        <p:txBody>
          <a:bodyPr/>
          <a:lstStyle/>
          <a:p>
            <a:r>
              <a:rPr lang="en-US"/>
              <a:t>3</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4 — Health Track – a perfect HVE test bench</a:t>
            </a:r>
          </a:p>
          <a:p>
            <a:r>
              <a:rPr lang="en-US" dirty="0"/>
              <a:t>## Slide 4 </a:t>
            </a:r>
          </a:p>
          <a:p>
            <a:endParaRPr lang="en-US" dirty="0"/>
          </a:p>
          <a:p>
            <a:r>
              <a:rPr lang="en-US" dirty="0"/>
              <a:t>“This started as a small, personal vibe-coded application and grew into a real product with enough complexity to test an agentic SDLC honestly.</a:t>
            </a:r>
          </a:p>
          <a:p>
            <a:endParaRPr lang="en-US" dirty="0"/>
          </a:p>
          <a:p>
            <a:r>
              <a:rPr lang="en-US" dirty="0"/>
              <a:t>Story</a:t>
            </a:r>
          </a:p>
          <a:p>
            <a:endParaRPr lang="en-US" dirty="0"/>
          </a:p>
          <a:p>
            <a:r>
              <a:rPr lang="en-US" dirty="0"/>
              <a:t>As the product became real, the way I worked with the agent also had to become real.</a:t>
            </a:r>
          </a:p>
          <a:p>
            <a:endParaRPr lang="en-US" dirty="0"/>
          </a:p>
        </p:txBody>
      </p:sp>
    </p:spTree>
    <p:extLst>
      <p:ext uri="{BB962C8B-B14F-4D97-AF65-F5344CB8AC3E}">
        <p14:creationId xmlns:p14="http://schemas.microsoft.com/office/powerpoint/2010/main" val="2407292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5 — Evidence, not a productivity claim
These are measured activity counts from a recent thirty-day window, not productivity metrics.
Health Track had 44 recorded sessions, 657 recorded turns, and 430 session file touches. In the recent Git window, Health Track had 80 commits; all 80 contained Copilot co-author attribution. The broader observed activity included substantial delegated review and work across frontend, backend, PWA, AI, data, infrastructure, release, operations, and migration.
What does that prove? It proves that this operating model was used to deliver substantial full-stack change and that it generated concrete engineering controls.
What does it not prove? It does not show that one developer became some multiple faster. There is no controlled non-AI comparison. Co-author trailers do not prove quality or causation. Much of the independent review was AI-on-AI with human approval. These is a private personal products, not an enterprise-wide study.
I am showing the counts to define the scale of the experience, not to manufacture an ROI claim.”
“The important evidence is not the volume. It is the change in the operating system.”
</a:t>
            </a:r>
          </a:p>
        </p:txBody>
      </p:sp>
      <p:sp>
        <p:nvSpPr>
          <p:cNvPr id="4" name="Slide Number Placeholder 3"/>
          <p:cNvSpPr>
            <a:spLocks noGrp="1"/>
          </p:cNvSpPr>
          <p:nvPr>
            <p:ph type="sldNum" sz="quarter" idx="10"/>
          </p:nvPr>
        </p:nvSpPr>
        <p:spPr/>
        <p:txBody>
          <a:bodyPr/>
          <a:lstStyle/>
          <a:p>
            <a:r>
              <a:rPr lang="en-US"/>
              <a:t>5</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Slide 6 — The session became the system
The first version of this system felt like extraordinarily capable vibe coding. One enormous worker session ran for weeks and accumulated more than twenty-four thousand AI credits. It knew the architecture, commands, release details, and previous decisions because it had lived through them.
A feature started with a detailed instruction describing product intent, UX and architecture constraints, and the release boundary. I then spent roughly an hour approving commands, refining the goal, and correcting design decisions as implementation emerged.
That was much faster than writing all the code myself, but it still required continuous attention. The session had become infrastructure—valuable infrastructure, but infrastructure that could not be reviewed, inherited, diffed, or reliably recreated.
Transition: “The first breakthrough was not a more elaborate prompt or a more capable coding agent. It was creating a durable contract outside the session.”</a:t>
            </a:r>
            <a:endParaRPr lang="en-US" dirty="0"/>
          </a:p>
        </p:txBody>
      </p:sp>
      <p:sp>
        <p:nvSpPr>
          <p:cNvPr id="4" name="Slide Number Placeholder 3"/>
          <p:cNvSpPr>
            <a:spLocks noGrp="1"/>
          </p:cNvSpPr>
          <p:nvPr>
            <p:ph type="sldNum" sz="quarter" idx="10"/>
          </p:nvPr>
        </p:nvSpPr>
        <p:spPr/>
        <p:txBody>
          <a:bodyPr/>
          <a:lstStyle/>
          <a:p>
            <a:r>
              <a:rPr lang="en-US"/>
              <a:t>6</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BAD7-961F-35FE-9370-5540F94FA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B44E3-F9AA-1D4E-1071-09BE10D49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5F2A1-1876-0591-D8B5-191BF7042D9C}"/>
              </a:ext>
            </a:extLst>
          </p:cNvPr>
          <p:cNvSpPr>
            <a:spLocks noGrp="1"/>
          </p:cNvSpPr>
          <p:nvPr>
            <p:ph type="body" idx="1"/>
          </p:nvPr>
        </p:nvSpPr>
        <p:spPr/>
        <p:txBody>
          <a:bodyPr/>
          <a:lstStyle/>
          <a:p>
            <a:r>
              <a:rPr lang="en-US"/>
              <a:t>## Slide 7 — The prompt became three words
Fast forward. The visible implementation kickoff had become: “Implement issue 66.” The agent implemented the issue, validated it, and stopped at the release boundary. A later “commit and push” instruction invoked the controlled release procedure and production verification.
This slide shows the effect before explaining the mechanism. The short prompt was not evidence that prompting had become cleverer or that the model suddenly understood the product. It was evidence that the necessary context had moved somewhere durable.
The implementation and release still took meaningful elapsed time, but they no longer required continuous human steering.
Transition: “The first real breakthrough was not the three-word prompt. It was the contract that made those three words safe.”</a:t>
            </a:r>
            <a:endParaRPr lang="en-US" dirty="0"/>
          </a:p>
        </p:txBody>
      </p:sp>
      <p:sp>
        <p:nvSpPr>
          <p:cNvPr id="4" name="Slide Number Placeholder 3">
            <a:extLst>
              <a:ext uri="{FF2B5EF4-FFF2-40B4-BE49-F238E27FC236}">
                <a16:creationId xmlns:a16="http://schemas.microsoft.com/office/drawing/2014/main" id="{D2145DA7-DA95-6F8C-BFA9-3E208CDFDBDF}"/>
              </a:ext>
            </a:extLst>
          </p:cNvPr>
          <p:cNvSpPr>
            <a:spLocks noGrp="1"/>
          </p:cNvSpPr>
          <p:nvPr>
            <p:ph type="sldNum" sz="quarter" idx="10"/>
          </p:nvPr>
        </p:nvSpPr>
        <p:spPr/>
        <p:txBody>
          <a:bodyPr/>
          <a:lstStyle/>
          <a:p>
            <a:r>
              <a:rPr lang="en-US"/>
              <a:t>7</a:t>
            </a:r>
          </a:p>
        </p:txBody>
      </p:sp>
    </p:spTree>
    <p:extLst>
      <p:ext uri="{BB962C8B-B14F-4D97-AF65-F5344CB8AC3E}">
        <p14:creationId xmlns:p14="http://schemas.microsoft.com/office/powerpoint/2010/main" val="2817517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8 - In my harness, the issue became the API between intent and implementation.
The issue was the first major breakthrough. Product intent no longer had to be rediscovered while code was being written.
This is a real Health Tracker example. Issue #95 was not simply “improve the dashboard.” Its outcome was to make energy balance understandable without turning missing data into zero. It constrained calculations to paired days, preserved known partial values, required accessible controls, and explicitly avoided redesigning the nutrition model.
An issue acts like an API because it defines the user-visible outcome, scope, non-goals, acceptance criteria, validation, and release boundary without prescribing every line of implementation. A fresh implementation session can reconstruct the necessary context from that issue and the repository instead of inheriting the shaping conversation.
Creating contracts this strong required bounded Product, Architecture, UX, and Security perspectives. At first, I coordinated those reviews manually. Once the issue existed, I could also encode the implementation and release procedures around it.
</a:t>
            </a:r>
          </a:p>
        </p:txBody>
      </p:sp>
      <p:sp>
        <p:nvSpPr>
          <p:cNvPr id="4" name="Slide Number Placeholder 3"/>
          <p:cNvSpPr>
            <a:spLocks noGrp="1"/>
          </p:cNvSpPr>
          <p:nvPr>
            <p:ph type="sldNum" sz="quarter" idx="10"/>
          </p:nvPr>
        </p:nvSpPr>
        <p:spPr/>
        <p:txBody>
          <a:bodyPr/>
          <a:lstStyle/>
          <a:p>
            <a:r>
              <a:rPr lang="en-US"/>
              <a:t>8</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9 — The issue needed an engineering process too
The issue was the breakthrough, but it exposed a second learning curve: how do we produce a contract this complete reliably?
At first, shaping and implementation happened inside the same giant session. Product, architecture, UX, and technical decisions emerged while code was already moving. Generation was fast, but the contract remained implicit and easy to redefine.
The next version separated shaping from implementation. I used bounded Product, Architecture, UX, and Security agents to examine the idea before coding. The resulting issues were much stronger, but I was still the orchestration layer: switching agents, repeating prompts, carrying handoffs, and remembering which reviews each idea required.
Once that sequence became predictable, I encoded it as a shaping skill. The skill freezes one approved product brief, selects the relevant specialists, gives each a fresh bounded context, returns their reports to the shaping session, and produces an issue draft after I resolve material conflicts.
This is the first operational definition of the terms:
- Agents provide bounded lenses: a specific objective, context, and authority.
- Skills provide choreography: the repeatable sequence, routing, checkpoints, and boundaries.
The skill does not decide what the product should be. It makes the shaping process repeatable while preserving human decisions and the explicit issue-creation boundary.
A reliable issue is produced—not prompted.
Transition: “And just as the implementation prompt became three words, the visible shaping prompt became one ordinary product sentence.”</a:t>
            </a:r>
          </a:p>
        </p:txBody>
      </p:sp>
      <p:sp>
        <p:nvSpPr>
          <p:cNvPr id="4" name="Slide Number Placeholder 3"/>
          <p:cNvSpPr>
            <a:spLocks noGrp="1"/>
          </p:cNvSpPr>
          <p:nvPr>
            <p:ph type="sldNum" sz="quarter" idx="10"/>
          </p:nvPr>
        </p:nvSpPr>
        <p:spPr/>
        <p:txBody>
          <a:bodyPr/>
          <a:lstStyle/>
          <a:p>
            <a:r>
              <a:rPr lang="en-US"/>
              <a:t>9</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102C2-E4EF-6597-0E13-FF766F2EF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225F7-D2A1-0A94-F628-986F9DD7B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59361-B258-D2E3-23F4-E5AE885C31E3}"/>
              </a:ext>
            </a:extLst>
          </p:cNvPr>
          <p:cNvSpPr>
            <a:spLocks noGrp="1"/>
          </p:cNvSpPr>
          <p:nvPr>
            <p:ph type="body" idx="1"/>
          </p:nvPr>
        </p:nvSpPr>
        <p:spPr/>
        <p:txBody>
          <a:bodyPr/>
          <a:lstStyle/>
          <a:p>
            <a:r>
              <a:rPr lang="en-US" dirty="0"/>
              <a:t>## Slide 10 — The issue began with one sentence
Slide 7 showed the visible implementation prompt shrinking to three words: “Implement issue 66.” This is the same progression on the other side of the contract.
Once the shaping procedure was encoded, issue creation could begin with one ordinary product sentence: “I have an idea. I want to import weight from my smart scale and compare it with energy balance.”
That sentence is not the issue, and it is not a magic one-shot prompt. It opens a structured conversation. The shaping skill carries the repetitive choreography: consult the repository and backlog, ask the consequential product questions, freeze the approved brief, route fresh specialist reviews, reconcile their findings, and produce the issue draft.
My work remains the part that requires judgment. I clarify the outcome, answer questions the repository cannot answer, resolve material tradeoffs, approve the contract, and separately authorize creation of the GitHub issue.
The screenshots should therefore show a progression rather than a single generation event:
1. The rough idea in the current session.
2. The shaping skill becoming active.
3. A concise issue draft or approval checkpoint.
4. A separate “Create the issue” instruction and the resulting issue identity.
This mirrors slide 7 deliberately. On the implementation side, “Implement issue 66” invokes an encoded delivery system. On the shaping side, “I have an idea…” invokes an encoded product-engineering process.
The prompt became shorter because the process around it became richer.
Transition: “The issue is now shaped, and implementation can be bounded by that contract. But implementation completion still produces only a candidate—not release confidence.”</a:t>
            </a:r>
          </a:p>
        </p:txBody>
      </p:sp>
      <p:sp>
        <p:nvSpPr>
          <p:cNvPr id="4" name="Slide Number Placeholder 3">
            <a:extLst>
              <a:ext uri="{FF2B5EF4-FFF2-40B4-BE49-F238E27FC236}">
                <a16:creationId xmlns:a16="http://schemas.microsoft.com/office/drawing/2014/main" id="{944CE0E8-7423-517E-B3FB-40A075759CB3}"/>
              </a:ext>
            </a:extLst>
          </p:cNvPr>
          <p:cNvSpPr>
            <a:spLocks noGrp="1"/>
          </p:cNvSpPr>
          <p:nvPr>
            <p:ph type="sldNum" sz="quarter" idx="10"/>
          </p:nvPr>
        </p:nvSpPr>
        <p:spPr/>
        <p:txBody>
          <a:bodyPr/>
          <a:lstStyle/>
          <a:p>
            <a:r>
              <a:rPr lang="en-US"/>
              <a:t>10</a:t>
            </a:r>
          </a:p>
        </p:txBody>
      </p:sp>
    </p:spTree>
    <p:extLst>
      <p:ext uri="{BB962C8B-B14F-4D97-AF65-F5344CB8AC3E}">
        <p14:creationId xmlns:p14="http://schemas.microsoft.com/office/powerpoint/2010/main" val="4149009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11 — Release review needed an engineering process too
The shaping side was not the only process that evolved. After implementation, I went through the same learning curve around releasing what we built.
The first version was implementation self-check. The same context interpreted the issue, wrote the code, ran the tests, and decided whether its own work was complete. That produced fast feedback, but the assumptions were correlated. The context most invested in making the implementation work was also the context judging whether anything had been missed.
Now, since I’ve been though this before, I skipped step 2 and went straight into encoding the process in a skill.
Once that sequence became predictable, I encoded it into the release skill. The skill freezes the candidate, selects fresh review objectives based on the issue, changed surfaces, and risk, reconciles the reports, stops for material human decisions, and repeats the relevant gate after every fix.
The skill does not make the release decision. It makes the evidence-producing process repeatable. The human still resolves material findings, accepts residual risk, and explicitly authorizes mutation.
This is the release-side equivalent of slide 9:
- Same context and implicit process.
- Fresh specialists with manual handoffs.
- An encoded skill with explicit checkpoints and authority boundaries.
Release confidence is produced—not inferred from implementation completion.
Transition: “That is the process. Issue #95 gives us one concrete example of why every stage mattered.”</a:t>
            </a:r>
          </a:p>
        </p:txBody>
      </p:sp>
      <p:sp>
        <p:nvSpPr>
          <p:cNvPr id="4" name="Slide Number Placeholder 3"/>
          <p:cNvSpPr>
            <a:spLocks noGrp="1"/>
          </p:cNvSpPr>
          <p:nvPr>
            <p:ph type="sldNum" sz="quarter" idx="10"/>
          </p:nvPr>
        </p:nvSpPr>
        <p:spPr/>
        <p:txBody>
          <a:bodyPr/>
          <a:lstStyle/>
          <a:p>
            <a:r>
              <a:rPr lang="en-US"/>
              <a:t>11</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12 — Issue #95: fresh review changed the candidate three times
Issue #95 is the evidence behind the process on the previous slide. These are not hypothetical reviewer categories; they are three findings from one real Health Tracker delivery.
The architect check found that a chart could say “not reported” even when one known burn component was present. The candidate technically rendered, but it violated the issue’s data-semantics contract by hiding known information.
The </a:t>
            </a:r>
            <a:r>
              <a:rPr lang="en-US" dirty="0" err="1"/>
              <a:t>ux</a:t>
            </a:r>
            <a:r>
              <a:rPr lang="en-US" dirty="0"/>
              <a:t> check found that rapid toggles could persist an older chart selection. The normal path worked, but concurrency meant the latest human choice could lose.
The final product check found that removing one Apple declaration regressed standalone iOS PWA installation. That behavior was outside the feature’s central path, which is exactly why a fresh final-diff review mattered.
The important pattern is not that these three specific bugs exist in every release. The pattern is that each finding changed the candidate. Once the candidate changed, the previous review result was no longer sufficient, so the release skill repeated the relevant gate before push.
The bugs are the example. Re-running independent review after every material fix is the reusable process.
Transition: “At this point, an experienced DevOps engineer may reasonably say: we already build, test, package, and deploy this way. So what exactly is agentic about the release flow?”</a:t>
            </a:r>
          </a:p>
        </p:txBody>
      </p:sp>
      <p:sp>
        <p:nvSpPr>
          <p:cNvPr id="4" name="Slide Number Placeholder 3"/>
          <p:cNvSpPr>
            <a:spLocks noGrp="1"/>
          </p:cNvSpPr>
          <p:nvPr>
            <p:ph type="sldNum" sz="quarter" idx="10"/>
          </p:nvPr>
        </p:nvSpPr>
        <p:spPr/>
        <p:txBody>
          <a:bodyPr/>
          <a:lstStyle/>
          <a:p>
            <a:r>
              <a:rPr lang="en-US"/>
              <a:t>12</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13 — The release skill closes the loop around DevOps
The answer is not that agents invented a better deployment pipeline. Good DevOps already builds, tests, packages immutable artifacts, moves them through protected environments, and exposes health, version, and telemetry signals. We should keep those deterministic controls.
The agentic contribution is the control loop around that pipeline.</a:t>
            </a:r>
          </a:p>
          <a:p>
            <a:endParaRPr lang="en-US" dirty="0"/>
          </a:p>
          <a:p>
            <a:r>
              <a:rPr lang="en-US" dirty="0"/>
              <a:t>The diagram makes ownership explicit. Yellow steps are human decisions. Teal steps are release-skill orchestration. Purple is fresh-agent judgment. Blue is deterministic DevOps. The release skill is not another deployment engine: it spans the control loop, routes the reviewers, invokes the workflow, and reconciles the evidence that comes back.
A human explicitly authorizes the release boundary. The release skill freezes the current candidate, examines the issue and actual diff, selects the required fresh reviews, and brings material findings back for human resolution. If a fix changes the candidate, it repeats the relevant gate. Only after confidence is established does it invoke or observe CI/CD.
After deployment, the skill does more than report that a command returned green. It correlates workflow results, target identity, application health, and the expected commit or version. If evidence conflicts, it reports the mismatch rather than returning a success-shaped answer.
So the responsibilities remain distinct:
- The human owns intent, material risk acceptance, release authorization, and rollback authority.
- Fresh reviewers provide independent judgment from bounded contexts.
- The release skill orchestrates the checkpoints, evidence, retries, and stop conditions.
- DevOps workflows deterministically build and move the artifact.
In this single-maintainer repository, the mutation boundary may be “commit and push.” At enterprise scale, the same control loop should operate through protected pull requests, CODEOWNERS, required checks, environment approvals, and auditable identities.
DevOps moves the artifact. The release skill proves that the intended change reached production safely.
Transition: “Once idea-to-issue, issue-to-candidate, and candidate-to-production were all explicit, the practical change in my own work became visible.”</a:t>
            </a:r>
          </a:p>
        </p:txBody>
      </p:sp>
      <p:sp>
        <p:nvSpPr>
          <p:cNvPr id="4" name="Slide Number Placeholder 3"/>
          <p:cNvSpPr>
            <a:spLocks noGrp="1"/>
          </p:cNvSpPr>
          <p:nvPr>
            <p:ph type="sldNum" sz="quarter" idx="10"/>
          </p:nvPr>
        </p:nvSpPr>
        <p:spPr/>
        <p:txBody>
          <a:bodyPr/>
          <a:lstStyle/>
          <a:p>
            <a:r>
              <a:rPr lang="en-US"/>
              <a:t>13</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F4D4-96C2-FFD7-BE6D-1033B0183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89FCF-6393-9A0B-7125-ADB8014C1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61341-CB2F-AC5E-694C-D0E04D25D980}"/>
              </a:ext>
            </a:extLst>
          </p:cNvPr>
          <p:cNvSpPr>
            <a:spLocks noGrp="1"/>
          </p:cNvSpPr>
          <p:nvPr>
            <p:ph type="body" idx="1"/>
          </p:nvPr>
        </p:nvSpPr>
        <p:spPr/>
        <p:txBody>
          <a:bodyPr/>
          <a:lstStyle/>
          <a:p>
            <a:r>
              <a:rPr lang="en-US" dirty="0"/>
              <a:t>## Slide 14 — The hour stayed. My job changed.
This is the Health Tracker harness as an end-to-end lifecycle. It encodes three transitions:
1. Idea to approved issue: the shaping skill clarifies intent, freezes a product brief, invokes Product and the relevant Architecture, UX, and Security/Data specialists in fresh bounded contexts, and returns an issue draft for human approval.
2. Approved issue to reviewed candidate: the delivery skill reconstructs context from the issue and repository, implements the change, validates it, and stops before release.
3. Reviewed candidate to verified production: explicit “commit and push” authorization invokes the release skill, independent review, validation, CI/CD observation, and exact production identity checks.
I originally performed the shaping handoffs manually. Once the sequence became predictable, I encoded it as a skill. The skill did not replace product judgment; it removed repetitive orchestration around that judgment.
My work became framing outcomes, answering consequential questions, resolving specialist tradeoffs, approving the contract, and deciding when release risk was acceptable. The system performed the long implementation and verification work.
The practical result remained approximately ten to fifteen minutes of focused shaping followed by roughly forty-five minutes of agent execution. The hour stayed. My job changed.
Transition: “I did not set out to build something called an agentic harness. I encoded one painful transition at a time. When I stepped back, this was the system that had emerged – I don’t claim that this is complete, authoritative, or that it works as is for everyone, but it worked for me.</a:t>
            </a:r>
          </a:p>
        </p:txBody>
      </p:sp>
      <p:sp>
        <p:nvSpPr>
          <p:cNvPr id="4" name="Slide Number Placeholder 3">
            <a:extLst>
              <a:ext uri="{FF2B5EF4-FFF2-40B4-BE49-F238E27FC236}">
                <a16:creationId xmlns:a16="http://schemas.microsoft.com/office/drawing/2014/main" id="{9FF2E2B1-E885-5568-865F-7E2D9AA18CE7}"/>
              </a:ext>
            </a:extLst>
          </p:cNvPr>
          <p:cNvSpPr>
            <a:spLocks noGrp="1"/>
          </p:cNvSpPr>
          <p:nvPr>
            <p:ph type="sldNum" sz="quarter" idx="10"/>
          </p:nvPr>
        </p:nvSpPr>
        <p:spPr/>
        <p:txBody>
          <a:bodyPr/>
          <a:lstStyle/>
          <a:p>
            <a:r>
              <a:rPr lang="en-US"/>
              <a:t>14</a:t>
            </a:r>
          </a:p>
        </p:txBody>
      </p:sp>
    </p:spTree>
    <p:extLst>
      <p:ext uri="{BB962C8B-B14F-4D97-AF65-F5344CB8AC3E}">
        <p14:creationId xmlns:p14="http://schemas.microsoft.com/office/powerpoint/2010/main" val="1460696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15 — Anatomy of a repository-native agentic harness
What emerged was not one magical agent. It was a set of control surfaces, each carrying knowledge with the right lifetime and authority.
- Instructions own stable architecture, commands, invariants, and safety constraints.
- Path rules narrow those instructions where backend, UI, infrastructure, or workflow behavior differs.
- Issues own change-specific product intent: outcome, scope, non-goals, acceptance, dependencies, and required validation.
- Specialist agents provide bounded analysis from fresh contexts.
- Skills encode repeatable multi-step transitions such as shaping, delivery, release, and local-data setup.
- Tests and evaluations own executable behavior and regression truth.
- Workflows own deterministic gates and artifact movement.
A session owns temporary conversation and execution. It should not be the only home of durable engineering knowledge.
This slide names the reusable architecture. The previous slide showed my concrete implementation of it.
“I spent 60 days learning, through delivery and failure, what these emerging principles mean operationally. Here is the concrete harness that emerged, where it worked, where it failed, and where human judgment still mattered.</a:t>
            </a:r>
          </a:p>
          <a:p>
            <a:r>
              <a:rPr lang="en-US" dirty="0"/>
              <a:t>Transition: “The live demo will exercise the first two rows: one rough idea becomes an issue draft, then one approved issue becomes a candidate—stopping before either mutation boundary</a:t>
            </a:r>
            <a:endParaRPr lang="en-US" b="1" dirty="0"/>
          </a:p>
        </p:txBody>
      </p:sp>
      <p:sp>
        <p:nvSpPr>
          <p:cNvPr id="4" name="Slide Number Placeholder 3"/>
          <p:cNvSpPr>
            <a:spLocks noGrp="1"/>
          </p:cNvSpPr>
          <p:nvPr>
            <p:ph type="sldNum" sz="quarter" idx="10"/>
          </p:nvPr>
        </p:nvSpPr>
        <p:spPr/>
        <p:txBody>
          <a:bodyPr/>
          <a:lstStyle/>
          <a:p>
            <a:r>
              <a:rPr lang="en-US"/>
              <a:t>16</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16  Skills orchestrate the lifecycle. Agents stay bounded.
</a:t>
            </a:r>
          </a:p>
          <a:p>
            <a:r>
              <a:rPr lang="en-US" dirty="0"/>
              <a:t>The previous slide listed the parts of the harness. This slide shows how those parts compose in execution order.
The first transition is idea to issue draft. The `shape-</a:t>
            </a:r>
            <a:r>
              <a:rPr lang="en-US" dirty="0" err="1"/>
              <a:t>github</a:t>
            </a:r>
            <a:r>
              <a:rPr lang="en-US" dirty="0"/>
              <a:t>-issue` skill owns the choreography in the current session. It consults Product/Backlog and routes fresh Architecture, UX, and Security/Data reviews when the risk requires them. Those specialists provide bounded judgment; they do not create the issue or implement code. The human approves the brief and draft, and issue creation requires a separate instruction.
The second transition is issue to candidate. The `deliver-health-tracker-issue` skill bounds the core implementation capability. There is intentionally no fictional “developer agent” in the specialist list—the agent itself can implement. The skill reconstructs context from the approved issue and repository, runs the required validation, and stops before commit, push, or release.
The third transition is candidate to verified production. The `release-health-tracker` skill routes fresh review based on the actual diff and risk, reconciles findings, invokes or observes deterministic CI/CD, and verifies production health plus exact identity. The human resolves material findings and explicitly authorizes mutation; workflow and environment controls perform the deployment.
This is the distinction to remember:
- Skills own sequence, routing, checkpoints, and stop conditions.
- Agents provide bounded expertise and independent judgment.
- Tests and workflows provide deterministic evidence and artifact movement.
- Humans own intent, material risk, and mutation authority.
The ordering matters because each stage produces the contract consumed by the next stage, and no stage silently inherits the authority of the following one.
</a:t>
            </a:r>
          </a:p>
          <a:p>
            <a:r>
              <a:rPr lang="en-US" dirty="0"/>
              <a:t>.”</a:t>
            </a:r>
          </a:p>
        </p:txBody>
      </p:sp>
      <p:sp>
        <p:nvSpPr>
          <p:cNvPr id="4" name="Slide Number Placeholder 3"/>
          <p:cNvSpPr>
            <a:spLocks noGrp="1"/>
          </p:cNvSpPr>
          <p:nvPr>
            <p:ph type="sldNum" sz="quarter" idx="10"/>
          </p:nvPr>
        </p:nvSpPr>
        <p:spPr/>
        <p:txBody>
          <a:bodyPr/>
          <a:lstStyle/>
          <a:p>
            <a:r>
              <a:rPr lang="en-US"/>
              <a:t>15</a:t>
            </a: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17 — Shape intent, then build from the contract
</a:t>
            </a:r>
          </a:p>
          <a:p>
            <a:r>
              <a:rPr lang="en-US" dirty="0"/>
              <a:t>/model luna</a:t>
            </a:r>
          </a:p>
          <a:p>
            <a:r>
              <a:rPr lang="en-US" dirty="0"/>
              <a:t>/permissions allow-allow</a:t>
            </a:r>
          </a:p>
          <a:p>
            <a:endParaRPr lang="en-US" dirty="0"/>
          </a:p>
          <a:p>
            <a:r>
              <a:rPr lang="en-US" dirty="0"/>
              <a:t>Product:</a:t>
            </a:r>
          </a:p>
          <a:p>
            <a:r>
              <a:rPr lang="en-US" dirty="0"/>
              <a:t>I want to import historical weight measurements from my smart-scale</a:t>
            </a:r>
          </a:p>
          <a:p>
            <a:r>
              <a:rPr lang="en-US" dirty="0"/>
              <a:t>export and compare the trend with energy balance.</a:t>
            </a:r>
          </a:p>
          <a:p>
            <a:endParaRPr lang="en-US" dirty="0"/>
          </a:p>
          <a:p>
            <a:endParaRPr lang="en-US" dirty="0"/>
          </a:p>
          <a:p>
            <a:r>
              <a:rPr lang="en-US" dirty="0"/>
              <a:t>Please update brief with architect and UX specialist guidance into a complete</a:t>
            </a:r>
          </a:p>
          <a:p>
            <a:r>
              <a:rPr lang="en-US" dirty="0"/>
              <a:t>issue draft.</a:t>
            </a:r>
          </a:p>
          <a:p>
            <a:endParaRPr lang="en-US" dirty="0"/>
          </a:p>
          <a:p>
            <a:endParaRPr lang="en-US" dirty="0"/>
          </a:p>
          <a:p>
            <a:r>
              <a:rPr lang="en-US" dirty="0"/>
              <a:t>------</a:t>
            </a:r>
          </a:p>
          <a:p>
            <a:endParaRPr lang="en-US" dirty="0"/>
          </a:p>
          <a:p>
            <a:r>
              <a:rPr lang="en-US" dirty="0"/>
              <a:t>
This is one live demonstration in the real Health Tracker repository. It shows the two generative transitions while deliberately stopping before either mutation boundary.
Part one begins with a rough product idea: “I want to import weight from my smart scale and compare it with energy balance.” I invoke the shaping skill. Watch it clarify consequential product intent, freeze the approved brief, route fresh Product, Architecture, UX, and Security/Data reviews, reconcile their findings, and produce a durable issue draft.
The first stop boundary is explicit: do not create or update a GitHub issue. The output is a draft for human judgment.
Part two begins from an existing approved issue with a short instruction such as “Implement issue 66.” The delivery skill reconstructs context from the issue and repository, implements the bounded change, runs validation, and produces a reviewed candidate.
The second stop boundary is also explicit: do not commit, push, or release. The output is a candidate for human acceptance and the separately authorized release procedure.
This is intentionally not a live production deployment. The point of the live demo is to show that a rough idea and a short implementation prompt work because the harness carries the contracts, specialist choreography, validation, and authority boundaries. The real Issue #95 controlled-release replay remains available in the backup slides as production evidence.
Target timing: approximately three minutes for shaping and two minutes for delivery. If either operation runs long, stop after showing the frozen brief or implementation plan and summarize the expected bounded output.
Transition: “The demo shows my implementation. Only later did I notice how closely its principles converged with the official direction.”</a:t>
            </a:r>
          </a:p>
        </p:txBody>
      </p:sp>
      <p:sp>
        <p:nvSpPr>
          <p:cNvPr id="4" name="Slide Number Placeholder 3"/>
          <p:cNvSpPr>
            <a:spLocks noGrp="1"/>
          </p:cNvSpPr>
          <p:nvPr>
            <p:ph type="sldNum" sz="quarter" idx="10"/>
          </p:nvPr>
        </p:nvSpPr>
        <p:spPr/>
        <p:txBody>
          <a:bodyPr/>
          <a:lstStyle/>
          <a:p>
            <a:r>
              <a:rPr lang="en-US"/>
              <a:t>17</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 Slide 18 - The principles converged. The implementation remained local.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did not design this by transcribing a reference architecture. I encoded one lesson at a time as the system failed, scaled, and became harder to operate. When I later compared the result with GitHub’s agentic SDLC guidance, the direction was strikingly similar. What follows is not the official architecture—it is one field-tested implementation of those emerging engineering principles.</a:t>
            </a:r>
          </a:p>
          <a:p>
            <a:endParaRPr lang="en-US" dirty="0"/>
          </a:p>
          <a:p>
            <a:endParaRPr dirty="0"/>
          </a:p>
          <a:p>
            <a:r>
              <a:rPr dirty="0"/>
              <a:t>The official language is structured tasks, separation of planning and execution, durable state, isolated agents, evaluation, guardrails, and GitHub as the control plane.</a:t>
            </a:r>
          </a:p>
          <a:p>
            <a:endParaRPr dirty="0"/>
          </a:p>
          <a:p>
            <a:r>
              <a:rPr dirty="0"/>
              <a:t>My language was more concrete and more local: the issue is the API; three transitions; fresh specialist reviews; every changed candidate is reviewed again; verify the exact version in production.</a:t>
            </a:r>
          </a:p>
          <a:p>
            <a:endParaRPr dirty="0"/>
          </a:p>
          <a:p>
            <a:r>
              <a:rPr dirty="0"/>
              <a:t>I did not arrive at one official reference architecture. I arrived at one implementation of the same emerging engineering principles.</a:t>
            </a:r>
          </a:p>
          <a:p>
            <a:endParaRPr dirty="0"/>
          </a:p>
          <a:p>
            <a:r>
              <a:rPr dirty="0"/>
              <a:t>And that distinction matters in an enterprise. We should converge on the principles and required controls - not require every product to use the same agents, skills, or workflow topology.</a:t>
            </a:r>
          </a:p>
          <a:p>
            <a:endParaRPr dirty="0"/>
          </a:p>
          <a:p>
            <a:r>
              <a:rPr dirty="0"/>
              <a:t>"The natural next question was: could I lift this harness and apply it to another project?".</a:t>
            </a:r>
          </a:p>
        </p:txBody>
      </p:sp>
    </p:spTree>
    <p:extLst>
      <p:ext uri="{BB962C8B-B14F-4D97-AF65-F5344CB8AC3E}">
        <p14:creationId xmlns:p14="http://schemas.microsoft.com/office/powerpoint/2010/main" val="3613311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FE0BE-5DC2-8BF8-6D0B-8AA30C925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FEC16-5807-DC4A-8731-B0D95D5DE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7986C-DD44-1FB7-1A5D-7AA9CF91FC2F}"/>
              </a:ext>
            </a:extLst>
          </p:cNvPr>
          <p:cNvSpPr>
            <a:spLocks noGrp="1"/>
          </p:cNvSpPr>
          <p:nvPr>
            <p:ph type="body" idx="1"/>
          </p:nvPr>
        </p:nvSpPr>
        <p:spPr/>
        <p:txBody>
          <a:bodyPr/>
          <a:lstStyle/>
          <a:p>
            <a:r>
              <a:rPr dirty="0"/>
              <a:t>## Slide 19 - Could a working harness travel to another product?</a:t>
            </a:r>
          </a:p>
          <a:p>
            <a:endParaRPr dirty="0"/>
          </a:p>
          <a:p>
            <a:r>
              <a:rPr dirty="0"/>
              <a:t>After the first product, the natural next question was </a:t>
            </a:r>
            <a:r>
              <a:rPr lang="en-US" dirty="0"/>
              <a:t>how can I reuse what I’ve learned, in another project.</a:t>
            </a:r>
            <a:endParaRPr dirty="0"/>
          </a:p>
          <a:p>
            <a:endParaRPr dirty="0"/>
          </a:p>
          <a:p>
            <a:r>
              <a:rPr dirty="0"/>
              <a:t>I wanted to reuse the engineering behavior I had proven: the agents and skills, the review and delivery choreography, and the shared engineering conventions.</a:t>
            </a:r>
            <a:endParaRPr lang="en-US" dirty="0"/>
          </a:p>
          <a:p>
            <a:endParaRPr lang="en-CA" dirty="0"/>
          </a:p>
          <a:p>
            <a:r>
              <a:rPr dirty="0"/>
              <a:t>But </a:t>
            </a:r>
            <a:r>
              <a:rPr lang="en-US" dirty="0"/>
              <a:t>obviously, the other project won’t have the same product background, likely not share the same architecture, so I had to extract a “starter kit”</a:t>
            </a:r>
          </a:p>
          <a:p>
            <a:endParaRPr lang="en-US" dirty="0"/>
          </a:p>
          <a:p>
            <a:r>
              <a:rPr lang="en-CA" dirty="0"/>
              <a:t>I was also wondering if I made this too “embedded” would this harness work for another project ? How would it work and how would I manage these versions now.</a:t>
            </a:r>
          </a:p>
          <a:p>
            <a:endParaRPr dirty="0"/>
          </a:p>
          <a:p>
            <a:r>
              <a:rPr lang="en-US" dirty="0"/>
              <a:t>We will cover answers to all these questions in the next couple slides.</a:t>
            </a:r>
            <a:endParaRPr dirty="0"/>
          </a:p>
        </p:txBody>
      </p:sp>
      <p:sp>
        <p:nvSpPr>
          <p:cNvPr id="4" name="Slide Number Placeholder 3">
            <a:extLst>
              <a:ext uri="{FF2B5EF4-FFF2-40B4-BE49-F238E27FC236}">
                <a16:creationId xmlns:a16="http://schemas.microsoft.com/office/drawing/2014/main" id="{BCBBC1A6-30D0-705A-F31D-F50DE0771BED}"/>
              </a:ext>
            </a:extLst>
          </p:cNvPr>
          <p:cNvSpPr>
            <a:spLocks noGrp="1"/>
          </p:cNvSpPr>
          <p:nvPr>
            <p:ph type="sldNum" sz="quarter" idx="10"/>
          </p:nvPr>
        </p:nvSpPr>
        <p:spPr/>
        <p:txBody>
          <a:bodyPr/>
          <a:lstStyle/>
          <a:p>
            <a:r>
              <a:rPr lang="en-US"/>
              <a:t>19</a:t>
            </a:r>
          </a:p>
        </p:txBody>
      </p:sp>
    </p:spTree>
    <p:extLst>
      <p:ext uri="{BB962C8B-B14F-4D97-AF65-F5344CB8AC3E}">
        <p14:creationId xmlns:p14="http://schemas.microsoft.com/office/powerpoint/2010/main" val="1479511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Slide 20 - First separate product truth from harness behavior</a:t>
            </a:r>
          </a:p>
          <a:p>
            <a:endParaRPr dirty="0"/>
          </a:p>
          <a:p>
            <a:r>
              <a:rPr dirty="0"/>
              <a:t>Before we can share anything, we need</a:t>
            </a:r>
            <a:r>
              <a:rPr lang="en-US" dirty="0"/>
              <a:t>ed</a:t>
            </a:r>
            <a:r>
              <a:rPr dirty="0"/>
              <a:t> a boundary.</a:t>
            </a:r>
          </a:p>
          <a:p>
            <a:endParaRPr dirty="0"/>
          </a:p>
          <a:p>
            <a:r>
              <a:rPr dirty="0"/>
              <a:t>The product repository remains the authority for product knowledge: its architecture, domain rules, operational and deployment facts, issues, tests, and durable documentation. That knowledge should stay local because it is true for this product, not </a:t>
            </a:r>
            <a:r>
              <a:rPr b="1" dirty="0"/>
              <a:t>every</a:t>
            </a:r>
            <a:r>
              <a:rPr dirty="0"/>
              <a:t> product.</a:t>
            </a:r>
          </a:p>
          <a:p>
            <a:endParaRPr dirty="0"/>
          </a:p>
          <a:p>
            <a:r>
              <a:rPr dirty="0"/>
              <a:t>The harness is different. Its portable layer contains agents, skills, shared engineering conventions, and repeatable review or delivery choreography. It should point to the product's durable context by repository-relative structure - for example, "read the architecture decisions under docs/decisions" - without carrying or inventing the decisions themselves.</a:t>
            </a:r>
          </a:p>
          <a:p>
            <a:endParaRPr dirty="0"/>
          </a:p>
          <a:p>
            <a:r>
              <a:rPr dirty="0"/>
              <a:t>That is the design discipline we have been applying already. A portable harness knows where product truth belongs. It does not claim to own that truth.</a:t>
            </a:r>
          </a:p>
          <a:p>
            <a:endParaRPr dirty="0"/>
          </a:p>
          <a:p>
            <a:r>
              <a:rPr dirty="0"/>
              <a:t>Transition: "Once we have separated those two things, the question changes. The hard part is no longer copying a few files once. It is managing their change over time." </a:t>
            </a:r>
          </a:p>
        </p:txBody>
      </p:sp>
      <p:sp>
        <p:nvSpPr>
          <p:cNvPr id="4" name="Slide Number Placeholder 3"/>
          <p:cNvSpPr>
            <a:spLocks noGrp="1"/>
          </p:cNvSpPr>
          <p:nvPr>
            <p:ph type="sldNum" sz="quarter" idx="10"/>
          </p:nvPr>
        </p:nvSpPr>
        <p:spPr/>
        <p:txBody>
          <a:bodyPr/>
          <a:lstStyle/>
          <a:p>
            <a:r>
              <a:rPr lang="en-US"/>
              <a:t>19</a:t>
            </a: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Slide 21 - We already solved this problem for code</a:t>
            </a:r>
          </a:p>
          <a:p>
            <a:endParaRPr dirty="0"/>
          </a:p>
          <a:p>
            <a:r>
              <a:rPr dirty="0"/>
              <a:t>Once a harness has been proven reusable, copying it is not the hard problem. Managing change is.</a:t>
            </a:r>
          </a:p>
          <a:p>
            <a:endParaRPr dirty="0"/>
          </a:p>
          <a:p>
            <a:r>
              <a:rPr dirty="0"/>
              <a:t>I can copy five agents and skills into projects two, three, and four today. But the first useful improvement immediately raises the same questions software teams already know: which version is current, which products received the update, where did a local edit create drift, and how do we review an upgrade?</a:t>
            </a:r>
          </a:p>
          <a:p>
            <a:endParaRPr dirty="0"/>
          </a:p>
          <a:p>
            <a:r>
              <a:rPr dirty="0"/>
              <a:t>We solved this for code with NuGet, </a:t>
            </a:r>
            <a:r>
              <a:rPr dirty="0" err="1"/>
              <a:t>npm</a:t>
            </a:r>
            <a:r>
              <a:rPr dirty="0"/>
              <a:t>, Maven, pip, and every other package manager. We keep one package source, version it, lock the dependency a consumer actually accepted, update deliberately, and audit what is installed.</a:t>
            </a:r>
          </a:p>
          <a:p>
            <a:endParaRPr dirty="0"/>
          </a:p>
          <a:p>
            <a:r>
              <a:rPr dirty="0"/>
              <a:t>APM applies that familiar discipline to agent context. It is not a new operating model. It is a package-management answer to the same source, version, propagation, and drift problems - for agents and skills rather than application libraries.</a:t>
            </a:r>
          </a:p>
          <a:p>
            <a:endParaRPr dirty="0"/>
          </a:p>
          <a:p>
            <a:r>
              <a:rPr dirty="0"/>
              <a:t>Transition: "So what does APM actually do between that shared source and a consumer repository?" </a:t>
            </a:r>
          </a:p>
        </p:txBody>
      </p:sp>
      <p:sp>
        <p:nvSpPr>
          <p:cNvPr id="4" name="Slide Number Placeholder 3"/>
          <p:cNvSpPr>
            <a:spLocks noGrp="1"/>
          </p:cNvSpPr>
          <p:nvPr>
            <p:ph type="sldNum" sz="quarter" idx="10"/>
          </p:nvPr>
        </p:nvSpPr>
        <p:spPr/>
        <p:txBody>
          <a:bodyPr/>
          <a:lstStyle/>
          <a:p>
            <a:r>
              <a:rPr lang="en-US"/>
              <a:t>20</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Slide 22 - One source. Controlled installation in every consumer.</a:t>
            </a:r>
          </a:p>
          <a:p>
            <a:endParaRPr dirty="0"/>
          </a:p>
          <a:p>
            <a:r>
              <a:rPr dirty="0"/>
              <a:t>This is the operating model in one picture.</a:t>
            </a:r>
          </a:p>
          <a:p>
            <a:endParaRPr dirty="0"/>
          </a:p>
          <a:p>
            <a:r>
              <a:rPr dirty="0"/>
              <a:t>The shared harness package owns the editable source: its manifest and the .</a:t>
            </a:r>
            <a:r>
              <a:rPr dirty="0" err="1"/>
              <a:t>apm</a:t>
            </a:r>
            <a:r>
              <a:rPr dirty="0"/>
              <a:t> source tree containing agents and skills. The consumer project declares which package version it wants in its own </a:t>
            </a:r>
            <a:r>
              <a:rPr dirty="0" err="1"/>
              <a:t>apm.yml</a:t>
            </a:r>
            <a:r>
              <a:rPr dirty="0"/>
              <a:t>.</a:t>
            </a:r>
          </a:p>
          <a:p>
            <a:endParaRPr dirty="0"/>
          </a:p>
          <a:p>
            <a:r>
              <a:rPr dirty="0"/>
              <a:t>When the consumer runs </a:t>
            </a:r>
            <a:r>
              <a:rPr dirty="0" err="1"/>
              <a:t>apm</a:t>
            </a:r>
            <a:r>
              <a:rPr dirty="0"/>
              <a:t> install, APM resolves that version, writes the resolved commit and content hashes into </a:t>
            </a:r>
            <a:r>
              <a:rPr dirty="0" err="1"/>
              <a:t>apm.lock.yaml</a:t>
            </a:r>
            <a:r>
              <a:rPr dirty="0"/>
              <a:t>, and deploys the files into the harness-native locations </a:t>
            </a:r>
            <a:r>
              <a:rPr lang="en-US" dirty="0"/>
              <a:t>that your agent can</a:t>
            </a:r>
            <a:r>
              <a:rPr dirty="0"/>
              <a:t> read</a:t>
            </a:r>
            <a:r>
              <a:rPr lang="en-US" dirty="0"/>
              <a:t>. One caveat, and what makes APM a great tool is that you do not have to worry about what agent UI you are using. As you know, various </a:t>
            </a:r>
            <a:r>
              <a:rPr lang="en-US" dirty="0" err="1"/>
              <a:t>plafroms</a:t>
            </a:r>
            <a:r>
              <a:rPr lang="en-US" dirty="0"/>
              <a:t> use different conventions, and concepts, - but t </a:t>
            </a:r>
            <a:r>
              <a:rPr lang="en-US" dirty="0" err="1"/>
              <a:t>apm</a:t>
            </a:r>
            <a:r>
              <a:rPr lang="en-US" dirty="0"/>
              <a:t> can apply these files according to the agent you are using – </a:t>
            </a:r>
            <a:r>
              <a:rPr lang="en-US" dirty="0" err="1"/>
              <a:t>claude</a:t>
            </a:r>
            <a:r>
              <a:rPr lang="en-US" dirty="0"/>
              <a:t>, codex, copilot, other.</a:t>
            </a:r>
            <a:endParaRPr dirty="0"/>
          </a:p>
          <a:p>
            <a:endParaRPr dirty="0"/>
          </a:p>
          <a:p>
            <a:r>
              <a:rPr dirty="0"/>
              <a:t>The important clarification is that the package source lives in .</a:t>
            </a:r>
            <a:r>
              <a:rPr dirty="0" err="1"/>
              <a:t>apm</a:t>
            </a:r>
            <a:r>
              <a:rPr dirty="0"/>
              <a:t> in the authoring package. The consumer does not edit a .</a:t>
            </a:r>
            <a:r>
              <a:rPr dirty="0" err="1"/>
              <a:t>apm</a:t>
            </a:r>
            <a:r>
              <a:rPr dirty="0"/>
              <a:t> copy of that shared package. It receives generated, harness-native files in its project.</a:t>
            </a:r>
          </a:p>
          <a:p>
            <a:endParaRPr dirty="0"/>
          </a:p>
          <a:p>
            <a:r>
              <a:rPr dirty="0"/>
              <a:t>That creates a clean ownership boundary. The consumer owns its product context. The package owns the shared harness behavior.</a:t>
            </a:r>
            <a:endParaRPr lang="en-CA" dirty="0"/>
          </a:p>
          <a:p>
            <a:endParaRPr lang="en-CA" dirty="0"/>
          </a:p>
          <a:p>
            <a:r>
              <a:rPr lang="en-US" dirty="0"/>
              <a:t>Transition: "You do not need an enterprise catalog to start. The distribution mechanism can evolve with the scope of reuse." </a:t>
            </a:r>
          </a:p>
        </p:txBody>
      </p:sp>
      <p:sp>
        <p:nvSpPr>
          <p:cNvPr id="4" name="Slide Number Placeholder 3"/>
          <p:cNvSpPr>
            <a:spLocks noGrp="1"/>
          </p:cNvSpPr>
          <p:nvPr>
            <p:ph type="sldNum" sz="quarter" idx="10"/>
          </p:nvPr>
        </p:nvSpPr>
        <p:spPr/>
        <p:txBody>
          <a:bodyPr/>
          <a:lstStyle/>
          <a:p>
            <a:r>
              <a:rPr lang="en-US"/>
              <a:t>21</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Slide </a:t>
            </a:r>
            <a:r>
              <a:rPr lang="en-US" dirty="0"/>
              <a:t>24</a:t>
            </a:r>
            <a:r>
              <a:rPr dirty="0"/>
              <a:t> - Start local. Move only when sharing earns it.</a:t>
            </a:r>
          </a:p>
          <a:p>
            <a:endParaRPr dirty="0"/>
          </a:p>
          <a:p>
            <a:r>
              <a:rPr dirty="0"/>
              <a:t>APM does not require a registry or a marketplace on day one.</a:t>
            </a:r>
          </a:p>
          <a:p>
            <a:endParaRPr dirty="0"/>
          </a:p>
          <a:p>
            <a:r>
              <a:rPr dirty="0"/>
              <a:t>The first stage is a local filesystem path: a sibling harness folder that one person can edit and test against a real product quickly. That is the field-tested starting point in this story.</a:t>
            </a:r>
          </a:p>
          <a:p>
            <a:endParaRPr dirty="0"/>
          </a:p>
          <a:p>
            <a:r>
              <a:rPr dirty="0"/>
              <a:t>When more than one repository needs the same stable behavior, move the source to a private Git repository. Tags, pull-request review, and </a:t>
            </a:r>
            <a:r>
              <a:rPr dirty="0" err="1"/>
              <a:t>lockfiles</a:t>
            </a:r>
            <a:r>
              <a:rPr dirty="0"/>
              <a:t> give consumers a reproducible and reviewable update path.</a:t>
            </a:r>
          </a:p>
          <a:p>
            <a:endParaRPr dirty="0"/>
          </a:p>
          <a:p>
            <a:r>
              <a:rPr dirty="0"/>
              <a:t>Only later, when many teams need to discover approved packages, does a marketplace become useful. It is a catalog and discovery experience - not a prerequisite for packaging or private reuse.</a:t>
            </a:r>
          </a:p>
          <a:p>
            <a:endParaRPr dirty="0"/>
          </a:p>
          <a:p>
            <a:r>
              <a:rPr dirty="0"/>
              <a:t>The rule stays constant through every stage: centralize proven shared harness behavior; keep architecture and operational truth local.</a:t>
            </a:r>
          </a:p>
          <a:p>
            <a:endParaRPr dirty="0"/>
          </a:p>
          <a:p>
            <a:r>
              <a:rPr dirty="0"/>
              <a:t>Transition: "This progression comes with a tradeoff. But it is one software engineers already understand." </a:t>
            </a:r>
          </a:p>
        </p:txBody>
      </p:sp>
      <p:sp>
        <p:nvSpPr>
          <p:cNvPr id="4" name="Slide Number Placeholder 3"/>
          <p:cNvSpPr>
            <a:spLocks noGrp="1"/>
          </p:cNvSpPr>
          <p:nvPr>
            <p:ph type="sldNum" sz="quarter" idx="10"/>
          </p:nvPr>
        </p:nvSpPr>
        <p:spPr/>
        <p:txBody>
          <a:bodyPr/>
          <a:lstStyle/>
          <a:p>
            <a:r>
              <a:rPr lang="en-US"/>
              <a:t>22</a:t>
            </a: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cd D:\_mycodes\prdc2026\_artifacts\agentic-sdlc-github-azure\demo\my-new-app-clean</a:t>
            </a:r>
          </a:p>
          <a:p>
            <a:endParaRPr lang="en-US" dirty="0"/>
          </a:p>
          <a:p>
            <a:r>
              <a:rPr lang="en-US" dirty="0"/>
              <a:t>&lt;duplicate&gt; </a:t>
            </a:r>
            <a:r>
              <a:rPr lang="en-US" dirty="0" err="1"/>
              <a:t>powershesll</a:t>
            </a:r>
            <a:endParaRPr lang="en-US" dirty="0"/>
          </a:p>
          <a:p>
            <a:endParaRPr lang="en-US" dirty="0"/>
          </a:p>
          <a:p>
            <a:r>
              <a:rPr lang="en-US" dirty="0"/>
              <a:t>shell1: </a:t>
            </a:r>
          </a:p>
          <a:p>
            <a:r>
              <a:rPr lang="en-US" dirty="0"/>
              <a:t> copilot</a:t>
            </a:r>
          </a:p>
          <a:p>
            <a:r>
              <a:rPr lang="en-US" dirty="0"/>
              <a:t> </a:t>
            </a:r>
          </a:p>
          <a:p>
            <a:r>
              <a:rPr lang="en-US" dirty="0"/>
              <a:t> -/agents -&gt; no local agent</a:t>
            </a:r>
          </a:p>
          <a:p>
            <a:r>
              <a:rPr lang="en-US" dirty="0"/>
              <a:t> </a:t>
            </a:r>
          </a:p>
          <a:p>
            <a:r>
              <a:rPr lang="en-US" dirty="0"/>
              <a:t> &lt;move to shell 2&gt;</a:t>
            </a:r>
          </a:p>
          <a:p>
            <a:r>
              <a:rPr lang="en-US" dirty="0"/>
              <a:t> </a:t>
            </a:r>
          </a:p>
          <a:p>
            <a:r>
              <a:rPr lang="en-US" dirty="0"/>
              <a:t>shell2: </a:t>
            </a:r>
          </a:p>
          <a:p>
            <a:r>
              <a:rPr lang="en-US" dirty="0"/>
              <a:t> </a:t>
            </a:r>
            <a:r>
              <a:rPr lang="en-US" dirty="0" err="1"/>
              <a:t>apm</a:t>
            </a:r>
            <a:r>
              <a:rPr lang="en-US" dirty="0"/>
              <a:t> install d:\_mycodes\__apm\alex-agentic-harness-v1 --target copilot</a:t>
            </a:r>
          </a:p>
          <a:p>
            <a:endParaRPr lang="en-US" dirty="0"/>
          </a:p>
          <a:p>
            <a:r>
              <a:rPr lang="en-US" dirty="0"/>
              <a:t> &lt;move to shell 1&gt;</a:t>
            </a:r>
          </a:p>
          <a:p>
            <a:r>
              <a:rPr lang="en-US" dirty="0"/>
              <a:t> </a:t>
            </a:r>
          </a:p>
          <a:p>
            <a:r>
              <a:rPr lang="en-US" dirty="0"/>
              <a:t> </a:t>
            </a:r>
          </a:p>
          <a:p>
            <a:r>
              <a:rPr lang="en-US" dirty="0"/>
              <a:t> /restart</a:t>
            </a:r>
          </a:p>
          <a:p>
            <a:endParaRPr lang="en-US" dirty="0"/>
          </a:p>
          <a:p>
            <a:r>
              <a:rPr lang="en-US" dirty="0"/>
              <a:t> /agents -&gt; shows agents</a:t>
            </a:r>
          </a:p>
          <a:p>
            <a:endParaRPr lang="en-US" dirty="0"/>
          </a:p>
          <a:p>
            <a:r>
              <a:rPr lang="en-US" dirty="0"/>
              <a:t> where should I put product context =&gt; agent context</a:t>
            </a:r>
          </a:p>
          <a:p>
            <a:r>
              <a:rPr lang="en-US" dirty="0"/>
              <a:t> </a:t>
            </a:r>
          </a:p>
          <a:p>
            <a:r>
              <a:rPr lang="en-US" dirty="0"/>
              <a:t> implement issue 1 -&gt; show picking up the delivery agent</a:t>
            </a:r>
          </a:p>
          <a:p>
            <a:r>
              <a:rPr lang="en-US" dirty="0"/>
              <a:t> </a:t>
            </a:r>
          </a:p>
          <a:p>
            <a:r>
              <a:rPr lang="en-US" dirty="0"/>
              <a:t> </a:t>
            </a:r>
            <a:endParaRPr lang="en-CA" dirty="0"/>
          </a:p>
        </p:txBody>
      </p:sp>
    </p:spTree>
    <p:extLst>
      <p:ext uri="{BB962C8B-B14F-4D97-AF65-F5344CB8AC3E}">
        <p14:creationId xmlns:p14="http://schemas.microsoft.com/office/powerpoint/2010/main" val="4101497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Slide 25 — SESSIONS ARE DISPOSABLE. ENGINEERING MEMORY IS NOT.</a:t>
            </a:r>
          </a:p>
          <a:p>
            <a:endParaRPr dirty="0"/>
          </a:p>
          <a:p>
            <a:r>
              <a:rPr dirty="0"/>
              <a:t>“Let me return to the incident.</a:t>
            </a:r>
          </a:p>
          <a:p>
            <a:endParaRPr dirty="0"/>
          </a:p>
          <a:p>
            <a:r>
              <a:rPr dirty="0"/>
              <a:t>Recovery was fast because architecture, deployment intent, health behavior, and operational knowledge were discoverable. The incident still happened because one mutation boundary lacked a safe invariant. AI amplified both the strength of the system and the weakness in the system.</a:t>
            </a:r>
          </a:p>
          <a:p>
            <a:endParaRPr dirty="0"/>
          </a:p>
          <a:p>
            <a:r>
              <a:rPr dirty="0"/>
              <a:t>That is why hypervelocity is not typing code faster.</a:t>
            </a:r>
          </a:p>
          <a:p>
            <a:endParaRPr dirty="0"/>
          </a:p>
          <a:p>
            <a:r>
              <a:rPr dirty="0"/>
              <a:t>It is making intent clear, feedback fast, failure recoverable, and every lesson reusable.</a:t>
            </a:r>
          </a:p>
          <a:p>
            <a:endParaRPr dirty="0"/>
          </a:p>
          <a:p>
            <a:r>
              <a:rPr dirty="0"/>
              <a:t>Use agents to accelerate the loop.  </a:t>
            </a:r>
          </a:p>
          <a:p>
            <a:r>
              <a:rPr dirty="0"/>
              <a:t>Use evidence to constrain the agents.  </a:t>
            </a:r>
          </a:p>
          <a:p>
            <a:r>
              <a:rPr dirty="0"/>
              <a:t>Use packages and platforms to compound the learning.</a:t>
            </a:r>
          </a:p>
          <a:p>
            <a:endParaRPr dirty="0"/>
          </a:p>
          <a:p>
            <a:r>
              <a:rPr dirty="0"/>
              <a:t>Tomorrow, take one engineering lesson that currently lives in a person’s head or an old chat. Move it into an executable, reviewable control.</a:t>
            </a:r>
          </a:p>
          <a:p>
            <a:endParaRPr dirty="0"/>
          </a:p>
        </p:txBody>
      </p:sp>
      <p:sp>
        <p:nvSpPr>
          <p:cNvPr id="4" name="Slide Number Placeholder 3"/>
          <p:cNvSpPr>
            <a:spLocks noGrp="1"/>
          </p:cNvSpPr>
          <p:nvPr>
            <p:ph type="sldNum" sz="quarter" idx="10"/>
          </p:nvPr>
        </p:nvSpPr>
        <p:spPr/>
        <p:txBody>
          <a:bodyPr/>
          <a:lstStyle/>
          <a:p>
            <a:r>
              <a:rPr lang="en-US"/>
              <a:t>24</a:t>
            </a: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Backup slide </a:t>
            </a:r>
            <a:r>
              <a:rPr lang="en-US" dirty="0"/>
              <a:t>26</a:t>
            </a:r>
            <a:r>
              <a:rPr dirty="0"/>
              <a:t> — </a:t>
            </a:r>
            <a:r>
              <a:rPr lang="en-US" dirty="0"/>
              <a:t>Slide 17 demo video -  </a:t>
            </a:r>
            <a:r>
              <a:rPr dirty="0"/>
              <a:t>Issue #95: two prompts, one controlled release</a:t>
            </a:r>
          </a:p>
          <a:p>
            <a:endParaRPr dirty="0"/>
          </a:p>
          <a:p>
            <a:r>
              <a:rPr dirty="0"/>
              <a:t>**Format:** 90-second guided replay built from selected verbatim excerpts of the real Health Tracker issue #95 session. The replay uses explicit time jumps; it is not presented as a continuous real-time recording.</a:t>
            </a:r>
          </a:p>
          <a:p>
            <a:endParaRPr dirty="0"/>
          </a:p>
          <a:p>
            <a:r>
              <a:rPr dirty="0"/>
              <a:t>### Before playback</a:t>
            </a:r>
          </a:p>
          <a:p>
            <a:endParaRPr dirty="0"/>
          </a:p>
          <a:p>
            <a:r>
              <a:rPr dirty="0"/>
              <a:t>“This is a guided replay of a real delivery, not a simulated live-coding performance. The words are selected verbatim excerpts. The visible jumps are where I have compressed implementation, testing, and human review.”</a:t>
            </a:r>
          </a:p>
          <a:p>
            <a:endParaRPr dirty="0"/>
          </a:p>
          <a:p>
            <a:r>
              <a:rPr dirty="0"/>
              <a:t>**Action:** Click directly on the video once. Do not advance the slide until the final evidence frame appears.</a:t>
            </a:r>
          </a:p>
          <a:p>
            <a:endParaRPr dirty="0"/>
          </a:p>
          <a:p>
            <a:r>
              <a:rPr dirty="0"/>
              <a:t>### 0:00–0:15 — A small prompt enters a rich system</a:t>
            </a:r>
          </a:p>
          <a:p>
            <a:endParaRPr dirty="0"/>
          </a:p>
          <a:p>
            <a:r>
              <a:rPr dirty="0"/>
              <a:t>“The visible instruction was only: ‘please start work on 95.’ The response was not immediate code generation. The delivery session first reconstructed the issue contract from the issue, repository instructions, code, and tests.”</a:t>
            </a:r>
          </a:p>
          <a:p>
            <a:endParaRPr dirty="0"/>
          </a:p>
          <a:p>
            <a:r>
              <a:rPr dirty="0"/>
              <a:t>### 0:15–0:31 — Candidate implementation, then a boundary</a:t>
            </a:r>
          </a:p>
          <a:p>
            <a:endParaRPr dirty="0"/>
          </a:p>
          <a:p>
            <a:r>
              <a:rPr dirty="0"/>
              <a:t>“The replay compresses the implementation and focused validation. Notice the agent reaches a reviewed candidate, but it still does not own release authority.”</a:t>
            </a:r>
          </a:p>
          <a:p>
            <a:endParaRPr dirty="0"/>
          </a:p>
          <a:p>
            <a:r>
              <a:rPr dirty="0"/>
              <a:t>### 0:31–0:45 — Human release authorization and explicit risk ownership</a:t>
            </a:r>
          </a:p>
          <a:p>
            <a:endParaRPr dirty="0"/>
          </a:p>
          <a:p>
            <a:r>
              <a:rPr dirty="0"/>
              <a:t>“My second instruction was to verify the complete ticket and release only if it was ready. A timing-sensitive, unrelated benchmark remained. I explicitly accepted that exception; the system did not silently redefine success.”</a:t>
            </a:r>
          </a:p>
          <a:p>
            <a:endParaRPr dirty="0"/>
          </a:p>
          <a:p>
            <a:r>
              <a:rPr dirty="0"/>
              <a:t>### 0:45–1:02 — Fresh review changes the candidate</a:t>
            </a:r>
          </a:p>
          <a:p>
            <a:endParaRPr dirty="0"/>
          </a:p>
          <a:p>
            <a:r>
              <a:rPr dirty="0"/>
              <a:t>“The independent final review found a release-blocking iOS PWA regression. The implementation restored compatibility and ran the review again. Fresh context is not theater here: it changed what would have shipped.”</a:t>
            </a:r>
          </a:p>
          <a:p>
            <a:endParaRPr dirty="0"/>
          </a:p>
          <a:p>
            <a:r>
              <a:rPr dirty="0"/>
              <a:t>### 1:02–1:22 — The exact candidate becomes a release</a:t>
            </a:r>
          </a:p>
          <a:p>
            <a:endParaRPr dirty="0"/>
          </a:p>
          <a:p>
            <a:r>
              <a:rPr dirty="0"/>
              <a:t>“Only after the clean re-review did the skill stage the reviewed scope, create commit 2067c5c, push it, and follow the exact GitHub Actions run.”</a:t>
            </a:r>
          </a:p>
          <a:p>
            <a:endParaRPr dirty="0"/>
          </a:p>
          <a:p>
            <a:r>
              <a:rPr dirty="0"/>
              <a:t>### 1:22–1:30 — Production evidence</a:t>
            </a:r>
          </a:p>
          <a:p>
            <a:endParaRPr dirty="0"/>
          </a:p>
          <a:p>
            <a:r>
              <a:rPr dirty="0"/>
              <a:t>“The workflow completed, production health passed, and the deployed version reported 2067c5c. Issue #95 closed. My interaction became smaller because the engineering system became richer.”</a:t>
            </a:r>
          </a:p>
          <a:p>
            <a:endParaRPr dirty="0"/>
          </a:p>
          <a:p>
            <a:r>
              <a:rPr dirty="0"/>
              <a:t>### Accuracy guardrails</a:t>
            </a:r>
          </a:p>
          <a:p>
            <a:endParaRPr dirty="0"/>
          </a:p>
          <a:p>
            <a:r>
              <a:rPr dirty="0"/>
              <a:t>- The benchmark exception was explicit human risk acceptance, not a hidden pass.</a:t>
            </a:r>
          </a:p>
          <a:p>
            <a:r>
              <a:rPr dirty="0"/>
              <a:t>- Health plus exact version proves operational release identity, not that every feature behavior is defect-free.</a:t>
            </a:r>
          </a:p>
          <a:p>
            <a:r>
              <a:rPr dirty="0"/>
              <a:t>- Security and architecture review are risk-routed inside the release skill; independent code review is always required.</a:t>
            </a:r>
          </a:p>
          <a:p>
            <a:r>
              <a:rPr dirty="0"/>
              <a:t>- Direct-to-main is specific to this single-maintainer repository, not the enterprise default.</a:t>
            </a:r>
          </a:p>
          <a:p>
            <a:endParaRPr dirty="0"/>
          </a:p>
          <a:p>
            <a:r>
              <a:rPr dirty="0"/>
              <a:t>### Transition</a:t>
            </a:r>
          </a:p>
          <a:p>
            <a:endParaRPr dirty="0"/>
          </a:p>
          <a:p>
            <a:r>
              <a:rPr dirty="0"/>
              <a:t>“This worked because one repository had accumulated these instructions, roles, tests, and release controls. Then I tried to give the same capability to another repository.”</a:t>
            </a:r>
          </a:p>
        </p:txBody>
      </p:sp>
      <p:sp>
        <p:nvSpPr>
          <p:cNvPr id="4" name="Slide Number Placeholder 3"/>
          <p:cNvSpPr>
            <a:spLocks noGrp="1"/>
          </p:cNvSpPr>
          <p:nvPr>
            <p:ph type="sldNum" sz="quarter" idx="10"/>
          </p:nvPr>
        </p:nvSpPr>
        <p:spPr/>
        <p:txBody>
          <a:bodyPr/>
          <a:lstStyle/>
          <a:p>
            <a:r>
              <a:rPr lang="en-US"/>
              <a:t>30</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YEBROW + TITLE + CONTENT">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82F6"/>
          </a:solidFill>
          <a:ln w="12700">
            <a:solidFill>
              <a:srgbClr val="3B82F6"/>
            </a:solidFill>
            <a:prstDash val="solid"/>
          </a:ln>
        </p:spPr>
        <p:txBody>
          <a:bodyPr/>
          <a:lstStyle/>
          <a:p>
            <a:endParaRPr lang="en-CA"/>
          </a:p>
        </p:txBody>
      </p:sp>
      <p:sp>
        <p:nvSpPr>
          <p:cNvPr id="25" name="Slide Number Placeholder 0"/>
          <p:cNvSpPr>
            <a:spLocks noGrp="1"/>
          </p:cNvSpPr>
          <p:nvPr>
            <p:ph type="sldNum" sz="quarter" idx="4294967295"/>
          </p:nvPr>
        </p:nvSpPr>
        <p:spPr>
          <a:xfrm>
            <a:off x="11318095" y="6446520"/>
            <a:ext cx="201168"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4748B"/>
                </a:solidFill>
                <a:latin typeface="Aptos"/>
                <a:ea typeface="Aptos"/>
                <a:cs typeface="Aptos"/>
              </a:defRPr>
            </a:lvl1pPr>
          </a:lstStyle>
          <a:p>
            <a:pPr algn="r"/>
            <a:fld id="{F7021451-1387-4CA6-816F-3879F97B5CBC}" type="slidenum">
              <a:rPr lang="en-US" b="0"/>
              <a:t>‹#›</a:t>
            </a:fld>
            <a:endParaRPr lang="en-US"/>
          </a:p>
        </p:txBody>
      </p:sp>
      <p:sp>
        <p:nvSpPr>
          <p:cNvPr id="30" name="Eyebrow Placeholder"/>
          <p:cNvSpPr>
            <a:spLocks noGrp="1"/>
          </p:cNvSpPr>
          <p:nvPr>
            <p:ph type="body" idx="10"/>
          </p:nvPr>
        </p:nvSpPr>
        <p:spPr>
          <a:xfrm>
            <a:off x="566928" y="301752"/>
            <a:ext cx="5586984" cy="164592"/>
          </a:xfrm>
          <a:prstGeom prst="rect">
            <a:avLst/>
          </a:prstGeom>
        </p:spPr>
        <p:txBody>
          <a:bodyPr wrap="square" lIns="0" tIns="0" rIns="0" bIns="0" anchor="t"/>
          <a:lstStyle>
            <a:lvl1pPr marL="0" indent="0" algn="l">
              <a:buNone/>
              <a:defRPr sz="900" b="1" spc="120">
                <a:solidFill>
                  <a:srgbClr val="0099D4"/>
                </a:solidFill>
                <a:latin typeface="Aptos SemiBold"/>
                <a:ea typeface="Aptos SemiBold"/>
                <a:cs typeface="Aptos SemiBold"/>
              </a:defRPr>
            </a:lvl1pPr>
          </a:lstStyle>
          <a:p>
            <a:r>
              <a:rPr lang="en-US"/>
              <a:t>EYEBROW</a:t>
            </a:r>
          </a:p>
        </p:txBody>
      </p:sp>
      <p:sp>
        <p:nvSpPr>
          <p:cNvPr id="31" name="Title Placeholder"/>
          <p:cNvSpPr>
            <a:spLocks noGrp="1"/>
          </p:cNvSpPr>
          <p:nvPr>
            <p:ph type="title"/>
          </p:nvPr>
        </p:nvSpPr>
        <p:spPr>
          <a:xfrm>
            <a:off x="548640" y="566928"/>
            <a:ext cx="11045952" cy="502920"/>
          </a:xfrm>
          <a:prstGeom prst="rect">
            <a:avLst/>
          </a:prstGeom>
        </p:spPr>
        <p:txBody>
          <a:bodyPr wrap="square" lIns="0" tIns="0" rIns="0" bIns="0" anchor="t"/>
          <a:lstStyle>
            <a:lvl1pPr marL="0" indent="0" algn="l">
              <a:buNone/>
              <a:defRPr sz="2500" b="0" spc="0">
                <a:solidFill>
                  <a:srgbClr val="122038"/>
                </a:solidFill>
                <a:latin typeface="Aptos SemiBold"/>
                <a:ea typeface="Aptos SemiBold"/>
                <a:cs typeface="Aptos SemiBold"/>
              </a:defRPr>
            </a:lvl1pPr>
          </a:lstStyle>
          <a:p>
            <a:r>
              <a:rPr lang="en-US"/>
              <a:t>Click to edit title</a:t>
            </a:r>
          </a:p>
        </p:txBody>
      </p:sp>
      <p:sp>
        <p:nvSpPr>
          <p:cNvPr id="32" name="Subtitle Placeholder"/>
          <p:cNvSpPr>
            <a:spLocks noGrp="1"/>
          </p:cNvSpPr>
          <p:nvPr>
            <p:ph type="body" idx="11"/>
          </p:nvPr>
        </p:nvSpPr>
        <p:spPr>
          <a:xfrm>
            <a:off x="566928" y="1316736"/>
            <a:ext cx="11045952" cy="320040"/>
          </a:xfrm>
          <a:prstGeom prst="rect">
            <a:avLst/>
          </a:prstGeom>
        </p:spPr>
        <p:txBody>
          <a:bodyPr wrap="square" lIns="0" tIns="0" rIns="0" bIns="0" anchor="t"/>
          <a:lstStyle>
            <a:lvl1pPr marL="0" indent="0" algn="l">
              <a:buNone/>
              <a:defRPr sz="1500" b="0" spc="0">
                <a:solidFill>
                  <a:srgbClr val="6C6C6C"/>
                </a:solidFill>
                <a:latin typeface="Aptos"/>
                <a:ea typeface="Aptos"/>
                <a:cs typeface="Aptos"/>
              </a:defRPr>
            </a:lvl1pPr>
          </a:lstStyle>
          <a:p>
            <a:r>
              <a:rPr lang="en-US"/>
              <a:t>Click to edit subtitle</a:t>
            </a:r>
          </a:p>
        </p:txBody>
      </p:sp>
      <p:sp>
        <p:nvSpPr>
          <p:cNvPr id="33" name="Content Placeholder"/>
          <p:cNvSpPr>
            <a:spLocks noGrp="1"/>
          </p:cNvSpPr>
          <p:nvPr>
            <p:ph type="body" idx="12"/>
          </p:nvPr>
        </p:nvSpPr>
        <p:spPr>
          <a:xfrm>
            <a:off x="566928" y="1874519"/>
            <a:ext cx="11045952" cy="3840480"/>
          </a:xfrm>
          <a:prstGeom prst="rect">
            <a:avLst/>
          </a:prstGeom>
        </p:spPr>
        <p:txBody>
          <a:bodyPr wrap="square" lIns="0" tIns="0" rIns="0" bIns="0" anchor="t"/>
          <a:lstStyle>
            <a:lvl1pPr marL="0" indent="0" algn="l">
              <a:buNone/>
              <a:defRPr sz="1500" b="0" spc="0">
                <a:solidFill>
                  <a:srgbClr val="2D3748"/>
                </a:solidFill>
                <a:latin typeface="Aptos"/>
                <a:ea typeface="Aptos"/>
                <a:cs typeface="Aptos"/>
              </a:defRPr>
            </a:lvl1pPr>
            <a:lvl2pPr marL="228600" indent="-228600">
              <a:buChar char="•"/>
              <a:defRPr sz="1400">
                <a:solidFill>
                  <a:srgbClr val="4A5568"/>
                </a:solidFill>
                <a:latin typeface="Aptos"/>
              </a:defRPr>
            </a:lvl2pPr>
          </a:lstStyle>
          <a:p>
            <a:r>
              <a:rPr lang="en-US"/>
              <a:t>Click to add content</a:t>
            </a:r>
          </a:p>
        </p:txBody>
      </p:sp>
      <p:sp>
        <p:nvSpPr>
          <p:cNvPr id="6" name="Text 1">
            <a:extLst>
              <a:ext uri="{FF2B5EF4-FFF2-40B4-BE49-F238E27FC236}">
                <a16:creationId xmlns:a16="http://schemas.microsoft.com/office/drawing/2014/main" id="{E57BE591-0729-5043-FB9A-D7D507E339DD}"/>
              </a:ext>
            </a:extLst>
          </p:cNvPr>
          <p:cNvSpPr/>
          <p:nvPr userDrawn="1"/>
        </p:nvSpPr>
        <p:spPr>
          <a:xfrm>
            <a:off x="530352" y="6473952"/>
            <a:ext cx="4023360" cy="164592"/>
          </a:xfrm>
          <a:prstGeom prst="rect">
            <a:avLst/>
          </a:prstGeom>
          <a:noFill/>
          <a:ln/>
        </p:spPr>
        <p:txBody>
          <a:bodyPr wrap="square" lIns="0" tIns="0" rIns="0" bIns="0" rtlCol="0" anchor="ctr"/>
          <a:lstStyle/>
          <a:p>
            <a:pPr marL="0" indent="0">
              <a:buNone/>
            </a:pPr>
            <a:r>
              <a:rPr lang="en-US" sz="800" kern="0" spc="110">
                <a:solidFill>
                  <a:srgbClr val="718096"/>
                </a:solidFill>
                <a:latin typeface="Aptos SemiBold" pitchFamily="34" charset="0"/>
                <a:ea typeface="Aptos SemiBold" pitchFamily="34" charset="-122"/>
                <a:cs typeface="Aptos SemiBold" pitchFamily="34" charset="-120"/>
              </a:rPr>
              <a:t>AGENTIC SDLC • GITHUB + AZURE</a:t>
            </a:r>
            <a:endParaRPr lang="en-US" sz="800"/>
          </a:p>
        </p:txBody>
      </p:sp>
      <p:sp>
        <p:nvSpPr>
          <p:cNvPr id="8" name="Text 2">
            <a:extLst>
              <a:ext uri="{FF2B5EF4-FFF2-40B4-BE49-F238E27FC236}">
                <a16:creationId xmlns:a16="http://schemas.microsoft.com/office/drawing/2014/main" id="{3D5A5070-D0A6-7419-7996-9E8165A3D831}"/>
              </a:ext>
            </a:extLst>
          </p:cNvPr>
          <p:cNvSpPr/>
          <p:nvPr userDrawn="1"/>
        </p:nvSpPr>
        <p:spPr>
          <a:xfrm>
            <a:off x="7772400" y="6473952"/>
            <a:ext cx="3450566" cy="164592"/>
          </a:xfrm>
          <a:prstGeom prst="rect">
            <a:avLst/>
          </a:prstGeom>
          <a:noFill/>
          <a:ln/>
        </p:spPr>
        <p:txBody>
          <a:bodyPr wrap="square" lIns="0" tIns="0" rIns="0" bIns="0" rtlCol="0" anchor="ctr"/>
          <a:lstStyle/>
          <a:p>
            <a:pPr marL="0" indent="0" algn="r">
              <a:buNone/>
            </a:pPr>
            <a:r>
              <a:rPr lang="en-US" sz="800" kern="0" spc="60">
                <a:solidFill>
                  <a:srgbClr val="94A3B8"/>
                </a:solidFill>
                <a:latin typeface="Aptos" pitchFamily="34" charset="0"/>
                <a:ea typeface="Aptos" pitchFamily="34" charset="-122"/>
                <a:cs typeface="Aptos" pitchFamily="34" charset="-120"/>
              </a:rPr>
              <a:t>AI-DRIVEN HYPERVELOCITY ENGINEERING</a:t>
            </a:r>
            <a:endParaRPr lang="en-US" sz="800"/>
          </a:p>
        </p:txBody>
      </p:sp>
    </p:spTree>
    <p:extLst>
      <p:ext uri="{BB962C8B-B14F-4D97-AF65-F5344CB8AC3E}">
        <p14:creationId xmlns:p14="http://schemas.microsoft.com/office/powerpoint/2010/main" val="2165212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82F6"/>
          </a:solidFill>
          <a:ln w="12700">
            <a:solidFill>
              <a:srgbClr val="3B82F6"/>
            </a:solidFill>
            <a:prstDash val="solid"/>
          </a:ln>
        </p:spPr>
        <p:txBody>
          <a:bodyPr/>
          <a:lstStyle/>
          <a:p>
            <a:endParaRPr lang="en-CA"/>
          </a:p>
        </p:txBody>
      </p:sp>
      <p:sp>
        <p:nvSpPr>
          <p:cNvPr id="3" name="Text 1"/>
          <p:cNvSpPr/>
          <p:nvPr/>
        </p:nvSpPr>
        <p:spPr>
          <a:xfrm>
            <a:off x="530352" y="6473952"/>
            <a:ext cx="4023360" cy="164592"/>
          </a:xfrm>
          <a:prstGeom prst="rect">
            <a:avLst/>
          </a:prstGeom>
          <a:noFill/>
          <a:ln/>
        </p:spPr>
        <p:txBody>
          <a:bodyPr wrap="square" lIns="0" tIns="0" rIns="0" bIns="0" rtlCol="0" anchor="ctr"/>
          <a:lstStyle/>
          <a:p>
            <a:pPr marL="0" indent="0">
              <a:buNone/>
            </a:pPr>
            <a:r>
              <a:rPr lang="en-US" sz="800" kern="0" spc="110">
                <a:solidFill>
                  <a:srgbClr val="718096"/>
                </a:solidFill>
                <a:latin typeface="Aptos SemiBold" pitchFamily="34" charset="0"/>
                <a:ea typeface="Aptos SemiBold" pitchFamily="34" charset="-122"/>
                <a:cs typeface="Aptos SemiBold" pitchFamily="34" charset="-120"/>
              </a:rPr>
              <a:t>AGENTIC SDLC • GITHUB + AZURE</a:t>
            </a:r>
            <a:endParaRPr lang="en-US" sz="800"/>
          </a:p>
        </p:txBody>
      </p:sp>
      <p:sp>
        <p:nvSpPr>
          <p:cNvPr id="6" name="Text 2">
            <a:extLst>
              <a:ext uri="{FF2B5EF4-FFF2-40B4-BE49-F238E27FC236}">
                <a16:creationId xmlns:a16="http://schemas.microsoft.com/office/drawing/2014/main" id="{87264171-0AA8-1AA9-19B9-6A82BD29D294}"/>
              </a:ext>
            </a:extLst>
          </p:cNvPr>
          <p:cNvSpPr/>
          <p:nvPr userDrawn="1"/>
        </p:nvSpPr>
        <p:spPr>
          <a:xfrm>
            <a:off x="7772400" y="6473952"/>
            <a:ext cx="3450566" cy="164592"/>
          </a:xfrm>
          <a:prstGeom prst="rect">
            <a:avLst/>
          </a:prstGeom>
          <a:noFill/>
          <a:ln/>
        </p:spPr>
        <p:txBody>
          <a:bodyPr wrap="square" lIns="0" tIns="0" rIns="0" bIns="0" rtlCol="0" anchor="ctr"/>
          <a:lstStyle/>
          <a:p>
            <a:pPr marL="0" indent="0" algn="r">
              <a:buNone/>
            </a:pPr>
            <a:r>
              <a:rPr lang="en-US" sz="800" kern="0" spc="60">
                <a:solidFill>
                  <a:srgbClr val="94A3B8"/>
                </a:solidFill>
                <a:latin typeface="Aptos" pitchFamily="34" charset="0"/>
                <a:ea typeface="Aptos" pitchFamily="34" charset="-122"/>
                <a:cs typeface="Aptos" pitchFamily="34" charset="-120"/>
              </a:rPr>
              <a:t>AI-DRIVEN HYPERVELOCITY ENGINEERING</a:t>
            </a:r>
            <a:endParaRPr lang="en-US" sz="800"/>
          </a:p>
        </p:txBody>
      </p:sp>
      <p:sp>
        <p:nvSpPr>
          <p:cNvPr id="8" name="Slide Number Placeholder 0">
            <a:extLst>
              <a:ext uri="{FF2B5EF4-FFF2-40B4-BE49-F238E27FC236}">
                <a16:creationId xmlns:a16="http://schemas.microsoft.com/office/drawing/2014/main" id="{196FABB2-E341-E3F1-CAB4-891F659196BC}"/>
              </a:ext>
            </a:extLst>
          </p:cNvPr>
          <p:cNvSpPr>
            <a:spLocks noGrp="1"/>
          </p:cNvSpPr>
          <p:nvPr>
            <p:ph type="sldNum" sz="quarter" idx="4294967295"/>
          </p:nvPr>
        </p:nvSpPr>
        <p:spPr>
          <a:xfrm>
            <a:off x="11318095" y="6446520"/>
            <a:ext cx="201168"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4748B"/>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
    <p:bg>
      <p:bgPr>
        <a:solidFill>
          <a:srgbClr val="EEACA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82F6"/>
          </a:solidFill>
          <a:ln w="12700">
            <a:solidFill>
              <a:srgbClr val="3B82F6"/>
            </a:solidFill>
            <a:prstDash val="solid"/>
          </a:ln>
        </p:spPr>
      </p:sp>
      <p:sp>
        <p:nvSpPr>
          <p:cNvPr id="3" name="Text 1"/>
          <p:cNvSpPr/>
          <p:nvPr/>
        </p:nvSpPr>
        <p:spPr>
          <a:xfrm>
            <a:off x="530352" y="6473952"/>
            <a:ext cx="4023360" cy="164592"/>
          </a:xfrm>
          <a:prstGeom prst="rect">
            <a:avLst/>
          </a:prstGeom>
          <a:noFill/>
          <a:ln/>
        </p:spPr>
        <p:txBody>
          <a:bodyPr wrap="square" lIns="0" tIns="0" rIns="0" bIns="0" rtlCol="0" anchor="ctr"/>
          <a:lstStyle/>
          <a:p>
            <a:pPr marL="0" indent="0">
              <a:buNone/>
            </a:pPr>
            <a:r>
              <a:rPr lang="en-US" sz="800" kern="0" spc="110">
                <a:solidFill>
                  <a:srgbClr val="718096"/>
                </a:solidFill>
                <a:latin typeface="Aptos SemiBold" pitchFamily="34" charset="0"/>
                <a:ea typeface="Aptos SemiBold" pitchFamily="34" charset="-122"/>
                <a:cs typeface="Aptos SemiBold" pitchFamily="34" charset="-120"/>
              </a:rPr>
              <a:t>AGENTIC SDLC • GITHUB + AZURE</a:t>
            </a:r>
            <a:endParaRPr lang="en-US" sz="800"/>
          </a:p>
        </p:txBody>
      </p:sp>
      <p:sp>
        <p:nvSpPr>
          <p:cNvPr id="4" name="Text 2"/>
          <p:cNvSpPr/>
          <p:nvPr/>
        </p:nvSpPr>
        <p:spPr>
          <a:xfrm>
            <a:off x="7772400" y="6473952"/>
            <a:ext cx="3858768" cy="164592"/>
          </a:xfrm>
          <a:prstGeom prst="rect">
            <a:avLst/>
          </a:prstGeom>
          <a:noFill/>
          <a:ln/>
        </p:spPr>
        <p:txBody>
          <a:bodyPr wrap="square" lIns="0" tIns="0" rIns="0" bIns="0" rtlCol="0" anchor="ctr"/>
          <a:lstStyle/>
          <a:p>
            <a:pPr marL="0" indent="0" algn="r">
              <a:buNone/>
            </a:pPr>
            <a:r>
              <a:rPr lang="en-US" sz="800" kern="0" spc="60">
                <a:solidFill>
                  <a:srgbClr val="94A3B8"/>
                </a:solidFill>
                <a:latin typeface="Aptos" pitchFamily="34" charset="0"/>
                <a:ea typeface="Aptos" pitchFamily="34" charset="-122"/>
                <a:cs typeface="Aptos" pitchFamily="34" charset="-120"/>
              </a:rPr>
              <a:t>AI-DRIVEN HYPERVELOCITY ENGINEERING</a:t>
            </a:r>
            <a:endParaRPr lang="en-US" sz="800"/>
          </a:p>
        </p:txBody>
      </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4748B"/>
                </a:solidFill>
                <a:latin typeface="Aptos"/>
                <a:ea typeface="Aptos"/>
                <a:cs typeface="Aptos"/>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30136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D2CD4D-DF44-3E96-02B6-DE9D55C694CC}"/>
              </a:ext>
            </a:extLst>
          </p:cNvPr>
          <p:cNvSpPr>
            <a:spLocks noGrp="1"/>
          </p:cNvSpPr>
          <p:nvPr>
            <p:ph type="sldNum" sz="quarter" idx="10"/>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8459626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64748B"/>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0" r:id="rId3"/>
    <p:sldLayoutId id="2147483651"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png"/><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72554"/>
          </a:solidFill>
          <a:ln w="12700">
            <a:solidFill>
              <a:srgbClr val="172554"/>
            </a:solidFill>
            <a:prstDash val="solid"/>
          </a:ln>
        </p:spPr>
        <p:txBody>
          <a:bodyPr/>
          <a:lstStyle/>
          <a:p>
            <a:endParaRPr lang="en-CA"/>
          </a:p>
        </p:txBody>
      </p:sp>
      <p:sp>
        <p:nvSpPr>
          <p:cNvPr id="3" name="Shape 1"/>
          <p:cNvSpPr/>
          <p:nvPr/>
        </p:nvSpPr>
        <p:spPr>
          <a:xfrm>
            <a:off x="8823960" y="0"/>
            <a:ext cx="73152" cy="6858000"/>
          </a:xfrm>
          <a:prstGeom prst="rect">
            <a:avLst/>
          </a:prstGeom>
          <a:solidFill>
            <a:srgbClr val="0F766E"/>
          </a:solidFill>
          <a:ln w="12700">
            <a:solidFill>
              <a:srgbClr val="0F766E"/>
            </a:solidFill>
            <a:prstDash val="solid"/>
          </a:ln>
        </p:spPr>
        <p:txBody>
          <a:bodyPr/>
          <a:lstStyle/>
          <a:p>
            <a:endParaRPr lang="en-CA"/>
          </a:p>
        </p:txBody>
      </p:sp>
      <p:sp>
        <p:nvSpPr>
          <p:cNvPr id="4" name="Text 2"/>
          <p:cNvSpPr/>
          <p:nvPr/>
        </p:nvSpPr>
        <p:spPr>
          <a:xfrm>
            <a:off x="658368" y="749808"/>
            <a:ext cx="7315200" cy="1664208"/>
          </a:xfrm>
          <a:prstGeom prst="rect">
            <a:avLst/>
          </a:prstGeom>
          <a:noFill/>
          <a:ln/>
        </p:spPr>
        <p:txBody>
          <a:bodyPr wrap="square" lIns="0" tIns="0" rIns="0" bIns="0" rtlCol="0" anchor="ctr"/>
          <a:lstStyle/>
          <a:p>
            <a:pPr marL="0" indent="0">
              <a:buNone/>
            </a:pPr>
            <a:r>
              <a:rPr lang="en-US" sz="3600" b="1" dirty="0">
                <a:solidFill>
                  <a:srgbClr val="FFFFFF"/>
                </a:solidFill>
                <a:latin typeface="Aptos SemiBold" pitchFamily="34" charset="0"/>
                <a:ea typeface="Aptos SemiBold" pitchFamily="34" charset="-122"/>
                <a:cs typeface="Aptos SemiBold" pitchFamily="34" charset="-120"/>
              </a:rPr>
              <a:t>AGENTIC SDLC ACROSS</a:t>
            </a:r>
            <a:endParaRPr lang="en-US" sz="3600" dirty="0"/>
          </a:p>
          <a:p>
            <a:pPr marL="0" indent="0">
              <a:buNone/>
            </a:pPr>
            <a:r>
              <a:rPr lang="en-US" sz="3600" b="1" dirty="0">
                <a:solidFill>
                  <a:srgbClr val="FFFFFF"/>
                </a:solidFill>
                <a:latin typeface="Aptos SemiBold" pitchFamily="34" charset="0"/>
                <a:ea typeface="Aptos SemiBold" pitchFamily="34" charset="-122"/>
                <a:cs typeface="Aptos SemiBold" pitchFamily="34" charset="-120"/>
              </a:rPr>
              <a:t>GITHUB AND AZURE</a:t>
            </a:r>
            <a:endParaRPr lang="en-US" sz="3600" dirty="0"/>
          </a:p>
        </p:txBody>
      </p:sp>
      <p:sp>
        <p:nvSpPr>
          <p:cNvPr id="5" name="Text 3"/>
          <p:cNvSpPr/>
          <p:nvPr/>
        </p:nvSpPr>
        <p:spPr>
          <a:xfrm>
            <a:off x="694944" y="2651760"/>
            <a:ext cx="6903720" cy="749808"/>
          </a:xfrm>
          <a:prstGeom prst="rect">
            <a:avLst/>
          </a:prstGeom>
          <a:noFill/>
          <a:ln/>
        </p:spPr>
        <p:txBody>
          <a:bodyPr wrap="square" lIns="0" tIns="0" rIns="0" bIns="0" rtlCol="0" anchor="ctr">
            <a:normAutofit/>
          </a:bodyPr>
          <a:lstStyle/>
          <a:p>
            <a:pPr marL="0" indent="0">
              <a:buNone/>
            </a:pPr>
            <a:r>
              <a:rPr lang="en-US" sz="2200" dirty="0">
                <a:solidFill>
                  <a:srgbClr val="CBD5E1"/>
                </a:solidFill>
                <a:latin typeface="Aptos" pitchFamily="34" charset="0"/>
                <a:ea typeface="Aptos" pitchFamily="34" charset="-122"/>
                <a:cs typeface="Aptos" pitchFamily="34" charset="-120"/>
              </a:rPr>
              <a:t>AI-Driven Hypervelocity Engineering Without Chaos</a:t>
            </a:r>
            <a:endParaRPr lang="en-US" sz="2200" dirty="0"/>
          </a:p>
        </p:txBody>
      </p:sp>
      <p:sp>
        <p:nvSpPr>
          <p:cNvPr id="6" name="Shape 4"/>
          <p:cNvSpPr/>
          <p:nvPr/>
        </p:nvSpPr>
        <p:spPr>
          <a:xfrm>
            <a:off x="694944" y="3913632"/>
            <a:ext cx="64008" cy="1097280"/>
          </a:xfrm>
          <a:prstGeom prst="rect">
            <a:avLst/>
          </a:prstGeom>
          <a:solidFill>
            <a:srgbClr val="0F766E"/>
          </a:solidFill>
          <a:ln w="12700">
            <a:solidFill>
              <a:srgbClr val="0F766E"/>
            </a:solidFill>
            <a:prstDash val="solid"/>
          </a:ln>
        </p:spPr>
        <p:txBody>
          <a:bodyPr/>
          <a:lstStyle/>
          <a:p>
            <a:endParaRPr lang="en-CA"/>
          </a:p>
        </p:txBody>
      </p:sp>
      <p:sp>
        <p:nvSpPr>
          <p:cNvPr id="7" name="Text 5"/>
          <p:cNvSpPr/>
          <p:nvPr/>
        </p:nvSpPr>
        <p:spPr>
          <a:xfrm>
            <a:off x="923544" y="3931920"/>
            <a:ext cx="6647688" cy="1060704"/>
          </a:xfrm>
          <a:prstGeom prst="rect">
            <a:avLst/>
          </a:prstGeom>
          <a:noFill/>
          <a:ln/>
        </p:spPr>
        <p:txBody>
          <a:bodyPr wrap="square" lIns="0" tIns="0" rIns="0" bIns="0" rtlCol="0" anchor="ctr">
            <a:normAutofit/>
          </a:bodyPr>
          <a:lstStyle/>
          <a:p>
            <a:pPr marL="0" indent="0">
              <a:buNone/>
            </a:pPr>
            <a:r>
              <a:rPr lang="en-US" i="1" dirty="0">
                <a:solidFill>
                  <a:srgbClr val="DCE7F3"/>
                </a:solidFill>
                <a:latin typeface="Aptos SemiBold" pitchFamily="34" charset="0"/>
                <a:ea typeface="Aptos SemiBold" pitchFamily="34" charset="-122"/>
                <a:cs typeface="Aptos SemiBold" pitchFamily="34" charset="-120"/>
              </a:rPr>
              <a:t>This talk is not</a:t>
            </a:r>
            <a:r>
              <a:rPr lang="en-US" sz="1800" i="1" dirty="0">
                <a:solidFill>
                  <a:srgbClr val="DCE7F3"/>
                </a:solidFill>
                <a:latin typeface="Aptos SemiBold" pitchFamily="34" charset="0"/>
                <a:ea typeface="Aptos SemiBold" pitchFamily="34" charset="-122"/>
                <a:cs typeface="Aptos SemiBold" pitchFamily="34" charset="-120"/>
              </a:rPr>
              <a:t>  is not about writing code faster. </a:t>
            </a:r>
          </a:p>
          <a:p>
            <a:pPr marL="0" indent="0">
              <a:buNone/>
            </a:pPr>
            <a:r>
              <a:rPr lang="en-US" sz="1800" i="1" dirty="0">
                <a:solidFill>
                  <a:srgbClr val="DCE7F3"/>
                </a:solidFill>
                <a:latin typeface="Aptos SemiBold" pitchFamily="34" charset="0"/>
                <a:ea typeface="Aptos SemiBold" pitchFamily="34" charset="-122"/>
                <a:cs typeface="Aptos SemiBold" pitchFamily="34" charset="-120"/>
              </a:rPr>
              <a:t>It is about what happens after code generation becomes fast.</a:t>
            </a:r>
            <a:endParaRPr lang="en-US" sz="1800" dirty="0"/>
          </a:p>
        </p:txBody>
      </p:sp>
      <p:grpSp>
        <p:nvGrpSpPr>
          <p:cNvPr id="9" name="Group 8">
            <a:extLst>
              <a:ext uri="{FF2B5EF4-FFF2-40B4-BE49-F238E27FC236}">
                <a16:creationId xmlns:a16="http://schemas.microsoft.com/office/drawing/2014/main" id="{4A3B0C93-8EF8-DDB0-E413-E94894D6A259}"/>
              </a:ext>
            </a:extLst>
          </p:cNvPr>
          <p:cNvGrpSpPr/>
          <p:nvPr/>
        </p:nvGrpSpPr>
        <p:grpSpPr>
          <a:xfrm>
            <a:off x="8924620" y="3931920"/>
            <a:ext cx="3121000" cy="2292096"/>
            <a:chOff x="8897112" y="3794760"/>
            <a:chExt cx="3121000" cy="2292096"/>
          </a:xfrm>
        </p:grpSpPr>
        <p:sp>
          <p:nvSpPr>
            <p:cNvPr id="11" name="Text 8">
              <a:extLst>
                <a:ext uri="{FF2B5EF4-FFF2-40B4-BE49-F238E27FC236}">
                  <a16:creationId xmlns:a16="http://schemas.microsoft.com/office/drawing/2014/main" id="{47172DAA-50E0-9825-16D5-67FD6980E0AE}"/>
                </a:ext>
              </a:extLst>
            </p:cNvPr>
            <p:cNvSpPr/>
            <p:nvPr/>
          </p:nvSpPr>
          <p:spPr>
            <a:xfrm>
              <a:off x="8897112" y="5455920"/>
              <a:ext cx="3121000" cy="365760"/>
            </a:xfrm>
            <a:prstGeom prst="rect">
              <a:avLst/>
            </a:prstGeom>
            <a:noFill/>
            <a:ln/>
          </p:spPr>
          <p:txBody>
            <a:bodyPr wrap="square" lIns="0" tIns="0" rIns="0" bIns="0" rtlCol="0" anchor="ctr"/>
            <a:lstStyle/>
            <a:p>
              <a:pPr marL="0" indent="0" algn="ctr">
                <a:buNone/>
              </a:pPr>
              <a:r>
                <a:rPr lang="en-US" sz="1700">
                  <a:solidFill>
                    <a:srgbClr val="FFFFFF"/>
                  </a:solidFill>
                  <a:latin typeface="Aptos SemiBold" panose="020B0004020202020204" pitchFamily="34" charset="0"/>
                  <a:ea typeface="Aptos SemiBold" pitchFamily="34" charset="-122"/>
                  <a:cs typeface="Aptos SemiBold" pitchFamily="34" charset="-120"/>
                </a:rPr>
                <a:t>Alex Drenea</a:t>
              </a:r>
              <a:endParaRPr lang="en-US" sz="1700">
                <a:latin typeface="Aptos SemiBold" panose="020B0004020202020204" pitchFamily="34" charset="0"/>
              </a:endParaRPr>
            </a:p>
          </p:txBody>
        </p:sp>
        <p:sp>
          <p:nvSpPr>
            <p:cNvPr id="12" name="Speaker Title">
              <a:extLst>
                <a:ext uri="{FF2B5EF4-FFF2-40B4-BE49-F238E27FC236}">
                  <a16:creationId xmlns:a16="http://schemas.microsoft.com/office/drawing/2014/main" id="{A1752D89-E0FD-1BE7-B403-713A5004AF10}"/>
                </a:ext>
              </a:extLst>
            </p:cNvPr>
            <p:cNvSpPr txBox="1"/>
            <p:nvPr/>
          </p:nvSpPr>
          <p:spPr>
            <a:xfrm>
              <a:off x="8897112" y="5824728"/>
              <a:ext cx="3121000" cy="262128"/>
            </a:xfrm>
            <a:prstGeom prst="rect">
              <a:avLst/>
            </a:prstGeom>
            <a:noFill/>
          </p:spPr>
          <p:txBody>
            <a:bodyPr wrap="square" lIns="0" tIns="0" rIns="0" bIns="0" rtlCol="0" anchor="ctr"/>
            <a:lstStyle/>
            <a:p>
              <a:pPr marL="0" indent="0" algn="ctr">
                <a:buNone/>
              </a:pPr>
              <a:r>
                <a:rPr lang="en-US" sz="1400" spc="80">
                  <a:solidFill>
                    <a:srgbClr val="94A3B8"/>
                  </a:solidFill>
                  <a:latin typeface="Aptos" pitchFamily="34" charset="0"/>
                </a:rPr>
                <a:t>Solutions Architect • </a:t>
              </a:r>
              <a:r>
                <a:rPr lang="en-US" sz="1400" spc="80">
                  <a:solidFill>
                    <a:srgbClr val="94A3B8"/>
                  </a:solidFill>
                  <a:latin typeface="Aptos Light" panose="020B0004020202020204" pitchFamily="34" charset="0"/>
                </a:rPr>
                <a:t>Microsoft</a:t>
              </a:r>
            </a:p>
          </p:txBody>
        </p:sp>
        <p:pic>
          <p:nvPicPr>
            <p:cNvPr id="13" name="Picture 12">
              <a:extLst>
                <a:ext uri="{FF2B5EF4-FFF2-40B4-BE49-F238E27FC236}">
                  <a16:creationId xmlns:a16="http://schemas.microsoft.com/office/drawing/2014/main" id="{9F2A8D7A-FEE7-A8A8-BEC4-909878CC61C2}"/>
                </a:ext>
              </a:extLst>
            </p:cNvPr>
            <p:cNvPicPr>
              <a:picLocks noChangeAspect="1"/>
            </p:cNvPicPr>
            <p:nvPr/>
          </p:nvPicPr>
          <p:blipFill>
            <a:blip r:embed="rId3"/>
            <a:stretch>
              <a:fillRect/>
            </a:stretch>
          </p:blipFill>
          <p:spPr>
            <a:xfrm>
              <a:off x="9731194" y="3794760"/>
              <a:ext cx="1452836" cy="1452836"/>
            </a:xfrm>
            <a:prstGeom prst="ellipse">
              <a:avLst/>
            </a:prstGeom>
            <a:ln w="28575">
              <a:solidFill>
                <a:srgbClr val="5EEAD4"/>
              </a:solidFill>
            </a:ln>
          </p:spPr>
        </p:pic>
      </p:grpSp>
      <p:sp>
        <p:nvSpPr>
          <p:cNvPr id="15" name="TextBox 14">
            <a:extLst>
              <a:ext uri="{FF2B5EF4-FFF2-40B4-BE49-F238E27FC236}">
                <a16:creationId xmlns:a16="http://schemas.microsoft.com/office/drawing/2014/main" id="{51D6BDC7-D131-C360-E6C1-DEC8981C8F17}"/>
              </a:ext>
            </a:extLst>
          </p:cNvPr>
          <p:cNvSpPr txBox="1"/>
          <p:nvPr/>
        </p:nvSpPr>
        <p:spPr>
          <a:xfrm>
            <a:off x="8897112" y="457420"/>
            <a:ext cx="3121000" cy="307777"/>
          </a:xfrm>
          <a:prstGeom prst="rect">
            <a:avLst/>
          </a:prstGeom>
          <a:noFill/>
        </p:spPr>
        <p:txBody>
          <a:bodyPr wrap="square">
            <a:spAutoFit/>
          </a:bodyPr>
          <a:lstStyle/>
          <a:p>
            <a:pPr algn="ctr"/>
            <a:r>
              <a:rPr lang="en-CA" sz="1400" b="1" spc="180" dirty="0">
                <a:solidFill>
                  <a:srgbClr val="5EEAD4"/>
                </a:solidFill>
                <a:latin typeface="Aptos SemiBold" panose="020B0004020202020204" pitchFamily="34" charset="0"/>
              </a:rPr>
              <a:t>PDC 2026 • WINNIPEG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4743-C2B1-7203-06A9-CD08B25DAE5D}"/>
            </a:ext>
          </a:extLst>
        </p:cNvPr>
        <p:cNvGrpSpPr/>
        <p:nvPr/>
      </p:nvGrpSpPr>
      <p:grpSpPr>
        <a:xfrm>
          <a:off x="0" y="0"/>
          <a:ext cx="0" cy="0"/>
          <a:chOff x="0" y="0"/>
          <a:chExt cx="0" cy="0"/>
        </a:xfrm>
      </p:grpSpPr>
      <p:sp>
        <p:nvSpPr>
          <p:cNvPr id="34" name="Shape 19">
            <a:extLst>
              <a:ext uri="{FF2B5EF4-FFF2-40B4-BE49-F238E27FC236}">
                <a16:creationId xmlns:a16="http://schemas.microsoft.com/office/drawing/2014/main" id="{0F6FBF77-5506-14A7-4843-72452DCDD89D}"/>
              </a:ext>
            </a:extLst>
          </p:cNvPr>
          <p:cNvSpPr/>
          <p:nvPr/>
        </p:nvSpPr>
        <p:spPr>
          <a:xfrm>
            <a:off x="454794" y="3686476"/>
            <a:ext cx="5159622" cy="1662764"/>
          </a:xfrm>
          <a:prstGeom prst="roundRect">
            <a:avLst>
              <a:gd name="adj" fmla="val 2581"/>
            </a:avLst>
          </a:prstGeom>
          <a:solidFill>
            <a:srgbClr val="FCE8EB"/>
          </a:solidFill>
          <a:ln w="12700">
            <a:solidFill>
              <a:srgbClr val="F5C4CB"/>
            </a:solidFill>
            <a:prstDash val="solid"/>
          </a:ln>
        </p:spPr>
        <p:txBody>
          <a:bodyPr/>
          <a:lstStyle/>
          <a:p>
            <a:endParaRPr lang="en-CA" dirty="0"/>
          </a:p>
        </p:txBody>
      </p:sp>
      <p:sp>
        <p:nvSpPr>
          <p:cNvPr id="50" name="Shape 19">
            <a:extLst>
              <a:ext uri="{FF2B5EF4-FFF2-40B4-BE49-F238E27FC236}">
                <a16:creationId xmlns:a16="http://schemas.microsoft.com/office/drawing/2014/main" id="{4512C90E-4890-2E95-013E-5FA1D007A357}"/>
              </a:ext>
            </a:extLst>
          </p:cNvPr>
          <p:cNvSpPr/>
          <p:nvPr/>
        </p:nvSpPr>
        <p:spPr>
          <a:xfrm>
            <a:off x="6431282" y="3634018"/>
            <a:ext cx="5159622" cy="1662764"/>
          </a:xfrm>
          <a:prstGeom prst="roundRect">
            <a:avLst>
              <a:gd name="adj" fmla="val 2581"/>
            </a:avLst>
          </a:prstGeom>
          <a:solidFill>
            <a:srgbClr val="FCE8EB"/>
          </a:solidFill>
          <a:ln w="12700">
            <a:solidFill>
              <a:srgbClr val="F5C4CB"/>
            </a:solidFill>
            <a:prstDash val="solid"/>
          </a:ln>
        </p:spPr>
        <p:txBody>
          <a:bodyPr/>
          <a:lstStyle/>
          <a:p>
            <a:endParaRPr lang="en-CA" dirty="0"/>
          </a:p>
        </p:txBody>
      </p:sp>
      <p:sp>
        <p:nvSpPr>
          <p:cNvPr id="2" name="Text 0">
            <a:extLst>
              <a:ext uri="{FF2B5EF4-FFF2-40B4-BE49-F238E27FC236}">
                <a16:creationId xmlns:a16="http://schemas.microsoft.com/office/drawing/2014/main" id="{E25783C8-3835-EDF7-D312-56B5359AD373}"/>
              </a:ext>
            </a:extLst>
          </p:cNvPr>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OPENING INCIDENT</a:t>
            </a:r>
            <a:endParaRPr lang="en-US" sz="1000"/>
          </a:p>
        </p:txBody>
      </p:sp>
      <p:sp>
        <p:nvSpPr>
          <p:cNvPr id="3" name="Text 1">
            <a:extLst>
              <a:ext uri="{FF2B5EF4-FFF2-40B4-BE49-F238E27FC236}">
                <a16:creationId xmlns:a16="http://schemas.microsoft.com/office/drawing/2014/main" id="{01487134-E2BD-8EB5-C7DF-624A2EBDBBBF}"/>
              </a:ext>
            </a:extLst>
          </p:cNvPr>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SemiBold" pitchFamily="34" charset="0"/>
                <a:ea typeface="Aptos SemiBold" pitchFamily="34" charset="-122"/>
                <a:cs typeface="Aptos SemiBold" pitchFamily="34" charset="-120"/>
              </a:rPr>
              <a:t>Sixteen minutes from approved change to verified recovery</a:t>
            </a:r>
            <a:endParaRPr lang="en-US" sz="2800" dirty="0"/>
          </a:p>
        </p:txBody>
      </p:sp>
      <p:sp>
        <p:nvSpPr>
          <p:cNvPr id="5" name="Shape 3">
            <a:extLst>
              <a:ext uri="{FF2B5EF4-FFF2-40B4-BE49-F238E27FC236}">
                <a16:creationId xmlns:a16="http://schemas.microsoft.com/office/drawing/2014/main" id="{528B2EFC-DDEC-EAF0-F16E-63F9971E2ABB}"/>
              </a:ext>
            </a:extLst>
          </p:cNvPr>
          <p:cNvSpPr/>
          <p:nvPr/>
        </p:nvSpPr>
        <p:spPr>
          <a:xfrm>
            <a:off x="713232" y="2267712"/>
            <a:ext cx="10488168" cy="0"/>
          </a:xfrm>
          <a:prstGeom prst="line">
            <a:avLst/>
          </a:prstGeom>
          <a:noFill/>
          <a:ln w="31750">
            <a:solidFill>
              <a:srgbClr val="C2414E"/>
            </a:solidFill>
            <a:prstDash val="solid"/>
            <a:headEnd type="none"/>
            <a:tailEnd type="triangle"/>
          </a:ln>
        </p:spPr>
        <p:txBody>
          <a:bodyPr/>
          <a:lstStyle/>
          <a:p>
            <a:endParaRPr lang="en-CA"/>
          </a:p>
        </p:txBody>
      </p:sp>
      <p:sp>
        <p:nvSpPr>
          <p:cNvPr id="6" name="Shape 4">
            <a:extLst>
              <a:ext uri="{FF2B5EF4-FFF2-40B4-BE49-F238E27FC236}">
                <a16:creationId xmlns:a16="http://schemas.microsoft.com/office/drawing/2014/main" id="{A77EE64A-7905-EC2C-AFA0-9801EBD9677C}"/>
              </a:ext>
            </a:extLst>
          </p:cNvPr>
          <p:cNvSpPr/>
          <p:nvPr/>
        </p:nvSpPr>
        <p:spPr>
          <a:xfrm>
            <a:off x="786384" y="2093976"/>
            <a:ext cx="347472" cy="347472"/>
          </a:xfrm>
          <a:prstGeom prst="ellipse">
            <a:avLst/>
          </a:prstGeom>
          <a:solidFill>
            <a:srgbClr val="FFFFFF"/>
          </a:solidFill>
          <a:ln w="25400">
            <a:solidFill>
              <a:srgbClr val="C2414E"/>
            </a:solidFill>
            <a:prstDash val="solid"/>
          </a:ln>
        </p:spPr>
        <p:txBody>
          <a:bodyPr/>
          <a:lstStyle/>
          <a:p>
            <a:endParaRPr lang="en-CA"/>
          </a:p>
        </p:txBody>
      </p:sp>
      <p:sp>
        <p:nvSpPr>
          <p:cNvPr id="7" name="Text 5">
            <a:extLst>
              <a:ext uri="{FF2B5EF4-FFF2-40B4-BE49-F238E27FC236}">
                <a16:creationId xmlns:a16="http://schemas.microsoft.com/office/drawing/2014/main" id="{7DD7EE37-0A7E-6184-E54F-CB3B0B4D61AB}"/>
              </a:ext>
            </a:extLst>
          </p:cNvPr>
          <p:cNvSpPr/>
          <p:nvPr/>
        </p:nvSpPr>
        <p:spPr>
          <a:xfrm>
            <a:off x="512064"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6:39pm</a:t>
            </a:r>
            <a:endParaRPr lang="en-US" sz="1500"/>
          </a:p>
        </p:txBody>
      </p:sp>
      <p:sp>
        <p:nvSpPr>
          <p:cNvPr id="8" name="Text 6">
            <a:extLst>
              <a:ext uri="{FF2B5EF4-FFF2-40B4-BE49-F238E27FC236}">
                <a16:creationId xmlns:a16="http://schemas.microsoft.com/office/drawing/2014/main" id="{1D4595D7-A08E-2F08-3FB2-CA7ED8C947CE}"/>
              </a:ext>
            </a:extLst>
          </p:cNvPr>
          <p:cNvSpPr/>
          <p:nvPr/>
        </p:nvSpPr>
        <p:spPr>
          <a:xfrm>
            <a:off x="338328" y="2578608"/>
            <a:ext cx="1243584" cy="713232"/>
          </a:xfrm>
          <a:prstGeom prst="rect">
            <a:avLst/>
          </a:prstGeom>
          <a:noFill/>
          <a:ln/>
        </p:spPr>
        <p:txBody>
          <a:bodyPr wrap="square" lIns="0" tIns="0" rIns="0" bIns="0" rtlCol="0" anchor="ctr">
            <a:normAutofit/>
          </a:bodyPr>
          <a:lstStyle/>
          <a:p>
            <a:pPr marL="0" indent="0" algn="ctr">
              <a:buNone/>
            </a:pPr>
            <a:r>
              <a:rPr lang="en-US" sz="1400" dirty="0">
                <a:solidFill>
                  <a:srgbClr val="5F6B7A"/>
                </a:solidFill>
                <a:latin typeface="Aptos" pitchFamily="34" charset="0"/>
                <a:ea typeface="Aptos" pitchFamily="34" charset="-122"/>
                <a:cs typeface="Aptos" pitchFamily="34" charset="-120"/>
              </a:rPr>
              <a:t>I approved</a:t>
            </a:r>
            <a:endParaRPr lang="en-US" sz="1400" dirty="0"/>
          </a:p>
          <a:p>
            <a:pPr marL="0" indent="0" algn="ctr">
              <a:buNone/>
            </a:pPr>
            <a:r>
              <a:rPr lang="en-US" sz="1400" dirty="0">
                <a:solidFill>
                  <a:srgbClr val="5F6B7A"/>
                </a:solidFill>
                <a:latin typeface="Aptos" pitchFamily="34" charset="0"/>
                <a:ea typeface="Aptos" pitchFamily="34" charset="-122"/>
                <a:cs typeface="Aptos" pitchFamily="34" charset="-120"/>
              </a:rPr>
              <a:t>a change</a:t>
            </a:r>
            <a:endParaRPr lang="en-US" sz="1400" dirty="0"/>
          </a:p>
        </p:txBody>
      </p:sp>
      <p:sp>
        <p:nvSpPr>
          <p:cNvPr id="9" name="Shape 7">
            <a:extLst>
              <a:ext uri="{FF2B5EF4-FFF2-40B4-BE49-F238E27FC236}">
                <a16:creationId xmlns:a16="http://schemas.microsoft.com/office/drawing/2014/main" id="{5B67DAE0-C7BF-E30B-A3EF-8F46DD6DC1A8}"/>
              </a:ext>
            </a:extLst>
          </p:cNvPr>
          <p:cNvSpPr/>
          <p:nvPr/>
        </p:nvSpPr>
        <p:spPr>
          <a:xfrm>
            <a:off x="2834640" y="2093976"/>
            <a:ext cx="347472" cy="347472"/>
          </a:xfrm>
          <a:prstGeom prst="ellipse">
            <a:avLst/>
          </a:prstGeom>
          <a:solidFill>
            <a:srgbClr val="FFFFFF"/>
          </a:solidFill>
          <a:ln w="25400">
            <a:solidFill>
              <a:srgbClr val="C2414E"/>
            </a:solidFill>
            <a:prstDash val="solid"/>
          </a:ln>
        </p:spPr>
        <p:txBody>
          <a:bodyPr/>
          <a:lstStyle/>
          <a:p>
            <a:endParaRPr lang="en-CA"/>
          </a:p>
        </p:txBody>
      </p:sp>
      <p:sp>
        <p:nvSpPr>
          <p:cNvPr id="10" name="Text 8">
            <a:extLst>
              <a:ext uri="{FF2B5EF4-FFF2-40B4-BE49-F238E27FC236}">
                <a16:creationId xmlns:a16="http://schemas.microsoft.com/office/drawing/2014/main" id="{6DC6121C-8929-2EB7-73D4-7554E86E09F8}"/>
              </a:ext>
            </a:extLst>
          </p:cNvPr>
          <p:cNvSpPr/>
          <p:nvPr/>
        </p:nvSpPr>
        <p:spPr>
          <a:xfrm>
            <a:off x="2560320"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6:43pm</a:t>
            </a:r>
            <a:endParaRPr lang="en-US" sz="1500"/>
          </a:p>
        </p:txBody>
      </p:sp>
      <p:sp>
        <p:nvSpPr>
          <p:cNvPr id="11" name="Text 9">
            <a:extLst>
              <a:ext uri="{FF2B5EF4-FFF2-40B4-BE49-F238E27FC236}">
                <a16:creationId xmlns:a16="http://schemas.microsoft.com/office/drawing/2014/main" id="{0164D9E0-9A68-D3A5-8184-9E331E588471}"/>
              </a:ext>
            </a:extLst>
          </p:cNvPr>
          <p:cNvSpPr/>
          <p:nvPr/>
        </p:nvSpPr>
        <p:spPr>
          <a:xfrm>
            <a:off x="2386584" y="2578608"/>
            <a:ext cx="1243584" cy="713232"/>
          </a:xfrm>
          <a:prstGeom prst="rect">
            <a:avLst/>
          </a:prstGeom>
          <a:noFill/>
          <a:ln/>
        </p:spPr>
        <p:txBody>
          <a:bodyPr wrap="square" lIns="0" tIns="0" rIns="0" bIns="0" rtlCol="0" anchor="ctr">
            <a:normAutofit/>
          </a:bodyPr>
          <a:lstStyle/>
          <a:p>
            <a:pPr marL="0" indent="0" algn="ctr">
              <a:buNone/>
            </a:pPr>
            <a:r>
              <a:rPr lang="en-US" sz="1400">
                <a:solidFill>
                  <a:srgbClr val="5F6B7A"/>
                </a:solidFill>
                <a:latin typeface="Aptos" pitchFamily="34" charset="0"/>
                <a:ea typeface="Aptos" pitchFamily="34" charset="-122"/>
                <a:cs typeface="Aptos" pitchFamily="34" charset="-120"/>
              </a:rPr>
              <a:t>Restart exposed</a:t>
            </a:r>
            <a:endParaRPr lang="en-US" sz="1400"/>
          </a:p>
          <a:p>
            <a:pPr marL="0" indent="0" algn="ctr">
              <a:buNone/>
            </a:pPr>
            <a:r>
              <a:rPr lang="en-US" sz="1400">
                <a:solidFill>
                  <a:srgbClr val="5F6B7A"/>
                </a:solidFill>
                <a:latin typeface="Aptos" pitchFamily="34" charset="0"/>
                <a:ea typeface="Aptos" pitchFamily="34" charset="-122"/>
                <a:cs typeface="Aptos" pitchFamily="34" charset="-120"/>
              </a:rPr>
              <a:t>missing settings</a:t>
            </a:r>
            <a:endParaRPr lang="en-US" sz="1400"/>
          </a:p>
        </p:txBody>
      </p:sp>
      <p:sp>
        <p:nvSpPr>
          <p:cNvPr id="12" name="Shape 10">
            <a:extLst>
              <a:ext uri="{FF2B5EF4-FFF2-40B4-BE49-F238E27FC236}">
                <a16:creationId xmlns:a16="http://schemas.microsoft.com/office/drawing/2014/main" id="{3445C4FB-0296-A3BD-38AF-D1B1276FD60B}"/>
              </a:ext>
            </a:extLst>
          </p:cNvPr>
          <p:cNvSpPr/>
          <p:nvPr/>
        </p:nvSpPr>
        <p:spPr>
          <a:xfrm>
            <a:off x="4882896" y="2093976"/>
            <a:ext cx="347472" cy="347472"/>
          </a:xfrm>
          <a:prstGeom prst="ellipse">
            <a:avLst/>
          </a:prstGeom>
          <a:solidFill>
            <a:srgbClr val="C2414E"/>
          </a:solidFill>
          <a:ln w="25400">
            <a:solidFill>
              <a:srgbClr val="C2414E"/>
            </a:solidFill>
            <a:prstDash val="solid"/>
          </a:ln>
        </p:spPr>
        <p:txBody>
          <a:bodyPr/>
          <a:lstStyle/>
          <a:p>
            <a:endParaRPr lang="en-CA"/>
          </a:p>
        </p:txBody>
      </p:sp>
      <p:sp>
        <p:nvSpPr>
          <p:cNvPr id="13" name="Text 11">
            <a:extLst>
              <a:ext uri="{FF2B5EF4-FFF2-40B4-BE49-F238E27FC236}">
                <a16:creationId xmlns:a16="http://schemas.microsoft.com/office/drawing/2014/main" id="{FBCF1CD4-AC2B-19ED-7070-7DAB87E5202F}"/>
              </a:ext>
            </a:extLst>
          </p:cNvPr>
          <p:cNvSpPr/>
          <p:nvPr/>
        </p:nvSpPr>
        <p:spPr>
          <a:xfrm>
            <a:off x="4608576"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6:46pm</a:t>
            </a:r>
            <a:endParaRPr lang="en-US" sz="1500"/>
          </a:p>
        </p:txBody>
      </p:sp>
      <p:sp>
        <p:nvSpPr>
          <p:cNvPr id="14" name="Text 12">
            <a:extLst>
              <a:ext uri="{FF2B5EF4-FFF2-40B4-BE49-F238E27FC236}">
                <a16:creationId xmlns:a16="http://schemas.microsoft.com/office/drawing/2014/main" id="{661D1962-63A3-042E-1743-89339CAF66AA}"/>
              </a:ext>
            </a:extLst>
          </p:cNvPr>
          <p:cNvSpPr/>
          <p:nvPr/>
        </p:nvSpPr>
        <p:spPr>
          <a:xfrm>
            <a:off x="4379976" y="2578608"/>
            <a:ext cx="1353312" cy="713232"/>
          </a:xfrm>
          <a:prstGeom prst="rect">
            <a:avLst/>
          </a:prstGeom>
          <a:noFill/>
          <a:ln/>
        </p:spPr>
        <p:txBody>
          <a:bodyPr wrap="square" lIns="0" tIns="0" rIns="0" bIns="0" rtlCol="0" anchor="ctr">
            <a:normAutofit/>
          </a:bodyPr>
          <a:lstStyle/>
          <a:p>
            <a:pPr marL="0" indent="0" algn="ctr">
              <a:buNone/>
            </a:pPr>
            <a:r>
              <a:rPr lang="en-US" sz="1400" dirty="0">
                <a:solidFill>
                  <a:srgbClr val="5F6B7A"/>
                </a:solidFill>
                <a:latin typeface="Aptos" pitchFamily="34" charset="0"/>
                <a:ea typeface="Aptos" pitchFamily="34" charset="-122"/>
                <a:cs typeface="Aptos" pitchFamily="34" charset="-120"/>
              </a:rPr>
              <a:t>Customer-visible</a:t>
            </a:r>
            <a:endParaRPr lang="en-US" sz="1400" dirty="0"/>
          </a:p>
          <a:p>
            <a:pPr marL="0" indent="0" algn="ctr">
              <a:buNone/>
            </a:pPr>
            <a:r>
              <a:rPr lang="en-US" sz="1400" dirty="0">
                <a:solidFill>
                  <a:srgbClr val="5F6B7A"/>
                </a:solidFill>
                <a:latin typeface="Aptos" pitchFamily="34" charset="0"/>
                <a:ea typeface="Aptos" pitchFamily="34" charset="-122"/>
                <a:cs typeface="Aptos" pitchFamily="34" charset="-120"/>
              </a:rPr>
              <a:t>503</a:t>
            </a:r>
            <a:endParaRPr lang="en-US" sz="1400" dirty="0"/>
          </a:p>
        </p:txBody>
      </p:sp>
      <p:sp>
        <p:nvSpPr>
          <p:cNvPr id="15" name="Shape 13">
            <a:extLst>
              <a:ext uri="{FF2B5EF4-FFF2-40B4-BE49-F238E27FC236}">
                <a16:creationId xmlns:a16="http://schemas.microsoft.com/office/drawing/2014/main" id="{AF8A4D6A-5C92-85A0-7D8A-B4B1AAC31631}"/>
              </a:ext>
            </a:extLst>
          </p:cNvPr>
          <p:cNvSpPr/>
          <p:nvPr/>
        </p:nvSpPr>
        <p:spPr>
          <a:xfrm>
            <a:off x="6931152" y="2093976"/>
            <a:ext cx="347472" cy="347472"/>
          </a:xfrm>
          <a:prstGeom prst="ellipse">
            <a:avLst/>
          </a:prstGeom>
          <a:solidFill>
            <a:srgbClr val="FFFFFF"/>
          </a:solidFill>
          <a:ln w="25400">
            <a:solidFill>
              <a:srgbClr val="C2414E"/>
            </a:solidFill>
            <a:prstDash val="solid"/>
          </a:ln>
        </p:spPr>
        <p:txBody>
          <a:bodyPr/>
          <a:lstStyle/>
          <a:p>
            <a:endParaRPr lang="en-CA"/>
          </a:p>
        </p:txBody>
      </p:sp>
      <p:sp>
        <p:nvSpPr>
          <p:cNvPr id="16" name="Text 14">
            <a:extLst>
              <a:ext uri="{FF2B5EF4-FFF2-40B4-BE49-F238E27FC236}">
                <a16:creationId xmlns:a16="http://schemas.microsoft.com/office/drawing/2014/main" id="{12447B9E-4B44-5AF5-89A5-B04755927DE9}"/>
              </a:ext>
            </a:extLst>
          </p:cNvPr>
          <p:cNvSpPr/>
          <p:nvPr/>
        </p:nvSpPr>
        <p:spPr>
          <a:xfrm>
            <a:off x="6656832"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6:50pm</a:t>
            </a:r>
            <a:endParaRPr lang="en-US" sz="1500"/>
          </a:p>
        </p:txBody>
      </p:sp>
      <p:sp>
        <p:nvSpPr>
          <p:cNvPr id="17" name="Text 15">
            <a:extLst>
              <a:ext uri="{FF2B5EF4-FFF2-40B4-BE49-F238E27FC236}">
                <a16:creationId xmlns:a16="http://schemas.microsoft.com/office/drawing/2014/main" id="{83D2970E-CE7C-2D2A-ADC0-E4512D6741D7}"/>
              </a:ext>
            </a:extLst>
          </p:cNvPr>
          <p:cNvSpPr/>
          <p:nvPr/>
        </p:nvSpPr>
        <p:spPr>
          <a:xfrm>
            <a:off x="6483096" y="2578608"/>
            <a:ext cx="1243584" cy="713232"/>
          </a:xfrm>
          <a:prstGeom prst="rect">
            <a:avLst/>
          </a:prstGeom>
          <a:noFill/>
          <a:ln/>
        </p:spPr>
        <p:txBody>
          <a:bodyPr wrap="square" lIns="0" tIns="0" rIns="0" bIns="0" rtlCol="0" anchor="ctr">
            <a:normAutofit/>
          </a:bodyPr>
          <a:lstStyle/>
          <a:p>
            <a:pPr marL="0" indent="0" algn="ctr">
              <a:buNone/>
            </a:pPr>
            <a:r>
              <a:rPr lang="en-US" sz="1400">
                <a:solidFill>
                  <a:srgbClr val="5F6B7A"/>
                </a:solidFill>
                <a:latin typeface="Aptos" pitchFamily="34" charset="0"/>
                <a:ea typeface="Aptos" pitchFamily="34" charset="-122"/>
                <a:cs typeface="Aptos" pitchFamily="34" charset="-120"/>
              </a:rPr>
              <a:t>Root cause</a:t>
            </a:r>
            <a:endParaRPr lang="en-US" sz="1400"/>
          </a:p>
          <a:p>
            <a:pPr marL="0" indent="0" algn="ctr">
              <a:buNone/>
            </a:pPr>
            <a:r>
              <a:rPr lang="en-US" sz="1400">
                <a:solidFill>
                  <a:srgbClr val="5F6B7A"/>
                </a:solidFill>
                <a:latin typeface="Aptos" pitchFamily="34" charset="0"/>
                <a:ea typeface="Aptos" pitchFamily="34" charset="-122"/>
                <a:cs typeface="Aptos" pitchFamily="34" charset="-120"/>
              </a:rPr>
              <a:t>identified</a:t>
            </a:r>
            <a:endParaRPr lang="en-US" sz="1400"/>
          </a:p>
        </p:txBody>
      </p:sp>
      <p:sp>
        <p:nvSpPr>
          <p:cNvPr id="18" name="Shape 16">
            <a:extLst>
              <a:ext uri="{FF2B5EF4-FFF2-40B4-BE49-F238E27FC236}">
                <a16:creationId xmlns:a16="http://schemas.microsoft.com/office/drawing/2014/main" id="{3DB86FAE-4C8C-6A69-2332-AA4F2078F703}"/>
              </a:ext>
            </a:extLst>
          </p:cNvPr>
          <p:cNvSpPr/>
          <p:nvPr/>
        </p:nvSpPr>
        <p:spPr>
          <a:xfrm>
            <a:off x="11027664" y="2093976"/>
            <a:ext cx="347472" cy="347472"/>
          </a:xfrm>
          <a:prstGeom prst="ellipse">
            <a:avLst/>
          </a:prstGeom>
          <a:solidFill>
            <a:srgbClr val="FFFFFF"/>
          </a:solidFill>
          <a:ln w="25400">
            <a:solidFill>
              <a:srgbClr val="C2414E"/>
            </a:solidFill>
            <a:prstDash val="solid"/>
          </a:ln>
        </p:spPr>
        <p:txBody>
          <a:bodyPr/>
          <a:lstStyle/>
          <a:p>
            <a:endParaRPr lang="en-CA"/>
          </a:p>
        </p:txBody>
      </p:sp>
      <p:sp>
        <p:nvSpPr>
          <p:cNvPr id="19" name="Text 17">
            <a:extLst>
              <a:ext uri="{FF2B5EF4-FFF2-40B4-BE49-F238E27FC236}">
                <a16:creationId xmlns:a16="http://schemas.microsoft.com/office/drawing/2014/main" id="{ABAD348D-31A2-3DAA-508D-38874B77A6A2}"/>
              </a:ext>
            </a:extLst>
          </p:cNvPr>
          <p:cNvSpPr/>
          <p:nvPr/>
        </p:nvSpPr>
        <p:spPr>
          <a:xfrm>
            <a:off x="10753344"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6:55pm</a:t>
            </a:r>
          </a:p>
        </p:txBody>
      </p:sp>
      <p:sp>
        <p:nvSpPr>
          <p:cNvPr id="20" name="Text 18">
            <a:extLst>
              <a:ext uri="{FF2B5EF4-FFF2-40B4-BE49-F238E27FC236}">
                <a16:creationId xmlns:a16="http://schemas.microsoft.com/office/drawing/2014/main" id="{E351EBB4-EC0B-9FF5-8E3D-66C73F443F1F}"/>
              </a:ext>
            </a:extLst>
          </p:cNvPr>
          <p:cNvSpPr/>
          <p:nvPr/>
        </p:nvSpPr>
        <p:spPr>
          <a:xfrm>
            <a:off x="10579608" y="2578608"/>
            <a:ext cx="1243584" cy="713232"/>
          </a:xfrm>
          <a:prstGeom prst="rect">
            <a:avLst/>
          </a:prstGeom>
          <a:noFill/>
          <a:ln/>
        </p:spPr>
        <p:txBody>
          <a:bodyPr wrap="square" lIns="0" tIns="0" rIns="0" bIns="0" rtlCol="0" anchor="ctr">
            <a:normAutofit/>
          </a:bodyPr>
          <a:lstStyle/>
          <a:p>
            <a:pPr marL="0" indent="0" algn="ctr">
              <a:buNone/>
            </a:pPr>
            <a:r>
              <a:rPr lang="en-US" sz="1200">
                <a:solidFill>
                  <a:srgbClr val="5F6B7A"/>
                </a:solidFill>
                <a:latin typeface="Aptos" pitchFamily="34" charset="0"/>
                <a:ea typeface="Aptos" pitchFamily="34" charset="-122"/>
                <a:cs typeface="Aptos" pitchFamily="34" charset="-120"/>
              </a:rPr>
              <a:t>Production</a:t>
            </a:r>
            <a:endParaRPr lang="en-US" sz="1200"/>
          </a:p>
          <a:p>
            <a:pPr marL="0" indent="0" algn="ctr">
              <a:buNone/>
            </a:pPr>
            <a:r>
              <a:rPr lang="en-US" sz="1200">
                <a:solidFill>
                  <a:srgbClr val="5F6B7A"/>
                </a:solidFill>
                <a:latin typeface="Aptos" pitchFamily="34" charset="0"/>
                <a:ea typeface="Aptos" pitchFamily="34" charset="-122"/>
                <a:cs typeface="Aptos" pitchFamily="34" charset="-120"/>
              </a:rPr>
              <a:t>restored</a:t>
            </a:r>
            <a:endParaRPr lang="en-US" sz="1200"/>
          </a:p>
        </p:txBody>
      </p:sp>
      <p:sp>
        <p:nvSpPr>
          <p:cNvPr id="30" name="Slide Number Placeholder 0">
            <a:extLst>
              <a:ext uri="{FF2B5EF4-FFF2-40B4-BE49-F238E27FC236}">
                <a16:creationId xmlns:a16="http://schemas.microsoft.com/office/drawing/2014/main" id="{A9B7B17E-6A6D-4575-2594-8194B7420FAB}"/>
              </a:ext>
            </a:extLst>
          </p:cNvPr>
          <p:cNvSpPr>
            <a:spLocks noGrp="1"/>
          </p:cNvSpPr>
          <p:nvPr>
            <p:ph type="sldNum" sz="quarter" idx="4294967295"/>
          </p:nvPr>
        </p:nvSpPr>
        <p:spPr>
          <a:xfrm>
            <a:off x="11731752" y="6428232"/>
            <a:ext cx="201168" cy="201168"/>
          </a:xfrm>
          <a:prstGeom prst="rect">
            <a:avLst/>
          </a:prstGeom>
          <a:extLst>
            <a:ext uri="{C572A759-6A51-4108-AA02-DFA0A04FC94B}">
              <ma14:wrappingTextBoxFlag xmlns="" xmlns:ma14="http://schemas.microsoft.com/office/mac/drawingml/2011/main"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2</a:t>
            </a:r>
            <a:endParaRPr lang="en-US"/>
          </a:p>
        </p:txBody>
      </p:sp>
      <p:grpSp>
        <p:nvGrpSpPr>
          <p:cNvPr id="37" name="Group 36">
            <a:extLst>
              <a:ext uri="{FF2B5EF4-FFF2-40B4-BE49-F238E27FC236}">
                <a16:creationId xmlns:a16="http://schemas.microsoft.com/office/drawing/2014/main" id="{ECDC174A-9CCA-A3A3-D55F-7A32C3B97A00}"/>
              </a:ext>
            </a:extLst>
          </p:cNvPr>
          <p:cNvGrpSpPr/>
          <p:nvPr/>
        </p:nvGrpSpPr>
        <p:grpSpPr>
          <a:xfrm>
            <a:off x="548640" y="5533094"/>
            <a:ext cx="7179245" cy="713231"/>
            <a:chOff x="367127" y="5276088"/>
            <a:chExt cx="7272373" cy="713231"/>
          </a:xfrm>
        </p:grpSpPr>
        <p:sp>
          <p:nvSpPr>
            <p:cNvPr id="4" name="Text 2">
              <a:extLst>
                <a:ext uri="{FF2B5EF4-FFF2-40B4-BE49-F238E27FC236}">
                  <a16:creationId xmlns:a16="http://schemas.microsoft.com/office/drawing/2014/main" id="{85C0D1E5-E2A2-5C00-2670-9C34E1DF2E79}"/>
                </a:ext>
              </a:extLst>
            </p:cNvPr>
            <p:cNvSpPr/>
            <p:nvPr/>
          </p:nvSpPr>
          <p:spPr>
            <a:xfrm>
              <a:off x="599913" y="5276088"/>
              <a:ext cx="7039587" cy="713231"/>
            </a:xfrm>
            <a:prstGeom prst="rect">
              <a:avLst/>
            </a:prstGeom>
            <a:noFill/>
            <a:ln/>
          </p:spPr>
          <p:txBody>
            <a:bodyPr wrap="square" lIns="0" tIns="0" rIns="0" bIns="0" rtlCol="0" anchor="ctr"/>
            <a:lstStyle/>
            <a:p>
              <a:r>
                <a:rPr lang="en-CA" sz="2000" i="1" dirty="0">
                  <a:latin typeface="+mj-lt"/>
                </a:rPr>
                <a:t>Automation amplifies both delivery speed and failure speed </a:t>
              </a:r>
              <a:endParaRPr lang="en-US" sz="2000" i="1" dirty="0">
                <a:latin typeface="+mj-lt"/>
              </a:endParaRPr>
            </a:p>
          </p:txBody>
        </p:sp>
        <p:sp>
          <p:nvSpPr>
            <p:cNvPr id="36" name="Shape 20">
              <a:extLst>
                <a:ext uri="{FF2B5EF4-FFF2-40B4-BE49-F238E27FC236}">
                  <a16:creationId xmlns:a16="http://schemas.microsoft.com/office/drawing/2014/main" id="{E6272D14-7294-B092-9169-D0D5C60D4F9B}"/>
                </a:ext>
              </a:extLst>
            </p:cNvPr>
            <p:cNvSpPr/>
            <p:nvPr/>
          </p:nvSpPr>
          <p:spPr>
            <a:xfrm>
              <a:off x="367127" y="5315502"/>
              <a:ext cx="64008" cy="658368"/>
            </a:xfrm>
            <a:prstGeom prst="rect">
              <a:avLst/>
            </a:prstGeom>
            <a:solidFill>
              <a:srgbClr val="0F766E"/>
            </a:solidFill>
            <a:ln w="12700">
              <a:solidFill>
                <a:srgbClr val="0F766E"/>
              </a:solidFill>
              <a:prstDash val="solid"/>
            </a:ln>
          </p:spPr>
          <p:txBody>
            <a:bodyPr/>
            <a:lstStyle/>
            <a:p>
              <a:endParaRPr lang="en-CA"/>
            </a:p>
          </p:txBody>
        </p:sp>
      </p:grpSp>
      <p:sp>
        <p:nvSpPr>
          <p:cNvPr id="38" name="6:52 node">
            <a:extLst>
              <a:ext uri="{FF2B5EF4-FFF2-40B4-BE49-F238E27FC236}">
                <a16:creationId xmlns:a16="http://schemas.microsoft.com/office/drawing/2014/main" id="{3DB86FAE-4C8C-6A69-2332-AA4F2078F703}"/>
              </a:ext>
            </a:extLst>
          </p:cNvPr>
          <p:cNvSpPr/>
          <p:nvPr/>
        </p:nvSpPr>
        <p:spPr>
          <a:xfrm>
            <a:off x="8979408" y="2093976"/>
            <a:ext cx="347472" cy="347472"/>
          </a:xfrm>
          <a:prstGeom prst="ellipse">
            <a:avLst/>
          </a:prstGeom>
          <a:solidFill>
            <a:srgbClr val="FFFFFF"/>
          </a:solidFill>
          <a:ln w="25400">
            <a:solidFill>
              <a:srgbClr val="C2414E"/>
            </a:solidFill>
            <a:prstDash val="solid"/>
          </a:ln>
        </p:spPr>
        <p:txBody>
          <a:bodyPr/>
          <a:lstStyle/>
          <a:p>
            <a:endParaRPr lang="en-CA"/>
          </a:p>
        </p:txBody>
      </p:sp>
      <p:sp>
        <p:nvSpPr>
          <p:cNvPr id="39" name="6:52 time">
            <a:extLst>
              <a:ext uri="{FF2B5EF4-FFF2-40B4-BE49-F238E27FC236}">
                <a16:creationId xmlns:a16="http://schemas.microsoft.com/office/drawing/2014/main" id="{ABAD348D-31A2-3DAA-508D-38874B77A6A2}"/>
              </a:ext>
            </a:extLst>
          </p:cNvPr>
          <p:cNvSpPr/>
          <p:nvPr/>
        </p:nvSpPr>
        <p:spPr>
          <a:xfrm>
            <a:off x="8705088" y="1508760"/>
            <a:ext cx="896112" cy="274320"/>
          </a:xfrm>
          <a:prstGeom prst="rect">
            <a:avLst/>
          </a:prstGeom>
          <a:noFill/>
          <a:ln/>
        </p:spPr>
        <p:txBody>
          <a:bodyPr wrap="square" lIns="0" tIns="0" rIns="0" bIns="0" rtlCol="0" anchor="ctr"/>
          <a:lstStyle/>
          <a:p>
            <a:pPr marL="0" indent="0" algn="ctr">
              <a:buNone/>
            </a:pPr>
            <a:r>
              <a:rPr lang="en-US" sz="1500" b="1">
                <a:solidFill>
                  <a:srgbClr val="172033"/>
                </a:solidFill>
                <a:latin typeface="Consolas" pitchFamily="34" charset="0"/>
                <a:ea typeface="Consolas" pitchFamily="34" charset="-122"/>
                <a:cs typeface="Consolas" pitchFamily="34" charset="-120"/>
              </a:rPr>
              <a:t>6:52pm</a:t>
            </a:r>
          </a:p>
        </p:txBody>
      </p:sp>
      <p:sp>
        <p:nvSpPr>
          <p:cNvPr id="40" name="6:52 caption">
            <a:extLst>
              <a:ext uri="{FF2B5EF4-FFF2-40B4-BE49-F238E27FC236}">
                <a16:creationId xmlns:a16="http://schemas.microsoft.com/office/drawing/2014/main" id="{E351EBB4-EC0B-9FF5-8E3D-66C73F443F1F}"/>
              </a:ext>
            </a:extLst>
          </p:cNvPr>
          <p:cNvSpPr/>
          <p:nvPr/>
        </p:nvSpPr>
        <p:spPr>
          <a:xfrm>
            <a:off x="8531352" y="2578608"/>
            <a:ext cx="1243584" cy="713232"/>
          </a:xfrm>
          <a:prstGeom prst="rect">
            <a:avLst/>
          </a:prstGeom>
          <a:noFill/>
          <a:ln/>
        </p:spPr>
        <p:txBody>
          <a:bodyPr wrap="square" lIns="0" tIns="0" rIns="0" bIns="0" rtlCol="0" anchor="ctr">
            <a:normAutofit/>
          </a:bodyPr>
          <a:lstStyle/>
          <a:p>
            <a:pPr marL="0" indent="0" algn="ctr">
              <a:buNone/>
            </a:pPr>
            <a:r>
              <a:rPr lang="en-US" sz="1200">
                <a:solidFill>
                  <a:srgbClr val="5F6B7A"/>
                </a:solidFill>
                <a:latin typeface="Aptos" pitchFamily="34" charset="0"/>
                <a:ea typeface="Aptos" pitchFamily="34" charset="-122"/>
                <a:cs typeface="Aptos" pitchFamily="34" charset="-120"/>
              </a:rPr>
              <a:t>Configuration fixed</a:t>
            </a:r>
            <a:endParaRPr lang="en-US" sz="1200" dirty="0"/>
          </a:p>
          <a:p>
            <a:pPr marL="0" indent="0" algn="ctr">
              <a:buNone/>
            </a:pPr>
            <a:r>
              <a:rPr lang="en-US" sz="1200">
                <a:solidFill>
                  <a:srgbClr val="5F6B7A"/>
                </a:solidFill>
                <a:latin typeface="Aptos" pitchFamily="34" charset="0"/>
                <a:ea typeface="Aptos" pitchFamily="34" charset="-122"/>
                <a:cs typeface="Aptos" pitchFamily="34" charset="-120"/>
              </a:rPr>
              <a:t>and verified</a:t>
            </a:r>
            <a:endParaRPr lang="en-US" sz="1200" dirty="0"/>
          </a:p>
        </p:txBody>
      </p:sp>
      <p:sp>
        <p:nvSpPr>
          <p:cNvPr id="41" name="Horizontal cause 22">
            <a:extLst>
              <a:ext uri="{FF2B5EF4-FFF2-40B4-BE49-F238E27FC236}">
                <a16:creationId xmlns:a16="http://schemas.microsoft.com/office/drawing/2014/main" id="{1D4B1B35-B865-F567-142E-6052F24779A5}"/>
              </a:ext>
            </a:extLst>
          </p:cNvPr>
          <p:cNvSpPr/>
          <p:nvPr/>
        </p:nvSpPr>
        <p:spPr>
          <a:xfrm>
            <a:off x="1280160" y="3922776"/>
            <a:ext cx="4480560" cy="201168"/>
          </a:xfrm>
          <a:prstGeom prst="rect">
            <a:avLst/>
          </a:prstGeom>
          <a:noFill/>
          <a:ln/>
        </p:spPr>
        <p:txBody>
          <a:bodyPr wrap="square" lIns="0" tIns="0" rIns="0" bIns="0" rtlCol="0" anchor="ctr"/>
          <a:lstStyle/>
          <a:p>
            <a:pPr marL="0" indent="0" algn="l">
              <a:buNone/>
            </a:pPr>
            <a:r>
              <a:rPr lang="en-US" sz="1000" kern="0" spc="110" dirty="0">
                <a:solidFill>
                  <a:srgbClr val="C2414E"/>
                </a:solidFill>
                <a:latin typeface="Aptos SemiBold" pitchFamily="34" charset="0"/>
                <a:ea typeface="Aptos SemiBold" pitchFamily="34" charset="-122"/>
                <a:cs typeface="Aptos SemiBold" pitchFamily="34" charset="-120"/>
              </a:rPr>
              <a:t>ROOT CAUSE</a:t>
            </a:r>
            <a:endParaRPr lang="en-US" sz="900" dirty="0"/>
          </a:p>
        </p:txBody>
      </p:sp>
      <p:sp>
        <p:nvSpPr>
          <p:cNvPr id="42" name="Horizontal cause 23">
            <a:extLst>
              <a:ext uri="{FF2B5EF4-FFF2-40B4-BE49-F238E27FC236}">
                <a16:creationId xmlns:a16="http://schemas.microsoft.com/office/drawing/2014/main" id="{5AD36785-4411-575F-5410-DC03E79607E5}"/>
              </a:ext>
            </a:extLst>
          </p:cNvPr>
          <p:cNvSpPr/>
          <p:nvPr/>
        </p:nvSpPr>
        <p:spPr>
          <a:xfrm>
            <a:off x="713232" y="4370832"/>
            <a:ext cx="4800600" cy="640080"/>
          </a:xfrm>
          <a:prstGeom prst="rect">
            <a:avLst/>
          </a:prstGeom>
          <a:noFill/>
          <a:ln/>
        </p:spPr>
        <p:txBody>
          <a:bodyPr wrap="square" lIns="0" tIns="0" rIns="0" bIns="0" rtlCol="0" anchor="ctr">
            <a:normAutofit/>
          </a:bodyPr>
          <a:lstStyle/>
          <a:p>
            <a:pPr marL="0" indent="0" algn="l">
              <a:buNone/>
            </a:pPr>
            <a:r>
              <a:rPr lang="en-US" sz="1600" dirty="0">
                <a:solidFill>
                  <a:srgbClr val="172033"/>
                </a:solidFill>
                <a:latin typeface="Aptos" panose="020B0502040204020203" pitchFamily="34" charset="0"/>
                <a:ea typeface="Aptos SemiBold" pitchFamily="34" charset="-122"/>
                <a:cs typeface="Aptos" panose="020B0502040204020203" pitchFamily="34" charset="0"/>
              </a:rPr>
              <a:t>A collection-replacement operation wrote one setting and removed the rest.</a:t>
            </a:r>
            <a:endParaRPr lang="en-US" sz="1600" dirty="0">
              <a:latin typeface="Aptos" panose="020B0502040204020203" pitchFamily="34" charset="0"/>
              <a:cs typeface="Aptos" panose="020B0502040204020203" pitchFamily="34" charset="0"/>
            </a:endParaRPr>
          </a:p>
        </p:txBody>
      </p:sp>
      <p:sp>
        <p:nvSpPr>
          <p:cNvPr id="43" name="Horizontal cause 24">
            <a:extLst>
              <a:ext uri="{FF2B5EF4-FFF2-40B4-BE49-F238E27FC236}">
                <a16:creationId xmlns:a16="http://schemas.microsoft.com/office/drawing/2014/main" id="{074D8C21-EAC8-1066-D4F3-56FE64F99070}"/>
              </a:ext>
            </a:extLst>
          </p:cNvPr>
          <p:cNvSpPr/>
          <p:nvPr/>
        </p:nvSpPr>
        <p:spPr>
          <a:xfrm>
            <a:off x="7077456" y="3922776"/>
            <a:ext cx="4206240" cy="201168"/>
          </a:xfrm>
          <a:prstGeom prst="rect">
            <a:avLst/>
          </a:prstGeom>
          <a:noFill/>
          <a:ln/>
        </p:spPr>
        <p:txBody>
          <a:bodyPr wrap="square" lIns="0" tIns="0" rIns="0" bIns="0" rtlCol="0" anchor="ctr"/>
          <a:lstStyle/>
          <a:p>
            <a:pPr marL="0" indent="0" algn="l">
              <a:buNone/>
            </a:pPr>
            <a:r>
              <a:rPr lang="en-US" sz="1000" kern="0" spc="110">
                <a:solidFill>
                  <a:srgbClr val="C2414E"/>
                </a:solidFill>
                <a:latin typeface="Aptos SemiBold" pitchFamily="34" charset="0"/>
                <a:ea typeface="Aptos SemiBold" pitchFamily="34" charset="-122"/>
                <a:cs typeface="Aptos SemiBold" pitchFamily="34" charset="-120"/>
              </a:rPr>
              <a:t>WHY IT HID</a:t>
            </a:r>
            <a:endParaRPr lang="en-US" sz="900"/>
          </a:p>
        </p:txBody>
      </p:sp>
      <p:sp>
        <p:nvSpPr>
          <p:cNvPr id="44" name="Horizontal cause 25">
            <a:extLst>
              <a:ext uri="{FF2B5EF4-FFF2-40B4-BE49-F238E27FC236}">
                <a16:creationId xmlns:a16="http://schemas.microsoft.com/office/drawing/2014/main" id="{EB9B5DB1-3592-DD74-4540-0240839D6C70}"/>
              </a:ext>
            </a:extLst>
          </p:cNvPr>
          <p:cNvSpPr/>
          <p:nvPr/>
        </p:nvSpPr>
        <p:spPr>
          <a:xfrm>
            <a:off x="6510528" y="4370832"/>
            <a:ext cx="4937760" cy="640080"/>
          </a:xfrm>
          <a:prstGeom prst="rect">
            <a:avLst/>
          </a:prstGeom>
          <a:noFill/>
          <a:ln/>
        </p:spPr>
        <p:txBody>
          <a:bodyPr wrap="square" lIns="0" tIns="0" rIns="0" bIns="0" rtlCol="0" anchor="ctr">
            <a:normAutofit/>
          </a:bodyPr>
          <a:lstStyle/>
          <a:p>
            <a:pPr marL="0" indent="0" algn="l">
              <a:buNone/>
            </a:pPr>
            <a:r>
              <a:rPr lang="en-US" sz="1600">
                <a:solidFill>
                  <a:srgbClr val="172033"/>
                </a:solidFill>
                <a:latin typeface="Aptos" pitchFamily="34" charset="0"/>
                <a:ea typeface="Aptos" pitchFamily="34" charset="-122"/>
                <a:cs typeface="Aptos" pitchFamily="34" charset="-120"/>
              </a:rPr>
              <a:t>The old worker stayed healthy until restart. The new worker could not boot.</a:t>
            </a:r>
            <a:endParaRPr lang="en-US" sz="1400" dirty="0"/>
          </a:p>
        </p:txBody>
      </p:sp>
      <p:sp>
        <p:nvSpPr>
          <p:cNvPr id="45" name="Horizontal cause 27">
            <a:extLst>
              <a:ext uri="{FF2B5EF4-FFF2-40B4-BE49-F238E27FC236}">
                <a16:creationId xmlns:a16="http://schemas.microsoft.com/office/drawing/2014/main" id="{3295EC28-DC1B-C2E8-F706-38496818DD9E}"/>
              </a:ext>
            </a:extLst>
          </p:cNvPr>
          <p:cNvSpPr/>
          <p:nvPr/>
        </p:nvSpPr>
        <p:spPr>
          <a:xfrm>
            <a:off x="713232" y="5056632"/>
            <a:ext cx="2926080" cy="201168"/>
          </a:xfrm>
          <a:prstGeom prst="rect">
            <a:avLst/>
          </a:prstGeom>
          <a:noFill/>
          <a:ln/>
        </p:spPr>
        <p:txBody>
          <a:bodyPr wrap="square" lIns="0" tIns="0" rIns="0" bIns="0" rtlCol="0" anchor="ctr">
            <a:noAutofit/>
          </a:bodyPr>
          <a:lstStyle/>
          <a:p>
            <a:pPr marL="0" indent="0" algn="l">
              <a:buNone/>
            </a:pPr>
            <a:r>
              <a:rPr lang="en-US" sz="1400">
                <a:solidFill>
                  <a:srgbClr val="C2414E"/>
                </a:solidFill>
                <a:latin typeface="Aptos SemiBold" pitchFamily="34" charset="0"/>
                <a:ea typeface="Aptos SemiBold" pitchFamily="34" charset="-122"/>
                <a:cs typeface="Aptos SemiBold" pitchFamily="34" charset="-120"/>
              </a:rPr>
              <a:t>16 min change → recovery</a:t>
            </a:r>
            <a:endParaRPr lang="en-US" sz="1400" dirty="0"/>
          </a:p>
        </p:txBody>
      </p:sp>
      <p:sp>
        <p:nvSpPr>
          <p:cNvPr id="46" name="Horizontal cause 29">
            <a:extLst>
              <a:ext uri="{FF2B5EF4-FFF2-40B4-BE49-F238E27FC236}">
                <a16:creationId xmlns:a16="http://schemas.microsoft.com/office/drawing/2014/main" id="{6C00135F-8946-CBB7-3F7B-9E248B7A3862}"/>
              </a:ext>
            </a:extLst>
          </p:cNvPr>
          <p:cNvSpPr/>
          <p:nvPr/>
        </p:nvSpPr>
        <p:spPr>
          <a:xfrm>
            <a:off x="6510528" y="5056632"/>
            <a:ext cx="2926080" cy="201168"/>
          </a:xfrm>
          <a:prstGeom prst="rect">
            <a:avLst/>
          </a:prstGeom>
          <a:noFill/>
          <a:ln/>
        </p:spPr>
        <p:txBody>
          <a:bodyPr wrap="square" lIns="0" tIns="0" rIns="0" bIns="0" rtlCol="0" anchor="ctr">
            <a:noAutofit/>
          </a:bodyPr>
          <a:lstStyle/>
          <a:p>
            <a:pPr marL="0" indent="0" algn="l">
              <a:buNone/>
            </a:pPr>
            <a:r>
              <a:rPr lang="en-US" sz="1400">
                <a:solidFill>
                  <a:srgbClr val="C2414E"/>
                </a:solidFill>
                <a:latin typeface="Aptos SemiBold" pitchFamily="34" charset="0"/>
                <a:ea typeface="Aptos SemiBold" pitchFamily="34" charset="-122"/>
                <a:cs typeface="Aptos SemiBold" pitchFamily="34" charset="-120"/>
              </a:rPr>
              <a:t>~9 min observed 503</a:t>
            </a:r>
            <a:endParaRPr lang="en-US" sz="1400" dirty="0"/>
          </a:p>
        </p:txBody>
      </p:sp>
      <p:sp>
        <p:nvSpPr>
          <p:cNvPr id="47" name="Root cause step 1"/>
          <p:cNvSpPr/>
          <p:nvPr/>
        </p:nvSpPr>
        <p:spPr>
          <a:xfrm>
            <a:off x="713232" y="3822191"/>
            <a:ext cx="420624" cy="420624"/>
          </a:xfrm>
          <a:prstGeom prst="roundRect">
            <a:avLst>
              <a:gd name="adj" fmla="val 20000"/>
            </a:avLst>
          </a:prstGeom>
          <a:solidFill>
            <a:srgbClr val="C2414E"/>
          </a:solidFill>
          <a:ln w="12700">
            <a:solidFill>
              <a:srgbClr val="C2414E"/>
            </a:solidFill>
            <a:prstDash val="solid"/>
          </a:ln>
        </p:spPr>
        <p:txBody>
          <a:bodyPr wrap="none" anchor="ctr"/>
          <a:lstStyle/>
          <a:p>
            <a:pPr algn="ctr"/>
            <a:r>
              <a:rPr lang="en-CA" sz="2000" b="1" dirty="0">
                <a:solidFill>
                  <a:srgbClr val="FFFFFF"/>
                </a:solidFill>
                <a:latin typeface="Aptos SemiBold"/>
              </a:rPr>
              <a:t>1</a:t>
            </a:r>
          </a:p>
        </p:txBody>
      </p:sp>
      <p:sp>
        <p:nvSpPr>
          <p:cNvPr id="48" name="Why it hid step 2"/>
          <p:cNvSpPr/>
          <p:nvPr/>
        </p:nvSpPr>
        <p:spPr>
          <a:xfrm>
            <a:off x="6510528" y="3822191"/>
            <a:ext cx="420624" cy="420624"/>
          </a:xfrm>
          <a:prstGeom prst="roundRect">
            <a:avLst>
              <a:gd name="adj" fmla="val 20000"/>
            </a:avLst>
          </a:prstGeom>
          <a:solidFill>
            <a:srgbClr val="C2414E"/>
          </a:solidFill>
          <a:ln w="12700">
            <a:solidFill>
              <a:srgbClr val="C2414E"/>
            </a:solidFill>
            <a:prstDash val="solid"/>
          </a:ln>
        </p:spPr>
        <p:txBody>
          <a:bodyPr wrap="none" anchor="ctr"/>
          <a:lstStyle/>
          <a:p>
            <a:pPr algn="ctr"/>
            <a:r>
              <a:rPr lang="en-CA" sz="2000" b="1">
                <a:solidFill>
                  <a:srgbClr val="FFFFFF"/>
                </a:solidFill>
                <a:latin typeface="Aptos SemiBold"/>
              </a:rPr>
              <a:t>2</a:t>
            </a:r>
          </a:p>
        </p:txBody>
      </p:sp>
      <p:sp>
        <p:nvSpPr>
          <p:cNvPr id="49" name="Cause progression arrow"/>
          <p:cNvSpPr/>
          <p:nvPr/>
        </p:nvSpPr>
        <p:spPr>
          <a:xfrm>
            <a:off x="5870448" y="4443984"/>
            <a:ext cx="384048" cy="292608"/>
          </a:xfrm>
          <a:prstGeom prst="chevron">
            <a:avLst/>
          </a:prstGeom>
          <a:solidFill>
            <a:srgbClr val="C24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6">
            <a:extLst>
              <a:ext uri="{FF2B5EF4-FFF2-40B4-BE49-F238E27FC236}">
                <a16:creationId xmlns:a16="http://schemas.microsoft.com/office/drawing/2014/main" id="{8C7F79A0-02BF-14BF-91CF-C344288F6BC2}"/>
              </a:ext>
            </a:extLst>
          </p:cNvPr>
          <p:cNvSpPr/>
          <p:nvPr/>
        </p:nvSpPr>
        <p:spPr>
          <a:xfrm>
            <a:off x="338331" y="2551908"/>
            <a:ext cx="1243584" cy="713232"/>
          </a:xfrm>
          <a:prstGeom prst="rect">
            <a:avLst/>
          </a:prstGeom>
          <a:noFill/>
          <a:ln/>
        </p:spPr>
        <p:txBody>
          <a:bodyPr wrap="square" lIns="0" tIns="0" rIns="0" bIns="0" rtlCol="0" anchor="ctr">
            <a:normAutofit/>
          </a:bodyPr>
          <a:lstStyle/>
          <a:p>
            <a:pPr marL="0" indent="0" algn="ctr">
              <a:buNone/>
            </a:pPr>
            <a:r>
              <a:rPr lang="en-US" b="1" dirty="0">
                <a:solidFill>
                  <a:schemeClr val="accent2"/>
                </a:solidFill>
                <a:latin typeface="Aptos" pitchFamily="34" charset="0"/>
                <a:ea typeface="Aptos" pitchFamily="34" charset="-122"/>
                <a:cs typeface="Aptos" pitchFamily="34" charset="-120"/>
              </a:rPr>
              <a:t>I approved</a:t>
            </a:r>
            <a:endParaRPr lang="en-US" b="1" dirty="0">
              <a:solidFill>
                <a:schemeClr val="accent2"/>
              </a:solidFill>
            </a:endParaRPr>
          </a:p>
          <a:p>
            <a:pPr marL="0" indent="0" algn="ctr">
              <a:buNone/>
            </a:pPr>
            <a:r>
              <a:rPr lang="en-US" sz="1400" dirty="0">
                <a:solidFill>
                  <a:srgbClr val="5F6B7A"/>
                </a:solidFill>
                <a:latin typeface="Aptos" pitchFamily="34" charset="0"/>
                <a:ea typeface="Aptos" pitchFamily="34" charset="-122"/>
                <a:cs typeface="Aptos" pitchFamily="34" charset="-120"/>
              </a:rPr>
              <a:t>a change</a:t>
            </a:r>
            <a:endParaRPr lang="en-US" sz="1400" dirty="0"/>
          </a:p>
        </p:txBody>
      </p:sp>
    </p:spTree>
    <p:extLst>
      <p:ext uri="{BB962C8B-B14F-4D97-AF65-F5344CB8AC3E}">
        <p14:creationId xmlns:p14="http://schemas.microsoft.com/office/powerpoint/2010/main" val="383671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xit" presetSubtype="0" fill="hold" grpId="0"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REFRAME THE GOAL</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SemiBold" pitchFamily="34" charset="0"/>
                <a:ea typeface="Aptos SemiBold" pitchFamily="34" charset="-122"/>
                <a:cs typeface="Aptos SemiBold" pitchFamily="34" charset="-120"/>
              </a:rPr>
              <a:t>Hypervelocity is not code velocity</a:t>
            </a:r>
            <a:endParaRPr lang="en-US" sz="2800" dirty="0"/>
          </a:p>
        </p:txBody>
      </p:sp>
      <p:sp>
        <p:nvSpPr>
          <p:cNvPr id="4" name="Shape 2"/>
          <p:cNvSpPr/>
          <p:nvPr/>
        </p:nvSpPr>
        <p:spPr>
          <a:xfrm>
            <a:off x="621792" y="1353312"/>
            <a:ext cx="4407408" cy="4133088"/>
          </a:xfrm>
          <a:prstGeom prst="roundRect">
            <a:avLst>
              <a:gd name="adj" fmla="val 1770"/>
            </a:avLst>
          </a:prstGeom>
          <a:solidFill>
            <a:srgbClr val="F1F3F6"/>
          </a:solidFill>
          <a:ln w="12700">
            <a:solidFill>
              <a:srgbClr val="E2E6EC"/>
            </a:solidFill>
            <a:prstDash val="solid"/>
          </a:ln>
        </p:spPr>
        <p:txBody>
          <a:bodyPr/>
          <a:lstStyle/>
          <a:p>
            <a:endParaRPr lang="en-CA"/>
          </a:p>
        </p:txBody>
      </p:sp>
      <p:sp>
        <p:nvSpPr>
          <p:cNvPr id="5" name="Text 3"/>
          <p:cNvSpPr/>
          <p:nvPr/>
        </p:nvSpPr>
        <p:spPr>
          <a:xfrm>
            <a:off x="932688" y="1691640"/>
            <a:ext cx="3200400" cy="201168"/>
          </a:xfrm>
          <a:prstGeom prst="rect">
            <a:avLst/>
          </a:prstGeom>
          <a:noFill/>
          <a:ln/>
        </p:spPr>
        <p:txBody>
          <a:bodyPr wrap="square" lIns="0" tIns="0" rIns="0" bIns="0" rtlCol="0" anchor="ctr"/>
          <a:lstStyle/>
          <a:p>
            <a:pPr marL="0" indent="0">
              <a:buNone/>
            </a:pPr>
            <a:r>
              <a:rPr lang="en-US" sz="900" kern="0" spc="110">
                <a:solidFill>
                  <a:srgbClr val="5F6B7A"/>
                </a:solidFill>
                <a:latin typeface="Aptos SemiBold" pitchFamily="34" charset="0"/>
                <a:ea typeface="Aptos SemiBold" pitchFamily="34" charset="-122"/>
                <a:cs typeface="Aptos SemiBold" pitchFamily="34" charset="-120"/>
              </a:rPr>
              <a:t>THE TEMPTING METRIC</a:t>
            </a:r>
            <a:endParaRPr lang="en-US" sz="900" dirty="0"/>
          </a:p>
        </p:txBody>
      </p:sp>
      <p:sp>
        <p:nvSpPr>
          <p:cNvPr id="6" name="Text 4"/>
          <p:cNvSpPr/>
          <p:nvPr/>
        </p:nvSpPr>
        <p:spPr>
          <a:xfrm>
            <a:off x="932688" y="2139696"/>
            <a:ext cx="3474720" cy="566928"/>
          </a:xfrm>
          <a:prstGeom prst="rect">
            <a:avLst/>
          </a:prstGeom>
          <a:noFill/>
          <a:ln/>
        </p:spPr>
        <p:txBody>
          <a:bodyPr wrap="square" lIns="0" tIns="0" rIns="0" bIns="0" rtlCol="0" anchor="ctr"/>
          <a:lstStyle/>
          <a:p>
            <a:pPr marL="0" indent="0">
              <a:buNone/>
            </a:pPr>
            <a:r>
              <a:rPr lang="en-US" sz="2400">
                <a:solidFill>
                  <a:srgbClr val="334155"/>
                </a:solidFill>
                <a:latin typeface="Aptos SemiBold" pitchFamily="34" charset="0"/>
                <a:ea typeface="Aptos SemiBold" pitchFamily="34" charset="-122"/>
                <a:cs typeface="Aptos SemiBold" pitchFamily="34" charset="-120"/>
              </a:rPr>
              <a:t>Prompt → code</a:t>
            </a:r>
            <a:endParaRPr lang="en-US" sz="2400" dirty="0"/>
          </a:p>
        </p:txBody>
      </p:sp>
      <p:sp>
        <p:nvSpPr>
          <p:cNvPr id="7" name="Text 5"/>
          <p:cNvSpPr/>
          <p:nvPr/>
        </p:nvSpPr>
        <p:spPr>
          <a:xfrm>
            <a:off x="932688" y="2944368"/>
            <a:ext cx="3520440" cy="1170432"/>
          </a:xfrm>
          <a:prstGeom prst="rect">
            <a:avLst/>
          </a:prstGeom>
          <a:noFill/>
          <a:ln/>
        </p:spPr>
        <p:txBody>
          <a:bodyPr wrap="square" lIns="0" tIns="0" rIns="0" bIns="0" rtlCol="0" anchor="ctr">
            <a:normAutofit/>
          </a:bodyPr>
          <a:lstStyle/>
          <a:p>
            <a:pPr marL="0" indent="0">
              <a:buNone/>
            </a:pPr>
            <a:r>
              <a:rPr lang="en-US" sz="1800">
                <a:solidFill>
                  <a:srgbClr val="5F6B7A"/>
                </a:solidFill>
                <a:latin typeface="Aptos" pitchFamily="34" charset="0"/>
                <a:ea typeface="Aptos" pitchFamily="34" charset="-122"/>
                <a:cs typeface="Aptos" pitchFamily="34" charset="-120"/>
              </a:rPr>
              <a:t>Fast generation can simply move work downstream into review, testing, integration, deployment, and recovery.</a:t>
            </a:r>
            <a:endParaRPr lang="en-US" sz="1800" dirty="0"/>
          </a:p>
        </p:txBody>
      </p:sp>
      <p:grpSp>
        <p:nvGrpSpPr>
          <p:cNvPr id="28" name="Group 27">
            <a:extLst>
              <a:ext uri="{FF2B5EF4-FFF2-40B4-BE49-F238E27FC236}">
                <a16:creationId xmlns:a16="http://schemas.microsoft.com/office/drawing/2014/main" id="{4AD1E9D8-479E-7FC3-E585-D272ABBABC3C}"/>
              </a:ext>
            </a:extLst>
          </p:cNvPr>
          <p:cNvGrpSpPr/>
          <p:nvPr/>
        </p:nvGrpSpPr>
        <p:grpSpPr>
          <a:xfrm>
            <a:off x="3234944" y="4903216"/>
            <a:ext cx="1600200" cy="347472"/>
            <a:chOff x="941832" y="4645152"/>
            <a:chExt cx="1600200" cy="347472"/>
          </a:xfrm>
        </p:grpSpPr>
        <p:sp>
          <p:nvSpPr>
            <p:cNvPr id="8" name="Shape 6"/>
            <p:cNvSpPr/>
            <p:nvPr/>
          </p:nvSpPr>
          <p:spPr>
            <a:xfrm>
              <a:off x="941832" y="4645152"/>
              <a:ext cx="1600200" cy="347472"/>
            </a:xfrm>
            <a:prstGeom prst="roundRect">
              <a:avLst>
                <a:gd name="adj" fmla="val 21053"/>
              </a:avLst>
            </a:prstGeom>
            <a:solidFill>
              <a:srgbClr val="E2E6EC"/>
            </a:solidFill>
            <a:ln w="12700">
              <a:solidFill>
                <a:srgbClr val="E2E6EC"/>
              </a:solidFill>
              <a:prstDash val="solid"/>
            </a:ln>
          </p:spPr>
          <p:txBody>
            <a:bodyPr/>
            <a:lstStyle/>
            <a:p>
              <a:endParaRPr lang="en-CA"/>
            </a:p>
          </p:txBody>
        </p:sp>
        <p:sp>
          <p:nvSpPr>
            <p:cNvPr id="9" name="Text 7"/>
            <p:cNvSpPr/>
            <p:nvPr/>
          </p:nvSpPr>
          <p:spPr>
            <a:xfrm>
              <a:off x="1051560" y="4718304"/>
              <a:ext cx="1380744" cy="164592"/>
            </a:xfrm>
            <a:prstGeom prst="rect">
              <a:avLst/>
            </a:prstGeom>
            <a:noFill/>
            <a:ln/>
          </p:spPr>
          <p:txBody>
            <a:bodyPr wrap="square" lIns="0" tIns="0" rIns="0" bIns="0" rtlCol="0" anchor="ctr">
              <a:normAutofit/>
            </a:bodyPr>
            <a:lstStyle/>
            <a:p>
              <a:pPr marL="0" indent="0" algn="ctr">
                <a:buNone/>
              </a:pPr>
              <a:r>
                <a:rPr lang="en-US" sz="1000">
                  <a:solidFill>
                    <a:srgbClr val="334155"/>
                  </a:solidFill>
                  <a:latin typeface="Aptos SemiBold" pitchFamily="34" charset="0"/>
                  <a:ea typeface="Aptos SemiBold" pitchFamily="34" charset="-122"/>
                  <a:cs typeface="Aptos SemiBold" pitchFamily="34" charset="-120"/>
                </a:rPr>
                <a:t>LOCAL OPTIMUM</a:t>
              </a:r>
              <a:endParaRPr lang="en-US" sz="1000"/>
            </a:p>
          </p:txBody>
        </p:sp>
      </p:grpSp>
      <p:sp>
        <p:nvSpPr>
          <p:cNvPr id="10" name="Shape 8"/>
          <p:cNvSpPr/>
          <p:nvPr/>
        </p:nvSpPr>
        <p:spPr>
          <a:xfrm>
            <a:off x="5321808" y="3044952"/>
            <a:ext cx="1005840" cy="384048"/>
          </a:xfrm>
          <a:prstGeom prst="chevron">
            <a:avLst/>
          </a:prstGeom>
          <a:solidFill>
            <a:srgbClr val="3B82F6"/>
          </a:solidFill>
          <a:ln w="12700">
            <a:solidFill>
              <a:srgbClr val="3B82F6"/>
            </a:solidFill>
            <a:prstDash val="solid"/>
          </a:ln>
        </p:spPr>
        <p:txBody>
          <a:bodyPr/>
          <a:lstStyle/>
          <a:p>
            <a:endParaRPr lang="en-CA"/>
          </a:p>
        </p:txBody>
      </p:sp>
      <p:sp>
        <p:nvSpPr>
          <p:cNvPr id="11" name="Shape 9"/>
          <p:cNvSpPr/>
          <p:nvPr/>
        </p:nvSpPr>
        <p:spPr>
          <a:xfrm>
            <a:off x="6620256" y="1349925"/>
            <a:ext cx="4919472" cy="4133088"/>
          </a:xfrm>
          <a:prstGeom prst="roundRect">
            <a:avLst>
              <a:gd name="adj" fmla="val 1770"/>
            </a:avLst>
          </a:prstGeom>
          <a:solidFill>
            <a:srgbClr val="E8F1FF"/>
          </a:solidFill>
          <a:ln w="12700">
            <a:solidFill>
              <a:srgbClr val="C4D9FF"/>
            </a:solidFill>
            <a:prstDash val="solid"/>
          </a:ln>
        </p:spPr>
        <p:txBody>
          <a:bodyPr/>
          <a:lstStyle/>
          <a:p>
            <a:endParaRPr lang="en-CA" dirty="0"/>
          </a:p>
        </p:txBody>
      </p:sp>
      <p:sp>
        <p:nvSpPr>
          <p:cNvPr id="12" name="Text 10"/>
          <p:cNvSpPr/>
          <p:nvPr/>
        </p:nvSpPr>
        <p:spPr>
          <a:xfrm>
            <a:off x="6986016" y="1691640"/>
            <a:ext cx="3474720" cy="201168"/>
          </a:xfrm>
          <a:prstGeom prst="rect">
            <a:avLst/>
          </a:prstGeom>
          <a:noFill/>
          <a:ln/>
        </p:spPr>
        <p:txBody>
          <a:bodyPr wrap="square" lIns="0" tIns="0" rIns="0" bIns="0" rtlCol="0" anchor="ctr"/>
          <a:lstStyle/>
          <a:p>
            <a:pPr marL="0" indent="0">
              <a:buNone/>
            </a:pPr>
            <a:r>
              <a:rPr lang="en-US" sz="900" kern="0" spc="110">
                <a:solidFill>
                  <a:srgbClr val="1E40AF"/>
                </a:solidFill>
                <a:latin typeface="Aptos SemiBold" pitchFamily="34" charset="0"/>
                <a:ea typeface="Aptos SemiBold" pitchFamily="34" charset="-122"/>
                <a:cs typeface="Aptos SemiBold" pitchFamily="34" charset="-120"/>
              </a:rPr>
              <a:t>THE ENGINEERING METRIC</a:t>
            </a:r>
            <a:endParaRPr lang="en-US" sz="900" dirty="0"/>
          </a:p>
        </p:txBody>
      </p:sp>
      <p:sp>
        <p:nvSpPr>
          <p:cNvPr id="13" name="Text 11"/>
          <p:cNvSpPr/>
          <p:nvPr/>
        </p:nvSpPr>
        <p:spPr>
          <a:xfrm>
            <a:off x="6986016" y="2139696"/>
            <a:ext cx="4462272" cy="594360"/>
          </a:xfrm>
          <a:prstGeom prst="rect">
            <a:avLst/>
          </a:prstGeom>
          <a:noFill/>
          <a:ln/>
        </p:spPr>
        <p:txBody>
          <a:bodyPr wrap="square" lIns="0" tIns="0" rIns="0" bIns="0" rtlCol="0" anchor="ctr">
            <a:noAutofit/>
          </a:bodyPr>
          <a:lstStyle/>
          <a:p>
            <a:pPr marL="0" indent="0">
              <a:buNone/>
            </a:pPr>
            <a:r>
              <a:rPr lang="en-US" sz="2400">
                <a:solidFill>
                  <a:srgbClr val="1E40AF"/>
                </a:solidFill>
                <a:latin typeface="Aptos SemiBold" pitchFamily="34" charset="0"/>
                <a:ea typeface="Aptos SemiBold" pitchFamily="34" charset="-122"/>
                <a:cs typeface="Aptos SemiBold" pitchFamily="34" charset="-120"/>
              </a:rPr>
              <a:t>Intent → evidence → learning</a:t>
            </a:r>
            <a:endParaRPr lang="en-US" sz="2400" dirty="0"/>
          </a:p>
        </p:txBody>
      </p:sp>
      <p:grpSp>
        <p:nvGrpSpPr>
          <p:cNvPr id="29" name="Group 28">
            <a:extLst>
              <a:ext uri="{FF2B5EF4-FFF2-40B4-BE49-F238E27FC236}">
                <a16:creationId xmlns:a16="http://schemas.microsoft.com/office/drawing/2014/main" id="{0C8DE7DF-3AD3-64B7-9981-231E53B497A4}"/>
              </a:ext>
            </a:extLst>
          </p:cNvPr>
          <p:cNvGrpSpPr/>
          <p:nvPr/>
        </p:nvGrpSpPr>
        <p:grpSpPr>
          <a:xfrm>
            <a:off x="7022592" y="2955798"/>
            <a:ext cx="3977640" cy="251460"/>
            <a:chOff x="7022592" y="2955798"/>
            <a:chExt cx="3977640" cy="251460"/>
          </a:xfrm>
        </p:grpSpPr>
        <p:sp>
          <p:nvSpPr>
            <p:cNvPr id="14" name="Shape 12"/>
            <p:cNvSpPr/>
            <p:nvPr/>
          </p:nvSpPr>
          <p:spPr>
            <a:xfrm>
              <a:off x="7022592" y="3035808"/>
              <a:ext cx="91440" cy="91440"/>
            </a:xfrm>
            <a:prstGeom prst="ellipse">
              <a:avLst/>
            </a:prstGeom>
            <a:solidFill>
              <a:srgbClr val="3B82F6"/>
            </a:solidFill>
            <a:ln w="12700">
              <a:solidFill>
                <a:srgbClr val="3B82F6"/>
              </a:solidFill>
              <a:prstDash val="solid"/>
            </a:ln>
          </p:spPr>
          <p:txBody>
            <a:bodyPr/>
            <a:lstStyle/>
            <a:p>
              <a:endParaRPr lang="en-CA"/>
            </a:p>
          </p:txBody>
        </p:sp>
        <p:sp>
          <p:nvSpPr>
            <p:cNvPr id="15" name="Text 13"/>
            <p:cNvSpPr/>
            <p:nvPr/>
          </p:nvSpPr>
          <p:spPr>
            <a:xfrm>
              <a:off x="7223760" y="2955798"/>
              <a:ext cx="3776472" cy="251460"/>
            </a:xfrm>
            <a:prstGeom prst="rect">
              <a:avLst/>
            </a:prstGeom>
            <a:noFill/>
            <a:ln/>
          </p:spPr>
          <p:txBody>
            <a:bodyPr wrap="square" lIns="0" tIns="0" rIns="0" bIns="0" rtlCol="0" anchor="ctr">
              <a:normAutofit lnSpcReduction="10000"/>
            </a:bodyPr>
            <a:lstStyle/>
            <a:p>
              <a:pPr marL="0" indent="0">
                <a:buNone/>
              </a:pPr>
              <a:r>
                <a:rPr lang="en-US" sz="1700">
                  <a:solidFill>
                    <a:srgbClr val="172033"/>
                  </a:solidFill>
                  <a:latin typeface="Aptos" pitchFamily="34" charset="0"/>
                  <a:ea typeface="Aptos" pitchFamily="34" charset="-122"/>
                  <a:cs typeface="Aptos" pitchFamily="34" charset="-120"/>
                </a:rPr>
                <a:t>Correct, reviewable change</a:t>
              </a:r>
              <a:endParaRPr lang="en-US" sz="1700"/>
            </a:p>
          </p:txBody>
        </p:sp>
      </p:grpSp>
      <p:grpSp>
        <p:nvGrpSpPr>
          <p:cNvPr id="30" name="Group 29">
            <a:extLst>
              <a:ext uri="{FF2B5EF4-FFF2-40B4-BE49-F238E27FC236}">
                <a16:creationId xmlns:a16="http://schemas.microsoft.com/office/drawing/2014/main" id="{3E3F94C1-2934-E066-E044-46440FB151F0}"/>
              </a:ext>
            </a:extLst>
          </p:cNvPr>
          <p:cNvGrpSpPr/>
          <p:nvPr/>
        </p:nvGrpSpPr>
        <p:grpSpPr>
          <a:xfrm>
            <a:off x="7022592" y="3407156"/>
            <a:ext cx="3977640" cy="263144"/>
            <a:chOff x="7022592" y="3407156"/>
            <a:chExt cx="3977640" cy="263144"/>
          </a:xfrm>
        </p:grpSpPr>
        <p:sp>
          <p:nvSpPr>
            <p:cNvPr id="16" name="Shape 14"/>
            <p:cNvSpPr/>
            <p:nvPr/>
          </p:nvSpPr>
          <p:spPr>
            <a:xfrm>
              <a:off x="7022592" y="3493008"/>
              <a:ext cx="91440" cy="91440"/>
            </a:xfrm>
            <a:prstGeom prst="ellipse">
              <a:avLst/>
            </a:prstGeom>
            <a:solidFill>
              <a:srgbClr val="3B82F6"/>
            </a:solidFill>
            <a:ln w="12700">
              <a:solidFill>
                <a:srgbClr val="3B82F6"/>
              </a:solidFill>
              <a:prstDash val="solid"/>
            </a:ln>
          </p:spPr>
          <p:txBody>
            <a:bodyPr/>
            <a:lstStyle/>
            <a:p>
              <a:endParaRPr lang="en-CA"/>
            </a:p>
          </p:txBody>
        </p:sp>
        <p:sp>
          <p:nvSpPr>
            <p:cNvPr id="17" name="Text 15"/>
            <p:cNvSpPr/>
            <p:nvPr/>
          </p:nvSpPr>
          <p:spPr>
            <a:xfrm>
              <a:off x="7223760" y="3407156"/>
              <a:ext cx="3776472" cy="263144"/>
            </a:xfrm>
            <a:prstGeom prst="rect">
              <a:avLst/>
            </a:prstGeom>
            <a:noFill/>
            <a:ln/>
          </p:spPr>
          <p:txBody>
            <a:bodyPr wrap="square" lIns="0" tIns="0" rIns="0" bIns="0" rtlCol="0" anchor="ctr">
              <a:normAutofit/>
            </a:bodyPr>
            <a:lstStyle/>
            <a:p>
              <a:pPr marL="0" indent="0">
                <a:buNone/>
              </a:pPr>
              <a:r>
                <a:rPr lang="en-US" sz="1700">
                  <a:solidFill>
                    <a:srgbClr val="172033"/>
                  </a:solidFill>
                  <a:latin typeface="Aptos" pitchFamily="34" charset="0"/>
                  <a:ea typeface="Aptos" pitchFamily="34" charset="-122"/>
                  <a:cs typeface="Aptos" pitchFamily="34" charset="-120"/>
                </a:rPr>
                <a:t>Verified deployment identity</a:t>
              </a:r>
              <a:endParaRPr lang="en-US" sz="1700"/>
            </a:p>
          </p:txBody>
        </p:sp>
      </p:grpSp>
      <p:grpSp>
        <p:nvGrpSpPr>
          <p:cNvPr id="31" name="Group 30">
            <a:extLst>
              <a:ext uri="{FF2B5EF4-FFF2-40B4-BE49-F238E27FC236}">
                <a16:creationId xmlns:a16="http://schemas.microsoft.com/office/drawing/2014/main" id="{97BAC764-6B71-9DE8-DC84-173B5B9C3B42}"/>
              </a:ext>
            </a:extLst>
          </p:cNvPr>
          <p:cNvGrpSpPr/>
          <p:nvPr/>
        </p:nvGrpSpPr>
        <p:grpSpPr>
          <a:xfrm>
            <a:off x="7022592" y="3861816"/>
            <a:ext cx="3977640" cy="263144"/>
            <a:chOff x="7022592" y="3861816"/>
            <a:chExt cx="3977640" cy="263144"/>
          </a:xfrm>
        </p:grpSpPr>
        <p:sp>
          <p:nvSpPr>
            <p:cNvPr id="18" name="Shape 16"/>
            <p:cNvSpPr/>
            <p:nvPr/>
          </p:nvSpPr>
          <p:spPr>
            <a:xfrm>
              <a:off x="7022592" y="3950208"/>
              <a:ext cx="91440" cy="91440"/>
            </a:xfrm>
            <a:prstGeom prst="ellipse">
              <a:avLst/>
            </a:prstGeom>
            <a:solidFill>
              <a:srgbClr val="3B82F6"/>
            </a:solidFill>
            <a:ln w="12700">
              <a:solidFill>
                <a:srgbClr val="3B82F6"/>
              </a:solidFill>
              <a:prstDash val="solid"/>
            </a:ln>
          </p:spPr>
          <p:txBody>
            <a:bodyPr/>
            <a:lstStyle/>
            <a:p>
              <a:endParaRPr lang="en-CA"/>
            </a:p>
          </p:txBody>
        </p:sp>
        <p:sp>
          <p:nvSpPr>
            <p:cNvPr id="19" name="Text 17"/>
            <p:cNvSpPr/>
            <p:nvPr/>
          </p:nvSpPr>
          <p:spPr>
            <a:xfrm>
              <a:off x="7223760" y="3861816"/>
              <a:ext cx="3776472" cy="263144"/>
            </a:xfrm>
            <a:prstGeom prst="rect">
              <a:avLst/>
            </a:prstGeom>
            <a:noFill/>
            <a:ln/>
          </p:spPr>
          <p:txBody>
            <a:bodyPr wrap="square" lIns="0" tIns="0" rIns="0" bIns="0" rtlCol="0" anchor="ctr">
              <a:normAutofit/>
            </a:bodyPr>
            <a:lstStyle/>
            <a:p>
              <a:pPr marL="0" indent="0">
                <a:buNone/>
              </a:pPr>
              <a:r>
                <a:rPr lang="en-US" sz="1700">
                  <a:solidFill>
                    <a:srgbClr val="172033"/>
                  </a:solidFill>
                  <a:latin typeface="Aptos" pitchFamily="34" charset="0"/>
                  <a:ea typeface="Aptos" pitchFamily="34" charset="-122"/>
                  <a:cs typeface="Aptos" pitchFamily="34" charset="-120"/>
                </a:rPr>
                <a:t>Operational feedback</a:t>
              </a:r>
              <a:endParaRPr lang="en-US" sz="1700"/>
            </a:p>
          </p:txBody>
        </p:sp>
      </p:grpSp>
      <p:grpSp>
        <p:nvGrpSpPr>
          <p:cNvPr id="32" name="Group 31">
            <a:extLst>
              <a:ext uri="{FF2B5EF4-FFF2-40B4-BE49-F238E27FC236}">
                <a16:creationId xmlns:a16="http://schemas.microsoft.com/office/drawing/2014/main" id="{7A917E5A-0096-963D-BBC1-FA5A46566DAE}"/>
              </a:ext>
            </a:extLst>
          </p:cNvPr>
          <p:cNvGrpSpPr/>
          <p:nvPr/>
        </p:nvGrpSpPr>
        <p:grpSpPr>
          <a:xfrm>
            <a:off x="7022592" y="4321556"/>
            <a:ext cx="3973068" cy="263144"/>
            <a:chOff x="7022592" y="4321556"/>
            <a:chExt cx="3973068" cy="263144"/>
          </a:xfrm>
        </p:grpSpPr>
        <p:sp>
          <p:nvSpPr>
            <p:cNvPr id="20" name="Shape 18"/>
            <p:cNvSpPr/>
            <p:nvPr/>
          </p:nvSpPr>
          <p:spPr>
            <a:xfrm>
              <a:off x="7022592" y="4407408"/>
              <a:ext cx="91440" cy="91440"/>
            </a:xfrm>
            <a:prstGeom prst="ellipse">
              <a:avLst/>
            </a:prstGeom>
            <a:solidFill>
              <a:srgbClr val="3B82F6"/>
            </a:solidFill>
            <a:ln w="12700">
              <a:solidFill>
                <a:srgbClr val="3B82F6"/>
              </a:solidFill>
              <a:prstDash val="solid"/>
            </a:ln>
          </p:spPr>
          <p:txBody>
            <a:bodyPr/>
            <a:lstStyle/>
            <a:p>
              <a:endParaRPr lang="en-CA"/>
            </a:p>
          </p:txBody>
        </p:sp>
        <p:sp>
          <p:nvSpPr>
            <p:cNvPr id="21" name="Text 19"/>
            <p:cNvSpPr/>
            <p:nvPr/>
          </p:nvSpPr>
          <p:spPr>
            <a:xfrm>
              <a:off x="7219188" y="4321556"/>
              <a:ext cx="3776472" cy="263144"/>
            </a:xfrm>
            <a:prstGeom prst="rect">
              <a:avLst/>
            </a:prstGeom>
            <a:noFill/>
            <a:ln/>
          </p:spPr>
          <p:txBody>
            <a:bodyPr wrap="square" lIns="0" tIns="0" rIns="0" bIns="0" rtlCol="0" anchor="ctr">
              <a:normAutofit/>
            </a:bodyPr>
            <a:lstStyle/>
            <a:p>
              <a:pPr marL="0" indent="0">
                <a:buNone/>
              </a:pPr>
              <a:r>
                <a:rPr lang="en-US" sz="1700">
                  <a:solidFill>
                    <a:srgbClr val="172033"/>
                  </a:solidFill>
                  <a:latin typeface="Aptos" pitchFamily="34" charset="0"/>
                  <a:ea typeface="Aptos" pitchFamily="34" charset="-122"/>
                  <a:cs typeface="Aptos" pitchFamily="34" charset="-120"/>
                </a:rPr>
                <a:t>Reusable lesson in the repository</a:t>
              </a:r>
              <a:endParaRPr lang="en-US" sz="1700"/>
            </a:p>
          </p:txBody>
        </p:sp>
      </p:grpSp>
      <p:grpSp>
        <p:nvGrpSpPr>
          <p:cNvPr id="27" name="Group 26">
            <a:extLst>
              <a:ext uri="{FF2B5EF4-FFF2-40B4-BE49-F238E27FC236}">
                <a16:creationId xmlns:a16="http://schemas.microsoft.com/office/drawing/2014/main" id="{E2F42D56-EA33-DAEA-FDF7-EF67B27389CD}"/>
              </a:ext>
            </a:extLst>
          </p:cNvPr>
          <p:cNvGrpSpPr/>
          <p:nvPr/>
        </p:nvGrpSpPr>
        <p:grpSpPr>
          <a:xfrm>
            <a:off x="9665208" y="4919472"/>
            <a:ext cx="1783080" cy="347472"/>
            <a:chOff x="6995160" y="4645152"/>
            <a:chExt cx="1783080" cy="347472"/>
          </a:xfrm>
        </p:grpSpPr>
        <p:sp>
          <p:nvSpPr>
            <p:cNvPr id="22" name="Shape 20"/>
            <p:cNvSpPr/>
            <p:nvPr/>
          </p:nvSpPr>
          <p:spPr>
            <a:xfrm>
              <a:off x="6995160" y="4645152"/>
              <a:ext cx="1783080" cy="347472"/>
            </a:xfrm>
            <a:prstGeom prst="roundRect">
              <a:avLst>
                <a:gd name="adj" fmla="val 21053"/>
              </a:avLst>
            </a:prstGeom>
            <a:solidFill>
              <a:srgbClr val="D7E7FF"/>
            </a:solidFill>
            <a:ln w="12700">
              <a:solidFill>
                <a:srgbClr val="D7E7FF"/>
              </a:solidFill>
              <a:prstDash val="solid"/>
            </a:ln>
          </p:spPr>
          <p:txBody>
            <a:bodyPr/>
            <a:lstStyle/>
            <a:p>
              <a:endParaRPr lang="en-CA"/>
            </a:p>
          </p:txBody>
        </p:sp>
        <p:sp>
          <p:nvSpPr>
            <p:cNvPr id="23" name="Text 21"/>
            <p:cNvSpPr/>
            <p:nvPr/>
          </p:nvSpPr>
          <p:spPr>
            <a:xfrm>
              <a:off x="7104888" y="4718304"/>
              <a:ext cx="1563624" cy="164592"/>
            </a:xfrm>
            <a:prstGeom prst="rect">
              <a:avLst/>
            </a:prstGeom>
            <a:noFill/>
            <a:ln/>
          </p:spPr>
          <p:txBody>
            <a:bodyPr wrap="square" lIns="0" tIns="0" rIns="0" bIns="0" rtlCol="0" anchor="ctr">
              <a:normAutofit/>
            </a:bodyPr>
            <a:lstStyle/>
            <a:p>
              <a:pPr marL="0" indent="0" algn="ctr">
                <a:buNone/>
              </a:pPr>
              <a:r>
                <a:rPr lang="en-US" sz="1000">
                  <a:solidFill>
                    <a:srgbClr val="1E40AF"/>
                  </a:solidFill>
                  <a:latin typeface="Aptos SemiBold" pitchFamily="34" charset="0"/>
                  <a:ea typeface="Aptos SemiBold" pitchFamily="34" charset="-122"/>
                  <a:cs typeface="Aptos SemiBold" pitchFamily="34" charset="-120"/>
                </a:rPr>
                <a:t>SYSTEM OPTIMUM</a:t>
              </a:r>
              <a:endParaRPr lang="en-US" sz="1000"/>
            </a:p>
          </p:txBody>
        </p:sp>
      </p:gr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444B701-D43B-5B67-6371-039BF11C0710}"/>
              </a:ext>
            </a:extLst>
          </p:cNvPr>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SCOPE THE CASE STUDY</a:t>
            </a:r>
            <a:endParaRPr lang="en-US" sz="1000"/>
          </a:p>
        </p:txBody>
      </p:sp>
      <p:sp>
        <p:nvSpPr>
          <p:cNvPr id="5" name="Text 1">
            <a:extLst>
              <a:ext uri="{FF2B5EF4-FFF2-40B4-BE49-F238E27FC236}">
                <a16:creationId xmlns:a16="http://schemas.microsoft.com/office/drawing/2014/main" id="{931A35B7-89D4-7133-CBBC-9A7F5A15F3D8}"/>
              </a:ext>
            </a:extLst>
          </p:cNvPr>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cs typeface="Aptos SemiBold" pitchFamily="34" charset="-120"/>
              </a:rPr>
              <a:t>Health Track – a perfect HVE test bench</a:t>
            </a:r>
            <a:endParaRPr lang="en-US" sz="2800"/>
          </a:p>
        </p:txBody>
      </p:sp>
      <p:pic>
        <p:nvPicPr>
          <p:cNvPr id="13" name="Picture 12">
            <a:extLst>
              <a:ext uri="{FF2B5EF4-FFF2-40B4-BE49-F238E27FC236}">
                <a16:creationId xmlns:a16="http://schemas.microsoft.com/office/drawing/2014/main" id="{4242EE2D-6150-3E2A-2206-FD788E89717E}"/>
              </a:ext>
            </a:extLst>
          </p:cNvPr>
          <p:cNvPicPr>
            <a:picLocks noChangeAspect="1"/>
          </p:cNvPicPr>
          <p:nvPr/>
        </p:nvPicPr>
        <p:blipFill>
          <a:blip r:embed="rId3"/>
          <a:stretch>
            <a:fillRect/>
          </a:stretch>
        </p:blipFill>
        <p:spPr>
          <a:xfrm>
            <a:off x="1017074" y="1190508"/>
            <a:ext cx="2895072" cy="5234785"/>
          </a:xfrm>
          <a:prstGeom prst="rect">
            <a:avLst/>
          </a:prstGeom>
        </p:spPr>
      </p:pic>
      <p:pic>
        <p:nvPicPr>
          <p:cNvPr id="15" name="Picture 14">
            <a:extLst>
              <a:ext uri="{FF2B5EF4-FFF2-40B4-BE49-F238E27FC236}">
                <a16:creationId xmlns:a16="http://schemas.microsoft.com/office/drawing/2014/main" id="{18890BCD-F065-0A34-A855-870AEE8D62E8}"/>
              </a:ext>
            </a:extLst>
          </p:cNvPr>
          <p:cNvPicPr>
            <a:picLocks noChangeAspect="1"/>
          </p:cNvPicPr>
          <p:nvPr/>
        </p:nvPicPr>
        <p:blipFill>
          <a:blip r:embed="rId4"/>
          <a:stretch>
            <a:fillRect/>
          </a:stretch>
        </p:blipFill>
        <p:spPr>
          <a:xfrm>
            <a:off x="1017074" y="1222750"/>
            <a:ext cx="2895072" cy="5142225"/>
          </a:xfrm>
          <a:prstGeom prst="rect">
            <a:avLst/>
          </a:prstGeom>
        </p:spPr>
      </p:pic>
      <p:pic>
        <p:nvPicPr>
          <p:cNvPr id="17" name="Picture 16">
            <a:extLst>
              <a:ext uri="{FF2B5EF4-FFF2-40B4-BE49-F238E27FC236}">
                <a16:creationId xmlns:a16="http://schemas.microsoft.com/office/drawing/2014/main" id="{3A9627EB-3033-86B8-DA77-2CDE2CAAA1FB}"/>
              </a:ext>
            </a:extLst>
          </p:cNvPr>
          <p:cNvPicPr>
            <a:picLocks noChangeAspect="1"/>
          </p:cNvPicPr>
          <p:nvPr/>
        </p:nvPicPr>
        <p:blipFill>
          <a:blip r:embed="rId5"/>
          <a:stretch>
            <a:fillRect/>
          </a:stretch>
        </p:blipFill>
        <p:spPr>
          <a:xfrm>
            <a:off x="4429053" y="1190508"/>
            <a:ext cx="2462523" cy="5409202"/>
          </a:xfrm>
          <a:prstGeom prst="rect">
            <a:avLst/>
          </a:prstGeom>
        </p:spPr>
      </p:pic>
      <p:pic>
        <p:nvPicPr>
          <p:cNvPr id="19" name="Picture 18">
            <a:extLst>
              <a:ext uri="{FF2B5EF4-FFF2-40B4-BE49-F238E27FC236}">
                <a16:creationId xmlns:a16="http://schemas.microsoft.com/office/drawing/2014/main" id="{5470B882-9FC0-2BF8-683D-C5ADDC8BBF9F}"/>
              </a:ext>
            </a:extLst>
          </p:cNvPr>
          <p:cNvPicPr>
            <a:picLocks noChangeAspect="1"/>
          </p:cNvPicPr>
          <p:nvPr/>
        </p:nvPicPr>
        <p:blipFill>
          <a:blip r:embed="rId6"/>
          <a:stretch>
            <a:fillRect/>
          </a:stretch>
        </p:blipFill>
        <p:spPr>
          <a:xfrm>
            <a:off x="4429053" y="1188720"/>
            <a:ext cx="2462522" cy="5350389"/>
          </a:xfrm>
          <a:prstGeom prst="rect">
            <a:avLst/>
          </a:prstGeom>
        </p:spPr>
      </p:pic>
      <p:pic>
        <p:nvPicPr>
          <p:cNvPr id="21" name="Picture 20">
            <a:extLst>
              <a:ext uri="{FF2B5EF4-FFF2-40B4-BE49-F238E27FC236}">
                <a16:creationId xmlns:a16="http://schemas.microsoft.com/office/drawing/2014/main" id="{0C94DF23-0405-521C-78C1-F13968D61C56}"/>
              </a:ext>
            </a:extLst>
          </p:cNvPr>
          <p:cNvPicPr>
            <a:picLocks noChangeAspect="1"/>
          </p:cNvPicPr>
          <p:nvPr/>
        </p:nvPicPr>
        <p:blipFill>
          <a:blip r:embed="rId7"/>
          <a:stretch>
            <a:fillRect/>
          </a:stretch>
        </p:blipFill>
        <p:spPr>
          <a:xfrm>
            <a:off x="7392323" y="1149281"/>
            <a:ext cx="3315498" cy="10868093"/>
          </a:xfrm>
          <a:prstGeom prst="rect">
            <a:avLst/>
          </a:prstGeom>
        </p:spPr>
      </p:pic>
      <p:grpSp>
        <p:nvGrpSpPr>
          <p:cNvPr id="2" name="Group 1">
            <a:extLst>
              <a:ext uri="{FF2B5EF4-FFF2-40B4-BE49-F238E27FC236}">
                <a16:creationId xmlns:a16="http://schemas.microsoft.com/office/drawing/2014/main" id="{8A571230-E614-95D5-184B-7E2BB6D1914F}"/>
              </a:ext>
            </a:extLst>
          </p:cNvPr>
          <p:cNvGrpSpPr/>
          <p:nvPr/>
        </p:nvGrpSpPr>
        <p:grpSpPr>
          <a:xfrm>
            <a:off x="7392323" y="1149281"/>
            <a:ext cx="3322627" cy="17981063"/>
            <a:chOff x="7699751" y="1167320"/>
            <a:chExt cx="3322627" cy="17981063"/>
          </a:xfrm>
        </p:grpSpPr>
        <p:pic>
          <p:nvPicPr>
            <p:cNvPr id="23" name="Picture 22">
              <a:extLst>
                <a:ext uri="{FF2B5EF4-FFF2-40B4-BE49-F238E27FC236}">
                  <a16:creationId xmlns:a16="http://schemas.microsoft.com/office/drawing/2014/main" id="{1D1AF3DE-C6E6-C661-B9CF-18B2314219B5}"/>
                </a:ext>
              </a:extLst>
            </p:cNvPr>
            <p:cNvPicPr>
              <a:picLocks noChangeAspect="1"/>
            </p:cNvPicPr>
            <p:nvPr/>
          </p:nvPicPr>
          <p:blipFill>
            <a:blip r:embed="rId8"/>
            <a:srcRect t="-1" b="52170"/>
            <a:stretch>
              <a:fillRect/>
            </a:stretch>
          </p:blipFill>
          <p:spPr>
            <a:xfrm>
              <a:off x="7699751" y="1167320"/>
              <a:ext cx="3322627" cy="9082798"/>
            </a:xfrm>
            <a:prstGeom prst="rect">
              <a:avLst/>
            </a:prstGeom>
          </p:spPr>
        </p:pic>
        <p:pic>
          <p:nvPicPr>
            <p:cNvPr id="27" name="Picture 26">
              <a:extLst>
                <a:ext uri="{FF2B5EF4-FFF2-40B4-BE49-F238E27FC236}">
                  <a16:creationId xmlns:a16="http://schemas.microsoft.com/office/drawing/2014/main" id="{9E20BF71-9E29-0210-53F7-8A8DD1D087D5}"/>
                </a:ext>
              </a:extLst>
            </p:cNvPr>
            <p:cNvPicPr>
              <a:picLocks noChangeAspect="1"/>
            </p:cNvPicPr>
            <p:nvPr/>
          </p:nvPicPr>
          <p:blipFill>
            <a:blip r:embed="rId8"/>
            <a:srcRect t="47846" b="4630"/>
            <a:stretch>
              <a:fillRect/>
            </a:stretch>
          </p:blipFill>
          <p:spPr>
            <a:xfrm>
              <a:off x="7699751" y="10143300"/>
              <a:ext cx="3315498" cy="9005083"/>
            </a:xfrm>
            <a:prstGeom prst="rect">
              <a:avLst/>
            </a:prstGeom>
          </p:spPr>
        </p:pic>
      </p:grpSp>
      <p:sp>
        <p:nvSpPr>
          <p:cNvPr id="50" name="Viewport Mask Top"/>
          <p:cNvSpPr/>
          <p:nvPr/>
        </p:nvSpPr>
        <p:spPr>
          <a:xfrm>
            <a:off x="7000000" y="12192"/>
            <a:ext cx="5192000" cy="1190508"/>
          </a:xfrm>
          <a:prstGeom prst="rect">
            <a:avLst/>
          </a:prstGeom>
          <a:solidFill>
            <a:srgbClr val="F7F8FA"/>
          </a:solidFill>
          <a:ln>
            <a:noFill/>
          </a:ln>
        </p:spPr>
        <p:txBody>
          <a:bodyPr wrap="square" lIns="0" tIns="0" rIns="0" bIns="0" rtlCol="0" anchor="ctr"/>
          <a:lstStyle/>
          <a:p>
            <a:endParaRPr lang="en-US"/>
          </a:p>
        </p:txBody>
      </p:sp>
      <p:sp>
        <p:nvSpPr>
          <p:cNvPr id="6" name="Viewport Mask Top">
            <a:extLst>
              <a:ext uri="{FF2B5EF4-FFF2-40B4-BE49-F238E27FC236}">
                <a16:creationId xmlns:a16="http://schemas.microsoft.com/office/drawing/2014/main" id="{658F9E86-B721-FFF9-2D03-5E36289E1DAD}"/>
              </a:ext>
            </a:extLst>
          </p:cNvPr>
          <p:cNvSpPr/>
          <p:nvPr/>
        </p:nvSpPr>
        <p:spPr>
          <a:xfrm>
            <a:off x="7000000" y="6364975"/>
            <a:ext cx="5192000" cy="493025"/>
          </a:xfrm>
          <a:prstGeom prst="rect">
            <a:avLst/>
          </a:prstGeom>
          <a:solidFill>
            <a:srgbClr val="F7F8FA"/>
          </a:solidFill>
          <a:ln>
            <a:noFill/>
          </a:ln>
        </p:spPr>
        <p:txBody>
          <a:bodyPr wrap="square" lIns="0" tIns="0" rIns="0" bIns="0" rtlCol="0" anchor="ctr"/>
          <a:lstStyle/>
          <a:p>
            <a:endParaRPr lang="en-US"/>
          </a:p>
        </p:txBody>
      </p:sp>
      <p:sp>
        <p:nvSpPr>
          <p:cNvPr id="8" name="Rectangle 7">
            <a:extLst>
              <a:ext uri="{FF2B5EF4-FFF2-40B4-BE49-F238E27FC236}">
                <a16:creationId xmlns:a16="http://schemas.microsoft.com/office/drawing/2014/main" id="{6ECC476C-1BB0-2F45-3D09-8DEEAB259AEA}"/>
              </a:ext>
            </a:extLst>
          </p:cNvPr>
          <p:cNvSpPr/>
          <p:nvPr/>
        </p:nvSpPr>
        <p:spPr>
          <a:xfrm>
            <a:off x="7000000" y="-17441"/>
            <a:ext cx="5192000" cy="91017"/>
          </a:xfrm>
          <a:prstGeom prst="rect">
            <a:avLst/>
          </a:prstGeom>
          <a:solidFill>
            <a:srgbClr val="3B8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318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path" presetSubtype="0" accel="20000" decel="20000" fill="hold" nodeType="clickEffect">
                                  <p:stCondLst>
                                    <p:cond delay="0"/>
                                  </p:stCondLst>
                                  <p:childTnLst>
                                    <p:animMotion origin="layout" path="M 0 0  L 0 -0.78 E" pathEditMode="relative" rAng="0" ptsTypes="AA">
                                      <p:cBhvr additive="base">
                                        <p:cTn id="16" dur="3000" fill="hold"/>
                                        <p:tgtEl>
                                          <p:spTgt spid="21"/>
                                        </p:tgtEl>
                                        <p:attrNameLst>
                                          <p:attrName>ppt_x</p:attrName>
                                          <p:attrName>ppt_y</p:attrName>
                                        </p:attrNameLst>
                                      </p:cBhvr>
                                      <p:rCtr x="0" y="-39000"/>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 presetClass="path" presetSubtype="0" accel="20000" decel="20000" fill="hold" nodeType="withEffect">
                                  <p:stCondLst>
                                    <p:cond delay="0"/>
                                  </p:stCondLst>
                                  <p:childTnLst>
                                    <p:animMotion origin="layout" path="M 1.875E-6 -2.22222E-6 L 1.875E-6 -1.80995 " pathEditMode="relative" rAng="0" ptsTypes="AA">
                                      <p:cBhvr additive="base">
                                        <p:cTn id="23" dur="3000" fill="hold"/>
                                        <p:tgtEl>
                                          <p:spTgt spid="2"/>
                                        </p:tgtEl>
                                        <p:attrNameLst>
                                          <p:attrName>ppt_x</p:attrName>
                                          <p:attrName>ppt_y</p:attrName>
                                        </p:attrNameLst>
                                      </p:cBhvr>
                                      <p:rCtr x="0" y="-90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SCOPE THE CASE STUDY</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Evidence, not a productivity claim</a:t>
            </a:r>
            <a:endParaRPr lang="en-US" sz="2800" dirty="0"/>
          </a:p>
        </p:txBody>
      </p:sp>
      <p:sp>
        <p:nvSpPr>
          <p:cNvPr id="4" name="Shape 2"/>
          <p:cNvSpPr/>
          <p:nvPr/>
        </p:nvSpPr>
        <p:spPr>
          <a:xfrm>
            <a:off x="658368" y="1389888"/>
            <a:ext cx="2423160" cy="1170432"/>
          </a:xfrm>
          <a:prstGeom prst="roundRect">
            <a:avLst>
              <a:gd name="adj" fmla="val 6250"/>
            </a:avLst>
          </a:prstGeom>
          <a:solidFill>
            <a:srgbClr val="FFFFFF"/>
          </a:solidFill>
          <a:ln w="12700">
            <a:solidFill>
              <a:srgbClr val="D5DBE5"/>
            </a:solidFill>
            <a:prstDash val="solid"/>
          </a:ln>
          <a:effectLst>
            <a:outerShdw blurRad="19050" dist="50800" dir="2700000" algn="bl" rotWithShape="0">
              <a:srgbClr val="94A3B8">
                <a:alpha val="12000"/>
              </a:srgbClr>
            </a:outerShdw>
          </a:effectLst>
        </p:spPr>
        <p:txBody>
          <a:bodyPr/>
          <a:lstStyle/>
          <a:p>
            <a:endParaRPr lang="en-CA"/>
          </a:p>
        </p:txBody>
      </p:sp>
      <p:sp>
        <p:nvSpPr>
          <p:cNvPr id="5" name="Shape 3"/>
          <p:cNvSpPr/>
          <p:nvPr/>
        </p:nvSpPr>
        <p:spPr>
          <a:xfrm>
            <a:off x="658368" y="1389888"/>
            <a:ext cx="64008" cy="1170432"/>
          </a:xfrm>
          <a:prstGeom prst="rect">
            <a:avLst/>
          </a:prstGeom>
          <a:solidFill>
            <a:srgbClr val="3B82F6"/>
          </a:solidFill>
          <a:ln w="12700">
            <a:solidFill>
              <a:srgbClr val="3B82F6"/>
            </a:solidFill>
            <a:prstDash val="solid"/>
          </a:ln>
        </p:spPr>
        <p:txBody>
          <a:bodyPr/>
          <a:lstStyle/>
          <a:p>
            <a:endParaRPr lang="en-CA"/>
          </a:p>
        </p:txBody>
      </p:sp>
      <p:sp>
        <p:nvSpPr>
          <p:cNvPr id="6" name="Text 4"/>
          <p:cNvSpPr/>
          <p:nvPr/>
        </p:nvSpPr>
        <p:spPr>
          <a:xfrm>
            <a:off x="914400" y="1536192"/>
            <a:ext cx="2057400" cy="475488"/>
          </a:xfrm>
          <a:prstGeom prst="rect">
            <a:avLst/>
          </a:prstGeom>
          <a:noFill/>
          <a:ln/>
        </p:spPr>
        <p:txBody>
          <a:bodyPr wrap="square" lIns="0" tIns="0" rIns="0" bIns="0" rtlCol="0" anchor="ctr"/>
          <a:lstStyle/>
          <a:p>
            <a:pPr marL="0" indent="0">
              <a:buNone/>
            </a:pPr>
            <a:r>
              <a:rPr lang="en-US" sz="2900" b="1" dirty="0">
                <a:solidFill>
                  <a:srgbClr val="172033"/>
                </a:solidFill>
                <a:latin typeface="Aptos SemiBold" pitchFamily="34" charset="0"/>
                <a:ea typeface="Aptos SemiBold" pitchFamily="34" charset="-122"/>
                <a:cs typeface="Aptos SemiBold" pitchFamily="34" charset="-120"/>
              </a:rPr>
              <a:t>44</a:t>
            </a:r>
            <a:endParaRPr lang="en-US" sz="2900" dirty="0"/>
          </a:p>
        </p:txBody>
      </p:sp>
      <p:sp>
        <p:nvSpPr>
          <p:cNvPr id="7" name="Text 5"/>
          <p:cNvSpPr/>
          <p:nvPr/>
        </p:nvSpPr>
        <p:spPr>
          <a:xfrm>
            <a:off x="914400" y="1925053"/>
            <a:ext cx="2057400" cy="562115"/>
          </a:xfrm>
          <a:prstGeom prst="rect">
            <a:avLst/>
          </a:prstGeom>
          <a:noFill/>
          <a:ln/>
        </p:spPr>
        <p:txBody>
          <a:bodyPr wrap="square" lIns="0" tIns="0" rIns="0" bIns="0" rtlCol="0" anchor="ctr">
            <a:normAutofit/>
          </a:bodyPr>
          <a:lstStyle/>
          <a:p>
            <a:pPr marL="0" indent="0">
              <a:buNone/>
            </a:pPr>
            <a:r>
              <a:rPr lang="en-US" sz="1200" dirty="0">
                <a:solidFill>
                  <a:srgbClr val="5F6B7A"/>
                </a:solidFill>
                <a:latin typeface="Aptos" pitchFamily="34" charset="0"/>
                <a:ea typeface="Aptos" pitchFamily="34" charset="-122"/>
                <a:cs typeface="Aptos" pitchFamily="34" charset="-120"/>
              </a:rPr>
              <a:t>Health Track sessions</a:t>
            </a:r>
            <a:endParaRPr lang="en-US" sz="1200" dirty="0"/>
          </a:p>
          <a:p>
            <a:pPr marL="0" indent="0">
              <a:buNone/>
            </a:pPr>
            <a:r>
              <a:rPr lang="en-US" sz="1200" dirty="0">
                <a:solidFill>
                  <a:srgbClr val="5F6B7A"/>
                </a:solidFill>
                <a:latin typeface="Aptos" pitchFamily="34" charset="0"/>
                <a:ea typeface="Aptos" pitchFamily="34" charset="-122"/>
                <a:cs typeface="Aptos" pitchFamily="34" charset="-120"/>
              </a:rPr>
              <a:t>in the observed 30-day window</a:t>
            </a:r>
            <a:endParaRPr lang="en-US" sz="1200" dirty="0"/>
          </a:p>
        </p:txBody>
      </p:sp>
      <p:sp>
        <p:nvSpPr>
          <p:cNvPr id="8" name="Shape 6"/>
          <p:cNvSpPr/>
          <p:nvPr/>
        </p:nvSpPr>
        <p:spPr>
          <a:xfrm>
            <a:off x="3246120" y="1389888"/>
            <a:ext cx="2423160" cy="1170432"/>
          </a:xfrm>
          <a:prstGeom prst="roundRect">
            <a:avLst>
              <a:gd name="adj" fmla="val 6250"/>
            </a:avLst>
          </a:prstGeom>
          <a:solidFill>
            <a:srgbClr val="FFFFFF"/>
          </a:solidFill>
          <a:ln w="12700">
            <a:solidFill>
              <a:srgbClr val="D5DBE5"/>
            </a:solidFill>
            <a:prstDash val="solid"/>
          </a:ln>
          <a:effectLst>
            <a:outerShdw blurRad="19050" dist="50800" dir="2700000" algn="bl" rotWithShape="0">
              <a:srgbClr val="94A3B8">
                <a:alpha val="12000"/>
              </a:srgbClr>
            </a:outerShdw>
          </a:effectLst>
        </p:spPr>
        <p:txBody>
          <a:bodyPr/>
          <a:lstStyle/>
          <a:p>
            <a:endParaRPr lang="en-CA"/>
          </a:p>
        </p:txBody>
      </p:sp>
      <p:sp>
        <p:nvSpPr>
          <p:cNvPr id="9" name="Shape 7"/>
          <p:cNvSpPr/>
          <p:nvPr/>
        </p:nvSpPr>
        <p:spPr>
          <a:xfrm>
            <a:off x="3246120" y="1389888"/>
            <a:ext cx="64008" cy="1170432"/>
          </a:xfrm>
          <a:prstGeom prst="rect">
            <a:avLst/>
          </a:prstGeom>
          <a:solidFill>
            <a:srgbClr val="0F766E"/>
          </a:solidFill>
          <a:ln w="12700">
            <a:solidFill>
              <a:srgbClr val="0F766E"/>
            </a:solidFill>
            <a:prstDash val="solid"/>
          </a:ln>
        </p:spPr>
        <p:txBody>
          <a:bodyPr/>
          <a:lstStyle/>
          <a:p>
            <a:endParaRPr lang="en-CA"/>
          </a:p>
        </p:txBody>
      </p:sp>
      <p:sp>
        <p:nvSpPr>
          <p:cNvPr id="10" name="Text 8"/>
          <p:cNvSpPr/>
          <p:nvPr/>
        </p:nvSpPr>
        <p:spPr>
          <a:xfrm>
            <a:off x="3502152" y="1536192"/>
            <a:ext cx="2057400" cy="475488"/>
          </a:xfrm>
          <a:prstGeom prst="rect">
            <a:avLst/>
          </a:prstGeom>
          <a:noFill/>
          <a:ln/>
        </p:spPr>
        <p:txBody>
          <a:bodyPr wrap="square" lIns="0" tIns="0" rIns="0" bIns="0" rtlCol="0" anchor="ctr"/>
          <a:lstStyle/>
          <a:p>
            <a:pPr marL="0" indent="0">
              <a:buNone/>
            </a:pPr>
            <a:r>
              <a:rPr lang="en-US" sz="2900" b="1">
                <a:solidFill>
                  <a:srgbClr val="172033"/>
                </a:solidFill>
                <a:latin typeface="Aptos SemiBold" pitchFamily="34" charset="0"/>
                <a:ea typeface="Aptos SemiBold" pitchFamily="34" charset="-122"/>
                <a:cs typeface="Aptos SemiBold" pitchFamily="34" charset="-120"/>
              </a:rPr>
              <a:t>657</a:t>
            </a:r>
            <a:endParaRPr lang="en-US" sz="2900" dirty="0"/>
          </a:p>
        </p:txBody>
      </p:sp>
      <p:sp>
        <p:nvSpPr>
          <p:cNvPr id="11" name="Text 9"/>
          <p:cNvSpPr/>
          <p:nvPr/>
        </p:nvSpPr>
        <p:spPr>
          <a:xfrm>
            <a:off x="3502152" y="2103120"/>
            <a:ext cx="2057400" cy="237744"/>
          </a:xfrm>
          <a:prstGeom prst="rect">
            <a:avLst/>
          </a:prstGeom>
          <a:noFill/>
          <a:ln/>
        </p:spPr>
        <p:txBody>
          <a:bodyPr wrap="square" lIns="0" tIns="0" rIns="0" bIns="0" rtlCol="0" anchor="ctr">
            <a:normAutofit/>
          </a:bodyPr>
          <a:lstStyle/>
          <a:p>
            <a:pPr marL="0" indent="0">
              <a:buNone/>
            </a:pPr>
            <a:r>
              <a:rPr lang="en-US" sz="1400" dirty="0">
                <a:solidFill>
                  <a:srgbClr val="5F6B7A"/>
                </a:solidFill>
                <a:latin typeface="Aptos" pitchFamily="34" charset="0"/>
                <a:ea typeface="Aptos" pitchFamily="34" charset="-122"/>
                <a:cs typeface="Aptos" pitchFamily="34" charset="-120"/>
              </a:rPr>
              <a:t>Recorded turns</a:t>
            </a:r>
            <a:endParaRPr lang="en-US" sz="1400" dirty="0"/>
          </a:p>
        </p:txBody>
      </p:sp>
      <p:sp>
        <p:nvSpPr>
          <p:cNvPr id="12" name="Shape 10"/>
          <p:cNvSpPr/>
          <p:nvPr/>
        </p:nvSpPr>
        <p:spPr>
          <a:xfrm>
            <a:off x="5833872" y="1389888"/>
            <a:ext cx="2423160" cy="1170432"/>
          </a:xfrm>
          <a:prstGeom prst="roundRect">
            <a:avLst>
              <a:gd name="adj" fmla="val 6250"/>
            </a:avLst>
          </a:prstGeom>
          <a:solidFill>
            <a:srgbClr val="FFFFFF"/>
          </a:solidFill>
          <a:ln w="12700">
            <a:solidFill>
              <a:srgbClr val="D5DBE5"/>
            </a:solidFill>
            <a:prstDash val="solid"/>
          </a:ln>
          <a:effectLst>
            <a:outerShdw blurRad="19050" dist="50800" dir="2700000" algn="bl" rotWithShape="0">
              <a:srgbClr val="94A3B8">
                <a:alpha val="12000"/>
              </a:srgbClr>
            </a:outerShdw>
          </a:effectLst>
        </p:spPr>
        <p:txBody>
          <a:bodyPr/>
          <a:lstStyle/>
          <a:p>
            <a:endParaRPr lang="en-CA"/>
          </a:p>
        </p:txBody>
      </p:sp>
      <p:sp>
        <p:nvSpPr>
          <p:cNvPr id="13" name="Shape 11"/>
          <p:cNvSpPr/>
          <p:nvPr/>
        </p:nvSpPr>
        <p:spPr>
          <a:xfrm>
            <a:off x="5833872" y="1389888"/>
            <a:ext cx="64008" cy="1170432"/>
          </a:xfrm>
          <a:prstGeom prst="rect">
            <a:avLst/>
          </a:prstGeom>
          <a:solidFill>
            <a:srgbClr val="D97706"/>
          </a:solidFill>
          <a:ln w="12700">
            <a:solidFill>
              <a:srgbClr val="D97706"/>
            </a:solidFill>
            <a:prstDash val="solid"/>
          </a:ln>
        </p:spPr>
        <p:txBody>
          <a:bodyPr/>
          <a:lstStyle/>
          <a:p>
            <a:endParaRPr lang="en-CA"/>
          </a:p>
        </p:txBody>
      </p:sp>
      <p:sp>
        <p:nvSpPr>
          <p:cNvPr id="14" name="Text 12"/>
          <p:cNvSpPr/>
          <p:nvPr/>
        </p:nvSpPr>
        <p:spPr>
          <a:xfrm>
            <a:off x="6089904" y="1536192"/>
            <a:ext cx="2057400" cy="475488"/>
          </a:xfrm>
          <a:prstGeom prst="rect">
            <a:avLst/>
          </a:prstGeom>
          <a:noFill/>
          <a:ln/>
        </p:spPr>
        <p:txBody>
          <a:bodyPr wrap="square" lIns="0" tIns="0" rIns="0" bIns="0" rtlCol="0" anchor="ctr"/>
          <a:lstStyle/>
          <a:p>
            <a:pPr marL="0" indent="0">
              <a:buNone/>
            </a:pPr>
            <a:r>
              <a:rPr lang="en-US" sz="2900" b="1">
                <a:solidFill>
                  <a:srgbClr val="172033"/>
                </a:solidFill>
                <a:latin typeface="Aptos SemiBold" pitchFamily="34" charset="0"/>
                <a:ea typeface="Aptos SemiBold" pitchFamily="34" charset="-122"/>
                <a:cs typeface="Aptos SemiBold" pitchFamily="34" charset="-120"/>
              </a:rPr>
              <a:t>430</a:t>
            </a:r>
            <a:endParaRPr lang="en-US" sz="2900" dirty="0"/>
          </a:p>
        </p:txBody>
      </p:sp>
      <p:sp>
        <p:nvSpPr>
          <p:cNvPr id="15" name="Text 13"/>
          <p:cNvSpPr/>
          <p:nvPr/>
        </p:nvSpPr>
        <p:spPr>
          <a:xfrm>
            <a:off x="6089904" y="2103120"/>
            <a:ext cx="2057400" cy="237744"/>
          </a:xfrm>
          <a:prstGeom prst="rect">
            <a:avLst/>
          </a:prstGeom>
          <a:noFill/>
          <a:ln/>
        </p:spPr>
        <p:txBody>
          <a:bodyPr wrap="square" lIns="0" tIns="0" rIns="0" bIns="0" rtlCol="0" anchor="ctr">
            <a:normAutofit/>
          </a:bodyPr>
          <a:lstStyle/>
          <a:p>
            <a:pPr marL="0" indent="0">
              <a:buNone/>
            </a:pPr>
            <a:r>
              <a:rPr lang="en-US" sz="1400" dirty="0">
                <a:solidFill>
                  <a:srgbClr val="5F6B7A"/>
                </a:solidFill>
                <a:latin typeface="Aptos" pitchFamily="34" charset="0"/>
                <a:ea typeface="Aptos" pitchFamily="34" charset="-122"/>
                <a:cs typeface="Aptos" pitchFamily="34" charset="-120"/>
              </a:rPr>
              <a:t>Session file-touch total</a:t>
            </a:r>
            <a:endParaRPr lang="en-US" sz="1400" dirty="0"/>
          </a:p>
        </p:txBody>
      </p:sp>
      <p:sp>
        <p:nvSpPr>
          <p:cNvPr id="16" name="Shape 14"/>
          <p:cNvSpPr/>
          <p:nvPr/>
        </p:nvSpPr>
        <p:spPr>
          <a:xfrm>
            <a:off x="8421624" y="1389888"/>
            <a:ext cx="2926080" cy="1170432"/>
          </a:xfrm>
          <a:prstGeom prst="roundRect">
            <a:avLst>
              <a:gd name="adj" fmla="val 6250"/>
            </a:avLst>
          </a:prstGeom>
          <a:solidFill>
            <a:srgbClr val="FFFFFF"/>
          </a:solidFill>
          <a:ln w="12700">
            <a:solidFill>
              <a:srgbClr val="D5DBE5"/>
            </a:solidFill>
            <a:prstDash val="solid"/>
          </a:ln>
          <a:effectLst>
            <a:outerShdw blurRad="19050" dist="50800" dir="2700000" algn="bl" rotWithShape="0">
              <a:srgbClr val="94A3B8">
                <a:alpha val="12000"/>
              </a:srgbClr>
            </a:outerShdw>
          </a:effectLst>
        </p:spPr>
        <p:txBody>
          <a:bodyPr/>
          <a:lstStyle/>
          <a:p>
            <a:endParaRPr lang="en-CA"/>
          </a:p>
        </p:txBody>
      </p:sp>
      <p:sp>
        <p:nvSpPr>
          <p:cNvPr id="17" name="Shape 15"/>
          <p:cNvSpPr/>
          <p:nvPr/>
        </p:nvSpPr>
        <p:spPr>
          <a:xfrm>
            <a:off x="8421624" y="1389888"/>
            <a:ext cx="64008" cy="1170432"/>
          </a:xfrm>
          <a:prstGeom prst="rect">
            <a:avLst/>
          </a:prstGeom>
          <a:solidFill>
            <a:srgbClr val="1E40AF"/>
          </a:solidFill>
          <a:ln w="12700">
            <a:solidFill>
              <a:srgbClr val="1E40AF"/>
            </a:solidFill>
            <a:prstDash val="solid"/>
          </a:ln>
        </p:spPr>
        <p:txBody>
          <a:bodyPr/>
          <a:lstStyle/>
          <a:p>
            <a:endParaRPr lang="en-CA"/>
          </a:p>
        </p:txBody>
      </p:sp>
      <p:sp>
        <p:nvSpPr>
          <p:cNvPr id="18" name="Text 16"/>
          <p:cNvSpPr/>
          <p:nvPr/>
        </p:nvSpPr>
        <p:spPr>
          <a:xfrm>
            <a:off x="8677656" y="1536192"/>
            <a:ext cx="2560320" cy="475488"/>
          </a:xfrm>
          <a:prstGeom prst="rect">
            <a:avLst/>
          </a:prstGeom>
          <a:noFill/>
          <a:ln/>
        </p:spPr>
        <p:txBody>
          <a:bodyPr wrap="square" lIns="0" tIns="0" rIns="0" bIns="0" rtlCol="0" anchor="ctr"/>
          <a:lstStyle/>
          <a:p>
            <a:pPr marL="0" indent="0">
              <a:buNone/>
            </a:pPr>
            <a:r>
              <a:rPr lang="en-US" sz="2900" b="1">
                <a:solidFill>
                  <a:srgbClr val="172033"/>
                </a:solidFill>
                <a:latin typeface="Aptos SemiBold" pitchFamily="34" charset="0"/>
                <a:ea typeface="Aptos SemiBold" pitchFamily="34" charset="-122"/>
                <a:cs typeface="Aptos SemiBold" pitchFamily="34" charset="-120"/>
              </a:rPr>
              <a:t>80 / 80</a:t>
            </a:r>
            <a:endParaRPr lang="en-US" sz="2900" dirty="0"/>
          </a:p>
        </p:txBody>
      </p:sp>
      <p:sp>
        <p:nvSpPr>
          <p:cNvPr id="19" name="Text 17"/>
          <p:cNvSpPr/>
          <p:nvPr/>
        </p:nvSpPr>
        <p:spPr>
          <a:xfrm>
            <a:off x="8677656" y="1925053"/>
            <a:ext cx="2560320" cy="635267"/>
          </a:xfrm>
          <a:prstGeom prst="rect">
            <a:avLst/>
          </a:prstGeom>
          <a:noFill/>
          <a:ln/>
        </p:spPr>
        <p:txBody>
          <a:bodyPr wrap="square" lIns="0" tIns="0" rIns="0" bIns="0" rtlCol="0" anchor="ctr">
            <a:normAutofit/>
          </a:bodyPr>
          <a:lstStyle/>
          <a:p>
            <a:pPr marL="0" indent="0">
              <a:buNone/>
            </a:pPr>
            <a:r>
              <a:rPr lang="en-US" sz="1400" dirty="0">
                <a:solidFill>
                  <a:srgbClr val="5F6B7A"/>
                </a:solidFill>
                <a:latin typeface="Aptos" pitchFamily="34" charset="0"/>
                <a:ea typeface="Aptos" pitchFamily="34" charset="-122"/>
                <a:cs typeface="Aptos" pitchFamily="34" charset="-120"/>
              </a:rPr>
              <a:t>Recent commits / commits with</a:t>
            </a:r>
            <a:endParaRPr lang="en-US" sz="1400" dirty="0"/>
          </a:p>
          <a:p>
            <a:pPr marL="0" indent="0">
              <a:buNone/>
            </a:pPr>
            <a:r>
              <a:rPr lang="en-US" sz="1400" dirty="0">
                <a:solidFill>
                  <a:srgbClr val="5F6B7A"/>
                </a:solidFill>
                <a:latin typeface="Aptos" pitchFamily="34" charset="0"/>
                <a:ea typeface="Aptos" pitchFamily="34" charset="-122"/>
                <a:cs typeface="Aptos" pitchFamily="34" charset="-120"/>
              </a:rPr>
              <a:t>Copilot co-author trailer</a:t>
            </a:r>
            <a:endParaRPr lang="en-US" sz="1400" dirty="0"/>
          </a:p>
        </p:txBody>
      </p:sp>
      <p:grpSp>
        <p:nvGrpSpPr>
          <p:cNvPr id="28" name="Group 27">
            <a:extLst>
              <a:ext uri="{FF2B5EF4-FFF2-40B4-BE49-F238E27FC236}">
                <a16:creationId xmlns:a16="http://schemas.microsoft.com/office/drawing/2014/main" id="{CBFA23B4-C588-196E-814C-FA9377CCDFFF}"/>
              </a:ext>
            </a:extLst>
          </p:cNvPr>
          <p:cNvGrpSpPr/>
          <p:nvPr/>
        </p:nvGrpSpPr>
        <p:grpSpPr>
          <a:xfrm>
            <a:off x="568647" y="5164223"/>
            <a:ext cx="9049652" cy="713232"/>
            <a:chOff x="713232" y="2971800"/>
            <a:chExt cx="9049652" cy="713232"/>
          </a:xfrm>
        </p:grpSpPr>
        <p:sp>
          <p:nvSpPr>
            <p:cNvPr id="20" name="Shape 18"/>
            <p:cNvSpPr/>
            <p:nvPr/>
          </p:nvSpPr>
          <p:spPr>
            <a:xfrm>
              <a:off x="713232" y="2971800"/>
              <a:ext cx="64008" cy="713232"/>
            </a:xfrm>
            <a:prstGeom prst="rect">
              <a:avLst/>
            </a:prstGeom>
            <a:solidFill>
              <a:srgbClr val="D97706"/>
            </a:solidFill>
            <a:ln w="12700">
              <a:solidFill>
                <a:srgbClr val="D97706"/>
              </a:solidFill>
              <a:prstDash val="solid"/>
            </a:ln>
          </p:spPr>
          <p:txBody>
            <a:bodyPr/>
            <a:lstStyle/>
            <a:p>
              <a:endParaRPr lang="en-CA"/>
            </a:p>
          </p:txBody>
        </p:sp>
        <p:sp>
          <p:nvSpPr>
            <p:cNvPr id="21" name="Text 19"/>
            <p:cNvSpPr/>
            <p:nvPr/>
          </p:nvSpPr>
          <p:spPr>
            <a:xfrm>
              <a:off x="941832" y="2990088"/>
              <a:ext cx="8821052" cy="676656"/>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These are activity signals. They do not prove productivity, quality, or causation.</a:t>
              </a:r>
              <a:endParaRPr lang="en-US" sz="1900" dirty="0"/>
            </a:p>
          </p:txBody>
        </p:sp>
      </p:grpSp>
      <p:sp>
        <p:nvSpPr>
          <p:cNvPr id="27"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5</a:t>
            </a:r>
            <a:endParaRPr lang="en-US"/>
          </a:p>
        </p:txBody>
      </p:sp>
      <p:grpSp>
        <p:nvGrpSpPr>
          <p:cNvPr id="29" name="Group 28">
            <a:extLst>
              <a:ext uri="{FF2B5EF4-FFF2-40B4-BE49-F238E27FC236}">
                <a16:creationId xmlns:a16="http://schemas.microsoft.com/office/drawing/2014/main" id="{0FC866B6-10C1-CED2-0613-3CBA0DB41973}"/>
              </a:ext>
            </a:extLst>
          </p:cNvPr>
          <p:cNvGrpSpPr/>
          <p:nvPr/>
        </p:nvGrpSpPr>
        <p:grpSpPr>
          <a:xfrm>
            <a:off x="661048" y="2849078"/>
            <a:ext cx="10698480" cy="1769872"/>
            <a:chOff x="713232" y="4041648"/>
            <a:chExt cx="10698480" cy="1769872"/>
          </a:xfrm>
        </p:grpSpPr>
        <p:sp>
          <p:nvSpPr>
            <p:cNvPr id="22" name="Shape 20"/>
            <p:cNvSpPr/>
            <p:nvPr/>
          </p:nvSpPr>
          <p:spPr>
            <a:xfrm>
              <a:off x="713232" y="4041648"/>
              <a:ext cx="10698480" cy="1769872"/>
            </a:xfrm>
            <a:prstGeom prst="roundRect">
              <a:avLst>
                <a:gd name="adj" fmla="val 5797"/>
              </a:avLst>
            </a:prstGeom>
            <a:solidFill>
              <a:srgbClr val="FFFFFF"/>
            </a:solidFill>
            <a:ln w="12700">
              <a:solidFill>
                <a:srgbClr val="D5DBE5"/>
              </a:solidFill>
              <a:prstDash val="solid"/>
            </a:ln>
          </p:spPr>
          <p:txBody>
            <a:bodyPr/>
            <a:lstStyle/>
            <a:p>
              <a:endParaRPr lang="en-CA"/>
            </a:p>
          </p:txBody>
        </p:sp>
        <p:sp>
          <p:nvSpPr>
            <p:cNvPr id="23" name="Text 21"/>
            <p:cNvSpPr/>
            <p:nvPr/>
          </p:nvSpPr>
          <p:spPr>
            <a:xfrm>
              <a:off x="960120" y="4297680"/>
              <a:ext cx="3225800" cy="475488"/>
            </a:xfrm>
            <a:prstGeom prst="rect">
              <a:avLst/>
            </a:prstGeom>
            <a:noFill/>
            <a:ln/>
          </p:spPr>
          <p:txBody>
            <a:bodyPr wrap="square" lIns="0" tIns="0" rIns="0" bIns="0" rtlCol="0" anchor="ctr"/>
            <a:lstStyle/>
            <a:p>
              <a:pPr marL="0" indent="0">
                <a:buNone/>
              </a:pPr>
              <a:r>
                <a:rPr lang="en-US" sz="1700" dirty="0">
                  <a:solidFill>
                    <a:srgbClr val="172033"/>
                  </a:solidFill>
                  <a:latin typeface="Aptos SemiBold" pitchFamily="34" charset="0"/>
                  <a:ea typeface="Aptos SemiBold" pitchFamily="34" charset="-122"/>
                  <a:cs typeface="Aptos SemiBold" pitchFamily="34" charset="-120"/>
                </a:rPr>
                <a:t>What the evidence can support</a:t>
              </a:r>
              <a:endParaRPr lang="en-US" sz="1700" dirty="0"/>
            </a:p>
          </p:txBody>
        </p:sp>
        <p:sp>
          <p:nvSpPr>
            <p:cNvPr id="24" name="Text 22"/>
            <p:cNvSpPr/>
            <p:nvPr/>
          </p:nvSpPr>
          <p:spPr>
            <a:xfrm>
              <a:off x="4358640" y="4261104"/>
              <a:ext cx="6695440" cy="512064"/>
            </a:xfrm>
            <a:prstGeom prst="rect">
              <a:avLst/>
            </a:prstGeom>
            <a:noFill/>
            <a:ln/>
          </p:spPr>
          <p:txBody>
            <a:bodyPr wrap="square" lIns="0" tIns="0" rIns="0" bIns="0" rtlCol="0" anchor="ctr">
              <a:normAutofit/>
            </a:bodyPr>
            <a:lstStyle/>
            <a:p>
              <a:pPr marL="0" indent="0">
                <a:buNone/>
              </a:pPr>
              <a:r>
                <a:rPr lang="en-US" sz="1600">
                  <a:solidFill>
                    <a:srgbClr val="5F6B7A"/>
                  </a:solidFill>
                  <a:latin typeface="Aptos" pitchFamily="34" charset="0"/>
                  <a:ea typeface="Aptos" pitchFamily="34" charset="-122"/>
                  <a:cs typeface="Aptos" pitchFamily="34" charset="-120"/>
                </a:rPr>
                <a:t>A concrete evolution of practices • repeatable failure and recovery stories • controls that caught real defects • friction exposed by reuse</a:t>
              </a:r>
              <a:endParaRPr lang="en-US" sz="1600"/>
            </a:p>
          </p:txBody>
        </p:sp>
        <p:sp>
          <p:nvSpPr>
            <p:cNvPr id="25" name="Text 23"/>
            <p:cNvSpPr/>
            <p:nvPr/>
          </p:nvSpPr>
          <p:spPr>
            <a:xfrm>
              <a:off x="960120" y="5248656"/>
              <a:ext cx="2971800" cy="274320"/>
            </a:xfrm>
            <a:prstGeom prst="rect">
              <a:avLst/>
            </a:prstGeom>
            <a:noFill/>
            <a:ln/>
          </p:spPr>
          <p:txBody>
            <a:bodyPr wrap="square" lIns="0" tIns="0" rIns="0" bIns="0" rtlCol="0" anchor="ctr"/>
            <a:lstStyle/>
            <a:p>
              <a:pPr marL="0" indent="0">
                <a:buNone/>
              </a:pPr>
              <a:r>
                <a:rPr lang="en-US" sz="1700">
                  <a:solidFill>
                    <a:srgbClr val="172033"/>
                  </a:solidFill>
                  <a:latin typeface="Aptos SemiBold" pitchFamily="34" charset="0"/>
                  <a:ea typeface="Aptos SemiBold" pitchFamily="34" charset="-122"/>
                  <a:cs typeface="Aptos SemiBold" pitchFamily="34" charset="-120"/>
                </a:rPr>
                <a:t>What it cannot support</a:t>
              </a:r>
              <a:endParaRPr lang="en-US" sz="1700"/>
            </a:p>
          </p:txBody>
        </p:sp>
        <p:sp>
          <p:nvSpPr>
            <p:cNvPr id="26" name="Text 24"/>
            <p:cNvSpPr/>
            <p:nvPr/>
          </p:nvSpPr>
          <p:spPr>
            <a:xfrm>
              <a:off x="4358640" y="5230368"/>
              <a:ext cx="6766560" cy="411480"/>
            </a:xfrm>
            <a:prstGeom prst="rect">
              <a:avLst/>
            </a:prstGeom>
            <a:noFill/>
            <a:ln/>
          </p:spPr>
          <p:txBody>
            <a:bodyPr wrap="square" lIns="0" tIns="0" rIns="0" bIns="0" rtlCol="0" anchor="ctr">
              <a:normAutofit fontScale="92500" lnSpcReduction="20000"/>
            </a:bodyPr>
            <a:lstStyle/>
            <a:p>
              <a:pPr marL="0" indent="0">
                <a:buNone/>
              </a:pPr>
              <a:r>
                <a:rPr lang="en-US" sz="1600">
                  <a:solidFill>
                    <a:srgbClr val="5F6B7A"/>
                  </a:solidFill>
                  <a:latin typeface="Aptos" pitchFamily="34" charset="0"/>
                  <a:ea typeface="Aptos" pitchFamily="34" charset="-122"/>
                  <a:cs typeface="Aptos" pitchFamily="34" charset="-120"/>
                </a:rPr>
                <a:t>Organization-wide ROI • controlled comparison against non-AI work • elimination of human review • universal best practice</a:t>
              </a:r>
              <a:endParaRPr lang="en-US" sz="16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EXPERIENCE CURVE</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Display" panose="020B0004020202020204" pitchFamily="34" charset="0"/>
                <a:ea typeface="Aptos SemiBold" pitchFamily="34" charset="-122"/>
                <a:cs typeface="Aptos SemiBold" pitchFamily="34" charset="-120"/>
              </a:rPr>
              <a:t>The session became the system</a:t>
            </a:r>
            <a:endParaRPr lang="en-US" sz="2800" dirty="0">
              <a:latin typeface="Aptos Display" panose="020B0004020202020204" pitchFamily="34" charset="0"/>
            </a:endParaRPr>
          </a:p>
        </p:txBody>
      </p:sp>
      <p:sp>
        <p:nvSpPr>
          <p:cNvPr id="33"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6</a:t>
            </a:r>
            <a:endParaRPr lang="en-US"/>
          </a:p>
        </p:txBody>
      </p:sp>
      <p:pic>
        <p:nvPicPr>
          <p:cNvPr id="37" name="Picture 36">
            <a:extLst>
              <a:ext uri="{FF2B5EF4-FFF2-40B4-BE49-F238E27FC236}">
                <a16:creationId xmlns:a16="http://schemas.microsoft.com/office/drawing/2014/main" id="{C689B973-616C-C911-3903-6E1F8141BF2F}"/>
              </a:ext>
            </a:extLst>
          </p:cNvPr>
          <p:cNvPicPr>
            <a:picLocks noChangeAspect="1"/>
          </p:cNvPicPr>
          <p:nvPr/>
        </p:nvPicPr>
        <p:blipFill>
          <a:blip r:embed="rId3"/>
          <a:stretch>
            <a:fillRect/>
          </a:stretch>
        </p:blipFill>
        <p:spPr>
          <a:xfrm>
            <a:off x="2083429" y="1309517"/>
            <a:ext cx="7706868" cy="1069262"/>
          </a:xfrm>
          <a:prstGeom prst="rect">
            <a:avLst/>
          </a:prstGeom>
        </p:spPr>
      </p:pic>
      <p:pic>
        <p:nvPicPr>
          <p:cNvPr id="39" name="Picture 38">
            <a:extLst>
              <a:ext uri="{FF2B5EF4-FFF2-40B4-BE49-F238E27FC236}">
                <a16:creationId xmlns:a16="http://schemas.microsoft.com/office/drawing/2014/main" id="{6B6EA059-74FA-2B39-1454-5BFC03B38DD4}"/>
              </a:ext>
            </a:extLst>
          </p:cNvPr>
          <p:cNvPicPr>
            <a:picLocks noChangeAspect="1"/>
          </p:cNvPicPr>
          <p:nvPr/>
        </p:nvPicPr>
        <p:blipFill>
          <a:blip r:embed="rId4"/>
          <a:stretch>
            <a:fillRect/>
          </a:stretch>
        </p:blipFill>
        <p:spPr>
          <a:xfrm>
            <a:off x="3980801" y="2554440"/>
            <a:ext cx="4419373" cy="31286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6C75-860D-E7D6-708A-5082A2381D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44096E-A15C-4AD0-50A1-949D2D490A64}"/>
              </a:ext>
            </a:extLst>
          </p:cNvPr>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EXPERIENCE CURVE</a:t>
            </a:r>
            <a:endParaRPr lang="en-US" sz="1000" dirty="0"/>
          </a:p>
        </p:txBody>
      </p:sp>
      <p:sp>
        <p:nvSpPr>
          <p:cNvPr id="3" name="Text 1">
            <a:extLst>
              <a:ext uri="{FF2B5EF4-FFF2-40B4-BE49-F238E27FC236}">
                <a16:creationId xmlns:a16="http://schemas.microsoft.com/office/drawing/2014/main" id="{F043116E-F871-7028-F26B-84AAAB622DD6}"/>
              </a:ext>
            </a:extLst>
          </p:cNvPr>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The prompt became three words</a:t>
            </a:r>
            <a:endParaRPr lang="en-US" sz="2800" dirty="0"/>
          </a:p>
        </p:txBody>
      </p:sp>
      <p:sp>
        <p:nvSpPr>
          <p:cNvPr id="33" name="Slide Number Placeholder 0">
            <a:extLst>
              <a:ext uri="{FF2B5EF4-FFF2-40B4-BE49-F238E27FC236}">
                <a16:creationId xmlns:a16="http://schemas.microsoft.com/office/drawing/2014/main" id="{AE376951-4876-0A04-CE40-41B347EBA7B1}"/>
              </a:ext>
            </a:extLst>
          </p:cNvPr>
          <p:cNvSpPr>
            <a:spLocks noGrp="1"/>
          </p:cNvSpPr>
          <p:nvPr>
            <p:ph type="sldNum" sz="quarter" idx="4294967295"/>
          </p:nvPr>
        </p:nvSpPr>
        <p:spPr>
          <a:xfrm>
            <a:off x="11731752" y="6428232"/>
            <a:ext cx="201168" cy="201168"/>
          </a:xfrm>
          <a:prstGeom prst="rect">
            <a:avLst/>
          </a:prstGeom>
          <a:extLst>
            <a:ext uri="{C572A759-6A51-4108-AA02-DFA0A04FC94B}">
              <ma14:wrappingTextBoxFlag xmlns="" xmlns:ma14="http://schemas.microsoft.com/office/mac/drawingml/2011/main"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7</a:t>
            </a:r>
            <a:endParaRPr lang="en-US"/>
          </a:p>
        </p:txBody>
      </p:sp>
      <p:pic>
        <p:nvPicPr>
          <p:cNvPr id="7" name="Picture 6">
            <a:extLst>
              <a:ext uri="{FF2B5EF4-FFF2-40B4-BE49-F238E27FC236}">
                <a16:creationId xmlns:a16="http://schemas.microsoft.com/office/drawing/2014/main" id="{C3D10BBE-4095-B6E3-B2CC-7DD74ECEA857}"/>
              </a:ext>
            </a:extLst>
          </p:cNvPr>
          <p:cNvPicPr>
            <a:picLocks noChangeAspect="1"/>
          </p:cNvPicPr>
          <p:nvPr/>
        </p:nvPicPr>
        <p:blipFill>
          <a:blip r:embed="rId3"/>
          <a:stretch>
            <a:fillRect/>
          </a:stretch>
        </p:blipFill>
        <p:spPr>
          <a:xfrm>
            <a:off x="548640" y="1220628"/>
            <a:ext cx="9211961" cy="1686160"/>
          </a:xfrm>
          <a:prstGeom prst="rect">
            <a:avLst/>
          </a:prstGeom>
        </p:spPr>
      </p:pic>
      <p:pic>
        <p:nvPicPr>
          <p:cNvPr id="9" name="Picture 8">
            <a:extLst>
              <a:ext uri="{FF2B5EF4-FFF2-40B4-BE49-F238E27FC236}">
                <a16:creationId xmlns:a16="http://schemas.microsoft.com/office/drawing/2014/main" id="{8983E90C-F44D-C7A5-1212-F384198DFD95}"/>
              </a:ext>
            </a:extLst>
          </p:cNvPr>
          <p:cNvPicPr>
            <a:picLocks noChangeAspect="1"/>
          </p:cNvPicPr>
          <p:nvPr/>
        </p:nvPicPr>
        <p:blipFill>
          <a:blip r:embed="rId4"/>
          <a:stretch>
            <a:fillRect/>
          </a:stretch>
        </p:blipFill>
        <p:spPr>
          <a:xfrm>
            <a:off x="960909" y="2240287"/>
            <a:ext cx="9326277" cy="2419688"/>
          </a:xfrm>
          <a:prstGeom prst="rect">
            <a:avLst/>
          </a:prstGeom>
        </p:spPr>
      </p:pic>
      <p:pic>
        <p:nvPicPr>
          <p:cNvPr id="11" name="Picture 10">
            <a:extLst>
              <a:ext uri="{FF2B5EF4-FFF2-40B4-BE49-F238E27FC236}">
                <a16:creationId xmlns:a16="http://schemas.microsoft.com/office/drawing/2014/main" id="{5BA31B4E-2B2D-68A9-1104-4283F0C933D5}"/>
              </a:ext>
            </a:extLst>
          </p:cNvPr>
          <p:cNvPicPr>
            <a:picLocks noChangeAspect="1"/>
          </p:cNvPicPr>
          <p:nvPr/>
        </p:nvPicPr>
        <p:blipFill>
          <a:blip r:embed="rId5"/>
          <a:stretch>
            <a:fillRect/>
          </a:stretch>
        </p:blipFill>
        <p:spPr>
          <a:xfrm>
            <a:off x="1559350" y="2822235"/>
            <a:ext cx="9450119" cy="2724530"/>
          </a:xfrm>
          <a:prstGeom prst="rect">
            <a:avLst/>
          </a:prstGeom>
        </p:spPr>
      </p:pic>
      <p:pic>
        <p:nvPicPr>
          <p:cNvPr id="13" name="Picture 12">
            <a:extLst>
              <a:ext uri="{FF2B5EF4-FFF2-40B4-BE49-F238E27FC236}">
                <a16:creationId xmlns:a16="http://schemas.microsoft.com/office/drawing/2014/main" id="{423A2BA4-2000-4C8C-FC2F-FADD3DEE2CAD}"/>
              </a:ext>
            </a:extLst>
          </p:cNvPr>
          <p:cNvPicPr>
            <a:picLocks noChangeAspect="1"/>
          </p:cNvPicPr>
          <p:nvPr/>
        </p:nvPicPr>
        <p:blipFill>
          <a:blip r:embed="rId6"/>
          <a:stretch>
            <a:fillRect/>
          </a:stretch>
        </p:blipFill>
        <p:spPr>
          <a:xfrm>
            <a:off x="2420323" y="3926447"/>
            <a:ext cx="9412013" cy="2257740"/>
          </a:xfrm>
          <a:prstGeom prst="rect">
            <a:avLst/>
          </a:prstGeom>
        </p:spPr>
      </p:pic>
    </p:spTree>
    <p:extLst>
      <p:ext uri="{BB962C8B-B14F-4D97-AF65-F5344CB8AC3E}">
        <p14:creationId xmlns:p14="http://schemas.microsoft.com/office/powerpoint/2010/main" val="283189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9" presetClass="emph" presetSubtype="0" nodeType="withEffect">
                                  <p:stCondLst>
                                    <p:cond delay="0"/>
                                  </p:stCondLst>
                                  <p:childTnLst>
                                    <p:set>
                                      <p:cBhvr>
                                        <p:cTn id="9" dur="indefinite"/>
                                        <p:tgtEl>
                                          <p:spTgt spid="7"/>
                                        </p:tgtEl>
                                        <p:attrNameLst>
                                          <p:attrName>style.opacity</p:attrName>
                                        </p:attrNameLst>
                                      </p:cBhvr>
                                      <p:to>
                                        <p:strVal val="0.5"/>
                                      </p:to>
                                    </p:set>
                                    <p:animEffect filter="image" prLst="opacity: 0.5">
                                      <p:cBhvr rctx="IE">
                                        <p:cTn id="10" dur="indefinite"/>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9" presetClass="emph" presetSubtype="0" nodeType="withEffect">
                                  <p:stCondLst>
                                    <p:cond delay="0"/>
                                  </p:stCondLst>
                                  <p:childTnLst>
                                    <p:set>
                                      <p:cBhvr>
                                        <p:cTn id="17" dur="indefinite"/>
                                        <p:tgtEl>
                                          <p:spTgt spid="9"/>
                                        </p:tgtEl>
                                        <p:attrNameLst>
                                          <p:attrName>style.opacity</p:attrName>
                                        </p:attrNameLst>
                                      </p:cBhvr>
                                      <p:to>
                                        <p:strVal val="0.5"/>
                                      </p:to>
                                    </p:set>
                                    <p:animEffect filter="image" prLst="opacity: 0.5">
                                      <p:cBhvr rctx="IE">
                                        <p:cTn id="18" dur="indefinite"/>
                                        <p:tgtEl>
                                          <p:spTgt spid="9"/>
                                        </p:tgtEl>
                                      </p:cBhvr>
                                    </p:animEffect>
                                  </p:childTnLst>
                                </p:cTn>
                              </p:par>
                              <p:par>
                                <p:cTn id="19" presetID="9" presetClass="emph" presetSubtype="0" nodeType="withEffect">
                                  <p:stCondLst>
                                    <p:cond delay="0"/>
                                  </p:stCondLst>
                                  <p:childTnLst>
                                    <p:set>
                                      <p:cBhvr>
                                        <p:cTn id="20" dur="indefinite"/>
                                        <p:tgtEl>
                                          <p:spTgt spid="7"/>
                                        </p:tgtEl>
                                        <p:attrNameLst>
                                          <p:attrName>style.opacity</p:attrName>
                                        </p:attrNameLst>
                                      </p:cBhvr>
                                      <p:to>
                                        <p:strVal val="0.25"/>
                                      </p:to>
                                    </p:set>
                                    <p:animEffect filter="image" prLst="opacity: 0.25">
                                      <p:cBhvr rctx="IE">
                                        <p:cTn id="21" dur="indefinite"/>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9" presetClass="emph" presetSubtype="0" nodeType="withEffect">
                                  <p:stCondLst>
                                    <p:cond delay="0"/>
                                  </p:stCondLst>
                                  <p:childTnLst>
                                    <p:set>
                                      <p:cBhvr>
                                        <p:cTn id="28" dur="indefinite"/>
                                        <p:tgtEl>
                                          <p:spTgt spid="11"/>
                                        </p:tgtEl>
                                        <p:attrNameLst>
                                          <p:attrName>style.opacity</p:attrName>
                                        </p:attrNameLst>
                                      </p:cBhvr>
                                      <p:to>
                                        <p:strVal val="0.25"/>
                                      </p:to>
                                    </p:set>
                                    <p:animEffect filter="image" prLst="opacity: 0.25">
                                      <p:cBhvr rctx="IE">
                                        <p:cTn id="29" dur="indefinite"/>
                                        <p:tgtEl>
                                          <p:spTgt spid="11"/>
                                        </p:tgtEl>
                                      </p:cBhvr>
                                    </p:animEffect>
                                  </p:childTnLst>
                                </p:cTn>
                              </p:par>
                              <p:par>
                                <p:cTn id="30" presetID="9" presetClass="emph" presetSubtype="0" nodeType="withEffect">
                                  <p:stCondLst>
                                    <p:cond delay="0"/>
                                  </p:stCondLst>
                                  <p:childTnLst>
                                    <p:set>
                                      <p:cBhvr>
                                        <p:cTn id="31" dur="indefinite"/>
                                        <p:tgtEl>
                                          <p:spTgt spid="9"/>
                                        </p:tgtEl>
                                        <p:attrNameLst>
                                          <p:attrName>style.opacity</p:attrName>
                                        </p:attrNameLst>
                                      </p:cBhvr>
                                      <p:to>
                                        <p:strVal val="0.25"/>
                                      </p:to>
                                    </p:set>
                                    <p:animEffect filter="image" prLst="opacity: 0.25">
                                      <p:cBhvr rctx="IE">
                                        <p:cTn id="32" dur="indefinite"/>
                                        <p:tgtEl>
                                          <p:spTgt spid="9"/>
                                        </p:tgtEl>
                                      </p:cBhvr>
                                    </p:animEffect>
                                  </p:childTnLst>
                                </p:cTn>
                              </p:par>
                              <p:par>
                                <p:cTn id="33" presetID="9" presetClass="emph" presetSubtype="0" nodeType="withEffect">
                                  <p:stCondLst>
                                    <p:cond delay="0"/>
                                  </p:stCondLst>
                                  <p:childTnLst>
                                    <p:set>
                                      <p:cBhvr>
                                        <p:cTn id="34" dur="indefinite"/>
                                        <p:tgtEl>
                                          <p:spTgt spid="7"/>
                                        </p:tgtEl>
                                        <p:attrNameLst>
                                          <p:attrName>style.opacity</p:attrName>
                                        </p:attrNameLst>
                                      </p:cBhvr>
                                      <p:to>
                                        <p:strVal val="0.05"/>
                                      </p:to>
                                    </p:set>
                                    <p:animEffect filter="image" prLst="opacity: 0.05">
                                      <p:cBhvr rctx="IE">
                                        <p:cTn id="35" dur="indefinite"/>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Shape 2"/>
          <p:cNvSpPr/>
          <p:nvPr/>
        </p:nvSpPr>
        <p:spPr>
          <a:xfrm>
            <a:off x="658368" y="1244092"/>
            <a:ext cx="5623560" cy="4056041"/>
          </a:xfrm>
          <a:prstGeom prst="roundRect">
            <a:avLst>
              <a:gd name="adj" fmla="val 1616"/>
            </a:avLst>
          </a:prstGeom>
          <a:solidFill>
            <a:srgbClr val="FFFFFF"/>
          </a:solidFill>
          <a:ln w="12700">
            <a:solidFill>
              <a:srgbClr val="D5DBE5"/>
            </a:solidFill>
            <a:prstDash val="solid"/>
          </a:ln>
        </p:spPr>
        <p:txBody>
          <a:bodyPr/>
          <a:lstStyle/>
          <a:p>
            <a:endParaRPr lang="en-CA" dirty="0"/>
          </a:p>
        </p:txBody>
      </p:sp>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BOUND THE WORK</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SemiBold" pitchFamily="34" charset="0"/>
                <a:ea typeface="Aptos SemiBold" pitchFamily="34" charset="-122"/>
                <a:cs typeface="Aptos SemiBold" pitchFamily="34" charset="-120"/>
              </a:rPr>
              <a:t>The </a:t>
            </a:r>
            <a:r>
              <a:rPr lang="en-US" sz="2800" b="1" i="1" dirty="0">
                <a:solidFill>
                  <a:schemeClr val="accent2">
                    <a:lumMod val="75000"/>
                  </a:schemeClr>
                </a:solidFill>
                <a:latin typeface="Aptos SemiBold" pitchFamily="34" charset="0"/>
                <a:ea typeface="Aptos SemiBold" pitchFamily="34" charset="-122"/>
                <a:cs typeface="Aptos SemiBold" pitchFamily="34" charset="-120"/>
              </a:rPr>
              <a:t>issue</a:t>
            </a:r>
            <a:r>
              <a:rPr lang="en-US" sz="2800" b="1" dirty="0">
                <a:solidFill>
                  <a:srgbClr val="172033"/>
                </a:solidFill>
                <a:latin typeface="Aptos SemiBold" pitchFamily="34" charset="0"/>
                <a:ea typeface="Aptos SemiBold" pitchFamily="34" charset="-122"/>
                <a:cs typeface="Aptos SemiBold" pitchFamily="34" charset="-120"/>
              </a:rPr>
              <a:t> is the “API” between intent and implementation</a:t>
            </a:r>
            <a:endParaRPr lang="en-US" sz="2800" dirty="0"/>
          </a:p>
        </p:txBody>
      </p:sp>
      <p:sp>
        <p:nvSpPr>
          <p:cNvPr id="6" name="Text 4"/>
          <p:cNvSpPr/>
          <p:nvPr/>
        </p:nvSpPr>
        <p:spPr>
          <a:xfrm>
            <a:off x="932688" y="1993392"/>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OUTCOME</a:t>
            </a:r>
            <a:endParaRPr lang="en-US" sz="950" dirty="0"/>
          </a:p>
        </p:txBody>
      </p:sp>
      <p:sp>
        <p:nvSpPr>
          <p:cNvPr id="7" name="Text 5"/>
          <p:cNvSpPr/>
          <p:nvPr/>
        </p:nvSpPr>
        <p:spPr>
          <a:xfrm>
            <a:off x="1965960" y="1965960"/>
            <a:ext cx="3840480" cy="338328"/>
          </a:xfrm>
          <a:prstGeom prst="rect">
            <a:avLst/>
          </a:prstGeom>
          <a:noFill/>
          <a:ln/>
        </p:spPr>
        <p:txBody>
          <a:bodyPr wrap="square" lIns="0" tIns="0" rIns="0" bIns="0" rtlCol="0" anchor="ctr">
            <a:noAutofit/>
          </a:bodyPr>
          <a:lstStyle/>
          <a:p>
            <a:pPr marL="0" indent="0">
              <a:buNone/>
            </a:pPr>
            <a:r>
              <a:rPr lang="en-US" sz="1400">
                <a:solidFill>
                  <a:srgbClr val="172033"/>
                </a:solidFill>
                <a:latin typeface="Aptos" pitchFamily="34" charset="0"/>
                <a:ea typeface="Aptos" pitchFamily="34" charset="-122"/>
                <a:cs typeface="Aptos" pitchFamily="34" charset="-120"/>
              </a:rPr>
              <a:t>Make energy balance understandable without treating missing data as zero.</a:t>
            </a:r>
            <a:endParaRPr lang="en-US" sz="1400" dirty="0"/>
          </a:p>
        </p:txBody>
      </p:sp>
      <p:sp>
        <p:nvSpPr>
          <p:cNvPr id="8" name="Shape 6"/>
          <p:cNvSpPr/>
          <p:nvPr/>
        </p:nvSpPr>
        <p:spPr>
          <a:xfrm>
            <a:off x="932688" y="2386584"/>
            <a:ext cx="4892040" cy="0"/>
          </a:xfrm>
          <a:prstGeom prst="line">
            <a:avLst/>
          </a:prstGeom>
          <a:noFill/>
          <a:ln w="12700">
            <a:solidFill>
              <a:srgbClr val="E6EAF0"/>
            </a:solidFill>
            <a:prstDash val="solid"/>
          </a:ln>
        </p:spPr>
        <p:txBody>
          <a:bodyPr/>
          <a:lstStyle/>
          <a:p>
            <a:endParaRPr lang="en-CA"/>
          </a:p>
        </p:txBody>
      </p:sp>
      <p:sp>
        <p:nvSpPr>
          <p:cNvPr id="9" name="Text 7"/>
          <p:cNvSpPr/>
          <p:nvPr/>
        </p:nvSpPr>
        <p:spPr>
          <a:xfrm>
            <a:off x="932688" y="2569464"/>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SCOPE</a:t>
            </a:r>
            <a:endParaRPr lang="en-US" sz="950" dirty="0"/>
          </a:p>
        </p:txBody>
      </p:sp>
      <p:sp>
        <p:nvSpPr>
          <p:cNvPr id="10" name="Text 8"/>
          <p:cNvSpPr/>
          <p:nvPr/>
        </p:nvSpPr>
        <p:spPr>
          <a:xfrm>
            <a:off x="1965960" y="2542032"/>
            <a:ext cx="3840480" cy="338328"/>
          </a:xfrm>
          <a:prstGeom prst="rect">
            <a:avLst/>
          </a:prstGeom>
          <a:noFill/>
          <a:ln/>
        </p:spPr>
        <p:txBody>
          <a:bodyPr wrap="square" lIns="0" tIns="0" rIns="0" bIns="0" rtlCol="0" anchor="ctr">
            <a:noAutofit/>
          </a:bodyPr>
          <a:lstStyle/>
          <a:p>
            <a:pPr marL="0" indent="0">
              <a:buNone/>
            </a:pPr>
            <a:r>
              <a:rPr lang="en-US" sz="1400">
                <a:solidFill>
                  <a:srgbClr val="172033"/>
                </a:solidFill>
                <a:latin typeface="Aptos" pitchFamily="34" charset="0"/>
                <a:ea typeface="Aptos" pitchFamily="34" charset="-122"/>
                <a:cs typeface="Aptos" pitchFamily="34" charset="-120"/>
              </a:rPr>
              <a:t>Dashboard calculations, chart controls, and account-scoped preferences.</a:t>
            </a:r>
            <a:endParaRPr lang="en-US" sz="1400" dirty="0"/>
          </a:p>
        </p:txBody>
      </p:sp>
      <p:sp>
        <p:nvSpPr>
          <p:cNvPr id="11" name="Shape 9"/>
          <p:cNvSpPr/>
          <p:nvPr/>
        </p:nvSpPr>
        <p:spPr>
          <a:xfrm>
            <a:off x="932688" y="2962656"/>
            <a:ext cx="4892040" cy="0"/>
          </a:xfrm>
          <a:prstGeom prst="line">
            <a:avLst/>
          </a:prstGeom>
          <a:noFill/>
          <a:ln w="12700">
            <a:solidFill>
              <a:srgbClr val="E6EAF0"/>
            </a:solidFill>
            <a:prstDash val="solid"/>
          </a:ln>
        </p:spPr>
        <p:txBody>
          <a:bodyPr/>
          <a:lstStyle/>
          <a:p>
            <a:endParaRPr lang="en-CA"/>
          </a:p>
        </p:txBody>
      </p:sp>
      <p:sp>
        <p:nvSpPr>
          <p:cNvPr id="12" name="Text 10"/>
          <p:cNvSpPr/>
          <p:nvPr/>
        </p:nvSpPr>
        <p:spPr>
          <a:xfrm>
            <a:off x="932688" y="3145536"/>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NON-GOALS</a:t>
            </a:r>
            <a:endParaRPr lang="en-US" sz="950" dirty="0"/>
          </a:p>
        </p:txBody>
      </p:sp>
      <p:sp>
        <p:nvSpPr>
          <p:cNvPr id="13" name="Text 11"/>
          <p:cNvSpPr/>
          <p:nvPr/>
        </p:nvSpPr>
        <p:spPr>
          <a:xfrm>
            <a:off x="1965960" y="3118104"/>
            <a:ext cx="4130040" cy="305135"/>
          </a:xfrm>
          <a:prstGeom prst="rect">
            <a:avLst/>
          </a:prstGeom>
          <a:noFill/>
          <a:ln/>
        </p:spPr>
        <p:txBody>
          <a:bodyPr wrap="square" lIns="0" tIns="0" rIns="0" bIns="0" rtlCol="0" anchor="ctr">
            <a:noAutofit/>
          </a:bodyPr>
          <a:lstStyle/>
          <a:p>
            <a:pPr marL="0" indent="0">
              <a:buNone/>
            </a:pPr>
            <a:r>
              <a:rPr lang="en-US" sz="1400">
                <a:solidFill>
                  <a:srgbClr val="172033"/>
                </a:solidFill>
                <a:latin typeface="Aptos" pitchFamily="34" charset="0"/>
                <a:ea typeface="Aptos" pitchFamily="34" charset="-122"/>
                <a:cs typeface="Aptos" pitchFamily="34" charset="-120"/>
              </a:rPr>
              <a:t>No nutrition-model redesign. No new data source.</a:t>
            </a:r>
            <a:endParaRPr lang="en-US" sz="1400" dirty="0"/>
          </a:p>
        </p:txBody>
      </p:sp>
      <p:sp>
        <p:nvSpPr>
          <p:cNvPr id="14" name="Shape 12"/>
          <p:cNvSpPr/>
          <p:nvPr/>
        </p:nvSpPr>
        <p:spPr>
          <a:xfrm>
            <a:off x="932688" y="3538728"/>
            <a:ext cx="4892040" cy="0"/>
          </a:xfrm>
          <a:prstGeom prst="line">
            <a:avLst/>
          </a:prstGeom>
          <a:noFill/>
          <a:ln w="12700">
            <a:solidFill>
              <a:srgbClr val="E6EAF0"/>
            </a:solidFill>
            <a:prstDash val="solid"/>
          </a:ln>
        </p:spPr>
        <p:txBody>
          <a:bodyPr/>
          <a:lstStyle/>
          <a:p>
            <a:endParaRPr lang="en-CA"/>
          </a:p>
        </p:txBody>
      </p:sp>
      <p:sp>
        <p:nvSpPr>
          <p:cNvPr id="15" name="Text 13"/>
          <p:cNvSpPr/>
          <p:nvPr/>
        </p:nvSpPr>
        <p:spPr>
          <a:xfrm>
            <a:off x="932688" y="3721608"/>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ACCEPTANCE</a:t>
            </a:r>
            <a:endParaRPr lang="en-US" sz="950" dirty="0"/>
          </a:p>
        </p:txBody>
      </p:sp>
      <p:sp>
        <p:nvSpPr>
          <p:cNvPr id="16" name="Text 14"/>
          <p:cNvSpPr/>
          <p:nvPr/>
        </p:nvSpPr>
        <p:spPr>
          <a:xfrm>
            <a:off x="1965960" y="3694176"/>
            <a:ext cx="3840480" cy="338328"/>
          </a:xfrm>
          <a:prstGeom prst="rect">
            <a:avLst/>
          </a:prstGeom>
          <a:noFill/>
          <a:ln/>
        </p:spPr>
        <p:txBody>
          <a:bodyPr wrap="square" lIns="0" tIns="0" rIns="0" bIns="0" rtlCol="0" anchor="ctr">
            <a:noAutofit/>
          </a:bodyPr>
          <a:lstStyle/>
          <a:p>
            <a:pPr marL="0" indent="0">
              <a:buNone/>
            </a:pPr>
            <a:r>
              <a:rPr lang="en-US" sz="1400">
                <a:solidFill>
                  <a:srgbClr val="172033"/>
                </a:solidFill>
                <a:latin typeface="Aptos" pitchFamily="34" charset="0"/>
                <a:ea typeface="Aptos" pitchFamily="34" charset="-122"/>
                <a:cs typeface="Aptos" pitchFamily="34" charset="-120"/>
              </a:rPr>
              <a:t>Use paired days only; preserve known values; keep controls accessible.</a:t>
            </a:r>
            <a:endParaRPr lang="en-US" sz="1400" dirty="0"/>
          </a:p>
        </p:txBody>
      </p:sp>
      <p:sp>
        <p:nvSpPr>
          <p:cNvPr id="17" name="Shape 15"/>
          <p:cNvSpPr/>
          <p:nvPr/>
        </p:nvSpPr>
        <p:spPr>
          <a:xfrm>
            <a:off x="932688" y="4114800"/>
            <a:ext cx="4892040" cy="0"/>
          </a:xfrm>
          <a:prstGeom prst="line">
            <a:avLst/>
          </a:prstGeom>
          <a:noFill/>
          <a:ln w="12700">
            <a:solidFill>
              <a:srgbClr val="E6EAF0"/>
            </a:solidFill>
            <a:prstDash val="solid"/>
          </a:ln>
        </p:spPr>
        <p:txBody>
          <a:bodyPr/>
          <a:lstStyle/>
          <a:p>
            <a:endParaRPr lang="en-CA"/>
          </a:p>
        </p:txBody>
      </p:sp>
      <p:sp>
        <p:nvSpPr>
          <p:cNvPr id="18" name="Text 16"/>
          <p:cNvSpPr/>
          <p:nvPr/>
        </p:nvSpPr>
        <p:spPr>
          <a:xfrm>
            <a:off x="932688" y="4297680"/>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VALIDATION</a:t>
            </a:r>
            <a:endParaRPr lang="en-US" sz="950" dirty="0"/>
          </a:p>
        </p:txBody>
      </p:sp>
      <p:sp>
        <p:nvSpPr>
          <p:cNvPr id="19" name="Text 17"/>
          <p:cNvSpPr/>
          <p:nvPr/>
        </p:nvSpPr>
        <p:spPr>
          <a:xfrm>
            <a:off x="1965960" y="4270248"/>
            <a:ext cx="3840480" cy="33832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Frontend/API tests plus independent diff review.</a:t>
            </a:r>
            <a:endParaRPr lang="en-US" sz="1400" dirty="0"/>
          </a:p>
        </p:txBody>
      </p:sp>
      <p:sp>
        <p:nvSpPr>
          <p:cNvPr id="20" name="Shape 18"/>
          <p:cNvSpPr/>
          <p:nvPr/>
        </p:nvSpPr>
        <p:spPr>
          <a:xfrm>
            <a:off x="932688" y="4690872"/>
            <a:ext cx="4892040" cy="0"/>
          </a:xfrm>
          <a:prstGeom prst="line">
            <a:avLst/>
          </a:prstGeom>
          <a:noFill/>
          <a:ln w="12700">
            <a:solidFill>
              <a:srgbClr val="E6EAF0"/>
            </a:solidFill>
            <a:prstDash val="solid"/>
          </a:ln>
        </p:spPr>
        <p:txBody>
          <a:bodyPr/>
          <a:lstStyle/>
          <a:p>
            <a:endParaRPr lang="en-CA"/>
          </a:p>
        </p:txBody>
      </p:sp>
      <p:sp>
        <p:nvSpPr>
          <p:cNvPr id="21" name="Text 19"/>
          <p:cNvSpPr/>
          <p:nvPr/>
        </p:nvSpPr>
        <p:spPr>
          <a:xfrm>
            <a:off x="932688" y="4873752"/>
            <a:ext cx="960120" cy="219456"/>
          </a:xfrm>
          <a:prstGeom prst="rect">
            <a:avLst/>
          </a:prstGeom>
          <a:noFill/>
          <a:ln/>
        </p:spPr>
        <p:txBody>
          <a:bodyPr wrap="square" lIns="0" tIns="0" rIns="0" bIns="0" rtlCol="0" anchor="ctr"/>
          <a:lstStyle/>
          <a:p>
            <a:pPr marL="0" indent="0">
              <a:buNone/>
            </a:pPr>
            <a:r>
              <a:rPr lang="en-US" sz="950" kern="0" spc="90">
                <a:solidFill>
                  <a:srgbClr val="5F6B7A"/>
                </a:solidFill>
                <a:latin typeface="Aptos SemiBold" pitchFamily="34" charset="0"/>
                <a:ea typeface="Aptos SemiBold" pitchFamily="34" charset="-122"/>
                <a:cs typeface="Aptos SemiBold" pitchFamily="34" charset="-120"/>
              </a:rPr>
              <a:t>RELEASE</a:t>
            </a:r>
            <a:endParaRPr lang="en-US" sz="950" dirty="0"/>
          </a:p>
        </p:txBody>
      </p:sp>
      <p:sp>
        <p:nvSpPr>
          <p:cNvPr id="22" name="Text 20"/>
          <p:cNvSpPr/>
          <p:nvPr/>
        </p:nvSpPr>
        <p:spPr>
          <a:xfrm>
            <a:off x="1965960" y="4846320"/>
            <a:ext cx="3840480" cy="33832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Stop before commit, push, or deployment.</a:t>
            </a:r>
            <a:endParaRPr lang="en-US" sz="1400" dirty="0"/>
          </a:p>
        </p:txBody>
      </p:sp>
      <p:sp>
        <p:nvSpPr>
          <p:cNvPr id="23" name="Shape 21"/>
          <p:cNvSpPr/>
          <p:nvPr/>
        </p:nvSpPr>
        <p:spPr>
          <a:xfrm>
            <a:off x="6629400" y="2962656"/>
            <a:ext cx="777240" cy="310896"/>
          </a:xfrm>
          <a:prstGeom prst="chevron">
            <a:avLst/>
          </a:prstGeom>
          <a:solidFill>
            <a:srgbClr val="3B82F6"/>
          </a:solidFill>
          <a:ln w="12700">
            <a:solidFill>
              <a:srgbClr val="3B82F6"/>
            </a:solidFill>
            <a:prstDash val="solid"/>
          </a:ln>
        </p:spPr>
        <p:txBody>
          <a:bodyPr/>
          <a:lstStyle/>
          <a:p>
            <a:endParaRPr lang="en-CA"/>
          </a:p>
        </p:txBody>
      </p:sp>
      <p:sp>
        <p:nvSpPr>
          <p:cNvPr id="24" name="Shape 22"/>
          <p:cNvSpPr/>
          <p:nvPr/>
        </p:nvSpPr>
        <p:spPr>
          <a:xfrm>
            <a:off x="7711440" y="1244092"/>
            <a:ext cx="3822192" cy="4056041"/>
          </a:xfrm>
          <a:prstGeom prst="roundRect">
            <a:avLst>
              <a:gd name="adj" fmla="val 1914"/>
            </a:avLst>
          </a:prstGeom>
          <a:solidFill>
            <a:srgbClr val="E8F1FF"/>
          </a:solidFill>
          <a:ln w="12700">
            <a:solidFill>
              <a:srgbClr val="C4D9FF"/>
            </a:solidFill>
            <a:prstDash val="solid"/>
          </a:ln>
        </p:spPr>
        <p:txBody>
          <a:bodyPr/>
          <a:lstStyle/>
          <a:p>
            <a:endParaRPr lang="en-CA"/>
          </a:p>
        </p:txBody>
      </p:sp>
      <p:sp>
        <p:nvSpPr>
          <p:cNvPr id="25" name="Text 23"/>
          <p:cNvSpPr/>
          <p:nvPr/>
        </p:nvSpPr>
        <p:spPr>
          <a:xfrm>
            <a:off x="8065008" y="1408176"/>
            <a:ext cx="3364992" cy="448056"/>
          </a:xfrm>
          <a:prstGeom prst="rect">
            <a:avLst/>
          </a:prstGeom>
          <a:noFill/>
          <a:ln/>
        </p:spPr>
        <p:txBody>
          <a:bodyPr wrap="square" lIns="0" tIns="0" rIns="0" bIns="0" rtlCol="0" anchor="ctr"/>
          <a:lstStyle/>
          <a:p>
            <a:pPr marL="0" indent="0">
              <a:buNone/>
            </a:pPr>
            <a:r>
              <a:rPr lang="en-US" sz="900" kern="0" spc="110">
                <a:solidFill>
                  <a:srgbClr val="1E40AF"/>
                </a:solidFill>
                <a:latin typeface="Aptos SemiBold" pitchFamily="34" charset="0"/>
                <a:ea typeface="Aptos SemiBold" pitchFamily="34" charset="-122"/>
                <a:cs typeface="Aptos SemiBold" pitchFamily="34" charset="-120"/>
              </a:rPr>
              <a:t>WHAT NO LONGER NEEDS TO BE IN THE PROMPT</a:t>
            </a:r>
            <a:endParaRPr lang="en-US" sz="900" dirty="0"/>
          </a:p>
        </p:txBody>
      </p:sp>
      <p:sp>
        <p:nvSpPr>
          <p:cNvPr id="26" name="Shape 24"/>
          <p:cNvSpPr/>
          <p:nvPr/>
        </p:nvSpPr>
        <p:spPr>
          <a:xfrm>
            <a:off x="8065008" y="2258568"/>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27" name="Text 25"/>
          <p:cNvSpPr/>
          <p:nvPr/>
        </p:nvSpPr>
        <p:spPr>
          <a:xfrm>
            <a:off x="8266176" y="2071116"/>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Architecture recap</a:t>
            </a:r>
            <a:endParaRPr lang="en-US" sz="1500" dirty="0"/>
          </a:p>
        </p:txBody>
      </p:sp>
      <p:sp>
        <p:nvSpPr>
          <p:cNvPr id="28" name="Shape 26"/>
          <p:cNvSpPr/>
          <p:nvPr/>
        </p:nvSpPr>
        <p:spPr>
          <a:xfrm>
            <a:off x="8065008" y="2752344"/>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29" name="Text 27"/>
          <p:cNvSpPr/>
          <p:nvPr/>
        </p:nvSpPr>
        <p:spPr>
          <a:xfrm>
            <a:off x="8266176" y="2574036"/>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Build and test commands</a:t>
            </a:r>
            <a:endParaRPr lang="en-US" sz="1500" dirty="0"/>
          </a:p>
        </p:txBody>
      </p:sp>
      <p:sp>
        <p:nvSpPr>
          <p:cNvPr id="30" name="Shape 28"/>
          <p:cNvSpPr/>
          <p:nvPr/>
        </p:nvSpPr>
        <p:spPr>
          <a:xfrm>
            <a:off x="8065008" y="3246120"/>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31" name="Text 29"/>
          <p:cNvSpPr/>
          <p:nvPr/>
        </p:nvSpPr>
        <p:spPr>
          <a:xfrm>
            <a:off x="8266176" y="3086100"/>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Data-semantics rules</a:t>
            </a:r>
            <a:endParaRPr lang="en-US" sz="1500" dirty="0"/>
          </a:p>
        </p:txBody>
      </p:sp>
      <p:sp>
        <p:nvSpPr>
          <p:cNvPr id="32" name="Shape 30"/>
          <p:cNvSpPr/>
          <p:nvPr/>
        </p:nvSpPr>
        <p:spPr>
          <a:xfrm>
            <a:off x="8065008" y="3739896"/>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33" name="Text 31"/>
          <p:cNvSpPr/>
          <p:nvPr/>
        </p:nvSpPr>
        <p:spPr>
          <a:xfrm>
            <a:off x="8266176" y="3579876"/>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Accessibility patterns</a:t>
            </a:r>
            <a:endParaRPr lang="en-US" sz="1500" dirty="0"/>
          </a:p>
        </p:txBody>
      </p:sp>
      <p:sp>
        <p:nvSpPr>
          <p:cNvPr id="34" name="Shape 32"/>
          <p:cNvSpPr/>
          <p:nvPr/>
        </p:nvSpPr>
        <p:spPr>
          <a:xfrm>
            <a:off x="8065008" y="4233672"/>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35" name="Text 33"/>
          <p:cNvSpPr/>
          <p:nvPr/>
        </p:nvSpPr>
        <p:spPr>
          <a:xfrm>
            <a:off x="8266176" y="4055364"/>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Review boundaries</a:t>
            </a:r>
            <a:endParaRPr lang="en-US" sz="1500" dirty="0"/>
          </a:p>
        </p:txBody>
      </p:sp>
      <p:sp>
        <p:nvSpPr>
          <p:cNvPr id="36" name="Shape 34"/>
          <p:cNvSpPr/>
          <p:nvPr/>
        </p:nvSpPr>
        <p:spPr>
          <a:xfrm>
            <a:off x="8065008" y="4727448"/>
            <a:ext cx="139954" cy="139954"/>
          </a:xfrm>
          <a:prstGeom prst="mathMultiply">
            <a:avLst/>
          </a:prstGeom>
          <a:solidFill>
            <a:srgbClr val="EE0000"/>
          </a:solidFill>
          <a:ln w="12700">
            <a:solidFill>
              <a:srgbClr val="C00000"/>
            </a:solidFill>
            <a:prstDash val="solid"/>
          </a:ln>
        </p:spPr>
        <p:txBody>
          <a:bodyPr/>
          <a:lstStyle/>
          <a:p>
            <a:endParaRPr lang="en-CA"/>
          </a:p>
        </p:txBody>
      </p:sp>
      <p:sp>
        <p:nvSpPr>
          <p:cNvPr id="37" name="Text 35"/>
          <p:cNvSpPr/>
          <p:nvPr/>
        </p:nvSpPr>
        <p:spPr>
          <a:xfrm>
            <a:off x="8266176" y="4549140"/>
            <a:ext cx="2862072" cy="448056"/>
          </a:xfrm>
          <a:prstGeom prst="rect">
            <a:avLst/>
          </a:prstGeom>
          <a:noFill/>
          <a:ln/>
        </p:spPr>
        <p:txBody>
          <a:bodyPr wrap="square" lIns="0" tIns="0" rIns="0" bIns="0" rtlCol="0" anchor="ctr">
            <a:normAutofit/>
          </a:bodyPr>
          <a:lstStyle/>
          <a:p>
            <a:pPr marL="0" indent="0">
              <a:buNone/>
            </a:pPr>
            <a:r>
              <a:rPr lang="en-US" sz="1500">
                <a:solidFill>
                  <a:srgbClr val="172033"/>
                </a:solidFill>
                <a:latin typeface="Aptos" pitchFamily="34" charset="0"/>
                <a:ea typeface="Aptos" pitchFamily="34" charset="-122"/>
                <a:cs typeface="Aptos" pitchFamily="34" charset="-120"/>
              </a:rPr>
              <a:t>Release policy</a:t>
            </a:r>
            <a:endParaRPr lang="en-US" sz="1500" dirty="0"/>
          </a:p>
        </p:txBody>
      </p:sp>
      <p:sp>
        <p:nvSpPr>
          <p:cNvPr id="40"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8</a:t>
            </a:r>
            <a:endParaRPr lang="en-US"/>
          </a:p>
        </p:txBody>
      </p:sp>
      <p:grpSp>
        <p:nvGrpSpPr>
          <p:cNvPr id="42" name="Group 41">
            <a:extLst>
              <a:ext uri="{FF2B5EF4-FFF2-40B4-BE49-F238E27FC236}">
                <a16:creationId xmlns:a16="http://schemas.microsoft.com/office/drawing/2014/main" id="{E419B78A-98AB-43A1-1976-748F777000FE}"/>
              </a:ext>
            </a:extLst>
          </p:cNvPr>
          <p:cNvGrpSpPr/>
          <p:nvPr/>
        </p:nvGrpSpPr>
        <p:grpSpPr>
          <a:xfrm>
            <a:off x="566927" y="5734726"/>
            <a:ext cx="9050797" cy="658368"/>
            <a:chOff x="2353792" y="5657106"/>
            <a:chExt cx="8111006" cy="658368"/>
          </a:xfrm>
        </p:grpSpPr>
        <p:sp>
          <p:nvSpPr>
            <p:cNvPr id="39" name="Text 37"/>
            <p:cNvSpPr/>
            <p:nvPr/>
          </p:nvSpPr>
          <p:spPr>
            <a:xfrm>
              <a:off x="2528398" y="5691143"/>
              <a:ext cx="7936400" cy="585216"/>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The short prompt works because the repository and issue carry the context.</a:t>
              </a:r>
              <a:endParaRPr lang="en-US" sz="1900" dirty="0"/>
            </a:p>
          </p:txBody>
        </p:sp>
        <p:sp>
          <p:nvSpPr>
            <p:cNvPr id="41" name="Shape 20">
              <a:extLst>
                <a:ext uri="{FF2B5EF4-FFF2-40B4-BE49-F238E27FC236}">
                  <a16:creationId xmlns:a16="http://schemas.microsoft.com/office/drawing/2014/main" id="{0AA37BC3-29BB-7B5F-2A5E-36528558BAFD}"/>
                </a:ext>
              </a:extLst>
            </p:cNvPr>
            <p:cNvSpPr/>
            <p:nvPr/>
          </p:nvSpPr>
          <p:spPr>
            <a:xfrm>
              <a:off x="2353792" y="5657106"/>
              <a:ext cx="64008" cy="658368"/>
            </a:xfrm>
            <a:prstGeom prst="rect">
              <a:avLst/>
            </a:prstGeom>
            <a:solidFill>
              <a:srgbClr val="0F766E"/>
            </a:solidFill>
            <a:ln w="12700">
              <a:solidFill>
                <a:srgbClr val="0F766E"/>
              </a:solidFill>
              <a:prstDash val="solid"/>
            </a:ln>
          </p:spPr>
          <p:txBody>
            <a:bodyPr/>
            <a:lstStyle/>
            <a:p>
              <a:endParaRPr lang="en-CA"/>
            </a:p>
          </p:txBody>
        </p:sp>
      </p:grpSp>
      <p:pic>
        <p:nvPicPr>
          <p:cNvPr id="45" name="Picture 44">
            <a:extLst>
              <a:ext uri="{FF2B5EF4-FFF2-40B4-BE49-F238E27FC236}">
                <a16:creationId xmlns:a16="http://schemas.microsoft.com/office/drawing/2014/main" id="{39693312-25F4-7541-7A6E-0403CB7C4897}"/>
              </a:ext>
            </a:extLst>
          </p:cNvPr>
          <p:cNvPicPr>
            <a:picLocks noChangeAspect="1"/>
          </p:cNvPicPr>
          <p:nvPr/>
        </p:nvPicPr>
        <p:blipFill>
          <a:blip r:embed="rId3"/>
          <a:stretch>
            <a:fillRect/>
          </a:stretch>
        </p:blipFill>
        <p:spPr>
          <a:xfrm>
            <a:off x="698935" y="1307591"/>
            <a:ext cx="5596553" cy="4023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Issue Shaping Evolution">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SECOND LEARNING CURVE</a:t>
            </a:r>
            <a:endParaRPr lang="en-US" sz="11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Creating the </a:t>
            </a:r>
            <a:r>
              <a:rPr lang="en-US" sz="2800" b="1" i="1">
                <a:solidFill>
                  <a:schemeClr val="accent2">
                    <a:lumMod val="75000"/>
                  </a:schemeClr>
                </a:solidFill>
                <a:latin typeface="Aptos SemiBold" pitchFamily="34" charset="0"/>
                <a:cs typeface="Aptos SemiBold" pitchFamily="34" charset="-120"/>
              </a:rPr>
              <a:t>issue</a:t>
            </a:r>
            <a:r>
              <a:rPr lang="en-US" sz="2800" b="1">
                <a:solidFill>
                  <a:srgbClr val="172033"/>
                </a:solidFill>
                <a:latin typeface="Aptos SemiBold" pitchFamily="34" charset="0"/>
                <a:ea typeface="Aptos SemiBold" pitchFamily="34" charset="-122"/>
                <a:cs typeface="Aptos SemiBold" pitchFamily="34" charset="-120"/>
              </a:rPr>
              <a:t> needed an engineering process too</a:t>
            </a:r>
            <a:endParaRPr lang="en-US" sz="2700" dirty="0"/>
          </a:p>
        </p:txBody>
      </p:sp>
      <p:sp>
        <p:nvSpPr>
          <p:cNvPr id="4" name="Shape 2"/>
          <p:cNvSpPr/>
          <p:nvPr/>
        </p:nvSpPr>
        <p:spPr>
          <a:xfrm>
            <a:off x="685800" y="1353312"/>
            <a:ext cx="3383280" cy="4133087"/>
          </a:xfrm>
          <a:prstGeom prst="roundRect">
            <a:avLst>
              <a:gd name="adj" fmla="val 1770"/>
            </a:avLst>
          </a:prstGeom>
          <a:solidFill>
            <a:srgbClr val="F1F3F6"/>
          </a:solidFill>
          <a:ln w="12700">
            <a:solidFill>
              <a:srgbClr val="E2E6EC"/>
            </a:solidFill>
            <a:prstDash val="solid"/>
          </a:ln>
        </p:spPr>
        <p:txBody>
          <a:bodyPr/>
          <a:lstStyle/>
          <a:p>
            <a:endParaRPr lang="en-CA"/>
          </a:p>
        </p:txBody>
      </p:sp>
      <p:sp>
        <p:nvSpPr>
          <p:cNvPr id="31" name="Rounded Rectangle 30"/>
          <p:cNvSpPr/>
          <p:nvPr/>
        </p:nvSpPr>
        <p:spPr>
          <a:xfrm>
            <a:off x="804672" y="4407408"/>
            <a:ext cx="3035808" cy="868680"/>
          </a:xfrm>
          <a:prstGeom prst="roundRect">
            <a:avLst/>
          </a:prstGeom>
          <a:solidFill>
            <a:srgbClr val="FFFFFF"/>
          </a:solidFill>
          <a:ln w="12700">
            <a:solidFill>
              <a:srgbClr val="D7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941832" y="1517904"/>
            <a:ext cx="420624" cy="420624"/>
          </a:xfrm>
          <a:prstGeom prst="roundRect">
            <a:avLst>
              <a:gd name="adj" fmla="val 20000"/>
            </a:avLst>
          </a:prstGeom>
          <a:solidFill>
            <a:srgbClr val="64748B"/>
          </a:solidFill>
          <a:ln w="12700">
            <a:solidFill>
              <a:srgbClr val="64748B"/>
            </a:solidFill>
            <a:prstDash val="solid"/>
          </a:ln>
        </p:spPr>
        <p:txBody>
          <a:bodyPr wrap="none" anchor="ctr"/>
          <a:lstStyle/>
          <a:p>
            <a:pPr algn="ctr"/>
            <a:r>
              <a:rPr lang="en-CA" sz="2000" b="1">
                <a:solidFill>
                  <a:srgbClr val="FFFFFF"/>
                </a:solidFill>
                <a:latin typeface="Aptos SemiBold"/>
              </a:rPr>
              <a:t>1</a:t>
            </a:r>
          </a:p>
        </p:txBody>
      </p:sp>
      <p:sp>
        <p:nvSpPr>
          <p:cNvPr id="6" name="Text 4"/>
          <p:cNvSpPr/>
          <p:nvPr/>
        </p:nvSpPr>
        <p:spPr>
          <a:xfrm>
            <a:off x="1508760" y="1645920"/>
            <a:ext cx="2194560" cy="201168"/>
          </a:xfrm>
          <a:prstGeom prst="rect">
            <a:avLst/>
          </a:prstGeom>
          <a:noFill/>
          <a:ln/>
        </p:spPr>
        <p:txBody>
          <a:bodyPr wrap="none" lIns="0" tIns="0" rIns="0" bIns="0" rtlCol="0" anchor="ctr">
            <a:noAutofit/>
          </a:bodyPr>
          <a:lstStyle/>
          <a:p>
            <a:pPr marL="0" indent="0" algn="l">
              <a:buNone/>
            </a:pPr>
            <a:r>
              <a:rPr lang="en-US" sz="1000" b="1">
                <a:solidFill>
                  <a:srgbClr val="64748B"/>
                </a:solidFill>
                <a:latin typeface="Aptos SemiBold" pitchFamily="34" charset="0"/>
                <a:ea typeface="Aptos SemiBold" pitchFamily="34" charset="-122"/>
                <a:cs typeface="Aptos SemiBold" pitchFamily="34" charset="-120"/>
              </a:rPr>
              <a:t>RANDOM SESSION</a:t>
            </a:r>
            <a:endParaRPr lang="en-US" sz="900" dirty="0"/>
          </a:p>
        </p:txBody>
      </p:sp>
      <p:sp>
        <p:nvSpPr>
          <p:cNvPr id="7" name="Text 5"/>
          <p:cNvSpPr/>
          <p:nvPr/>
        </p:nvSpPr>
        <p:spPr>
          <a:xfrm>
            <a:off x="914400" y="2029968"/>
            <a:ext cx="2926080" cy="658368"/>
          </a:xfrm>
          <a:prstGeom prst="rect">
            <a:avLst/>
          </a:prstGeom>
          <a:noFill/>
          <a:ln/>
        </p:spPr>
        <p:txBody>
          <a:bodyPr wrap="square" lIns="0" tIns="0" rIns="0" bIns="0" rtlCol="0" anchor="ctr"/>
          <a:lstStyle/>
          <a:p>
            <a:pPr marL="0" indent="0">
              <a:buNone/>
            </a:pPr>
            <a:r>
              <a:rPr lang="en-US" sz="2200" b="1">
                <a:solidFill>
                  <a:srgbClr val="64748B"/>
                </a:solidFill>
                <a:latin typeface="Aptos SemiBold" pitchFamily="34" charset="0"/>
                <a:ea typeface="Aptos SemiBold" pitchFamily="34" charset="-122"/>
                <a:cs typeface="Aptos SemiBold" pitchFamily="34" charset="-120"/>
              </a:rPr>
              <a:t>Single session </a:t>
            </a:r>
            <a:br>
              <a:rPr lang="en-US" sz="2200" b="1">
                <a:solidFill>
                  <a:srgbClr val="64748B"/>
                </a:solidFill>
                <a:latin typeface="Aptos SemiBold" pitchFamily="34" charset="0"/>
                <a:ea typeface="Aptos SemiBold" pitchFamily="34" charset="-122"/>
                <a:cs typeface="Aptos SemiBold" pitchFamily="34" charset="-120"/>
              </a:rPr>
            </a:br>
            <a:r>
              <a:rPr lang="en-US" sz="2200" b="1">
                <a:solidFill>
                  <a:srgbClr val="64748B"/>
                </a:solidFill>
                <a:latin typeface="Aptos SemiBold" pitchFamily="34" charset="0"/>
                <a:ea typeface="Aptos SemiBold" pitchFamily="34" charset="-122"/>
                <a:cs typeface="Aptos SemiBold" pitchFamily="34" charset="-120"/>
              </a:rPr>
              <a:t>Shape &amp; build </a:t>
            </a:r>
            <a:endParaRPr lang="en-US" dirty="0"/>
          </a:p>
        </p:txBody>
      </p:sp>
      <p:sp>
        <p:nvSpPr>
          <p:cNvPr id="8" name="Text 6"/>
          <p:cNvSpPr/>
          <p:nvPr/>
        </p:nvSpPr>
        <p:spPr>
          <a:xfrm>
            <a:off x="804672" y="2761488"/>
            <a:ext cx="3054138" cy="1554480"/>
          </a:xfrm>
          <a:prstGeom prst="rect">
            <a:avLst/>
          </a:prstGeom>
          <a:noFill/>
          <a:ln/>
        </p:spPr>
        <p:txBody>
          <a:bodyPr wrap="square" lIns="0" tIns="0" rIns="0" bIns="0" rtlCol="0" anchor="ctr">
            <a:normAutofit/>
          </a:bodyPr>
          <a:lstStyle/>
          <a:p>
            <a:pPr marL="0" indent="0" algn="l">
              <a:buNone/>
            </a:pPr>
            <a:r>
              <a:rPr lang="en-US" sz="1600">
                <a:solidFill>
                  <a:srgbClr val="172033"/>
                </a:solidFill>
                <a:latin typeface="Aptos" pitchFamily="34" charset="0"/>
                <a:ea typeface="Aptos" pitchFamily="34" charset="-122"/>
                <a:cs typeface="Aptos" pitchFamily="34" charset="-120"/>
              </a:rPr>
              <a:t>Idea, requirements gathering and implementation in one session.</a:t>
            </a:r>
          </a:p>
          <a:p>
            <a:pPr marL="0" indent="0" algn="l">
              <a:buNone/>
            </a:pPr>
            <a:br>
              <a:rPr lang="en-US" sz="1600">
                <a:solidFill>
                  <a:srgbClr val="172033"/>
                </a:solidFill>
                <a:latin typeface="Aptos" pitchFamily="34" charset="0"/>
                <a:ea typeface="Aptos" pitchFamily="34" charset="-122"/>
                <a:cs typeface="Aptos" pitchFamily="34" charset="-120"/>
              </a:rPr>
            </a:br>
            <a:r>
              <a:rPr lang="en-US" sz="1600">
                <a:solidFill>
                  <a:srgbClr val="172033"/>
                </a:solidFill>
                <a:latin typeface="Aptos" pitchFamily="34" charset="0"/>
                <a:ea typeface="Aptos" pitchFamily="34" charset="-122"/>
                <a:cs typeface="Aptos" pitchFamily="34" charset="-120"/>
              </a:rPr>
              <a:t>Product and architecture changed while code was already moving.</a:t>
            </a:r>
            <a:endParaRPr lang="en-US" sz="1400" dirty="0"/>
          </a:p>
        </p:txBody>
      </p:sp>
      <p:sp>
        <p:nvSpPr>
          <p:cNvPr id="9" name="Text 7"/>
          <p:cNvSpPr/>
          <p:nvPr/>
        </p:nvSpPr>
        <p:spPr>
          <a:xfrm>
            <a:off x="914400" y="4754880"/>
            <a:ext cx="2788920" cy="457200"/>
          </a:xfrm>
          <a:prstGeom prst="rect">
            <a:avLst/>
          </a:prstGeom>
          <a:noFill/>
          <a:ln/>
        </p:spPr>
        <p:txBody>
          <a:bodyPr wrap="square" lIns="0" tIns="0" rIns="0" bIns="0" rtlCol="0" anchor="ctr">
            <a:normAutofit/>
          </a:bodyPr>
          <a:lstStyle/>
          <a:p>
            <a:pPr marL="0" indent="0" algn="l">
              <a:buNone/>
            </a:pPr>
            <a:r>
              <a:rPr lang="en-US" sz="1300" b="1">
                <a:solidFill>
                  <a:srgbClr val="64748B"/>
                </a:solidFill>
                <a:latin typeface="Aptos SemiBold" pitchFamily="34" charset="0"/>
                <a:ea typeface="Aptos SemiBold" pitchFamily="34" charset="-122"/>
                <a:cs typeface="Aptos SemiBold" pitchFamily="34" charset="-120"/>
              </a:rPr>
              <a:t>Decisions remained inside the worker session</a:t>
            </a:r>
            <a:endParaRPr lang="en-US" sz="1000" dirty="0"/>
          </a:p>
        </p:txBody>
      </p:sp>
      <p:sp>
        <p:nvSpPr>
          <p:cNvPr id="10" name="Shape 8"/>
          <p:cNvSpPr/>
          <p:nvPr/>
        </p:nvSpPr>
        <p:spPr>
          <a:xfrm>
            <a:off x="4480560" y="1353312"/>
            <a:ext cx="3383280" cy="4133087"/>
          </a:xfrm>
          <a:prstGeom prst="roundRect">
            <a:avLst>
              <a:gd name="adj" fmla="val 1770"/>
            </a:avLst>
          </a:prstGeom>
          <a:solidFill>
            <a:srgbClr val="E8F1FF"/>
          </a:solidFill>
          <a:ln w="12700">
            <a:solidFill>
              <a:srgbClr val="C4D9FF"/>
            </a:solidFill>
            <a:prstDash val="solid"/>
          </a:ln>
        </p:spPr>
        <p:txBody>
          <a:bodyPr/>
          <a:lstStyle/>
          <a:p>
            <a:endParaRPr lang="en-CA" dirty="0"/>
          </a:p>
        </p:txBody>
      </p:sp>
      <p:sp>
        <p:nvSpPr>
          <p:cNvPr id="32" name="Rounded Rectangle 31"/>
          <p:cNvSpPr/>
          <p:nvPr/>
        </p:nvSpPr>
        <p:spPr>
          <a:xfrm>
            <a:off x="4599432" y="4407408"/>
            <a:ext cx="3035808" cy="868680"/>
          </a:xfrm>
          <a:prstGeom prst="roundRect">
            <a:avLst/>
          </a:prstGeom>
          <a:solidFill>
            <a:srgbClr val="FFFFFF"/>
          </a:solidFill>
          <a:ln w="12700">
            <a:solidFill>
              <a:srgbClr val="C4D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 9"/>
          <p:cNvSpPr/>
          <p:nvPr/>
        </p:nvSpPr>
        <p:spPr>
          <a:xfrm>
            <a:off x="4736592" y="1517904"/>
            <a:ext cx="420624" cy="420624"/>
          </a:xfrm>
          <a:prstGeom prst="roundRect">
            <a:avLst>
              <a:gd name="adj" fmla="val 20000"/>
            </a:avLst>
          </a:prstGeom>
          <a:solidFill>
            <a:srgbClr val="1E40AF"/>
          </a:solidFill>
          <a:ln w="12700">
            <a:solidFill>
              <a:srgbClr val="1E40AF"/>
            </a:solidFill>
            <a:prstDash val="solid"/>
          </a:ln>
        </p:spPr>
        <p:txBody>
          <a:bodyPr wrap="none" anchor="ctr"/>
          <a:lstStyle/>
          <a:p>
            <a:pPr algn="ctr"/>
            <a:r>
              <a:rPr lang="en-CA" sz="2000" b="1">
                <a:solidFill>
                  <a:srgbClr val="FFFFFF"/>
                </a:solidFill>
                <a:latin typeface="Aptos SemiBold"/>
              </a:rPr>
              <a:t>2</a:t>
            </a:r>
          </a:p>
        </p:txBody>
      </p:sp>
      <p:sp>
        <p:nvSpPr>
          <p:cNvPr id="12" name="Text 10"/>
          <p:cNvSpPr/>
          <p:nvPr/>
        </p:nvSpPr>
        <p:spPr>
          <a:xfrm>
            <a:off x="5303520" y="1645920"/>
            <a:ext cx="2194560" cy="201168"/>
          </a:xfrm>
          <a:prstGeom prst="rect">
            <a:avLst/>
          </a:prstGeom>
          <a:noFill/>
          <a:ln/>
        </p:spPr>
        <p:txBody>
          <a:bodyPr wrap="none" lIns="0" tIns="0" rIns="0" bIns="0" rtlCol="0" anchor="ctr">
            <a:noAutofit/>
          </a:bodyPr>
          <a:lstStyle/>
          <a:p>
            <a:pPr marL="0" indent="0" algn="l">
              <a:buNone/>
            </a:pPr>
            <a:r>
              <a:rPr lang="en-US" sz="1000" b="1">
                <a:solidFill>
                  <a:srgbClr val="1E40AF"/>
                </a:solidFill>
                <a:latin typeface="Aptos SemiBold" pitchFamily="34" charset="0"/>
                <a:ea typeface="Aptos SemiBold" pitchFamily="34" charset="-122"/>
                <a:cs typeface="Aptos SemiBold" pitchFamily="34" charset="-120"/>
              </a:rPr>
              <a:t>MANUAL SHAPING</a:t>
            </a:r>
            <a:endParaRPr lang="en-US" sz="900" dirty="0"/>
          </a:p>
        </p:txBody>
      </p:sp>
      <p:sp>
        <p:nvSpPr>
          <p:cNvPr id="13" name="Text 11"/>
          <p:cNvSpPr/>
          <p:nvPr/>
        </p:nvSpPr>
        <p:spPr>
          <a:xfrm>
            <a:off x="4709160" y="2029968"/>
            <a:ext cx="2926080" cy="658368"/>
          </a:xfrm>
          <a:prstGeom prst="rect">
            <a:avLst/>
          </a:prstGeom>
          <a:noFill/>
          <a:ln/>
        </p:spPr>
        <p:txBody>
          <a:bodyPr wrap="square" lIns="0" tIns="0" rIns="0" bIns="0" rtlCol="0" anchor="ctr"/>
          <a:lstStyle/>
          <a:p>
            <a:pPr marL="0" indent="0">
              <a:buNone/>
            </a:pPr>
            <a:r>
              <a:rPr lang="en-US" sz="2200" b="1">
                <a:solidFill>
                  <a:srgbClr val="1E40AF"/>
                </a:solidFill>
                <a:latin typeface="Aptos SemiBold" pitchFamily="34" charset="0"/>
                <a:ea typeface="Aptos SemiBold" pitchFamily="34" charset="-122"/>
                <a:cs typeface="Aptos SemiBold" pitchFamily="34" charset="-120"/>
              </a:rPr>
              <a:t>Shared session with  specialist handoffs</a:t>
            </a:r>
            <a:endParaRPr lang="en-US" dirty="0"/>
          </a:p>
        </p:txBody>
      </p:sp>
      <p:sp>
        <p:nvSpPr>
          <p:cNvPr id="14" name="Text 12"/>
          <p:cNvSpPr/>
          <p:nvPr/>
        </p:nvSpPr>
        <p:spPr>
          <a:xfrm>
            <a:off x="4709160" y="2761488"/>
            <a:ext cx="2926080" cy="1554480"/>
          </a:xfrm>
          <a:prstGeom prst="rect">
            <a:avLst/>
          </a:prstGeom>
          <a:noFill/>
          <a:ln/>
        </p:spPr>
        <p:txBody>
          <a:bodyPr wrap="square" lIns="0" tIns="0" rIns="0" bIns="0" rtlCol="0" anchor="ctr">
            <a:normAutofit/>
          </a:bodyPr>
          <a:lstStyle/>
          <a:p>
            <a:pPr marL="0" indent="0" algn="l">
              <a:buNone/>
            </a:pPr>
            <a:r>
              <a:rPr lang="en-US" sz="1600">
                <a:solidFill>
                  <a:srgbClr val="172033"/>
                </a:solidFill>
                <a:latin typeface="Aptos" pitchFamily="34" charset="0"/>
                <a:ea typeface="Aptos" pitchFamily="34" charset="-122"/>
                <a:cs typeface="Aptos" pitchFamily="34" charset="-120"/>
              </a:rPr>
              <a:t>Dedicated “feature” session were Product, Architecture, UX , </a:t>
            </a:r>
            <a:br>
              <a:rPr lang="en-US" sz="1600">
                <a:solidFill>
                  <a:srgbClr val="172033"/>
                </a:solidFill>
                <a:latin typeface="Aptos" pitchFamily="34" charset="0"/>
                <a:ea typeface="Aptos" pitchFamily="34" charset="-122"/>
                <a:cs typeface="Aptos" pitchFamily="34" charset="-120"/>
              </a:rPr>
            </a:br>
            <a:br>
              <a:rPr lang="en-US" sz="1600">
                <a:solidFill>
                  <a:srgbClr val="172033"/>
                </a:solidFill>
                <a:latin typeface="Aptos" pitchFamily="34" charset="0"/>
                <a:ea typeface="Aptos" pitchFamily="34" charset="-122"/>
                <a:cs typeface="Aptos" pitchFamily="34" charset="-120"/>
              </a:rPr>
            </a:br>
            <a:r>
              <a:rPr lang="en-US" sz="1600">
                <a:solidFill>
                  <a:srgbClr val="172033"/>
                </a:solidFill>
                <a:latin typeface="Aptos" pitchFamily="34" charset="0"/>
                <a:ea typeface="Aptos" pitchFamily="34" charset="-122"/>
                <a:cs typeface="Aptos" pitchFamily="34" charset="-120"/>
              </a:rPr>
              <a:t>Security were specialized, </a:t>
            </a:r>
            <a:br>
              <a:rPr lang="en-US" sz="1600">
                <a:solidFill>
                  <a:srgbClr val="172033"/>
                </a:solidFill>
                <a:latin typeface="Aptos" pitchFamily="34" charset="0"/>
                <a:ea typeface="Aptos" pitchFamily="34" charset="-122"/>
                <a:cs typeface="Aptos" pitchFamily="34" charset="-120"/>
              </a:rPr>
            </a:br>
            <a:r>
              <a:rPr lang="en-US" sz="1600">
                <a:solidFill>
                  <a:srgbClr val="172033"/>
                </a:solidFill>
                <a:latin typeface="Aptos" pitchFamily="34" charset="0"/>
                <a:ea typeface="Aptos" pitchFamily="34" charset="-122"/>
                <a:cs typeface="Aptos" pitchFamily="34" charset="-120"/>
              </a:rPr>
              <a:t>Communication and handoffs done via the session context,</a:t>
            </a:r>
            <a:endParaRPr lang="en-US" sz="1400" dirty="0"/>
          </a:p>
        </p:txBody>
      </p:sp>
      <p:sp>
        <p:nvSpPr>
          <p:cNvPr id="15" name="Text 13"/>
          <p:cNvSpPr/>
          <p:nvPr/>
        </p:nvSpPr>
        <p:spPr>
          <a:xfrm>
            <a:off x="4709160" y="4754880"/>
            <a:ext cx="2788920" cy="457200"/>
          </a:xfrm>
          <a:prstGeom prst="rect">
            <a:avLst/>
          </a:prstGeom>
          <a:noFill/>
          <a:ln/>
        </p:spPr>
        <p:txBody>
          <a:bodyPr wrap="square" lIns="0" tIns="0" rIns="0" bIns="0" rtlCol="0" anchor="ctr">
            <a:normAutofit/>
          </a:bodyPr>
          <a:lstStyle/>
          <a:p>
            <a:pPr marL="0" indent="0" algn="l">
              <a:buNone/>
            </a:pPr>
            <a:r>
              <a:rPr lang="en-US" sz="1300" b="1">
                <a:solidFill>
                  <a:srgbClr val="1E40AF"/>
                </a:solidFill>
                <a:latin typeface="Aptos SemiBold" pitchFamily="34" charset="0"/>
                <a:ea typeface="Aptos SemiBold" pitchFamily="34" charset="-122"/>
                <a:cs typeface="Aptos SemiBold" pitchFamily="34" charset="-120"/>
              </a:rPr>
              <a:t>Better focus - human still orchestrates</a:t>
            </a:r>
            <a:endParaRPr lang="en-US" sz="1000" dirty="0"/>
          </a:p>
        </p:txBody>
      </p:sp>
      <p:sp>
        <p:nvSpPr>
          <p:cNvPr id="16" name="Shape 14"/>
          <p:cNvSpPr/>
          <p:nvPr/>
        </p:nvSpPr>
        <p:spPr>
          <a:xfrm>
            <a:off x="8370848" y="1338580"/>
            <a:ext cx="3383280" cy="4133087"/>
          </a:xfrm>
          <a:prstGeom prst="roundRect">
            <a:avLst>
              <a:gd name="adj" fmla="val 1770"/>
            </a:avLst>
          </a:prstGeom>
          <a:solidFill>
            <a:srgbClr val="E3F6EC"/>
          </a:solidFill>
          <a:ln w="12700">
            <a:solidFill>
              <a:srgbClr val="BFE6D2"/>
            </a:solidFill>
            <a:prstDash val="solid"/>
          </a:ln>
        </p:spPr>
        <p:txBody>
          <a:bodyPr/>
          <a:lstStyle/>
          <a:p>
            <a:endParaRPr lang="en-CA"/>
          </a:p>
        </p:txBody>
      </p:sp>
      <p:sp>
        <p:nvSpPr>
          <p:cNvPr id="33" name="Rounded Rectangle 32"/>
          <p:cNvSpPr/>
          <p:nvPr/>
        </p:nvSpPr>
        <p:spPr>
          <a:xfrm>
            <a:off x="8394192" y="4407408"/>
            <a:ext cx="3035808" cy="868680"/>
          </a:xfrm>
          <a:prstGeom prst="roundRect">
            <a:avLst/>
          </a:prstGeom>
          <a:solidFill>
            <a:srgbClr val="FFFFFF"/>
          </a:solidFill>
          <a:ln w="12700">
            <a:solidFill>
              <a:srgbClr val="B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 15"/>
          <p:cNvSpPr/>
          <p:nvPr/>
        </p:nvSpPr>
        <p:spPr>
          <a:xfrm>
            <a:off x="8531352" y="1517904"/>
            <a:ext cx="420624" cy="420624"/>
          </a:xfrm>
          <a:prstGeom prst="roundRect">
            <a:avLst>
              <a:gd name="adj" fmla="val 20000"/>
            </a:avLst>
          </a:prstGeom>
          <a:solidFill>
            <a:srgbClr val="0F7B55"/>
          </a:solidFill>
          <a:ln w="12700">
            <a:solidFill>
              <a:srgbClr val="0F7B55"/>
            </a:solidFill>
            <a:prstDash val="solid"/>
          </a:ln>
        </p:spPr>
        <p:txBody>
          <a:bodyPr wrap="none" anchor="ctr"/>
          <a:lstStyle/>
          <a:p>
            <a:pPr algn="ctr"/>
            <a:r>
              <a:rPr lang="en-CA" sz="2000" b="1">
                <a:solidFill>
                  <a:srgbClr val="FFFFFF"/>
                </a:solidFill>
                <a:latin typeface="Aptos SemiBold"/>
              </a:rPr>
              <a:t>3</a:t>
            </a:r>
          </a:p>
        </p:txBody>
      </p:sp>
      <p:sp>
        <p:nvSpPr>
          <p:cNvPr id="18" name="Text 16"/>
          <p:cNvSpPr/>
          <p:nvPr/>
        </p:nvSpPr>
        <p:spPr>
          <a:xfrm>
            <a:off x="9098280" y="1645920"/>
            <a:ext cx="2194560" cy="201168"/>
          </a:xfrm>
          <a:prstGeom prst="rect">
            <a:avLst/>
          </a:prstGeom>
          <a:noFill/>
          <a:ln/>
        </p:spPr>
        <p:txBody>
          <a:bodyPr wrap="none" lIns="0" tIns="0" rIns="0" bIns="0" rtlCol="0" anchor="ctr">
            <a:noAutofit/>
          </a:bodyPr>
          <a:lstStyle/>
          <a:p>
            <a:pPr marL="0" indent="0">
              <a:buNone/>
            </a:pPr>
            <a:r>
              <a:rPr lang="en-US" sz="1000" b="1">
                <a:solidFill>
                  <a:srgbClr val="0F7B55"/>
                </a:solidFill>
                <a:latin typeface="Aptos SemiBold" pitchFamily="34" charset="0"/>
                <a:ea typeface="Aptos SemiBold" pitchFamily="34" charset="-122"/>
                <a:cs typeface="Aptos SemiBold" pitchFamily="34" charset="-120"/>
              </a:rPr>
              <a:t>ENCODED SKILL</a:t>
            </a:r>
            <a:endParaRPr lang="en-US" sz="900" dirty="0"/>
          </a:p>
        </p:txBody>
      </p:sp>
      <p:sp>
        <p:nvSpPr>
          <p:cNvPr id="19" name="Text 17"/>
          <p:cNvSpPr/>
          <p:nvPr/>
        </p:nvSpPr>
        <p:spPr>
          <a:xfrm>
            <a:off x="8503920" y="2029968"/>
            <a:ext cx="2926080" cy="658368"/>
          </a:xfrm>
          <a:prstGeom prst="rect">
            <a:avLst/>
          </a:prstGeom>
          <a:noFill/>
          <a:ln/>
        </p:spPr>
        <p:txBody>
          <a:bodyPr wrap="square" lIns="0" tIns="0" rIns="0" bIns="0" rtlCol="0" anchor="ctr"/>
          <a:lstStyle/>
          <a:p>
            <a:pPr marL="0" indent="0">
              <a:buNone/>
            </a:pPr>
            <a:r>
              <a:rPr lang="en-US" sz="2200" b="1">
                <a:solidFill>
                  <a:srgbClr val="0F7B55"/>
                </a:solidFill>
                <a:latin typeface="Aptos SemiBold" pitchFamily="34" charset="0"/>
                <a:ea typeface="Aptos SemiBold" pitchFamily="34" charset="-122"/>
                <a:cs typeface="Aptos SemiBold" pitchFamily="34" charset="-120"/>
              </a:rPr>
              <a:t>One brief, </a:t>
            </a:r>
            <a:br>
              <a:rPr lang="en-US" sz="2200" b="1">
                <a:solidFill>
                  <a:srgbClr val="0F7B55"/>
                </a:solidFill>
                <a:latin typeface="Aptos SemiBold" pitchFamily="34" charset="0"/>
                <a:ea typeface="Aptos SemiBold" pitchFamily="34" charset="-122"/>
                <a:cs typeface="Aptos SemiBold" pitchFamily="34" charset="-120"/>
              </a:rPr>
            </a:br>
            <a:r>
              <a:rPr lang="en-US" sz="2200" b="1">
                <a:solidFill>
                  <a:srgbClr val="0F7B55"/>
                </a:solidFill>
                <a:latin typeface="Aptos SemiBold" pitchFamily="34" charset="0"/>
                <a:ea typeface="Aptos SemiBold" pitchFamily="34" charset="-122"/>
                <a:cs typeface="Aptos SemiBold" pitchFamily="34" charset="-120"/>
              </a:rPr>
              <a:t>fresh reviews</a:t>
            </a:r>
            <a:endParaRPr lang="en-US" dirty="0"/>
          </a:p>
        </p:txBody>
      </p:sp>
      <p:sp>
        <p:nvSpPr>
          <p:cNvPr id="20" name="Text 18"/>
          <p:cNvSpPr/>
          <p:nvPr/>
        </p:nvSpPr>
        <p:spPr>
          <a:xfrm>
            <a:off x="8503920" y="2761488"/>
            <a:ext cx="2926080" cy="1554480"/>
          </a:xfrm>
          <a:prstGeom prst="rect">
            <a:avLst/>
          </a:prstGeom>
          <a:noFill/>
          <a:ln/>
        </p:spPr>
        <p:txBody>
          <a:bodyPr wrap="square" lIns="0" tIns="0" rIns="0" bIns="0" rtlCol="0" anchor="ctr">
            <a:normAutofit/>
          </a:bodyPr>
          <a:lstStyle/>
          <a:p>
            <a:pPr marL="0" indent="0" algn="l">
              <a:buNone/>
            </a:pPr>
            <a:r>
              <a:rPr lang="en-US" sz="1600">
                <a:solidFill>
                  <a:srgbClr val="172033"/>
                </a:solidFill>
                <a:latin typeface="Aptos" pitchFamily="34" charset="0"/>
                <a:ea typeface="Aptos" pitchFamily="34" charset="-122"/>
                <a:cs typeface="Aptos" pitchFamily="34" charset="-120"/>
              </a:rPr>
              <a:t>The </a:t>
            </a:r>
            <a:r>
              <a:rPr lang="en-US" sz="1600" b="1">
                <a:solidFill>
                  <a:srgbClr val="172033"/>
                </a:solidFill>
                <a:latin typeface="Aptos" pitchFamily="34" charset="0"/>
                <a:ea typeface="Aptos" pitchFamily="34" charset="-122"/>
                <a:cs typeface="Aptos" pitchFamily="34" charset="-120"/>
              </a:rPr>
              <a:t>shaping skill </a:t>
            </a:r>
            <a:r>
              <a:rPr lang="en-US" sz="1600">
                <a:solidFill>
                  <a:srgbClr val="172033"/>
                </a:solidFill>
                <a:latin typeface="Aptos" pitchFamily="34" charset="0"/>
                <a:ea typeface="Aptos" pitchFamily="34" charset="-122"/>
                <a:cs typeface="Aptos" pitchFamily="34" charset="-120"/>
              </a:rPr>
              <a:t>orchestrates the process from idea to approved brief, specialists' reviews and enhancements from fresh contexts, and returns one issue draft.</a:t>
            </a:r>
            <a:endParaRPr lang="en-US" sz="1400" dirty="0"/>
          </a:p>
        </p:txBody>
      </p:sp>
      <p:sp>
        <p:nvSpPr>
          <p:cNvPr id="21" name="Text 19"/>
          <p:cNvSpPr/>
          <p:nvPr/>
        </p:nvSpPr>
        <p:spPr>
          <a:xfrm>
            <a:off x="8503920" y="4754880"/>
            <a:ext cx="2788920" cy="457200"/>
          </a:xfrm>
          <a:prstGeom prst="rect">
            <a:avLst/>
          </a:prstGeom>
          <a:noFill/>
          <a:ln/>
        </p:spPr>
        <p:txBody>
          <a:bodyPr wrap="square" lIns="0" tIns="0" rIns="0" bIns="0" rtlCol="0" anchor="ctr">
            <a:normAutofit/>
          </a:bodyPr>
          <a:lstStyle/>
          <a:p>
            <a:pPr marL="0" indent="0" algn="l">
              <a:buNone/>
            </a:pPr>
            <a:r>
              <a:rPr lang="en-US" sz="1300" b="1">
                <a:solidFill>
                  <a:srgbClr val="0F7B55"/>
                </a:solidFill>
                <a:latin typeface="Aptos SemiBold" pitchFamily="34" charset="0"/>
                <a:ea typeface="Aptos SemiBold" pitchFamily="34" charset="-122"/>
                <a:cs typeface="Aptos SemiBold" pitchFamily="34" charset="-120"/>
              </a:rPr>
              <a:t>Repeatable process - human approves the contract</a:t>
            </a:r>
            <a:endParaRPr lang="en-US" sz="10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9</a:t>
            </a:r>
            <a:endParaRPr lang="en-US"/>
          </a:p>
        </p:txBody>
      </p:sp>
      <p:sp>
        <p:nvSpPr>
          <p:cNvPr id="26" name="TextBox 25"/>
          <p:cNvSpPr txBox="1"/>
          <p:nvPr/>
        </p:nvSpPr>
        <p:spPr>
          <a:xfrm>
            <a:off x="914400" y="4535424"/>
            <a:ext cx="2377440" cy="138499"/>
          </a:xfrm>
          <a:prstGeom prst="rect">
            <a:avLst/>
          </a:prstGeom>
          <a:noFill/>
        </p:spPr>
        <p:txBody>
          <a:bodyPr wrap="square" lIns="0" tIns="0" bIns="0">
            <a:spAutoFit/>
          </a:bodyPr>
          <a:lstStyle/>
          <a:p>
            <a:pPr algn="l"/>
            <a:r>
              <a:rPr lang="en-CA" sz="900" b="1">
                <a:solidFill>
                  <a:srgbClr val="64748B"/>
                </a:solidFill>
                <a:latin typeface="Aptos SemiBold"/>
              </a:rPr>
              <a:t>OUTCOME</a:t>
            </a:r>
          </a:p>
        </p:txBody>
      </p:sp>
      <p:sp>
        <p:nvSpPr>
          <p:cNvPr id="27" name="TextBox 26"/>
          <p:cNvSpPr txBox="1"/>
          <p:nvPr/>
        </p:nvSpPr>
        <p:spPr>
          <a:xfrm>
            <a:off x="4709160" y="4535424"/>
            <a:ext cx="2377440" cy="138499"/>
          </a:xfrm>
          <a:prstGeom prst="rect">
            <a:avLst/>
          </a:prstGeom>
          <a:noFill/>
        </p:spPr>
        <p:txBody>
          <a:bodyPr wrap="square" lIns="0" tIns="0" bIns="0">
            <a:spAutoFit/>
          </a:bodyPr>
          <a:lstStyle/>
          <a:p>
            <a:pPr algn="l"/>
            <a:r>
              <a:rPr lang="en-CA" sz="900" b="1">
                <a:solidFill>
                  <a:srgbClr val="1E40AF"/>
                </a:solidFill>
                <a:latin typeface="Aptos SemiBold"/>
              </a:rPr>
              <a:t>OUTCOME</a:t>
            </a:r>
          </a:p>
        </p:txBody>
      </p:sp>
      <p:sp>
        <p:nvSpPr>
          <p:cNvPr id="28" name="TextBox 27"/>
          <p:cNvSpPr txBox="1"/>
          <p:nvPr/>
        </p:nvSpPr>
        <p:spPr>
          <a:xfrm>
            <a:off x="8503920" y="4535424"/>
            <a:ext cx="2377440" cy="138499"/>
          </a:xfrm>
          <a:prstGeom prst="rect">
            <a:avLst/>
          </a:prstGeom>
          <a:noFill/>
        </p:spPr>
        <p:txBody>
          <a:bodyPr wrap="square" lIns="0" tIns="0" bIns="0">
            <a:spAutoFit/>
          </a:bodyPr>
          <a:lstStyle/>
          <a:p>
            <a:pPr algn="l"/>
            <a:r>
              <a:rPr lang="en-CA" sz="900" b="1">
                <a:solidFill>
                  <a:srgbClr val="0F7B55"/>
                </a:solidFill>
                <a:latin typeface="Aptos SemiBold"/>
              </a:rPr>
              <a:t>OUTCOME</a:t>
            </a:r>
          </a:p>
        </p:txBody>
      </p:sp>
      <p:sp>
        <p:nvSpPr>
          <p:cNvPr id="29" name="Chevron 28"/>
          <p:cNvSpPr/>
          <p:nvPr/>
        </p:nvSpPr>
        <p:spPr>
          <a:xfrm>
            <a:off x="4087368" y="2944368"/>
            <a:ext cx="384048" cy="292608"/>
          </a:xfrm>
          <a:prstGeom prst="chevron">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Chevron 29"/>
          <p:cNvSpPr/>
          <p:nvPr/>
        </p:nvSpPr>
        <p:spPr>
          <a:xfrm>
            <a:off x="7882127" y="2944368"/>
            <a:ext cx="384048" cy="292608"/>
          </a:xfrm>
          <a:prstGeom prst="chevron">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36" name="Group 35">
            <a:extLst>
              <a:ext uri="{FF2B5EF4-FFF2-40B4-BE49-F238E27FC236}">
                <a16:creationId xmlns:a16="http://schemas.microsoft.com/office/drawing/2014/main" id="{EFB7F934-3197-17F5-C1B0-1569F3FA772D}"/>
              </a:ext>
            </a:extLst>
          </p:cNvPr>
          <p:cNvGrpSpPr/>
          <p:nvPr/>
        </p:nvGrpSpPr>
        <p:grpSpPr>
          <a:xfrm>
            <a:off x="566928" y="5721556"/>
            <a:ext cx="6931152" cy="626968"/>
            <a:chOff x="3637109" y="5755542"/>
            <a:chExt cx="4677817" cy="626968"/>
          </a:xfrm>
        </p:grpSpPr>
        <p:sp>
          <p:nvSpPr>
            <p:cNvPr id="23" name="Text 21"/>
            <p:cNvSpPr/>
            <p:nvPr/>
          </p:nvSpPr>
          <p:spPr>
            <a:xfrm>
              <a:off x="3840480" y="5755542"/>
              <a:ext cx="4474446" cy="621792"/>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A reliable issue is produced—not prompted.</a:t>
              </a:r>
              <a:endParaRPr lang="en-US" sz="1900" dirty="0"/>
            </a:p>
          </p:txBody>
        </p:sp>
        <p:sp>
          <p:nvSpPr>
            <p:cNvPr id="35" name="Shape 7">
              <a:extLst>
                <a:ext uri="{FF2B5EF4-FFF2-40B4-BE49-F238E27FC236}">
                  <a16:creationId xmlns:a16="http://schemas.microsoft.com/office/drawing/2014/main" id="{E9F75C61-67EA-B62E-F4B1-0D637049D2D7}"/>
                </a:ext>
              </a:extLst>
            </p:cNvPr>
            <p:cNvSpPr/>
            <p:nvPr/>
          </p:nvSpPr>
          <p:spPr>
            <a:xfrm>
              <a:off x="3637109" y="5760718"/>
              <a:ext cx="64008" cy="621792"/>
            </a:xfrm>
            <a:prstGeom prst="rect">
              <a:avLst/>
            </a:prstGeom>
            <a:solidFill>
              <a:srgbClr val="0F766E"/>
            </a:solidFill>
            <a:ln w="12700">
              <a:solidFill>
                <a:srgbClr val="0F766E"/>
              </a:solidFill>
              <a:prstDash val="solid"/>
            </a:ln>
          </p:spPr>
          <p:txBody>
            <a:bodyPr/>
            <a:lstStyle/>
            <a:p>
              <a:endParaRPr lang="en-CA"/>
            </a:p>
          </p:txBody>
        </p:sp>
      </p:grpSp>
    </p:spTree>
    <p:extLst>
      <p:ext uri="{BB962C8B-B14F-4D97-AF65-F5344CB8AC3E}">
        <p14:creationId xmlns:p14="http://schemas.microsoft.com/office/powerpoint/2010/main" val="245835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967EB-98C5-CD37-EF4C-507498C551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924D4-C5B4-6A56-C435-2A0B58367D26}"/>
              </a:ext>
            </a:extLst>
          </p:cNvPr>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THE VISIBLE RESULT</a:t>
            </a:r>
            <a:endParaRPr lang="en-US" sz="1000"/>
          </a:p>
        </p:txBody>
      </p:sp>
      <p:sp>
        <p:nvSpPr>
          <p:cNvPr id="3" name="Text 1">
            <a:extLst>
              <a:ext uri="{FF2B5EF4-FFF2-40B4-BE49-F238E27FC236}">
                <a16:creationId xmlns:a16="http://schemas.microsoft.com/office/drawing/2014/main" id="{3E058590-75A9-0E89-7FFA-46CC2D37A10B}"/>
              </a:ext>
            </a:extLst>
          </p:cNvPr>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r>
              <a:rPr lang="en-US" sz="2800" b="1">
                <a:solidFill>
                  <a:srgbClr val="172033"/>
                </a:solidFill>
                <a:latin typeface="Aptos SemiBold" pitchFamily="34" charset="0"/>
                <a:ea typeface="Aptos SemiBold" pitchFamily="34" charset="-122"/>
                <a:cs typeface="Aptos SemiBold" pitchFamily="34" charset="-120"/>
              </a:rPr>
              <a:t>The issue began with one sentence</a:t>
            </a:r>
            <a:endParaRPr lang="en-US" sz="2800" dirty="0"/>
          </a:p>
        </p:txBody>
      </p:sp>
      <p:sp>
        <p:nvSpPr>
          <p:cNvPr id="33" name="Slide Number Placeholder 0">
            <a:extLst>
              <a:ext uri="{FF2B5EF4-FFF2-40B4-BE49-F238E27FC236}">
                <a16:creationId xmlns:a16="http://schemas.microsoft.com/office/drawing/2014/main" id="{DE24E5A8-D246-B1AE-928A-A9842387FFEE}"/>
              </a:ext>
            </a:extLst>
          </p:cNvPr>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10</a:t>
            </a:r>
            <a:endParaRPr lang="en-US"/>
          </a:p>
        </p:txBody>
      </p:sp>
      <p:pic>
        <p:nvPicPr>
          <p:cNvPr id="5" name="Picture 4">
            <a:extLst>
              <a:ext uri="{FF2B5EF4-FFF2-40B4-BE49-F238E27FC236}">
                <a16:creationId xmlns:a16="http://schemas.microsoft.com/office/drawing/2014/main" id="{97015481-6DFE-DE92-79E2-930CBE6F7102}"/>
              </a:ext>
            </a:extLst>
          </p:cNvPr>
          <p:cNvPicPr>
            <a:picLocks noChangeAspect="1"/>
          </p:cNvPicPr>
          <p:nvPr/>
        </p:nvPicPr>
        <p:blipFill>
          <a:blip r:embed="rId3"/>
          <a:stretch>
            <a:fillRect/>
          </a:stretch>
        </p:blipFill>
        <p:spPr>
          <a:xfrm>
            <a:off x="202807" y="1139582"/>
            <a:ext cx="11391785" cy="1492541"/>
          </a:xfrm>
          <a:prstGeom prst="rect">
            <a:avLst/>
          </a:prstGeom>
        </p:spPr>
      </p:pic>
      <p:pic>
        <p:nvPicPr>
          <p:cNvPr id="10" name="Picture 9">
            <a:extLst>
              <a:ext uri="{FF2B5EF4-FFF2-40B4-BE49-F238E27FC236}">
                <a16:creationId xmlns:a16="http://schemas.microsoft.com/office/drawing/2014/main" id="{1B11F12E-4E98-DEC3-93DE-B40390C372C5}"/>
              </a:ext>
            </a:extLst>
          </p:cNvPr>
          <p:cNvPicPr>
            <a:picLocks noChangeAspect="1"/>
          </p:cNvPicPr>
          <p:nvPr/>
        </p:nvPicPr>
        <p:blipFill>
          <a:blip r:embed="rId4"/>
          <a:stretch>
            <a:fillRect/>
          </a:stretch>
        </p:blipFill>
        <p:spPr>
          <a:xfrm>
            <a:off x="446954" y="1680014"/>
            <a:ext cx="11024254" cy="1748986"/>
          </a:xfrm>
          <a:prstGeom prst="rect">
            <a:avLst/>
          </a:prstGeom>
        </p:spPr>
      </p:pic>
      <p:pic>
        <p:nvPicPr>
          <p:cNvPr id="12" name="Picture 11">
            <a:extLst>
              <a:ext uri="{FF2B5EF4-FFF2-40B4-BE49-F238E27FC236}">
                <a16:creationId xmlns:a16="http://schemas.microsoft.com/office/drawing/2014/main" id="{1DE5BAE1-67E1-24D6-F94A-DF03D447E07D}"/>
              </a:ext>
            </a:extLst>
          </p:cNvPr>
          <p:cNvPicPr>
            <a:picLocks noChangeAspect="1"/>
          </p:cNvPicPr>
          <p:nvPr/>
        </p:nvPicPr>
        <p:blipFill>
          <a:blip r:embed="rId5"/>
          <a:stretch>
            <a:fillRect/>
          </a:stretch>
        </p:blipFill>
        <p:spPr>
          <a:xfrm>
            <a:off x="798052" y="2199695"/>
            <a:ext cx="10796540" cy="4138674"/>
          </a:xfrm>
          <a:prstGeom prst="rect">
            <a:avLst/>
          </a:prstGeom>
        </p:spPr>
      </p:pic>
      <p:pic>
        <p:nvPicPr>
          <p:cNvPr id="14" name="Picture 13">
            <a:extLst>
              <a:ext uri="{FF2B5EF4-FFF2-40B4-BE49-F238E27FC236}">
                <a16:creationId xmlns:a16="http://schemas.microsoft.com/office/drawing/2014/main" id="{69676787-E338-C37E-1330-20108CCF5E9D}"/>
              </a:ext>
            </a:extLst>
          </p:cNvPr>
          <p:cNvPicPr>
            <a:picLocks noChangeAspect="1"/>
          </p:cNvPicPr>
          <p:nvPr/>
        </p:nvPicPr>
        <p:blipFill>
          <a:blip r:embed="rId6"/>
          <a:srcRect r="9053"/>
          <a:stretch>
            <a:fillRect/>
          </a:stretch>
        </p:blipFill>
        <p:spPr>
          <a:xfrm>
            <a:off x="1011932" y="3509860"/>
            <a:ext cx="10582660" cy="1531326"/>
          </a:xfrm>
          <a:prstGeom prst="rect">
            <a:avLst/>
          </a:prstGeom>
        </p:spPr>
      </p:pic>
      <p:pic>
        <p:nvPicPr>
          <p:cNvPr id="16" name="Picture 15">
            <a:extLst>
              <a:ext uri="{FF2B5EF4-FFF2-40B4-BE49-F238E27FC236}">
                <a16:creationId xmlns:a16="http://schemas.microsoft.com/office/drawing/2014/main" id="{913EF789-F557-EF6B-B5F3-942195E83B78}"/>
              </a:ext>
            </a:extLst>
          </p:cNvPr>
          <p:cNvPicPr>
            <a:picLocks noChangeAspect="1"/>
          </p:cNvPicPr>
          <p:nvPr/>
        </p:nvPicPr>
        <p:blipFill>
          <a:blip r:embed="rId7"/>
          <a:stretch>
            <a:fillRect/>
          </a:stretch>
        </p:blipFill>
        <p:spPr>
          <a:xfrm>
            <a:off x="1621306" y="4117414"/>
            <a:ext cx="9996499" cy="2173658"/>
          </a:xfrm>
          <a:prstGeom prst="rect">
            <a:avLst/>
          </a:prstGeom>
        </p:spPr>
      </p:pic>
    </p:spTree>
    <p:extLst>
      <p:ext uri="{BB962C8B-B14F-4D97-AF65-F5344CB8AC3E}">
        <p14:creationId xmlns:p14="http://schemas.microsoft.com/office/powerpoint/2010/main" val="26079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9" presetClass="emph" presetSubtype="0" nodeType="withEffect">
                                  <p:stCondLst>
                                    <p:cond delay="0"/>
                                  </p:stCondLst>
                                  <p:childTnLst>
                                    <p:set>
                                      <p:cBhvr>
                                        <p:cTn id="9" dur="indefinite"/>
                                        <p:tgtEl>
                                          <p:spTgt spid="5"/>
                                        </p:tgtEl>
                                        <p:attrNameLst>
                                          <p:attrName>style.opacity</p:attrName>
                                        </p:attrNameLst>
                                      </p:cBhvr>
                                      <p:to>
                                        <p:strVal val="0.5"/>
                                      </p:to>
                                    </p:set>
                                    <p:animEffect filter="image" prLst="opacity: 0.5">
                                      <p:cBhvr rctx="IE">
                                        <p:cTn id="10" dur="indefinite"/>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9" presetClass="emph" presetSubtype="0" nodeType="withEffect">
                                  <p:stCondLst>
                                    <p:cond delay="0"/>
                                  </p:stCondLst>
                                  <p:childTnLst>
                                    <p:set>
                                      <p:cBhvr>
                                        <p:cTn id="17" dur="indefinite"/>
                                        <p:tgtEl>
                                          <p:spTgt spid="10"/>
                                        </p:tgtEl>
                                        <p:attrNameLst>
                                          <p:attrName>style.opacity</p:attrName>
                                        </p:attrNameLst>
                                      </p:cBhvr>
                                      <p:to>
                                        <p:strVal val="0.5"/>
                                      </p:to>
                                    </p:set>
                                    <p:animEffect filter="image" prLst="opacity: 0.5">
                                      <p:cBhvr rctx="IE">
                                        <p:cTn id="18" dur="indefinite"/>
                                        <p:tgtEl>
                                          <p:spTgt spid="10"/>
                                        </p:tgtEl>
                                      </p:cBhvr>
                                    </p:animEffect>
                                  </p:childTnLst>
                                </p:cTn>
                              </p:par>
                              <p:par>
                                <p:cTn id="19" presetID="9" presetClass="emph" presetSubtype="0" nodeType="withEffect">
                                  <p:stCondLst>
                                    <p:cond delay="0"/>
                                  </p:stCondLst>
                                  <p:childTnLst>
                                    <p:set>
                                      <p:cBhvr>
                                        <p:cTn id="20" dur="indefinite"/>
                                        <p:tgtEl>
                                          <p:spTgt spid="5"/>
                                        </p:tgtEl>
                                        <p:attrNameLst>
                                          <p:attrName>style.opacity</p:attrName>
                                        </p:attrNameLst>
                                      </p:cBhvr>
                                      <p:to>
                                        <p:strVal val="0.25"/>
                                      </p:to>
                                    </p:set>
                                    <p:animEffect filter="image" prLst="opacity: 0.25">
                                      <p:cBhvr rctx="IE">
                                        <p:cTn id="21" dur="indefinite"/>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9" presetClass="emph" presetSubtype="0" nodeType="withEffect">
                                  <p:stCondLst>
                                    <p:cond delay="0"/>
                                  </p:stCondLst>
                                  <p:childTnLst>
                                    <p:set>
                                      <p:cBhvr>
                                        <p:cTn id="28" dur="indefinite"/>
                                        <p:tgtEl>
                                          <p:spTgt spid="12"/>
                                        </p:tgtEl>
                                        <p:attrNameLst>
                                          <p:attrName>style.opacity</p:attrName>
                                        </p:attrNameLst>
                                      </p:cBhvr>
                                      <p:to>
                                        <p:strVal val="0.5"/>
                                      </p:to>
                                    </p:set>
                                    <p:animEffect filter="image" prLst="opacity: 0.5">
                                      <p:cBhvr rctx="IE">
                                        <p:cTn id="29" dur="indefinite"/>
                                        <p:tgtEl>
                                          <p:spTgt spid="12"/>
                                        </p:tgtEl>
                                      </p:cBhvr>
                                    </p:animEffect>
                                  </p:childTnLst>
                                </p:cTn>
                              </p:par>
                              <p:par>
                                <p:cTn id="30" presetID="9" presetClass="emph" presetSubtype="0" nodeType="withEffect">
                                  <p:stCondLst>
                                    <p:cond delay="0"/>
                                  </p:stCondLst>
                                  <p:childTnLst>
                                    <p:set>
                                      <p:cBhvr>
                                        <p:cTn id="31" dur="indefinite"/>
                                        <p:tgtEl>
                                          <p:spTgt spid="10"/>
                                        </p:tgtEl>
                                        <p:attrNameLst>
                                          <p:attrName>style.opacity</p:attrName>
                                        </p:attrNameLst>
                                      </p:cBhvr>
                                      <p:to>
                                        <p:strVal val="0.25"/>
                                      </p:to>
                                    </p:set>
                                    <p:animEffect filter="image" prLst="opacity: 0.25">
                                      <p:cBhvr rctx="IE">
                                        <p:cTn id="32" dur="indefinite"/>
                                        <p:tgtEl>
                                          <p:spTgt spid="10"/>
                                        </p:tgtEl>
                                      </p:cBhvr>
                                    </p:animEffect>
                                  </p:childTnLst>
                                </p:cTn>
                              </p:par>
                              <p:par>
                                <p:cTn id="33" presetID="9" presetClass="emph" presetSubtype="0" nodeType="withEffect">
                                  <p:stCondLst>
                                    <p:cond delay="0"/>
                                  </p:stCondLst>
                                  <p:childTnLst>
                                    <p:set>
                                      <p:cBhvr>
                                        <p:cTn id="34" dur="indefinite"/>
                                        <p:tgtEl>
                                          <p:spTgt spid="5"/>
                                        </p:tgtEl>
                                        <p:attrNameLst>
                                          <p:attrName>style.opacity</p:attrName>
                                        </p:attrNameLst>
                                      </p:cBhvr>
                                      <p:to>
                                        <p:strVal val="0.05"/>
                                      </p:to>
                                    </p:set>
                                    <p:animEffect filter="image" prLst="opacity: 0.05">
                                      <p:cBhvr rctx="IE">
                                        <p:cTn id="35" dur="indefinite"/>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9" presetClass="emph" presetSubtype="0" nodeType="withEffect">
                                  <p:stCondLst>
                                    <p:cond delay="0"/>
                                  </p:stCondLst>
                                  <p:childTnLst>
                                    <p:set>
                                      <p:cBhvr>
                                        <p:cTn id="42" dur="indefinite"/>
                                        <p:tgtEl>
                                          <p:spTgt spid="14"/>
                                        </p:tgtEl>
                                        <p:attrNameLst>
                                          <p:attrName>style.opacity</p:attrName>
                                        </p:attrNameLst>
                                      </p:cBhvr>
                                      <p:to>
                                        <p:strVal val="0.5"/>
                                      </p:to>
                                    </p:set>
                                    <p:animEffect filter="image" prLst="opacity: 0.5">
                                      <p:cBhvr rctx="IE">
                                        <p:cTn id="43" dur="indefinite"/>
                                        <p:tgtEl>
                                          <p:spTgt spid="14"/>
                                        </p:tgtEl>
                                      </p:cBhvr>
                                    </p:animEffect>
                                  </p:childTnLst>
                                </p:cTn>
                              </p:par>
                              <p:par>
                                <p:cTn id="44" presetID="9" presetClass="emph" presetSubtype="0" nodeType="withEffect">
                                  <p:stCondLst>
                                    <p:cond delay="0"/>
                                  </p:stCondLst>
                                  <p:childTnLst>
                                    <p:set>
                                      <p:cBhvr>
                                        <p:cTn id="45" dur="indefinite"/>
                                        <p:tgtEl>
                                          <p:spTgt spid="12"/>
                                        </p:tgtEl>
                                        <p:attrNameLst>
                                          <p:attrName>style.opacity</p:attrName>
                                        </p:attrNameLst>
                                      </p:cBhvr>
                                      <p:to>
                                        <p:strVal val="0.25"/>
                                      </p:to>
                                    </p:set>
                                    <p:animEffect filter="image" prLst="opacity: 0.25">
                                      <p:cBhvr rctx="IE">
                                        <p:cTn id="46" dur="indefinite"/>
                                        <p:tgtEl>
                                          <p:spTgt spid="12"/>
                                        </p:tgtEl>
                                      </p:cBhvr>
                                    </p:animEffect>
                                  </p:childTnLst>
                                </p:cTn>
                              </p:par>
                              <p:par>
                                <p:cTn id="47" presetID="9" presetClass="emph" presetSubtype="0" nodeType="withEffect">
                                  <p:stCondLst>
                                    <p:cond delay="0"/>
                                  </p:stCondLst>
                                  <p:childTnLst>
                                    <p:set>
                                      <p:cBhvr>
                                        <p:cTn id="48" dur="indefinite"/>
                                        <p:tgtEl>
                                          <p:spTgt spid="10"/>
                                        </p:tgtEl>
                                        <p:attrNameLst>
                                          <p:attrName>style.opacity</p:attrName>
                                        </p:attrNameLst>
                                      </p:cBhvr>
                                      <p:to>
                                        <p:strVal val="0.25"/>
                                      </p:to>
                                    </p:set>
                                    <p:animEffect filter="image" prLst="opacity: 0.25">
                                      <p:cBhvr rctx="IE">
                                        <p:cTn id="49" dur="indefinite"/>
                                        <p:tgtEl>
                                          <p:spTgt spid="10"/>
                                        </p:tgtEl>
                                      </p:cBhvr>
                                    </p:animEffect>
                                  </p:childTnLst>
                                </p:cTn>
                              </p:par>
                              <p:par>
                                <p:cTn id="50" presetID="9" presetClass="emph" presetSubtype="0" nodeType="withEffect">
                                  <p:stCondLst>
                                    <p:cond delay="0"/>
                                  </p:stCondLst>
                                  <p:childTnLst>
                                    <p:set>
                                      <p:cBhvr>
                                        <p:cTn id="51" dur="indefinite"/>
                                        <p:tgtEl>
                                          <p:spTgt spid="5"/>
                                        </p:tgtEl>
                                        <p:attrNameLst>
                                          <p:attrName>style.opacity</p:attrName>
                                        </p:attrNameLst>
                                      </p:cBhvr>
                                      <p:to>
                                        <p:strVal val="0.05"/>
                                      </p:to>
                                    </p:set>
                                    <p:animEffect filter="image" prLst="opacity: 0.05">
                                      <p:cBhvr rctx="IE">
                                        <p:cTn id="52" dur="indefinite"/>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Release Review Evolution">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THIRD LEARNING CURVE</a:t>
            </a:r>
            <a:endParaRPr lang="en-US" sz="11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r>
              <a:rPr lang="en-CA" sz="2800" b="1" dirty="0"/>
              <a:t>From </a:t>
            </a:r>
            <a:r>
              <a:rPr lang="en-CA" sz="2800" b="1" i="1" dirty="0"/>
              <a:t>works on my machine </a:t>
            </a:r>
            <a:r>
              <a:rPr lang="en-CA" sz="2800" b="1" dirty="0"/>
              <a:t>to … works</a:t>
            </a:r>
            <a:endParaRPr lang="en-US" sz="2800" dirty="0"/>
          </a:p>
        </p:txBody>
      </p:sp>
      <p:sp>
        <p:nvSpPr>
          <p:cNvPr id="4" name="Shape 2"/>
          <p:cNvSpPr/>
          <p:nvPr/>
        </p:nvSpPr>
        <p:spPr>
          <a:xfrm>
            <a:off x="685800" y="1353312"/>
            <a:ext cx="3383280" cy="3657600"/>
          </a:xfrm>
          <a:prstGeom prst="roundRect">
            <a:avLst>
              <a:gd name="adj" fmla="val 1770"/>
            </a:avLst>
          </a:prstGeom>
          <a:solidFill>
            <a:srgbClr val="F1F3F6"/>
          </a:solidFill>
          <a:ln w="12700">
            <a:solidFill>
              <a:srgbClr val="E2E6EC"/>
            </a:solidFill>
            <a:prstDash val="solid"/>
          </a:ln>
        </p:spPr>
        <p:txBody>
          <a:bodyPr/>
          <a:lstStyle/>
          <a:p>
            <a:endParaRPr lang="en-CA"/>
          </a:p>
        </p:txBody>
      </p:sp>
      <p:sp>
        <p:nvSpPr>
          <p:cNvPr id="26" name="Rounded Rectangle 25"/>
          <p:cNvSpPr/>
          <p:nvPr/>
        </p:nvSpPr>
        <p:spPr>
          <a:xfrm>
            <a:off x="804672" y="3493008"/>
            <a:ext cx="3035808" cy="1298448"/>
          </a:xfrm>
          <a:prstGeom prst="roundRect">
            <a:avLst/>
          </a:prstGeom>
          <a:solidFill>
            <a:srgbClr val="FFFFFF"/>
          </a:solidFill>
          <a:ln w="12700">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941832" y="1517904"/>
            <a:ext cx="420624" cy="420624"/>
          </a:xfrm>
          <a:prstGeom prst="roundRect">
            <a:avLst>
              <a:gd name="adj" fmla="val 20000"/>
            </a:avLst>
          </a:prstGeom>
          <a:solidFill>
            <a:srgbClr val="64748B"/>
          </a:solidFill>
          <a:ln w="12700">
            <a:solidFill>
              <a:srgbClr val="64748B"/>
            </a:solidFill>
            <a:prstDash val="solid"/>
          </a:ln>
        </p:spPr>
        <p:txBody>
          <a:bodyPr wrap="none" anchor="ctr"/>
          <a:lstStyle/>
          <a:p>
            <a:pPr algn="ctr"/>
            <a:r>
              <a:rPr lang="en-CA" sz="2000" b="1">
                <a:solidFill>
                  <a:srgbClr val="FFFFFF"/>
                </a:solidFill>
                <a:latin typeface="Aptos SemiBold"/>
              </a:rPr>
              <a:t>1</a:t>
            </a:r>
          </a:p>
        </p:txBody>
      </p:sp>
      <p:sp>
        <p:nvSpPr>
          <p:cNvPr id="6" name="Text 4"/>
          <p:cNvSpPr/>
          <p:nvPr/>
        </p:nvSpPr>
        <p:spPr>
          <a:xfrm>
            <a:off x="150876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64748B"/>
                </a:solidFill>
                <a:latin typeface="Aptos SemiBold" pitchFamily="34" charset="0"/>
                <a:ea typeface="Aptos SemiBold" pitchFamily="34" charset="-122"/>
                <a:cs typeface="Aptos SemiBold" pitchFamily="34" charset="-120"/>
              </a:rPr>
              <a:t>IMPLEMENTATION SELF-CHECK</a:t>
            </a:r>
            <a:endParaRPr lang="en-US" sz="900" dirty="0"/>
          </a:p>
        </p:txBody>
      </p:sp>
      <p:sp>
        <p:nvSpPr>
          <p:cNvPr id="7" name="Text 5"/>
          <p:cNvSpPr/>
          <p:nvPr/>
        </p:nvSpPr>
        <p:spPr>
          <a:xfrm>
            <a:off x="914400" y="3840480"/>
            <a:ext cx="2788920" cy="566928"/>
          </a:xfrm>
          <a:prstGeom prst="rect">
            <a:avLst/>
          </a:prstGeom>
          <a:noFill/>
          <a:ln/>
        </p:spPr>
        <p:txBody>
          <a:bodyPr wrap="square" lIns="0" tIns="0" rIns="0" bIns="0" rtlCol="0" anchor="ctr"/>
          <a:lstStyle/>
          <a:p>
            <a:pPr marL="0" indent="0" algn="l">
              <a:buNone/>
            </a:pPr>
            <a:r>
              <a:rPr lang="en-US" sz="1600" b="1">
                <a:solidFill>
                  <a:srgbClr val="172033"/>
                </a:solidFill>
                <a:latin typeface="Aptos SemiBold" pitchFamily="34" charset="0"/>
                <a:ea typeface="Aptos SemiBold" pitchFamily="34" charset="-122"/>
                <a:cs typeface="Aptos SemiBold" pitchFamily="34" charset="-120"/>
              </a:rPr>
              <a:t>Fast feedback</a:t>
            </a:r>
            <a:endParaRPr lang="en-US"/>
          </a:p>
        </p:txBody>
      </p:sp>
      <p:sp>
        <p:nvSpPr>
          <p:cNvPr id="8" name="Text 6"/>
          <p:cNvSpPr/>
          <p:nvPr/>
        </p:nvSpPr>
        <p:spPr>
          <a:xfrm>
            <a:off x="914400" y="2048256"/>
            <a:ext cx="2926080" cy="822960"/>
          </a:xfrm>
          <a:prstGeom prst="rect">
            <a:avLst/>
          </a:prstGeom>
          <a:noFill/>
          <a:ln/>
        </p:spPr>
        <p:txBody>
          <a:bodyPr wrap="square" lIns="0" tIns="0" rIns="0" bIns="0" rtlCol="0" anchor="ctr">
            <a:normAutofit/>
          </a:bodyPr>
          <a:lstStyle/>
          <a:p>
            <a:pPr marL="0" indent="0" algn="l">
              <a:buNone/>
            </a:pPr>
            <a:r>
              <a:rPr lang="en-US" sz="2100" b="1" dirty="0">
                <a:solidFill>
                  <a:srgbClr val="64748B"/>
                </a:solidFill>
                <a:latin typeface="Aptos SemiBold" pitchFamily="34" charset="0"/>
                <a:ea typeface="Aptos" pitchFamily="34" charset="-122"/>
                <a:cs typeface="Aptos" pitchFamily="34" charset="-120"/>
              </a:rPr>
              <a:t>Builder validates its own work</a:t>
            </a:r>
            <a:endParaRPr lang="en-US" sz="1400" dirty="0"/>
          </a:p>
        </p:txBody>
      </p:sp>
      <p:sp>
        <p:nvSpPr>
          <p:cNvPr id="9" name="Text 7"/>
          <p:cNvSpPr/>
          <p:nvPr/>
        </p:nvSpPr>
        <p:spPr>
          <a:xfrm>
            <a:off x="91440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64748B"/>
                </a:solidFill>
                <a:latin typeface="Aptos SemiBold" pitchFamily="34" charset="0"/>
                <a:ea typeface="Aptos SemiBold" pitchFamily="34" charset="-122"/>
                <a:cs typeface="Aptos SemiBold" pitchFamily="34" charset="-120"/>
              </a:rPr>
              <a:t>Correlated assumptions remain</a:t>
            </a:r>
            <a:endParaRPr lang="en-US" sz="1000" dirty="0"/>
          </a:p>
        </p:txBody>
      </p:sp>
      <p:sp>
        <p:nvSpPr>
          <p:cNvPr id="10" name="Shape 8"/>
          <p:cNvSpPr/>
          <p:nvPr/>
        </p:nvSpPr>
        <p:spPr>
          <a:xfrm>
            <a:off x="4480560" y="1353312"/>
            <a:ext cx="3383280" cy="3657600"/>
          </a:xfrm>
          <a:prstGeom prst="roundRect">
            <a:avLst>
              <a:gd name="adj" fmla="val 1770"/>
            </a:avLst>
          </a:prstGeom>
          <a:solidFill>
            <a:srgbClr val="E8F1FF"/>
          </a:solidFill>
          <a:ln w="12700">
            <a:solidFill>
              <a:srgbClr val="C4D9FF"/>
            </a:solidFill>
            <a:prstDash val="solid"/>
          </a:ln>
        </p:spPr>
        <p:txBody>
          <a:bodyPr/>
          <a:lstStyle/>
          <a:p>
            <a:endParaRPr lang="en-CA"/>
          </a:p>
        </p:txBody>
      </p:sp>
      <p:sp>
        <p:nvSpPr>
          <p:cNvPr id="28" name="Rounded Rectangle 27"/>
          <p:cNvSpPr/>
          <p:nvPr/>
        </p:nvSpPr>
        <p:spPr>
          <a:xfrm>
            <a:off x="4599432" y="3493008"/>
            <a:ext cx="3035808" cy="1298448"/>
          </a:xfrm>
          <a:prstGeom prst="roundRect">
            <a:avLst/>
          </a:prstGeom>
          <a:solidFill>
            <a:srgbClr val="FFFFFF"/>
          </a:solidFill>
          <a:ln w="12700">
            <a:solidFill>
              <a:srgbClr val="C4D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 9"/>
          <p:cNvSpPr/>
          <p:nvPr/>
        </p:nvSpPr>
        <p:spPr>
          <a:xfrm>
            <a:off x="4736592" y="1517904"/>
            <a:ext cx="420624" cy="420624"/>
          </a:xfrm>
          <a:prstGeom prst="roundRect">
            <a:avLst>
              <a:gd name="adj" fmla="val 20000"/>
            </a:avLst>
          </a:prstGeom>
          <a:solidFill>
            <a:srgbClr val="1E40AF"/>
          </a:solidFill>
          <a:ln w="12700">
            <a:solidFill>
              <a:srgbClr val="1E40AF"/>
            </a:solidFill>
            <a:prstDash val="solid"/>
          </a:ln>
        </p:spPr>
        <p:txBody>
          <a:bodyPr wrap="none" anchor="ctr"/>
          <a:lstStyle/>
          <a:p>
            <a:pPr algn="ctr"/>
            <a:r>
              <a:rPr lang="en-CA" sz="2000" b="1">
                <a:solidFill>
                  <a:srgbClr val="FFFFFF"/>
                </a:solidFill>
                <a:latin typeface="Aptos SemiBold"/>
              </a:rPr>
              <a:t>2</a:t>
            </a:r>
          </a:p>
        </p:txBody>
      </p:sp>
      <p:sp>
        <p:nvSpPr>
          <p:cNvPr id="12" name="Text 10"/>
          <p:cNvSpPr/>
          <p:nvPr/>
        </p:nvSpPr>
        <p:spPr>
          <a:xfrm>
            <a:off x="530352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1E40AF"/>
                </a:solidFill>
                <a:latin typeface="Aptos SemiBold" pitchFamily="34" charset="0"/>
                <a:ea typeface="Aptos SemiBold" pitchFamily="34" charset="-122"/>
                <a:cs typeface="Aptos SemiBold" pitchFamily="34" charset="-120"/>
              </a:rPr>
              <a:t>MANUAL REVIEW</a:t>
            </a:r>
            <a:endParaRPr lang="en-US" sz="900" dirty="0"/>
          </a:p>
        </p:txBody>
      </p:sp>
      <p:sp>
        <p:nvSpPr>
          <p:cNvPr id="13" name="Text 11"/>
          <p:cNvSpPr/>
          <p:nvPr/>
        </p:nvSpPr>
        <p:spPr>
          <a:xfrm>
            <a:off x="4709160" y="3840480"/>
            <a:ext cx="2788920" cy="566928"/>
          </a:xfrm>
          <a:prstGeom prst="rect">
            <a:avLst/>
          </a:prstGeom>
          <a:noFill/>
          <a:ln/>
        </p:spPr>
        <p:txBody>
          <a:bodyPr wrap="square" lIns="0" tIns="0" rIns="0" bIns="0" rtlCol="0" anchor="ctr"/>
          <a:lstStyle/>
          <a:p>
            <a:pPr marL="0" indent="0" algn="l">
              <a:buNone/>
            </a:pPr>
            <a:r>
              <a:rPr lang="en-US" sz="1600" b="1">
                <a:solidFill>
                  <a:srgbClr val="172033"/>
                </a:solidFill>
                <a:latin typeface="Aptos SemiBold" pitchFamily="34" charset="0"/>
                <a:ea typeface="Aptos SemiBold" pitchFamily="34" charset="-122"/>
                <a:cs typeface="Aptos SemiBold" pitchFamily="34" charset="-120"/>
              </a:rPr>
              <a:t>Independent perspective</a:t>
            </a:r>
            <a:endParaRPr lang="en-US"/>
          </a:p>
        </p:txBody>
      </p:sp>
      <p:sp>
        <p:nvSpPr>
          <p:cNvPr id="14" name="Text 12"/>
          <p:cNvSpPr/>
          <p:nvPr/>
        </p:nvSpPr>
        <p:spPr>
          <a:xfrm>
            <a:off x="4709160" y="2048256"/>
            <a:ext cx="2926080" cy="896112"/>
          </a:xfrm>
          <a:prstGeom prst="rect">
            <a:avLst/>
          </a:prstGeom>
          <a:noFill/>
          <a:ln/>
        </p:spPr>
        <p:txBody>
          <a:bodyPr wrap="square" lIns="0" tIns="0" rIns="0" bIns="0" rtlCol="0" anchor="ctr">
            <a:normAutofit/>
          </a:bodyPr>
          <a:lstStyle/>
          <a:p>
            <a:pPr marL="0" indent="0" algn="l">
              <a:buNone/>
            </a:pPr>
            <a:r>
              <a:rPr lang="en-US" sz="2100" b="1">
                <a:solidFill>
                  <a:srgbClr val="1E40AF"/>
                </a:solidFill>
                <a:latin typeface="Aptos SemiBold" pitchFamily="34" charset="0"/>
                <a:ea typeface="Aptos" pitchFamily="34" charset="-122"/>
                <a:cs typeface="Aptos" pitchFamily="34" charset="-120"/>
              </a:rPr>
              <a:t>Human carries reviewer handoffs</a:t>
            </a:r>
            <a:endParaRPr lang="en-US" sz="1400" dirty="0"/>
          </a:p>
        </p:txBody>
      </p:sp>
      <p:sp>
        <p:nvSpPr>
          <p:cNvPr id="15" name="Text 13"/>
          <p:cNvSpPr/>
          <p:nvPr/>
        </p:nvSpPr>
        <p:spPr>
          <a:xfrm>
            <a:off x="470916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1E40AF"/>
                </a:solidFill>
                <a:latin typeface="Aptos SemiBold" pitchFamily="34" charset="0"/>
                <a:ea typeface="Aptos SemiBold" pitchFamily="34" charset="-122"/>
                <a:cs typeface="Aptos SemiBold" pitchFamily="34" charset="-120"/>
              </a:rPr>
              <a:t>Human still orchestrates</a:t>
            </a:r>
            <a:endParaRPr lang="en-US" sz="1000" dirty="0"/>
          </a:p>
        </p:txBody>
      </p:sp>
      <p:sp>
        <p:nvSpPr>
          <p:cNvPr id="16" name="Shape 14"/>
          <p:cNvSpPr/>
          <p:nvPr/>
        </p:nvSpPr>
        <p:spPr>
          <a:xfrm>
            <a:off x="8275320" y="1353312"/>
            <a:ext cx="3383280" cy="3657600"/>
          </a:xfrm>
          <a:prstGeom prst="roundRect">
            <a:avLst>
              <a:gd name="adj" fmla="val 1770"/>
            </a:avLst>
          </a:prstGeom>
          <a:solidFill>
            <a:srgbClr val="E3F6EC"/>
          </a:solidFill>
          <a:ln w="12700">
            <a:solidFill>
              <a:srgbClr val="BFE6D2"/>
            </a:solidFill>
            <a:prstDash val="solid"/>
          </a:ln>
        </p:spPr>
        <p:txBody>
          <a:bodyPr/>
          <a:lstStyle/>
          <a:p>
            <a:endParaRPr lang="en-CA" dirty="0"/>
          </a:p>
        </p:txBody>
      </p:sp>
      <p:sp>
        <p:nvSpPr>
          <p:cNvPr id="30" name="Rounded Rectangle 29"/>
          <p:cNvSpPr/>
          <p:nvPr/>
        </p:nvSpPr>
        <p:spPr>
          <a:xfrm>
            <a:off x="8394192" y="3493008"/>
            <a:ext cx="3035808" cy="1298448"/>
          </a:xfrm>
          <a:prstGeom prst="roundRect">
            <a:avLst/>
          </a:prstGeom>
          <a:solidFill>
            <a:srgbClr val="FFFFFF"/>
          </a:solidFill>
          <a:ln w="12700">
            <a:solidFill>
              <a:srgbClr val="BF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 15"/>
          <p:cNvSpPr/>
          <p:nvPr/>
        </p:nvSpPr>
        <p:spPr>
          <a:xfrm>
            <a:off x="8531352" y="1517904"/>
            <a:ext cx="420624" cy="420624"/>
          </a:xfrm>
          <a:prstGeom prst="roundRect">
            <a:avLst>
              <a:gd name="adj" fmla="val 20000"/>
            </a:avLst>
          </a:prstGeom>
          <a:solidFill>
            <a:srgbClr val="0F7B55"/>
          </a:solidFill>
          <a:ln w="12700">
            <a:solidFill>
              <a:srgbClr val="0F7B55"/>
            </a:solidFill>
            <a:prstDash val="solid"/>
          </a:ln>
        </p:spPr>
        <p:txBody>
          <a:bodyPr wrap="none" anchor="ctr"/>
          <a:lstStyle/>
          <a:p>
            <a:pPr algn="ctr"/>
            <a:r>
              <a:rPr lang="en-CA" sz="2000" b="1">
                <a:solidFill>
                  <a:srgbClr val="FFFFFF"/>
                </a:solidFill>
                <a:latin typeface="Aptos SemiBold"/>
              </a:rPr>
              <a:t>3</a:t>
            </a:r>
          </a:p>
        </p:txBody>
      </p:sp>
      <p:sp>
        <p:nvSpPr>
          <p:cNvPr id="18" name="Text 16"/>
          <p:cNvSpPr/>
          <p:nvPr/>
        </p:nvSpPr>
        <p:spPr>
          <a:xfrm>
            <a:off x="909828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0F7B55"/>
                </a:solidFill>
                <a:latin typeface="Aptos SemiBold" pitchFamily="34" charset="0"/>
                <a:ea typeface="Aptos SemiBold" pitchFamily="34" charset="-122"/>
                <a:cs typeface="Aptos SemiBold" pitchFamily="34" charset="-120"/>
              </a:rPr>
              <a:t>ENCODED SKILL</a:t>
            </a:r>
            <a:endParaRPr lang="en-US" sz="900" dirty="0"/>
          </a:p>
        </p:txBody>
      </p:sp>
      <p:sp>
        <p:nvSpPr>
          <p:cNvPr id="19" name="Text 17"/>
          <p:cNvSpPr/>
          <p:nvPr/>
        </p:nvSpPr>
        <p:spPr>
          <a:xfrm>
            <a:off x="8503920" y="3840480"/>
            <a:ext cx="2788920" cy="566928"/>
          </a:xfrm>
          <a:prstGeom prst="rect">
            <a:avLst/>
          </a:prstGeom>
          <a:noFill/>
          <a:ln/>
        </p:spPr>
        <p:txBody>
          <a:bodyPr wrap="square" lIns="0" tIns="0" rIns="0" bIns="0" rtlCol="0" anchor="ctr"/>
          <a:lstStyle/>
          <a:p>
            <a:pPr marL="0" indent="0" algn="l">
              <a:buNone/>
            </a:pPr>
            <a:r>
              <a:rPr lang="en-US" sz="1600" b="1">
                <a:solidFill>
                  <a:srgbClr val="172033"/>
                </a:solidFill>
                <a:latin typeface="Aptos SemiBold" pitchFamily="34" charset="0"/>
                <a:ea typeface="Aptos SemiBold" pitchFamily="34" charset="-122"/>
                <a:cs typeface="Aptos SemiBold" pitchFamily="34" charset="-120"/>
              </a:rPr>
              <a:t>Repeatable confidence gate</a:t>
            </a:r>
            <a:endParaRPr lang="en-US" dirty="0"/>
          </a:p>
        </p:txBody>
      </p:sp>
      <p:sp>
        <p:nvSpPr>
          <p:cNvPr id="20" name="Text 18"/>
          <p:cNvSpPr/>
          <p:nvPr/>
        </p:nvSpPr>
        <p:spPr>
          <a:xfrm>
            <a:off x="8503920" y="2048256"/>
            <a:ext cx="2926080" cy="896112"/>
          </a:xfrm>
          <a:prstGeom prst="rect">
            <a:avLst/>
          </a:prstGeom>
          <a:noFill/>
          <a:ln/>
        </p:spPr>
        <p:txBody>
          <a:bodyPr wrap="square" lIns="0" tIns="0" rIns="0" bIns="0" rtlCol="0" anchor="ctr">
            <a:normAutofit/>
          </a:bodyPr>
          <a:lstStyle/>
          <a:p>
            <a:pPr marL="0" indent="0" algn="l">
              <a:buNone/>
            </a:pPr>
            <a:r>
              <a:rPr lang="en-US" sz="2100" b="1">
                <a:solidFill>
                  <a:srgbClr val="0F7B55"/>
                </a:solidFill>
                <a:latin typeface="Aptos SemiBold" pitchFamily="34" charset="0"/>
                <a:ea typeface="Aptos" pitchFamily="34" charset="-122"/>
                <a:cs typeface="Aptos" pitchFamily="34" charset="-120"/>
              </a:rPr>
              <a:t>One candidate, </a:t>
            </a:r>
            <a:br>
              <a:rPr lang="en-US" sz="2100" b="1">
                <a:solidFill>
                  <a:srgbClr val="0F7B55"/>
                </a:solidFill>
                <a:latin typeface="Aptos SemiBold" pitchFamily="34" charset="0"/>
                <a:ea typeface="Aptos" pitchFamily="34" charset="-122"/>
                <a:cs typeface="Aptos" pitchFamily="34" charset="-120"/>
              </a:rPr>
            </a:br>
            <a:r>
              <a:rPr lang="en-US" sz="2100" b="1">
                <a:solidFill>
                  <a:srgbClr val="0F7B55"/>
                </a:solidFill>
                <a:latin typeface="Aptos SemiBold" pitchFamily="34" charset="0"/>
                <a:ea typeface="Aptos" pitchFamily="34" charset="-122"/>
                <a:cs typeface="Aptos" pitchFamily="34" charset="-120"/>
              </a:rPr>
              <a:t>fresh reviews</a:t>
            </a:r>
            <a:endParaRPr lang="en-US" sz="1400" dirty="0"/>
          </a:p>
        </p:txBody>
      </p:sp>
      <p:sp>
        <p:nvSpPr>
          <p:cNvPr id="21" name="Text 19"/>
          <p:cNvSpPr/>
          <p:nvPr/>
        </p:nvSpPr>
        <p:spPr>
          <a:xfrm>
            <a:off x="850392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0F7B55"/>
                </a:solidFill>
                <a:latin typeface="Aptos SemiBold" pitchFamily="34" charset="0"/>
                <a:ea typeface="Aptos SemiBold" pitchFamily="34" charset="-122"/>
                <a:cs typeface="Aptos SemiBold" pitchFamily="34" charset="-120"/>
              </a:rPr>
              <a:t>Human resolves material risk</a:t>
            </a:r>
            <a:endParaRPr lang="en-US" sz="1000" dirty="0"/>
          </a:p>
        </p:txBody>
      </p:sp>
      <p:sp>
        <p:nvSpPr>
          <p:cNvPr id="22" name="Shape 20"/>
          <p:cNvSpPr/>
          <p:nvPr/>
        </p:nvSpPr>
        <p:spPr>
          <a:xfrm>
            <a:off x="777240" y="5760720"/>
            <a:ext cx="64008" cy="548640"/>
          </a:xfrm>
          <a:prstGeom prst="rect">
            <a:avLst/>
          </a:prstGeom>
          <a:solidFill>
            <a:srgbClr val="0F766E"/>
          </a:solidFill>
          <a:ln w="12700">
            <a:solidFill>
              <a:srgbClr val="0F766E"/>
            </a:solidFill>
            <a:prstDash val="solid"/>
          </a:ln>
        </p:spPr>
        <p:txBody>
          <a:bodyPr/>
          <a:lstStyle/>
          <a:p>
            <a:endParaRPr lang="en-CA"/>
          </a:p>
        </p:txBody>
      </p:sp>
      <p:sp>
        <p:nvSpPr>
          <p:cNvPr id="23" name="Text 21"/>
          <p:cNvSpPr/>
          <p:nvPr/>
        </p:nvSpPr>
        <p:spPr>
          <a:xfrm>
            <a:off x="1005840" y="5779008"/>
            <a:ext cx="10287000" cy="548640"/>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Release confidence is produced, not inferred from implementation completion.</a:t>
            </a:r>
            <a:endParaRPr lang="en-US" sz="19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11</a:t>
            </a:r>
            <a:endParaRPr lang="en-US"/>
          </a:p>
        </p:txBody>
      </p:sp>
      <p:sp>
        <p:nvSpPr>
          <p:cNvPr id="27" name="TextBox 26"/>
          <p:cNvSpPr txBox="1"/>
          <p:nvPr/>
        </p:nvSpPr>
        <p:spPr>
          <a:xfrm>
            <a:off x="914400" y="3621024"/>
            <a:ext cx="650178" cy="138499"/>
          </a:xfrm>
          <a:prstGeom prst="rect">
            <a:avLst/>
          </a:prstGeom>
          <a:noFill/>
        </p:spPr>
        <p:txBody>
          <a:bodyPr wrap="none" lIns="0" tIns="0" bIns="0">
            <a:spAutoFit/>
          </a:bodyPr>
          <a:lstStyle/>
          <a:p>
            <a:r>
              <a:rPr lang="en-CA" sz="900" b="1">
                <a:solidFill>
                  <a:srgbClr val="64748B"/>
                </a:solidFill>
                <a:latin typeface="Aptos SemiBold"/>
              </a:rPr>
              <a:t>OUTCOME</a:t>
            </a:r>
            <a:endParaRPr lang="en-CA" sz="900" b="1">
              <a:solidFill>
                <a:srgbClr val="5F6B7A"/>
              </a:solidFill>
              <a:latin typeface="Aptos SemiBold"/>
            </a:endParaRPr>
          </a:p>
        </p:txBody>
      </p:sp>
      <p:sp>
        <p:nvSpPr>
          <p:cNvPr id="29" name="TextBox 28"/>
          <p:cNvSpPr txBox="1"/>
          <p:nvPr/>
        </p:nvSpPr>
        <p:spPr>
          <a:xfrm>
            <a:off x="4709160" y="3621024"/>
            <a:ext cx="650178" cy="138499"/>
          </a:xfrm>
          <a:prstGeom prst="rect">
            <a:avLst/>
          </a:prstGeom>
          <a:noFill/>
        </p:spPr>
        <p:txBody>
          <a:bodyPr wrap="none" lIns="0" tIns="0" bIns="0">
            <a:spAutoFit/>
          </a:bodyPr>
          <a:lstStyle/>
          <a:p>
            <a:r>
              <a:rPr lang="en-CA" sz="900" b="1">
                <a:solidFill>
                  <a:srgbClr val="1E40AF"/>
                </a:solidFill>
                <a:latin typeface="Aptos SemiBold"/>
              </a:rPr>
              <a:t>OUTCOME</a:t>
            </a:r>
            <a:endParaRPr lang="en-CA" sz="900" b="1">
              <a:solidFill>
                <a:srgbClr val="5F6B7A"/>
              </a:solidFill>
              <a:latin typeface="Aptos SemiBold"/>
            </a:endParaRPr>
          </a:p>
        </p:txBody>
      </p:sp>
      <p:sp>
        <p:nvSpPr>
          <p:cNvPr id="31" name="TextBox 30"/>
          <p:cNvSpPr txBox="1"/>
          <p:nvPr/>
        </p:nvSpPr>
        <p:spPr>
          <a:xfrm>
            <a:off x="8503920" y="3621024"/>
            <a:ext cx="650178" cy="138499"/>
          </a:xfrm>
          <a:prstGeom prst="rect">
            <a:avLst/>
          </a:prstGeom>
          <a:noFill/>
        </p:spPr>
        <p:txBody>
          <a:bodyPr wrap="none" lIns="0" tIns="0" bIns="0">
            <a:spAutoFit/>
          </a:bodyPr>
          <a:lstStyle/>
          <a:p>
            <a:r>
              <a:rPr lang="en-CA" sz="900" b="1">
                <a:solidFill>
                  <a:srgbClr val="0F7B55"/>
                </a:solidFill>
                <a:latin typeface="Aptos SemiBold"/>
              </a:rPr>
              <a:t>OUTCOME</a:t>
            </a:r>
            <a:endParaRPr lang="en-CA" sz="900" b="1">
              <a:solidFill>
                <a:srgbClr val="5F6B7A"/>
              </a:solidFill>
              <a:latin typeface="Aptos SemiBold"/>
            </a:endParaRPr>
          </a:p>
        </p:txBody>
      </p:sp>
      <p:sp>
        <p:nvSpPr>
          <p:cNvPr id="32" name="Chevron 31"/>
          <p:cNvSpPr/>
          <p:nvPr/>
        </p:nvSpPr>
        <p:spPr>
          <a:xfrm>
            <a:off x="4087368" y="2487168"/>
            <a:ext cx="384048" cy="292608"/>
          </a:xfrm>
          <a:prstGeom prst="chevron">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vron 32"/>
          <p:cNvSpPr/>
          <p:nvPr/>
        </p:nvSpPr>
        <p:spPr>
          <a:xfrm>
            <a:off x="7882127" y="2487168"/>
            <a:ext cx="384048" cy="292608"/>
          </a:xfrm>
          <a:prstGeom prst="chevron">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ultiplication Sign 23">
            <a:extLst>
              <a:ext uri="{FF2B5EF4-FFF2-40B4-BE49-F238E27FC236}">
                <a16:creationId xmlns:a16="http://schemas.microsoft.com/office/drawing/2014/main" id="{3DFC7AF9-179D-C3F0-32D5-E4BC82A7915F}"/>
              </a:ext>
            </a:extLst>
          </p:cNvPr>
          <p:cNvSpPr/>
          <p:nvPr/>
        </p:nvSpPr>
        <p:spPr>
          <a:xfrm>
            <a:off x="3950208" y="731520"/>
            <a:ext cx="4434840" cy="5029200"/>
          </a:xfrm>
          <a:prstGeom prst="mathMultiply">
            <a:avLst>
              <a:gd name="adj1" fmla="val 23806"/>
            </a:avLst>
          </a:prstGeom>
          <a:solidFill>
            <a:srgbClr val="EEACAC">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ssue 95 Fresh Review Evidence">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REAL RELEASE EVIDENCE</a:t>
            </a:r>
            <a:endParaRPr lang="en-US" sz="11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Issue #95: fresh review changed the candidate three times</a:t>
            </a:r>
            <a:endParaRPr lang="en-US" sz="2700" dirty="0"/>
          </a:p>
        </p:txBody>
      </p:sp>
      <p:sp>
        <p:nvSpPr>
          <p:cNvPr id="22" name="Shape 20"/>
          <p:cNvSpPr/>
          <p:nvPr/>
        </p:nvSpPr>
        <p:spPr>
          <a:xfrm>
            <a:off x="777240" y="5760720"/>
            <a:ext cx="64008" cy="548640"/>
          </a:xfrm>
          <a:prstGeom prst="rect">
            <a:avLst/>
          </a:prstGeom>
          <a:solidFill>
            <a:srgbClr val="0F766E"/>
          </a:solidFill>
          <a:ln w="12700">
            <a:solidFill>
              <a:srgbClr val="0F766E"/>
            </a:solidFill>
            <a:prstDash val="solid"/>
          </a:ln>
        </p:spPr>
        <p:txBody>
          <a:bodyPr/>
          <a:lstStyle/>
          <a:p>
            <a:endParaRPr lang="en-CA"/>
          </a:p>
        </p:txBody>
      </p:sp>
      <p:sp>
        <p:nvSpPr>
          <p:cNvPr id="23" name="Text 21"/>
          <p:cNvSpPr/>
          <p:nvPr/>
        </p:nvSpPr>
        <p:spPr>
          <a:xfrm>
            <a:off x="1005840" y="5779008"/>
            <a:ext cx="10287000" cy="548640"/>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The bugs are the example. Re-running the gate after every fix is the process.</a:t>
            </a:r>
            <a:endParaRPr lang="en-US" sz="1900" dirty="0"/>
          </a:p>
        </p:txBody>
      </p:sp>
      <p:sp>
        <p:nvSpPr>
          <p:cNvPr id="25" name="Slide Number Placeholder 0"/>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12</a:t>
            </a:r>
            <a:endParaRPr lang="en-US"/>
          </a:p>
        </p:txBody>
      </p:sp>
      <p:grpSp>
        <p:nvGrpSpPr>
          <p:cNvPr id="36" name="Group 35">
            <a:extLst>
              <a:ext uri="{FF2B5EF4-FFF2-40B4-BE49-F238E27FC236}">
                <a16:creationId xmlns:a16="http://schemas.microsoft.com/office/drawing/2014/main" id="{EF44E5A2-0E30-637B-0650-5249374B3CB1}"/>
              </a:ext>
            </a:extLst>
          </p:cNvPr>
          <p:cNvGrpSpPr/>
          <p:nvPr/>
        </p:nvGrpSpPr>
        <p:grpSpPr>
          <a:xfrm>
            <a:off x="566928" y="1658112"/>
            <a:ext cx="3383280" cy="3657600"/>
            <a:chOff x="685800" y="1353312"/>
            <a:chExt cx="3383280" cy="3657600"/>
          </a:xfrm>
        </p:grpSpPr>
        <p:sp>
          <p:nvSpPr>
            <p:cNvPr id="4" name="Shape 2"/>
            <p:cNvSpPr/>
            <p:nvPr/>
          </p:nvSpPr>
          <p:spPr>
            <a:xfrm>
              <a:off x="685800" y="1353312"/>
              <a:ext cx="3383280" cy="3657600"/>
            </a:xfrm>
            <a:prstGeom prst="roundRect">
              <a:avLst>
                <a:gd name="adj" fmla="val 1770"/>
              </a:avLst>
            </a:prstGeom>
            <a:solidFill>
              <a:srgbClr val="E8F1FF"/>
            </a:solidFill>
            <a:ln w="12700">
              <a:solidFill>
                <a:srgbClr val="C4D9FF"/>
              </a:solidFill>
              <a:prstDash val="solid"/>
            </a:ln>
          </p:spPr>
          <p:txBody>
            <a:bodyPr/>
            <a:lstStyle/>
            <a:p>
              <a:endParaRPr lang="en-CA"/>
            </a:p>
          </p:txBody>
        </p:sp>
        <p:sp>
          <p:nvSpPr>
            <p:cNvPr id="26" name="Rounded Rectangle 25"/>
            <p:cNvSpPr/>
            <p:nvPr/>
          </p:nvSpPr>
          <p:spPr>
            <a:xfrm>
              <a:off x="804672" y="3493008"/>
              <a:ext cx="3035808" cy="1298448"/>
            </a:xfrm>
            <a:prstGeom prst="roundRect">
              <a:avLst/>
            </a:prstGeom>
            <a:solidFill>
              <a:srgbClr val="FFFFFF"/>
            </a:solidFill>
            <a:ln w="12700">
              <a:solidFill>
                <a:srgbClr val="C4D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941832" y="1517904"/>
              <a:ext cx="420624" cy="420624"/>
            </a:xfrm>
            <a:prstGeom prst="roundRect">
              <a:avLst>
                <a:gd name="adj" fmla="val 20000"/>
              </a:avLst>
            </a:prstGeom>
            <a:solidFill>
              <a:srgbClr val="64748B"/>
            </a:solidFill>
            <a:ln w="12700">
              <a:solidFill>
                <a:srgbClr val="64748B"/>
              </a:solidFill>
              <a:prstDash val="solid"/>
            </a:ln>
          </p:spPr>
          <p:txBody>
            <a:bodyPr wrap="none" anchor="ctr"/>
            <a:lstStyle/>
            <a:p>
              <a:pPr algn="ctr"/>
              <a:r>
                <a:rPr lang="en-CA" sz="2000" b="1">
                  <a:solidFill>
                    <a:srgbClr val="FFFFFF"/>
                  </a:solidFill>
                  <a:latin typeface="Aptos SemiBold"/>
                </a:rPr>
                <a:t>1</a:t>
              </a:r>
            </a:p>
          </p:txBody>
        </p:sp>
        <p:sp>
          <p:nvSpPr>
            <p:cNvPr id="6" name="Text 4"/>
            <p:cNvSpPr/>
            <p:nvPr/>
          </p:nvSpPr>
          <p:spPr>
            <a:xfrm>
              <a:off x="150876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1E40AF"/>
                  </a:solidFill>
                  <a:latin typeface="Aptos SemiBold" pitchFamily="34" charset="0"/>
                  <a:ea typeface="Aptos SemiBold" pitchFamily="34" charset="-122"/>
                  <a:cs typeface="Aptos SemiBold" pitchFamily="34" charset="-120"/>
                </a:rPr>
                <a:t>ARCHITECT CHECK</a:t>
              </a:r>
              <a:endParaRPr lang="en-US" sz="900"/>
            </a:p>
          </p:txBody>
        </p:sp>
        <p:sp>
          <p:nvSpPr>
            <p:cNvPr id="7" name="Text 5"/>
            <p:cNvSpPr/>
            <p:nvPr/>
          </p:nvSpPr>
          <p:spPr>
            <a:xfrm>
              <a:off x="914400" y="4023360"/>
              <a:ext cx="2788920" cy="384048"/>
            </a:xfrm>
            <a:prstGeom prst="rect">
              <a:avLst/>
            </a:prstGeom>
            <a:noFill/>
            <a:ln/>
          </p:spPr>
          <p:txBody>
            <a:bodyPr wrap="square" lIns="0" tIns="0" rIns="0" bIns="0" rtlCol="0" anchor="ctr"/>
            <a:lstStyle/>
            <a:p>
              <a:pPr marL="0" indent="0" algn="l">
                <a:buNone/>
              </a:pPr>
              <a:r>
                <a:rPr lang="en-US" sz="1600" b="1">
                  <a:solidFill>
                    <a:srgbClr val="172033"/>
                  </a:solidFill>
                  <a:latin typeface="Aptos SemiBold" pitchFamily="34" charset="0"/>
                  <a:ea typeface="Aptos SemiBold" pitchFamily="34" charset="-122"/>
                  <a:cs typeface="Aptos SemiBold" pitchFamily="34" charset="-120"/>
                </a:rPr>
                <a:t>Known values disappeared</a:t>
              </a:r>
              <a:endParaRPr lang="en-US"/>
            </a:p>
          </p:txBody>
        </p:sp>
        <p:sp>
          <p:nvSpPr>
            <p:cNvPr id="8" name="Text 6"/>
            <p:cNvSpPr/>
            <p:nvPr/>
          </p:nvSpPr>
          <p:spPr>
            <a:xfrm>
              <a:off x="914400" y="2048256"/>
              <a:ext cx="2926080" cy="1280160"/>
            </a:xfrm>
            <a:prstGeom prst="rect">
              <a:avLst/>
            </a:prstGeom>
            <a:noFill/>
            <a:ln/>
          </p:spPr>
          <p:txBody>
            <a:bodyPr wrap="square" lIns="0" tIns="0" rIns="0" bIns="0" rtlCol="0" anchor="ctr">
              <a:normAutofit/>
            </a:bodyPr>
            <a:lstStyle/>
            <a:p>
              <a:pPr marL="0" indent="0" algn="l">
                <a:buNone/>
              </a:pPr>
              <a:r>
                <a:rPr lang="en-US" sz="2100" b="1">
                  <a:solidFill>
                    <a:srgbClr val="1E40AF"/>
                  </a:solidFill>
                  <a:latin typeface="Aptos SemiBold" pitchFamily="34" charset="0"/>
                  <a:ea typeface="Aptos" pitchFamily="34" charset="-122"/>
                  <a:cs typeface="Aptos" pitchFamily="34" charset="-120"/>
                </a:rPr>
                <a:t>Does the result still satisfy the issue contract?</a:t>
              </a:r>
              <a:endParaRPr lang="en-US" sz="1400"/>
            </a:p>
          </p:txBody>
        </p:sp>
        <p:sp>
          <p:nvSpPr>
            <p:cNvPr id="9" name="Text 7"/>
            <p:cNvSpPr/>
            <p:nvPr/>
          </p:nvSpPr>
          <p:spPr>
            <a:xfrm>
              <a:off x="91440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5F6B7A"/>
                  </a:solidFill>
                  <a:latin typeface="Aptos SemiBold" pitchFamily="34" charset="0"/>
                  <a:ea typeface="Aptos SemiBold" pitchFamily="34" charset="-122"/>
                  <a:cs typeface="Aptos SemiBold" pitchFamily="34" charset="-120"/>
                </a:rPr>
                <a:t>Issue #95 · fresh review</a:t>
              </a:r>
              <a:endParaRPr lang="en-US" sz="1000"/>
            </a:p>
          </p:txBody>
        </p:sp>
        <p:sp>
          <p:nvSpPr>
            <p:cNvPr id="27" name="TextBox 26"/>
            <p:cNvSpPr txBox="1"/>
            <p:nvPr/>
          </p:nvSpPr>
          <p:spPr>
            <a:xfrm>
              <a:off x="914400" y="3621024"/>
              <a:ext cx="2377440" cy="182880"/>
            </a:xfrm>
            <a:prstGeom prst="rect">
              <a:avLst/>
            </a:prstGeom>
            <a:noFill/>
          </p:spPr>
          <p:txBody>
            <a:bodyPr wrap="none" lIns="0" tIns="0" bIns="0">
              <a:spAutoFit/>
            </a:bodyPr>
            <a:lstStyle/>
            <a:p>
              <a:r>
                <a:rPr sz="900" b="1">
                  <a:solidFill>
                    <a:srgbClr val="5F6B7A"/>
                  </a:solidFill>
                  <a:latin typeface="Aptos SemiBold"/>
                </a:rPr>
                <a:t>EXAMPLE</a:t>
              </a:r>
            </a:p>
          </p:txBody>
        </p:sp>
      </p:grpSp>
      <p:grpSp>
        <p:nvGrpSpPr>
          <p:cNvPr id="39" name="Group 38">
            <a:extLst>
              <a:ext uri="{FF2B5EF4-FFF2-40B4-BE49-F238E27FC236}">
                <a16:creationId xmlns:a16="http://schemas.microsoft.com/office/drawing/2014/main" id="{97FF8449-5D49-36AC-FD0C-2C129C92C24E}"/>
              </a:ext>
            </a:extLst>
          </p:cNvPr>
          <p:cNvGrpSpPr/>
          <p:nvPr/>
        </p:nvGrpSpPr>
        <p:grpSpPr>
          <a:xfrm>
            <a:off x="4457700" y="1658112"/>
            <a:ext cx="3383280" cy="3657600"/>
            <a:chOff x="4480560" y="1353312"/>
            <a:chExt cx="3383280" cy="3657600"/>
          </a:xfrm>
        </p:grpSpPr>
        <p:sp>
          <p:nvSpPr>
            <p:cNvPr id="10" name="Shape 8"/>
            <p:cNvSpPr/>
            <p:nvPr/>
          </p:nvSpPr>
          <p:spPr>
            <a:xfrm>
              <a:off x="4480560" y="1353312"/>
              <a:ext cx="3383280" cy="3657600"/>
            </a:xfrm>
            <a:prstGeom prst="roundRect">
              <a:avLst>
                <a:gd name="adj" fmla="val 1770"/>
              </a:avLst>
            </a:prstGeom>
            <a:solidFill>
              <a:srgbClr val="E8F1FF"/>
            </a:solidFill>
            <a:ln w="12700">
              <a:solidFill>
                <a:srgbClr val="C4D9FF"/>
              </a:solidFill>
              <a:prstDash val="solid"/>
            </a:ln>
          </p:spPr>
          <p:txBody>
            <a:bodyPr/>
            <a:lstStyle/>
            <a:p>
              <a:endParaRPr lang="en-CA"/>
            </a:p>
          </p:txBody>
        </p:sp>
        <p:sp>
          <p:nvSpPr>
            <p:cNvPr id="28" name="Rounded Rectangle 27"/>
            <p:cNvSpPr/>
            <p:nvPr/>
          </p:nvSpPr>
          <p:spPr>
            <a:xfrm>
              <a:off x="4599432" y="3493008"/>
              <a:ext cx="3035808" cy="1298448"/>
            </a:xfrm>
            <a:prstGeom prst="roundRect">
              <a:avLst/>
            </a:prstGeom>
            <a:solidFill>
              <a:srgbClr val="FFFFFF"/>
            </a:solidFill>
            <a:ln w="12700">
              <a:solidFill>
                <a:srgbClr val="C4D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hape 9"/>
            <p:cNvSpPr/>
            <p:nvPr/>
          </p:nvSpPr>
          <p:spPr>
            <a:xfrm>
              <a:off x="4736592" y="1517904"/>
              <a:ext cx="420624" cy="420624"/>
            </a:xfrm>
            <a:prstGeom prst="roundRect">
              <a:avLst>
                <a:gd name="adj" fmla="val 20000"/>
              </a:avLst>
            </a:prstGeom>
            <a:solidFill>
              <a:srgbClr val="64748B"/>
            </a:solidFill>
            <a:ln w="12700">
              <a:solidFill>
                <a:srgbClr val="1E40AF"/>
              </a:solidFill>
              <a:prstDash val="solid"/>
            </a:ln>
          </p:spPr>
          <p:txBody>
            <a:bodyPr wrap="none" anchor="ctr"/>
            <a:lstStyle/>
            <a:p>
              <a:pPr algn="ctr"/>
              <a:r>
                <a:rPr lang="en-CA" sz="2000" b="1">
                  <a:solidFill>
                    <a:srgbClr val="FFFFFF"/>
                  </a:solidFill>
                  <a:latin typeface="Aptos SemiBold"/>
                </a:rPr>
                <a:t>2</a:t>
              </a:r>
            </a:p>
          </p:txBody>
        </p:sp>
        <p:sp>
          <p:nvSpPr>
            <p:cNvPr id="12" name="Text 10"/>
            <p:cNvSpPr/>
            <p:nvPr/>
          </p:nvSpPr>
          <p:spPr>
            <a:xfrm>
              <a:off x="530352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1E40AF"/>
                  </a:solidFill>
                  <a:latin typeface="Aptos SemiBold" pitchFamily="34" charset="0"/>
                  <a:ea typeface="Aptos SemiBold" pitchFamily="34" charset="-122"/>
                  <a:cs typeface="Aptos SemiBold" pitchFamily="34" charset="-120"/>
                </a:rPr>
                <a:t>UX CHECK</a:t>
              </a:r>
              <a:endParaRPr lang="en-US" sz="900"/>
            </a:p>
          </p:txBody>
        </p:sp>
        <p:sp>
          <p:nvSpPr>
            <p:cNvPr id="13" name="Text 11"/>
            <p:cNvSpPr/>
            <p:nvPr/>
          </p:nvSpPr>
          <p:spPr>
            <a:xfrm>
              <a:off x="4709160" y="4078224"/>
              <a:ext cx="2788920" cy="329184"/>
            </a:xfrm>
            <a:prstGeom prst="rect">
              <a:avLst/>
            </a:prstGeom>
            <a:noFill/>
            <a:ln/>
          </p:spPr>
          <p:txBody>
            <a:bodyPr wrap="square" lIns="0" tIns="0" rIns="0" bIns="0" rtlCol="0" anchor="ctr"/>
            <a:lstStyle/>
            <a:p>
              <a:pPr marL="0" indent="0" algn="l">
                <a:buNone/>
              </a:pPr>
              <a:r>
                <a:rPr lang="en-US" sz="1600" b="1" dirty="0">
                  <a:solidFill>
                    <a:srgbClr val="172033"/>
                  </a:solidFill>
                  <a:latin typeface="Aptos SemiBold" pitchFamily="34" charset="0"/>
                </a:rPr>
                <a:t>Exposed a concurrency issue on a new settings toggle.</a:t>
              </a:r>
              <a:endParaRPr lang="en-US" dirty="0"/>
            </a:p>
          </p:txBody>
        </p:sp>
        <p:sp>
          <p:nvSpPr>
            <p:cNvPr id="14" name="Text 12"/>
            <p:cNvSpPr/>
            <p:nvPr/>
          </p:nvSpPr>
          <p:spPr>
            <a:xfrm>
              <a:off x="4709160" y="2048256"/>
              <a:ext cx="2926080" cy="1280160"/>
            </a:xfrm>
            <a:prstGeom prst="rect">
              <a:avLst/>
            </a:prstGeom>
            <a:noFill/>
            <a:ln/>
          </p:spPr>
          <p:txBody>
            <a:bodyPr wrap="square" lIns="0" tIns="0" rIns="0" bIns="0" rtlCol="0" anchor="ctr">
              <a:normAutofit/>
            </a:bodyPr>
            <a:lstStyle/>
            <a:p>
              <a:pPr marL="0" indent="0" algn="l">
                <a:buNone/>
              </a:pPr>
              <a:r>
                <a:rPr lang="en-US" sz="2100" b="1" dirty="0">
                  <a:solidFill>
                    <a:srgbClr val="1E40AF"/>
                  </a:solidFill>
                  <a:latin typeface="Aptos SemiBold" pitchFamily="34" charset="0"/>
                  <a:ea typeface="Aptos" pitchFamily="34" charset="-122"/>
                  <a:cs typeface="Aptos" pitchFamily="34" charset="-120"/>
                </a:rPr>
                <a:t>Does the runtime behavior still work?</a:t>
              </a:r>
              <a:endParaRPr lang="en-US" sz="1400" dirty="0"/>
            </a:p>
          </p:txBody>
        </p:sp>
        <p:sp>
          <p:nvSpPr>
            <p:cNvPr id="15" name="Text 13"/>
            <p:cNvSpPr/>
            <p:nvPr/>
          </p:nvSpPr>
          <p:spPr>
            <a:xfrm>
              <a:off x="470916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5F6B7A"/>
                  </a:solidFill>
                  <a:latin typeface="Aptos SemiBold" pitchFamily="34" charset="0"/>
                  <a:ea typeface="Aptos SemiBold" pitchFamily="34" charset="-122"/>
                  <a:cs typeface="Aptos SemiBold" pitchFamily="34" charset="-120"/>
                </a:rPr>
                <a:t>Issue #95 · fresh review</a:t>
              </a:r>
              <a:endParaRPr lang="en-US" sz="1000"/>
            </a:p>
          </p:txBody>
        </p:sp>
        <p:sp>
          <p:nvSpPr>
            <p:cNvPr id="29" name="TextBox 28"/>
            <p:cNvSpPr txBox="1"/>
            <p:nvPr/>
          </p:nvSpPr>
          <p:spPr>
            <a:xfrm>
              <a:off x="4709160" y="3621024"/>
              <a:ext cx="2377440" cy="182880"/>
            </a:xfrm>
            <a:prstGeom prst="rect">
              <a:avLst/>
            </a:prstGeom>
            <a:noFill/>
          </p:spPr>
          <p:txBody>
            <a:bodyPr wrap="none" lIns="0" tIns="0" bIns="0">
              <a:spAutoFit/>
            </a:bodyPr>
            <a:lstStyle/>
            <a:p>
              <a:r>
                <a:rPr sz="900" b="1">
                  <a:solidFill>
                    <a:srgbClr val="5F6B7A"/>
                  </a:solidFill>
                  <a:latin typeface="Aptos SemiBold"/>
                </a:rPr>
                <a:t>EXAMPLE</a:t>
              </a:r>
            </a:p>
          </p:txBody>
        </p:sp>
      </p:grpSp>
      <p:grpSp>
        <p:nvGrpSpPr>
          <p:cNvPr id="37" name="Group 36">
            <a:extLst>
              <a:ext uri="{FF2B5EF4-FFF2-40B4-BE49-F238E27FC236}">
                <a16:creationId xmlns:a16="http://schemas.microsoft.com/office/drawing/2014/main" id="{D2DF9C21-4B20-204C-533C-3E5AED68B675}"/>
              </a:ext>
            </a:extLst>
          </p:cNvPr>
          <p:cNvGrpSpPr/>
          <p:nvPr/>
        </p:nvGrpSpPr>
        <p:grpSpPr>
          <a:xfrm>
            <a:off x="8348472" y="1658112"/>
            <a:ext cx="3383280" cy="3657600"/>
            <a:chOff x="8275320" y="1353312"/>
            <a:chExt cx="3383280" cy="3657600"/>
          </a:xfrm>
        </p:grpSpPr>
        <p:sp>
          <p:nvSpPr>
            <p:cNvPr id="16" name="Shape 14"/>
            <p:cNvSpPr/>
            <p:nvPr/>
          </p:nvSpPr>
          <p:spPr>
            <a:xfrm>
              <a:off x="8275320" y="1353312"/>
              <a:ext cx="3383280" cy="3657600"/>
            </a:xfrm>
            <a:prstGeom prst="roundRect">
              <a:avLst>
                <a:gd name="adj" fmla="val 1770"/>
              </a:avLst>
            </a:prstGeom>
            <a:solidFill>
              <a:srgbClr val="E8F1FF"/>
            </a:solidFill>
            <a:ln w="12700">
              <a:solidFill>
                <a:srgbClr val="C4D9FF"/>
              </a:solidFill>
              <a:prstDash val="solid"/>
            </a:ln>
          </p:spPr>
          <p:txBody>
            <a:bodyPr/>
            <a:lstStyle/>
            <a:p>
              <a:endParaRPr lang="en-CA"/>
            </a:p>
          </p:txBody>
        </p:sp>
        <p:sp>
          <p:nvSpPr>
            <p:cNvPr id="30" name="Rounded Rectangle 29"/>
            <p:cNvSpPr/>
            <p:nvPr/>
          </p:nvSpPr>
          <p:spPr>
            <a:xfrm>
              <a:off x="8394192" y="3493008"/>
              <a:ext cx="3035808" cy="1298448"/>
            </a:xfrm>
            <a:prstGeom prst="roundRect">
              <a:avLst/>
            </a:prstGeom>
            <a:solidFill>
              <a:srgbClr val="FFFFFF"/>
            </a:solidFill>
            <a:ln w="12700">
              <a:solidFill>
                <a:srgbClr val="C4D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hape 15"/>
            <p:cNvSpPr/>
            <p:nvPr/>
          </p:nvSpPr>
          <p:spPr>
            <a:xfrm>
              <a:off x="8531352" y="1517904"/>
              <a:ext cx="420624" cy="420624"/>
            </a:xfrm>
            <a:prstGeom prst="roundRect">
              <a:avLst>
                <a:gd name="adj" fmla="val 20000"/>
              </a:avLst>
            </a:prstGeom>
            <a:solidFill>
              <a:srgbClr val="64748B"/>
            </a:solidFill>
            <a:ln w="12700">
              <a:solidFill>
                <a:srgbClr val="0F7B55"/>
              </a:solidFill>
              <a:prstDash val="solid"/>
            </a:ln>
          </p:spPr>
          <p:txBody>
            <a:bodyPr wrap="none" anchor="ctr"/>
            <a:lstStyle/>
            <a:p>
              <a:pPr algn="ctr"/>
              <a:r>
                <a:rPr lang="en-CA" sz="2000" b="1">
                  <a:solidFill>
                    <a:srgbClr val="FFFFFF"/>
                  </a:solidFill>
                  <a:latin typeface="Aptos SemiBold"/>
                </a:rPr>
                <a:t>3</a:t>
              </a:r>
            </a:p>
          </p:txBody>
        </p:sp>
        <p:sp>
          <p:nvSpPr>
            <p:cNvPr id="18" name="Text 16"/>
            <p:cNvSpPr/>
            <p:nvPr/>
          </p:nvSpPr>
          <p:spPr>
            <a:xfrm>
              <a:off x="9098280" y="1645920"/>
              <a:ext cx="2286000" cy="201168"/>
            </a:xfrm>
            <a:prstGeom prst="rect">
              <a:avLst/>
            </a:prstGeom>
            <a:noFill/>
            <a:ln/>
          </p:spPr>
          <p:txBody>
            <a:bodyPr wrap="none" lIns="0" tIns="0" rIns="0" bIns="0" rtlCol="0" anchor="ctr">
              <a:noAutofit/>
            </a:bodyPr>
            <a:lstStyle/>
            <a:p>
              <a:pPr marL="0" indent="0" algn="l">
                <a:buNone/>
              </a:pPr>
              <a:r>
                <a:rPr lang="en-US" sz="1000" b="1">
                  <a:solidFill>
                    <a:srgbClr val="1E40AF"/>
                  </a:solidFill>
                  <a:latin typeface="Aptos SemiBold" pitchFamily="34" charset="0"/>
                  <a:ea typeface="Aptos SemiBold" pitchFamily="34" charset="-122"/>
                  <a:cs typeface="Aptos SemiBold" pitchFamily="34" charset="-120"/>
                </a:rPr>
                <a:t>PRODUCT CHECK</a:t>
              </a:r>
              <a:endParaRPr lang="en-US" sz="900"/>
            </a:p>
          </p:txBody>
        </p:sp>
        <p:sp>
          <p:nvSpPr>
            <p:cNvPr id="19" name="Text 17"/>
            <p:cNvSpPr/>
            <p:nvPr/>
          </p:nvSpPr>
          <p:spPr>
            <a:xfrm>
              <a:off x="8503920" y="4087368"/>
              <a:ext cx="2788920" cy="384048"/>
            </a:xfrm>
            <a:prstGeom prst="rect">
              <a:avLst/>
            </a:prstGeom>
            <a:noFill/>
            <a:ln/>
          </p:spPr>
          <p:txBody>
            <a:bodyPr wrap="square" lIns="0" tIns="0" rIns="0" bIns="0" rtlCol="0" anchor="ctr"/>
            <a:lstStyle/>
            <a:p>
              <a:pPr marL="0" indent="0" algn="l">
                <a:buNone/>
              </a:pPr>
              <a:r>
                <a:rPr lang="en-US" sz="1600" b="1">
                  <a:solidFill>
                    <a:srgbClr val="172033"/>
                  </a:solidFill>
                  <a:latin typeface="Aptos SemiBold" pitchFamily="34" charset="0"/>
                  <a:ea typeface="Aptos SemiBold" pitchFamily="34" charset="-122"/>
                  <a:cs typeface="Aptos SemiBold" pitchFamily="34" charset="-120"/>
                </a:rPr>
                <a:t>iOS PWA regressed</a:t>
              </a:r>
              <a:endParaRPr lang="en-US"/>
            </a:p>
          </p:txBody>
        </p:sp>
        <p:sp>
          <p:nvSpPr>
            <p:cNvPr id="20" name="Text 18"/>
            <p:cNvSpPr/>
            <p:nvPr/>
          </p:nvSpPr>
          <p:spPr>
            <a:xfrm>
              <a:off x="8503920" y="2048256"/>
              <a:ext cx="2926080" cy="1280160"/>
            </a:xfrm>
            <a:prstGeom prst="rect">
              <a:avLst/>
            </a:prstGeom>
            <a:noFill/>
            <a:ln/>
          </p:spPr>
          <p:txBody>
            <a:bodyPr wrap="square" lIns="0" tIns="0" rIns="0" bIns="0" rtlCol="0" anchor="ctr">
              <a:normAutofit/>
            </a:bodyPr>
            <a:lstStyle/>
            <a:p>
              <a:pPr marL="0" indent="0" algn="l">
                <a:buNone/>
              </a:pPr>
              <a:r>
                <a:rPr lang="en-US" sz="2100" b="1">
                  <a:solidFill>
                    <a:srgbClr val="1E40AF"/>
                  </a:solidFill>
                  <a:latin typeface="Aptos SemiBold" pitchFamily="34" charset="0"/>
                  <a:ea typeface="Aptos" pitchFamily="34" charset="-122"/>
                  <a:cs typeface="Aptos" pitchFamily="34" charset="-120"/>
                </a:rPr>
                <a:t>What unrelated behavior changed in the final diff?</a:t>
              </a:r>
              <a:endParaRPr lang="en-US" sz="1400"/>
            </a:p>
          </p:txBody>
        </p:sp>
        <p:sp>
          <p:nvSpPr>
            <p:cNvPr id="21" name="Text 19"/>
            <p:cNvSpPr/>
            <p:nvPr/>
          </p:nvSpPr>
          <p:spPr>
            <a:xfrm>
              <a:off x="8503920" y="4443984"/>
              <a:ext cx="2788920" cy="237744"/>
            </a:xfrm>
            <a:prstGeom prst="rect">
              <a:avLst/>
            </a:prstGeom>
            <a:noFill/>
            <a:ln/>
          </p:spPr>
          <p:txBody>
            <a:bodyPr wrap="square" lIns="0" tIns="0" rIns="0" bIns="0" rtlCol="0" anchor="ctr">
              <a:normAutofit/>
            </a:bodyPr>
            <a:lstStyle/>
            <a:p>
              <a:pPr marL="0" indent="0" algn="l">
                <a:buNone/>
              </a:pPr>
              <a:r>
                <a:rPr lang="en-US" sz="1100" b="0">
                  <a:solidFill>
                    <a:srgbClr val="5F6B7A"/>
                  </a:solidFill>
                  <a:latin typeface="Aptos SemiBold" pitchFamily="34" charset="0"/>
                  <a:ea typeface="Aptos SemiBold" pitchFamily="34" charset="-122"/>
                  <a:cs typeface="Aptos SemiBold" pitchFamily="34" charset="-120"/>
                </a:rPr>
                <a:t>Issue #95 · fresh review</a:t>
              </a:r>
              <a:endParaRPr lang="en-US" sz="1000"/>
            </a:p>
          </p:txBody>
        </p:sp>
        <p:sp>
          <p:nvSpPr>
            <p:cNvPr id="31" name="TextBox 30"/>
            <p:cNvSpPr txBox="1"/>
            <p:nvPr/>
          </p:nvSpPr>
          <p:spPr>
            <a:xfrm>
              <a:off x="8503920" y="3621024"/>
              <a:ext cx="2377440" cy="182880"/>
            </a:xfrm>
            <a:prstGeom prst="rect">
              <a:avLst/>
            </a:prstGeom>
            <a:noFill/>
          </p:spPr>
          <p:txBody>
            <a:bodyPr wrap="none" lIns="0" tIns="0" bIns="0">
              <a:spAutoFit/>
            </a:bodyPr>
            <a:lstStyle/>
            <a:p>
              <a:r>
                <a:rPr sz="900" b="1">
                  <a:solidFill>
                    <a:srgbClr val="5F6B7A"/>
                  </a:solidFill>
                  <a:latin typeface="Aptos SemiBold"/>
                </a:rPr>
                <a:t>EXAMPLE</a:t>
              </a:r>
            </a:p>
          </p:txBody>
        </p:sp>
      </p:grpSp>
      <p:sp>
        <p:nvSpPr>
          <p:cNvPr id="32" name="Chevron 31"/>
          <p:cNvSpPr/>
          <p:nvPr/>
        </p:nvSpPr>
        <p:spPr>
          <a:xfrm>
            <a:off x="4087368" y="2487168"/>
            <a:ext cx="384048" cy="292608"/>
          </a:xfrm>
          <a:prstGeom prst="chevron">
            <a:avLst/>
          </a:prstGeom>
          <a:solidFill>
            <a:srgbClr val="9D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vron 32"/>
          <p:cNvSpPr/>
          <p:nvPr/>
        </p:nvSpPr>
        <p:spPr>
          <a:xfrm>
            <a:off x="7882127" y="2487168"/>
            <a:ext cx="384048" cy="292608"/>
          </a:xfrm>
          <a:prstGeom prst="chevron">
            <a:avLst/>
          </a:prstGeom>
          <a:solidFill>
            <a:srgbClr val="9D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a:extLst>
              <a:ext uri="{FF2B5EF4-FFF2-40B4-BE49-F238E27FC236}">
                <a16:creationId xmlns:a16="http://schemas.microsoft.com/office/drawing/2014/main" id="{F264FD86-4095-51D5-9CFF-525A63EE9C5F}"/>
              </a:ext>
            </a:extLst>
          </p:cNvPr>
          <p:cNvPicPr>
            <a:picLocks noChangeAspect="1"/>
          </p:cNvPicPr>
          <p:nvPr/>
        </p:nvPicPr>
        <p:blipFill>
          <a:blip r:embed="rId3"/>
          <a:stretch>
            <a:fillRect/>
          </a:stretch>
        </p:blipFill>
        <p:spPr>
          <a:xfrm>
            <a:off x="548640" y="1103376"/>
            <a:ext cx="7716517" cy="554736"/>
          </a:xfrm>
          <a:prstGeom prst="rect">
            <a:avLst/>
          </a:prstGeom>
        </p:spPr>
      </p:pic>
    </p:spTree>
    <p:extLst>
      <p:ext uri="{BB962C8B-B14F-4D97-AF65-F5344CB8AC3E}">
        <p14:creationId xmlns:p14="http://schemas.microsoft.com/office/powerpoint/2010/main" val="4208874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gentic Release Control Loop">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AGENTIC CONTROL LOOP AROUND DEVOPS</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The release skill closes the loop around DevOps</a:t>
            </a:r>
            <a:endParaRPr lang="en-US" sz="2800"/>
          </a:p>
        </p:txBody>
      </p:sp>
      <p:sp>
        <p:nvSpPr>
          <p:cNvPr id="4" name="Shape 2"/>
          <p:cNvSpPr/>
          <p:nvPr/>
        </p:nvSpPr>
        <p:spPr>
          <a:xfrm>
            <a:off x="475488" y="1609344"/>
            <a:ext cx="1353312" cy="987552"/>
          </a:xfrm>
          <a:prstGeom prst="roundRect">
            <a:avLst>
              <a:gd name="adj" fmla="val 7407"/>
            </a:avLst>
          </a:prstGeom>
          <a:solidFill>
            <a:srgbClr val="FFF2D8"/>
          </a:solidFill>
          <a:ln w="12700">
            <a:solidFill>
              <a:srgbClr val="F4C96B"/>
            </a:solidFill>
            <a:prstDash val="solid"/>
          </a:ln>
        </p:spPr>
        <p:txBody>
          <a:bodyPr/>
          <a:lstStyle/>
          <a:p>
            <a:endParaRPr lang="en-CA"/>
          </a:p>
        </p:txBody>
      </p:sp>
      <p:sp>
        <p:nvSpPr>
          <p:cNvPr id="5" name="Text 3"/>
          <p:cNvSpPr/>
          <p:nvPr/>
        </p:nvSpPr>
        <p:spPr>
          <a:xfrm>
            <a:off x="457200" y="1701800"/>
            <a:ext cx="1344168" cy="787400"/>
          </a:xfrm>
          <a:prstGeom prst="rect">
            <a:avLst/>
          </a:prstGeom>
          <a:noFill/>
          <a:ln/>
        </p:spPr>
        <p:txBody>
          <a:bodyPr wrap="square" lIns="0" tIns="0" rIns="0" bIns="0" rtlCol="0" anchor="ctr">
            <a:normAutofit/>
          </a:bodyPr>
          <a:lstStyle/>
          <a:p>
            <a:pPr marL="0" indent="0" algn="ctr">
              <a:buNone/>
            </a:pPr>
            <a:r>
              <a:rPr lang="en-US" sz="800" b="1">
                <a:solidFill>
                  <a:srgbClr val="D97706"/>
                </a:solidFill>
                <a:latin typeface="Aptos" panose="020B0004020202020204" pitchFamily="34" charset="0"/>
                <a:ea typeface="Aptos SemiBold" pitchFamily="34" charset="-122"/>
                <a:cs typeface="Aptos SemiBold" pitchFamily="34" charset="-120"/>
              </a:rPr>
              <a:t>HUMAN</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Authorize release</a:t>
            </a:r>
            <a:endParaRPr lang="en-US" sz="1200" b="1" dirty="0">
              <a:solidFill>
                <a:srgbClr val="1E293B"/>
              </a:solidFill>
              <a:latin typeface="Aptos" panose="020B0004020202020204" pitchFamily="34" charset="0"/>
            </a:endParaRPr>
          </a:p>
        </p:txBody>
      </p:sp>
      <p:sp>
        <p:nvSpPr>
          <p:cNvPr id="6" name="Shape 4"/>
          <p:cNvSpPr/>
          <p:nvPr/>
        </p:nvSpPr>
        <p:spPr>
          <a:xfrm>
            <a:off x="1847088"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7" name="Shape 5"/>
          <p:cNvSpPr/>
          <p:nvPr/>
        </p:nvSpPr>
        <p:spPr>
          <a:xfrm>
            <a:off x="2112264" y="1609344"/>
            <a:ext cx="1353312" cy="987552"/>
          </a:xfrm>
          <a:prstGeom prst="roundRect">
            <a:avLst>
              <a:gd name="adj" fmla="val 7407"/>
            </a:avLst>
          </a:prstGeom>
          <a:solidFill>
            <a:srgbClr val="DDF5F1"/>
          </a:solidFill>
          <a:ln w="12700">
            <a:solidFill>
              <a:srgbClr val="78CFC5"/>
            </a:solidFill>
            <a:prstDash val="solid"/>
          </a:ln>
        </p:spPr>
        <p:txBody>
          <a:bodyPr/>
          <a:lstStyle/>
          <a:p>
            <a:endParaRPr lang="en-CA"/>
          </a:p>
        </p:txBody>
      </p:sp>
      <p:sp>
        <p:nvSpPr>
          <p:cNvPr id="8" name="Text 6"/>
          <p:cNvSpPr/>
          <p:nvPr/>
        </p:nvSpPr>
        <p:spPr>
          <a:xfrm>
            <a:off x="2112264" y="1701800"/>
            <a:ext cx="1325880" cy="787400"/>
          </a:xfrm>
          <a:prstGeom prst="rect">
            <a:avLst/>
          </a:prstGeom>
          <a:noFill/>
          <a:ln/>
        </p:spPr>
        <p:txBody>
          <a:bodyPr wrap="square" lIns="0" tIns="0" rIns="0" bIns="0" rtlCol="0" anchor="ctr">
            <a:normAutofit/>
          </a:bodyPr>
          <a:lstStyle/>
          <a:p>
            <a:pPr marL="0" indent="0" algn="ctr">
              <a:buNone/>
            </a:pPr>
            <a:r>
              <a:rPr lang="en-US" sz="800" b="1">
                <a:solidFill>
                  <a:srgbClr val="0F766E"/>
                </a:solidFill>
                <a:latin typeface="Aptos" panose="020B0004020202020204" pitchFamily="34" charset="0"/>
                <a:ea typeface="Aptos SemiBold" pitchFamily="34" charset="-122"/>
                <a:cs typeface="Aptos SemiBold" pitchFamily="34" charset="-120"/>
              </a:rPr>
              <a:t>RELEASE SKILL</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Freeze candidate</a:t>
            </a:r>
            <a:endParaRPr lang="en-US" sz="1200" b="1" dirty="0">
              <a:solidFill>
                <a:srgbClr val="1E293B"/>
              </a:solidFill>
              <a:latin typeface="Aptos" panose="020B0004020202020204" pitchFamily="34" charset="0"/>
            </a:endParaRPr>
          </a:p>
        </p:txBody>
      </p:sp>
      <p:sp>
        <p:nvSpPr>
          <p:cNvPr id="9" name="Shape 7"/>
          <p:cNvSpPr/>
          <p:nvPr/>
        </p:nvSpPr>
        <p:spPr>
          <a:xfrm>
            <a:off x="3483864"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10" name="Shape 8"/>
          <p:cNvSpPr/>
          <p:nvPr/>
        </p:nvSpPr>
        <p:spPr>
          <a:xfrm>
            <a:off x="3749040" y="1609344"/>
            <a:ext cx="1353312" cy="987552"/>
          </a:xfrm>
          <a:prstGeom prst="roundRect">
            <a:avLst>
              <a:gd name="adj" fmla="val 7407"/>
            </a:avLst>
          </a:prstGeom>
          <a:solidFill>
            <a:srgbClr val="EDE9FE"/>
          </a:solidFill>
          <a:ln w="12700">
            <a:solidFill>
              <a:srgbClr val="C4B5FD"/>
            </a:solidFill>
            <a:prstDash val="solid"/>
          </a:ln>
        </p:spPr>
        <p:txBody>
          <a:bodyPr/>
          <a:lstStyle/>
          <a:p>
            <a:endParaRPr lang="en-CA"/>
          </a:p>
        </p:txBody>
      </p:sp>
      <p:sp>
        <p:nvSpPr>
          <p:cNvPr id="11" name="Text 9"/>
          <p:cNvSpPr/>
          <p:nvPr/>
        </p:nvSpPr>
        <p:spPr>
          <a:xfrm>
            <a:off x="3858768" y="1701800"/>
            <a:ext cx="1133856" cy="787400"/>
          </a:xfrm>
          <a:prstGeom prst="rect">
            <a:avLst/>
          </a:prstGeom>
          <a:noFill/>
          <a:ln/>
        </p:spPr>
        <p:txBody>
          <a:bodyPr wrap="square" lIns="0" tIns="0" rIns="0" bIns="0" rtlCol="0" anchor="ctr">
            <a:normAutofit/>
          </a:bodyPr>
          <a:lstStyle/>
          <a:p>
            <a:pPr marL="0" indent="0" algn="ctr">
              <a:buNone/>
            </a:pPr>
            <a:r>
              <a:rPr lang="en-US" sz="800" b="1">
                <a:solidFill>
                  <a:srgbClr val="6D28D9"/>
                </a:solidFill>
                <a:latin typeface="Aptos" panose="020B0004020202020204" pitchFamily="34" charset="0"/>
                <a:ea typeface="Aptos SemiBold" pitchFamily="34" charset="-122"/>
                <a:cs typeface="Aptos SemiBold" pitchFamily="34" charset="-120"/>
              </a:rPr>
              <a:t>FRESH AGENTS</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Review candidate</a:t>
            </a:r>
            <a:endParaRPr lang="en-US" sz="1200" b="1" dirty="0">
              <a:solidFill>
                <a:srgbClr val="1E293B"/>
              </a:solidFill>
              <a:latin typeface="Aptos" panose="020B0004020202020204" pitchFamily="34" charset="0"/>
            </a:endParaRPr>
          </a:p>
        </p:txBody>
      </p:sp>
      <p:sp>
        <p:nvSpPr>
          <p:cNvPr id="12" name="Shape 10"/>
          <p:cNvSpPr/>
          <p:nvPr/>
        </p:nvSpPr>
        <p:spPr>
          <a:xfrm>
            <a:off x="5120640"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13" name="Shape 11"/>
          <p:cNvSpPr/>
          <p:nvPr/>
        </p:nvSpPr>
        <p:spPr>
          <a:xfrm>
            <a:off x="5385816" y="1609344"/>
            <a:ext cx="1353312" cy="987552"/>
          </a:xfrm>
          <a:prstGeom prst="roundRect">
            <a:avLst>
              <a:gd name="adj" fmla="val 7407"/>
            </a:avLst>
          </a:prstGeom>
          <a:solidFill>
            <a:srgbClr val="FFF2D8"/>
          </a:solidFill>
          <a:ln w="12700">
            <a:solidFill>
              <a:srgbClr val="F4C96B"/>
            </a:solidFill>
            <a:prstDash val="solid"/>
          </a:ln>
        </p:spPr>
        <p:txBody>
          <a:bodyPr/>
          <a:lstStyle/>
          <a:p>
            <a:endParaRPr lang="en-CA"/>
          </a:p>
        </p:txBody>
      </p:sp>
      <p:sp>
        <p:nvSpPr>
          <p:cNvPr id="14" name="Text 12"/>
          <p:cNvSpPr/>
          <p:nvPr/>
        </p:nvSpPr>
        <p:spPr>
          <a:xfrm>
            <a:off x="5495544" y="1701800"/>
            <a:ext cx="1133856" cy="787400"/>
          </a:xfrm>
          <a:prstGeom prst="rect">
            <a:avLst/>
          </a:prstGeom>
          <a:noFill/>
          <a:ln/>
        </p:spPr>
        <p:txBody>
          <a:bodyPr wrap="square" lIns="0" tIns="0" rIns="0" bIns="0" rtlCol="0" anchor="ctr">
            <a:normAutofit/>
          </a:bodyPr>
          <a:lstStyle/>
          <a:p>
            <a:pPr marL="0" indent="0" algn="ctr">
              <a:buNone/>
            </a:pPr>
            <a:r>
              <a:rPr lang="en-US" sz="800" b="1">
                <a:solidFill>
                  <a:srgbClr val="D97706"/>
                </a:solidFill>
                <a:latin typeface="Aptos" panose="020B0004020202020204" pitchFamily="34" charset="0"/>
                <a:ea typeface="Aptos SemiBold" pitchFamily="34" charset="-122"/>
                <a:cs typeface="Aptos SemiBold" pitchFamily="34" charset="-120"/>
              </a:rPr>
              <a:t>HUMAN</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Resolve risk</a:t>
            </a:r>
            <a:endParaRPr lang="en-US" sz="1200" b="1" dirty="0">
              <a:solidFill>
                <a:srgbClr val="1E293B"/>
              </a:solidFill>
              <a:latin typeface="Aptos" panose="020B0004020202020204" pitchFamily="34" charset="0"/>
            </a:endParaRPr>
          </a:p>
        </p:txBody>
      </p:sp>
      <p:sp>
        <p:nvSpPr>
          <p:cNvPr id="15" name="Shape 13"/>
          <p:cNvSpPr/>
          <p:nvPr/>
        </p:nvSpPr>
        <p:spPr>
          <a:xfrm>
            <a:off x="6757416"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16" name="Shape 14"/>
          <p:cNvSpPr/>
          <p:nvPr/>
        </p:nvSpPr>
        <p:spPr>
          <a:xfrm>
            <a:off x="7022592" y="1609344"/>
            <a:ext cx="1353312" cy="987552"/>
          </a:xfrm>
          <a:prstGeom prst="roundRect">
            <a:avLst>
              <a:gd name="adj" fmla="val 7407"/>
            </a:avLst>
          </a:prstGeom>
          <a:solidFill>
            <a:srgbClr val="DDF5F1"/>
          </a:solidFill>
          <a:ln w="12700">
            <a:solidFill>
              <a:srgbClr val="78CFC5"/>
            </a:solidFill>
            <a:prstDash val="solid"/>
          </a:ln>
        </p:spPr>
        <p:txBody>
          <a:bodyPr/>
          <a:lstStyle/>
          <a:p>
            <a:endParaRPr lang="en-CA"/>
          </a:p>
        </p:txBody>
      </p:sp>
      <p:sp>
        <p:nvSpPr>
          <p:cNvPr id="17" name="Text 15"/>
          <p:cNvSpPr/>
          <p:nvPr/>
        </p:nvSpPr>
        <p:spPr>
          <a:xfrm>
            <a:off x="7132320" y="1701800"/>
            <a:ext cx="1133856" cy="787400"/>
          </a:xfrm>
          <a:prstGeom prst="rect">
            <a:avLst/>
          </a:prstGeom>
          <a:noFill/>
          <a:ln/>
        </p:spPr>
        <p:txBody>
          <a:bodyPr wrap="square" lIns="0" tIns="0" rIns="0" bIns="0" rtlCol="0" anchor="ctr">
            <a:normAutofit/>
          </a:bodyPr>
          <a:lstStyle/>
          <a:p>
            <a:pPr marL="0" indent="0" algn="ctr">
              <a:buNone/>
            </a:pPr>
            <a:r>
              <a:rPr lang="en-US" sz="800" b="1">
                <a:solidFill>
                  <a:srgbClr val="0F766E"/>
                </a:solidFill>
                <a:latin typeface="Aptos" panose="020B0004020202020204" pitchFamily="34" charset="0"/>
                <a:ea typeface="Aptos SemiBold" pitchFamily="34" charset="-122"/>
                <a:cs typeface="Aptos SemiBold" pitchFamily="34" charset="-120"/>
              </a:rPr>
              <a:t>RELEASE SKILL</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Invoke workflow</a:t>
            </a:r>
            <a:endParaRPr lang="en-US" sz="1200" b="1" dirty="0">
              <a:solidFill>
                <a:srgbClr val="1E293B"/>
              </a:solidFill>
              <a:latin typeface="Aptos" panose="020B0004020202020204" pitchFamily="34" charset="0"/>
            </a:endParaRPr>
          </a:p>
        </p:txBody>
      </p:sp>
      <p:sp>
        <p:nvSpPr>
          <p:cNvPr id="18" name="Shape 16"/>
          <p:cNvSpPr/>
          <p:nvPr/>
        </p:nvSpPr>
        <p:spPr>
          <a:xfrm>
            <a:off x="8394192"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19" name="Shape 17"/>
          <p:cNvSpPr/>
          <p:nvPr/>
        </p:nvSpPr>
        <p:spPr>
          <a:xfrm>
            <a:off x="8659368" y="1609344"/>
            <a:ext cx="1353312" cy="987552"/>
          </a:xfrm>
          <a:prstGeom prst="roundRect">
            <a:avLst>
              <a:gd name="adj" fmla="val 7407"/>
            </a:avLst>
          </a:prstGeom>
          <a:solidFill>
            <a:srgbClr val="E8F1FF"/>
          </a:solidFill>
          <a:ln w="12700">
            <a:solidFill>
              <a:srgbClr val="A8C7FA"/>
            </a:solidFill>
            <a:prstDash val="solid"/>
          </a:ln>
        </p:spPr>
        <p:txBody>
          <a:bodyPr/>
          <a:lstStyle/>
          <a:p>
            <a:endParaRPr lang="en-CA"/>
          </a:p>
        </p:txBody>
      </p:sp>
      <p:sp>
        <p:nvSpPr>
          <p:cNvPr id="20" name="Text 18"/>
          <p:cNvSpPr/>
          <p:nvPr/>
        </p:nvSpPr>
        <p:spPr>
          <a:xfrm>
            <a:off x="8769096" y="1701800"/>
            <a:ext cx="1133856" cy="787400"/>
          </a:xfrm>
          <a:prstGeom prst="rect">
            <a:avLst/>
          </a:prstGeom>
          <a:noFill/>
          <a:ln/>
        </p:spPr>
        <p:txBody>
          <a:bodyPr wrap="square" lIns="0" tIns="0" rIns="0" bIns="0" rtlCol="0" anchor="ctr">
            <a:normAutofit/>
          </a:bodyPr>
          <a:lstStyle/>
          <a:p>
            <a:pPr marL="0" indent="0" algn="ctr">
              <a:buNone/>
            </a:pPr>
            <a:r>
              <a:rPr lang="en-US" sz="800" b="1">
                <a:solidFill>
                  <a:srgbClr val="1D4ED8"/>
                </a:solidFill>
                <a:latin typeface="Aptos" panose="020B0004020202020204" pitchFamily="34" charset="0"/>
                <a:ea typeface="Aptos SemiBold" pitchFamily="34" charset="-122"/>
                <a:cs typeface="Aptos SemiBold" pitchFamily="34" charset="-120"/>
              </a:rPr>
              <a:t>DEVOPS</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Build + deploy</a:t>
            </a:r>
            <a:endParaRPr lang="en-US" sz="1200" b="1" dirty="0">
              <a:solidFill>
                <a:srgbClr val="1E293B"/>
              </a:solidFill>
              <a:latin typeface="Aptos" panose="020B0004020202020204" pitchFamily="34" charset="0"/>
            </a:endParaRPr>
          </a:p>
        </p:txBody>
      </p:sp>
      <p:sp>
        <p:nvSpPr>
          <p:cNvPr id="21" name="Shape 19"/>
          <p:cNvSpPr/>
          <p:nvPr/>
        </p:nvSpPr>
        <p:spPr>
          <a:xfrm>
            <a:off x="10030968" y="1938528"/>
            <a:ext cx="219456" cy="310896"/>
          </a:xfrm>
          <a:prstGeom prst="chevron">
            <a:avLst/>
          </a:prstGeom>
          <a:solidFill>
            <a:srgbClr val="3B82F6"/>
          </a:solidFill>
          <a:ln w="12700">
            <a:solidFill>
              <a:srgbClr val="3B82F6"/>
            </a:solidFill>
            <a:prstDash val="solid"/>
          </a:ln>
        </p:spPr>
        <p:txBody>
          <a:bodyPr/>
          <a:lstStyle/>
          <a:p>
            <a:endParaRPr lang="en-CA"/>
          </a:p>
        </p:txBody>
      </p:sp>
      <p:sp>
        <p:nvSpPr>
          <p:cNvPr id="22" name="Shape 20"/>
          <p:cNvSpPr/>
          <p:nvPr/>
        </p:nvSpPr>
        <p:spPr>
          <a:xfrm>
            <a:off x="10296144" y="1609344"/>
            <a:ext cx="1353312" cy="987552"/>
          </a:xfrm>
          <a:prstGeom prst="roundRect">
            <a:avLst>
              <a:gd name="adj" fmla="val 7407"/>
            </a:avLst>
          </a:prstGeom>
          <a:solidFill>
            <a:srgbClr val="DDF5F1"/>
          </a:solidFill>
          <a:ln w="12700">
            <a:solidFill>
              <a:srgbClr val="78CFC5"/>
            </a:solidFill>
            <a:prstDash val="solid"/>
          </a:ln>
        </p:spPr>
        <p:txBody>
          <a:bodyPr/>
          <a:lstStyle/>
          <a:p>
            <a:endParaRPr lang="en-CA"/>
          </a:p>
        </p:txBody>
      </p:sp>
      <p:sp>
        <p:nvSpPr>
          <p:cNvPr id="23" name="Text 21"/>
          <p:cNvSpPr/>
          <p:nvPr/>
        </p:nvSpPr>
        <p:spPr>
          <a:xfrm>
            <a:off x="10405872" y="1701800"/>
            <a:ext cx="1133856" cy="787400"/>
          </a:xfrm>
          <a:prstGeom prst="rect">
            <a:avLst/>
          </a:prstGeom>
          <a:noFill/>
          <a:ln/>
        </p:spPr>
        <p:txBody>
          <a:bodyPr wrap="square" lIns="0" tIns="0" rIns="0" bIns="0" rtlCol="0" anchor="ctr">
            <a:normAutofit/>
          </a:bodyPr>
          <a:lstStyle/>
          <a:p>
            <a:pPr marL="0" indent="0" algn="ctr">
              <a:buNone/>
            </a:pPr>
            <a:r>
              <a:rPr lang="en-US" sz="800" b="1">
                <a:solidFill>
                  <a:srgbClr val="0F766E"/>
                </a:solidFill>
                <a:latin typeface="Aptos" panose="020B0004020202020204" pitchFamily="34" charset="0"/>
                <a:ea typeface="Aptos SemiBold" pitchFamily="34" charset="-122"/>
                <a:cs typeface="Aptos SemiBold" pitchFamily="34" charset="-120"/>
              </a:rPr>
              <a:t>RELEASE SKILL</a:t>
            </a:r>
          </a:p>
          <a:p>
            <a:pPr marL="0" indent="0" algn="ctr">
              <a:buNone/>
            </a:pPr>
            <a:r>
              <a:rPr lang="en-US" sz="1200" b="1">
                <a:solidFill>
                  <a:srgbClr val="1E293B"/>
                </a:solidFill>
                <a:latin typeface="Aptos" panose="020B0004020202020204" pitchFamily="34" charset="0"/>
                <a:ea typeface="Aptos SemiBold" pitchFamily="34" charset="-122"/>
                <a:cs typeface="Aptos SemiBold" pitchFamily="34" charset="-120"/>
              </a:rPr>
              <a:t>Verify prod identity</a:t>
            </a:r>
            <a:endParaRPr lang="en-US" sz="1200" b="1" dirty="0">
              <a:solidFill>
                <a:srgbClr val="1E293B"/>
              </a:solidFill>
              <a:latin typeface="Aptos" panose="020B0004020202020204" pitchFamily="34" charset="0"/>
            </a:endParaRPr>
          </a:p>
        </p:txBody>
      </p:sp>
      <p:sp>
        <p:nvSpPr>
          <p:cNvPr id="24" name="Shape 22"/>
          <p:cNvSpPr/>
          <p:nvPr/>
        </p:nvSpPr>
        <p:spPr>
          <a:xfrm>
            <a:off x="685800" y="3246120"/>
            <a:ext cx="5285232" cy="1847088"/>
          </a:xfrm>
          <a:prstGeom prst="roundRect">
            <a:avLst>
              <a:gd name="adj" fmla="val 3960"/>
            </a:avLst>
          </a:prstGeom>
          <a:solidFill>
            <a:srgbClr val="FFFFFF"/>
          </a:solidFill>
          <a:ln w="12700">
            <a:solidFill>
              <a:srgbClr val="D5DBE5"/>
            </a:solidFill>
            <a:prstDash val="solid"/>
          </a:ln>
        </p:spPr>
        <p:txBody>
          <a:bodyPr/>
          <a:lstStyle/>
          <a:p>
            <a:endParaRPr lang="en-CA"/>
          </a:p>
        </p:txBody>
      </p:sp>
      <p:sp>
        <p:nvSpPr>
          <p:cNvPr id="25" name="Text 23"/>
          <p:cNvSpPr/>
          <p:nvPr/>
        </p:nvSpPr>
        <p:spPr>
          <a:xfrm>
            <a:off x="987552" y="3557016"/>
            <a:ext cx="3657600" cy="201168"/>
          </a:xfrm>
          <a:prstGeom prst="rect">
            <a:avLst/>
          </a:prstGeom>
          <a:noFill/>
          <a:ln/>
        </p:spPr>
        <p:txBody>
          <a:bodyPr wrap="square" lIns="0" tIns="0" rIns="0" bIns="0" rtlCol="0" anchor="ctr"/>
          <a:lstStyle/>
          <a:p>
            <a:pPr marL="0" indent="0">
              <a:buNone/>
            </a:pPr>
            <a:r>
              <a:rPr lang="en-US" sz="900" kern="0" spc="110">
                <a:solidFill>
                  <a:srgbClr val="0F766E"/>
                </a:solidFill>
                <a:latin typeface="Aptos SemiBold" pitchFamily="34" charset="0"/>
                <a:ea typeface="Aptos SemiBold" pitchFamily="34" charset="-122"/>
                <a:cs typeface="Aptos SemiBold" pitchFamily="34" charset="-120"/>
              </a:rPr>
              <a:t>WHAT THE RELEASE SKILL ADDS</a:t>
            </a:r>
            <a:endParaRPr lang="en-US" sz="900" dirty="0"/>
          </a:p>
        </p:txBody>
      </p:sp>
      <p:sp>
        <p:nvSpPr>
          <p:cNvPr id="26" name="Shape 24"/>
          <p:cNvSpPr/>
          <p:nvPr/>
        </p:nvSpPr>
        <p:spPr>
          <a:xfrm>
            <a:off x="987552" y="4050792"/>
            <a:ext cx="91440" cy="91440"/>
          </a:xfrm>
          <a:prstGeom prst="ellipse">
            <a:avLst/>
          </a:prstGeom>
          <a:solidFill>
            <a:srgbClr val="0F766E"/>
          </a:solidFill>
          <a:ln w="12700">
            <a:solidFill>
              <a:srgbClr val="0F766E"/>
            </a:solidFill>
            <a:prstDash val="solid"/>
          </a:ln>
        </p:spPr>
        <p:txBody>
          <a:bodyPr/>
          <a:lstStyle/>
          <a:p>
            <a:endParaRPr lang="en-CA"/>
          </a:p>
        </p:txBody>
      </p:sp>
      <p:sp>
        <p:nvSpPr>
          <p:cNvPr id="27" name="Text 25"/>
          <p:cNvSpPr/>
          <p:nvPr/>
        </p:nvSpPr>
        <p:spPr>
          <a:xfrm>
            <a:off x="1188720" y="3941064"/>
            <a:ext cx="427939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Routes fresh agents from diff + risk</a:t>
            </a:r>
            <a:endParaRPr lang="en-US" sz="1550" dirty="0"/>
          </a:p>
        </p:txBody>
      </p:sp>
      <p:sp>
        <p:nvSpPr>
          <p:cNvPr id="28" name="Shape 26"/>
          <p:cNvSpPr/>
          <p:nvPr/>
        </p:nvSpPr>
        <p:spPr>
          <a:xfrm>
            <a:off x="987552" y="4462272"/>
            <a:ext cx="91440" cy="91440"/>
          </a:xfrm>
          <a:prstGeom prst="ellipse">
            <a:avLst/>
          </a:prstGeom>
          <a:solidFill>
            <a:srgbClr val="0F766E"/>
          </a:solidFill>
          <a:ln w="12700">
            <a:solidFill>
              <a:srgbClr val="0F766E"/>
            </a:solidFill>
            <a:prstDash val="solid"/>
          </a:ln>
        </p:spPr>
        <p:txBody>
          <a:bodyPr/>
          <a:lstStyle/>
          <a:p>
            <a:endParaRPr lang="en-CA"/>
          </a:p>
        </p:txBody>
      </p:sp>
      <p:sp>
        <p:nvSpPr>
          <p:cNvPr id="29" name="Text 27"/>
          <p:cNvSpPr/>
          <p:nvPr/>
        </p:nvSpPr>
        <p:spPr>
          <a:xfrm>
            <a:off x="1188720" y="4352544"/>
            <a:ext cx="427939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Enforces stop and re-review boundaries</a:t>
            </a:r>
            <a:endParaRPr lang="en-US" sz="1550" dirty="0"/>
          </a:p>
        </p:txBody>
      </p:sp>
      <p:sp>
        <p:nvSpPr>
          <p:cNvPr id="30" name="Shape 28"/>
          <p:cNvSpPr/>
          <p:nvPr/>
        </p:nvSpPr>
        <p:spPr>
          <a:xfrm>
            <a:off x="987552" y="4873752"/>
            <a:ext cx="91440" cy="91440"/>
          </a:xfrm>
          <a:prstGeom prst="ellipse">
            <a:avLst/>
          </a:prstGeom>
          <a:solidFill>
            <a:srgbClr val="0F766E"/>
          </a:solidFill>
          <a:ln w="12700">
            <a:solidFill>
              <a:srgbClr val="0F766E"/>
            </a:solidFill>
            <a:prstDash val="solid"/>
          </a:ln>
        </p:spPr>
        <p:txBody>
          <a:bodyPr/>
          <a:lstStyle/>
          <a:p>
            <a:endParaRPr lang="en-CA"/>
          </a:p>
        </p:txBody>
      </p:sp>
      <p:sp>
        <p:nvSpPr>
          <p:cNvPr id="31" name="Text 29"/>
          <p:cNvSpPr/>
          <p:nvPr/>
        </p:nvSpPr>
        <p:spPr>
          <a:xfrm>
            <a:off x="1188720" y="4764024"/>
            <a:ext cx="427939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Reconciles issue, CI, and production evidence</a:t>
            </a:r>
            <a:endParaRPr lang="en-US" sz="1550" dirty="0"/>
          </a:p>
        </p:txBody>
      </p:sp>
      <p:sp>
        <p:nvSpPr>
          <p:cNvPr id="32" name="Shape 30"/>
          <p:cNvSpPr/>
          <p:nvPr/>
        </p:nvSpPr>
        <p:spPr>
          <a:xfrm>
            <a:off x="6236208" y="3246120"/>
            <a:ext cx="5138928" cy="1847088"/>
          </a:xfrm>
          <a:prstGeom prst="roundRect">
            <a:avLst>
              <a:gd name="adj" fmla="val 3960"/>
            </a:avLst>
          </a:prstGeom>
          <a:solidFill>
            <a:srgbClr val="FFF2D8"/>
          </a:solidFill>
          <a:ln w="12700">
            <a:solidFill>
              <a:srgbClr val="F0D5A5"/>
            </a:solidFill>
            <a:prstDash val="solid"/>
          </a:ln>
        </p:spPr>
        <p:txBody>
          <a:bodyPr/>
          <a:lstStyle/>
          <a:p>
            <a:endParaRPr lang="en-CA"/>
          </a:p>
        </p:txBody>
      </p:sp>
      <p:sp>
        <p:nvSpPr>
          <p:cNvPr id="33" name="Text 31"/>
          <p:cNvSpPr/>
          <p:nvPr/>
        </p:nvSpPr>
        <p:spPr>
          <a:xfrm>
            <a:off x="6537960" y="3557016"/>
            <a:ext cx="3474720" cy="201168"/>
          </a:xfrm>
          <a:prstGeom prst="rect">
            <a:avLst/>
          </a:prstGeom>
          <a:noFill/>
          <a:ln/>
        </p:spPr>
        <p:txBody>
          <a:bodyPr wrap="square" lIns="0" tIns="0" rIns="0" bIns="0" rtlCol="0" anchor="ctr"/>
          <a:lstStyle/>
          <a:p>
            <a:pPr marL="0" indent="0">
              <a:buNone/>
            </a:pPr>
            <a:r>
              <a:rPr lang="en-US" sz="900" kern="0" spc="110">
                <a:solidFill>
                  <a:srgbClr val="D97706"/>
                </a:solidFill>
                <a:latin typeface="Aptos SemiBold" pitchFamily="34" charset="0"/>
                <a:ea typeface="Aptos SemiBold" pitchFamily="34" charset="-122"/>
                <a:cs typeface="Aptos SemiBold" pitchFamily="34" charset="-120"/>
              </a:rPr>
              <a:t>DETERMINISTIC DEVOPS</a:t>
            </a:r>
            <a:endParaRPr lang="en-US" sz="900" dirty="0"/>
          </a:p>
        </p:txBody>
      </p:sp>
      <p:sp>
        <p:nvSpPr>
          <p:cNvPr id="34" name="Shape 32"/>
          <p:cNvSpPr/>
          <p:nvPr/>
        </p:nvSpPr>
        <p:spPr>
          <a:xfrm>
            <a:off x="6537960" y="4050792"/>
            <a:ext cx="91440" cy="91440"/>
          </a:xfrm>
          <a:prstGeom prst="ellipse">
            <a:avLst/>
          </a:prstGeom>
          <a:solidFill>
            <a:srgbClr val="D97706"/>
          </a:solidFill>
          <a:ln w="12700">
            <a:solidFill>
              <a:srgbClr val="D97706"/>
            </a:solidFill>
            <a:prstDash val="solid"/>
          </a:ln>
        </p:spPr>
        <p:txBody>
          <a:bodyPr/>
          <a:lstStyle/>
          <a:p>
            <a:endParaRPr lang="en-CA"/>
          </a:p>
        </p:txBody>
      </p:sp>
      <p:sp>
        <p:nvSpPr>
          <p:cNvPr id="35" name="Text 33"/>
          <p:cNvSpPr/>
          <p:nvPr/>
        </p:nvSpPr>
        <p:spPr>
          <a:xfrm>
            <a:off x="6739128" y="3941064"/>
            <a:ext cx="409651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Build, test, and package immutable artifact</a:t>
            </a:r>
            <a:endParaRPr lang="en-US" sz="1550" dirty="0"/>
          </a:p>
        </p:txBody>
      </p:sp>
      <p:sp>
        <p:nvSpPr>
          <p:cNvPr id="36" name="Shape 34"/>
          <p:cNvSpPr/>
          <p:nvPr/>
        </p:nvSpPr>
        <p:spPr>
          <a:xfrm>
            <a:off x="6537960" y="4462272"/>
            <a:ext cx="91440" cy="91440"/>
          </a:xfrm>
          <a:prstGeom prst="ellipse">
            <a:avLst/>
          </a:prstGeom>
          <a:solidFill>
            <a:srgbClr val="D97706"/>
          </a:solidFill>
          <a:ln w="12700">
            <a:solidFill>
              <a:srgbClr val="D97706"/>
            </a:solidFill>
            <a:prstDash val="solid"/>
          </a:ln>
        </p:spPr>
        <p:txBody>
          <a:bodyPr/>
          <a:lstStyle/>
          <a:p>
            <a:endParaRPr lang="en-CA"/>
          </a:p>
        </p:txBody>
      </p:sp>
      <p:sp>
        <p:nvSpPr>
          <p:cNvPr id="37" name="Text 35"/>
          <p:cNvSpPr/>
          <p:nvPr/>
        </p:nvSpPr>
        <p:spPr>
          <a:xfrm>
            <a:off x="6739128" y="4352544"/>
            <a:ext cx="409651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Deploy through protected environments</a:t>
            </a:r>
            <a:endParaRPr lang="en-US" sz="1550" dirty="0"/>
          </a:p>
        </p:txBody>
      </p:sp>
      <p:sp>
        <p:nvSpPr>
          <p:cNvPr id="38" name="Shape 36"/>
          <p:cNvSpPr/>
          <p:nvPr/>
        </p:nvSpPr>
        <p:spPr>
          <a:xfrm>
            <a:off x="6537960" y="4873752"/>
            <a:ext cx="91440" cy="91440"/>
          </a:xfrm>
          <a:prstGeom prst="ellipse">
            <a:avLst/>
          </a:prstGeom>
          <a:solidFill>
            <a:srgbClr val="D97706"/>
          </a:solidFill>
          <a:ln w="12700">
            <a:solidFill>
              <a:srgbClr val="D97706"/>
            </a:solidFill>
            <a:prstDash val="solid"/>
          </a:ln>
        </p:spPr>
        <p:txBody>
          <a:bodyPr/>
          <a:lstStyle/>
          <a:p>
            <a:endParaRPr lang="en-CA"/>
          </a:p>
        </p:txBody>
      </p:sp>
      <p:sp>
        <p:nvSpPr>
          <p:cNvPr id="39" name="Text 37"/>
          <p:cNvSpPr/>
          <p:nvPr/>
        </p:nvSpPr>
        <p:spPr>
          <a:xfrm>
            <a:off x="6739128" y="4764024"/>
            <a:ext cx="4096512" cy="365760"/>
          </a:xfrm>
          <a:prstGeom prst="rect">
            <a:avLst/>
          </a:prstGeom>
          <a:noFill/>
          <a:ln/>
        </p:spPr>
        <p:txBody>
          <a:bodyPr wrap="square" lIns="0" tIns="0" rIns="0" bIns="0" rtlCol="0" anchor="ctr">
            <a:normAutofit/>
          </a:bodyPr>
          <a:lstStyle/>
          <a:p>
            <a:pPr marL="0" indent="0">
              <a:buNone/>
            </a:pPr>
            <a:r>
              <a:rPr lang="en-US" sz="1550">
                <a:solidFill>
                  <a:srgbClr val="172033"/>
                </a:solidFill>
                <a:latin typeface="Aptos" pitchFamily="34" charset="0"/>
                <a:ea typeface="Aptos" pitchFamily="34" charset="-122"/>
                <a:cs typeface="Aptos" pitchFamily="34" charset="-120"/>
              </a:rPr>
              <a:t>Emit health, version, and telemetry signals</a:t>
            </a:r>
            <a:endParaRPr lang="en-US" sz="1550" dirty="0"/>
          </a:p>
        </p:txBody>
      </p:sp>
      <p:grpSp>
        <p:nvGrpSpPr>
          <p:cNvPr id="44" name="Group 43">
            <a:extLst>
              <a:ext uri="{FF2B5EF4-FFF2-40B4-BE49-F238E27FC236}">
                <a16:creationId xmlns:a16="http://schemas.microsoft.com/office/drawing/2014/main" id="{1761352A-4440-80E4-82AE-74F7CA9237C4}"/>
              </a:ext>
            </a:extLst>
          </p:cNvPr>
          <p:cNvGrpSpPr/>
          <p:nvPr/>
        </p:nvGrpSpPr>
        <p:grpSpPr>
          <a:xfrm>
            <a:off x="737108" y="5559552"/>
            <a:ext cx="10912348" cy="457200"/>
            <a:chOff x="1737360" y="5486400"/>
            <a:chExt cx="9297416" cy="457200"/>
          </a:xfrm>
        </p:grpSpPr>
        <p:sp>
          <p:nvSpPr>
            <p:cNvPr id="40" name="Shape 38"/>
            <p:cNvSpPr/>
            <p:nvPr/>
          </p:nvSpPr>
          <p:spPr>
            <a:xfrm>
              <a:off x="1737360" y="5486400"/>
              <a:ext cx="64008" cy="457200"/>
            </a:xfrm>
            <a:prstGeom prst="rect">
              <a:avLst/>
            </a:prstGeom>
            <a:solidFill>
              <a:srgbClr val="C2414E"/>
            </a:solidFill>
            <a:ln w="12700">
              <a:solidFill>
                <a:srgbClr val="C2414E"/>
              </a:solidFill>
              <a:prstDash val="solid"/>
            </a:ln>
          </p:spPr>
          <p:txBody>
            <a:bodyPr/>
            <a:lstStyle/>
            <a:p>
              <a:endParaRPr lang="en-CA"/>
            </a:p>
          </p:txBody>
        </p:sp>
        <p:sp>
          <p:nvSpPr>
            <p:cNvPr id="41" name="Text 39"/>
            <p:cNvSpPr/>
            <p:nvPr/>
          </p:nvSpPr>
          <p:spPr>
            <a:xfrm>
              <a:off x="1934464" y="5504688"/>
              <a:ext cx="9100312" cy="420624"/>
            </a:xfrm>
            <a:prstGeom prst="rect">
              <a:avLst/>
            </a:prstGeom>
            <a:noFill/>
            <a:ln/>
          </p:spPr>
          <p:txBody>
            <a:bodyPr wrap="square" lIns="0" tIns="0" rIns="0" bIns="0" rtlCol="0" anchor="ctr">
              <a:no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DevOps moves the artifact. The release skill proves the intended change reached production safely.</a:t>
              </a:r>
              <a:endParaRPr lang="en-US" sz="1900" dirty="0"/>
            </a:p>
          </p:txBody>
        </p:sp>
      </p:grpSp>
      <p:sp>
        <p:nvSpPr>
          <p:cNvPr id="42"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13</a:t>
            </a:r>
            <a:endParaRPr lang="en-US"/>
          </a:p>
        </p:txBody>
      </p:sp>
      <p:sp>
        <p:nvSpPr>
          <p:cNvPr id="43" name="Release Skill Orchestration Banner">
            <a:extLst>
              <a:ext uri="{FF2B5EF4-FFF2-40B4-BE49-F238E27FC236}">
                <a16:creationId xmlns:a16="http://schemas.microsoft.com/office/drawing/2014/main" id="{9335B649-010F-E4F3-235C-3F37C2399264}"/>
              </a:ext>
            </a:extLst>
          </p:cNvPr>
          <p:cNvSpPr/>
          <p:nvPr/>
        </p:nvSpPr>
        <p:spPr>
          <a:xfrm>
            <a:off x="2286000" y="1244600"/>
            <a:ext cx="7620000" cy="304800"/>
          </a:xfrm>
          <a:prstGeom prst="roundRect">
            <a:avLst/>
          </a:prstGeom>
          <a:solidFill>
            <a:srgbClr val="DDF5F1"/>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F766E"/>
                </a:solidFill>
                <a:latin typeface="Aptos" panose="020B0004020202020204" pitchFamily="34" charset="0"/>
              </a:rPr>
              <a:t>release-health-tracker skill orchestrates the full control loop</a:t>
            </a:r>
            <a:endParaRPr lang="en-CA" sz="1400" dirty="0">
              <a:solidFill>
                <a:srgbClr val="0F766E"/>
              </a:solidFill>
              <a:latin typeface="Aptos" panose="020B00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65F2A-C8DF-F40E-B106-AF02E54075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CF1878-BDC2-7B6D-F7A1-C60CB5C3DCF4}"/>
              </a:ext>
            </a:extLst>
          </p:cNvPr>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EXPERIENCE CURVE</a:t>
            </a:r>
            <a:endParaRPr lang="en-US" sz="1000" dirty="0"/>
          </a:p>
        </p:txBody>
      </p:sp>
      <p:sp>
        <p:nvSpPr>
          <p:cNvPr id="3" name="Text 1">
            <a:extLst>
              <a:ext uri="{FF2B5EF4-FFF2-40B4-BE49-F238E27FC236}">
                <a16:creationId xmlns:a16="http://schemas.microsoft.com/office/drawing/2014/main" id="{17ACF823-443B-6A1E-8402-4305472EABDB}"/>
              </a:ext>
            </a:extLst>
          </p:cNvPr>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SemiBold" pitchFamily="34" charset="0"/>
                <a:ea typeface="Aptos SemiBold" pitchFamily="34" charset="-122"/>
                <a:cs typeface="Aptos SemiBold" pitchFamily="34" charset="-120"/>
              </a:rPr>
              <a:t>The hour stayed. My job changed.</a:t>
            </a:r>
            <a:endParaRPr lang="en-US" sz="2800" dirty="0"/>
          </a:p>
        </p:txBody>
      </p:sp>
      <p:grpSp>
        <p:nvGrpSpPr>
          <p:cNvPr id="37" name="Group 36">
            <a:extLst>
              <a:ext uri="{FF2B5EF4-FFF2-40B4-BE49-F238E27FC236}">
                <a16:creationId xmlns:a16="http://schemas.microsoft.com/office/drawing/2014/main" id="{74A65D68-DB09-66BE-6B0D-5430350B4910}"/>
              </a:ext>
            </a:extLst>
          </p:cNvPr>
          <p:cNvGrpSpPr/>
          <p:nvPr/>
        </p:nvGrpSpPr>
        <p:grpSpPr>
          <a:xfrm>
            <a:off x="4316927" y="4516049"/>
            <a:ext cx="7636342" cy="776934"/>
            <a:chOff x="464499" y="1344274"/>
            <a:chExt cx="7562940" cy="776934"/>
          </a:xfrm>
        </p:grpSpPr>
        <p:sp>
          <p:nvSpPr>
            <p:cNvPr id="30" name="Shape 28">
              <a:extLst>
                <a:ext uri="{FF2B5EF4-FFF2-40B4-BE49-F238E27FC236}">
                  <a16:creationId xmlns:a16="http://schemas.microsoft.com/office/drawing/2014/main" id="{1A7FA227-E2EA-0562-E384-86553C451186}"/>
                </a:ext>
              </a:extLst>
            </p:cNvPr>
            <p:cNvSpPr/>
            <p:nvPr/>
          </p:nvSpPr>
          <p:spPr>
            <a:xfrm>
              <a:off x="464499" y="1344274"/>
              <a:ext cx="7562940" cy="776934"/>
            </a:xfrm>
            <a:prstGeom prst="roundRect">
              <a:avLst>
                <a:gd name="adj" fmla="val 4651"/>
              </a:avLst>
            </a:prstGeom>
            <a:solidFill>
              <a:srgbClr val="FFFFFF"/>
            </a:solidFill>
            <a:ln w="12700">
              <a:solidFill>
                <a:srgbClr val="D5DBE5"/>
              </a:solidFill>
              <a:prstDash val="solid"/>
            </a:ln>
          </p:spPr>
          <p:txBody>
            <a:bodyPr/>
            <a:lstStyle/>
            <a:p>
              <a:endParaRPr lang="en-CA"/>
            </a:p>
          </p:txBody>
        </p:sp>
        <p:sp>
          <p:nvSpPr>
            <p:cNvPr id="31" name="Text 29">
              <a:extLst>
                <a:ext uri="{FF2B5EF4-FFF2-40B4-BE49-F238E27FC236}">
                  <a16:creationId xmlns:a16="http://schemas.microsoft.com/office/drawing/2014/main" id="{75244077-8029-6D51-4B8E-CBDF56516D27}"/>
                </a:ext>
              </a:extLst>
            </p:cNvPr>
            <p:cNvSpPr/>
            <p:nvPr/>
          </p:nvSpPr>
          <p:spPr>
            <a:xfrm>
              <a:off x="625718" y="1441227"/>
              <a:ext cx="2103120" cy="310896"/>
            </a:xfrm>
            <a:prstGeom prst="rect">
              <a:avLst/>
            </a:prstGeom>
            <a:noFill/>
            <a:ln/>
          </p:spPr>
          <p:txBody>
            <a:bodyPr wrap="square" lIns="0" tIns="0" rIns="0" bIns="0" rtlCol="0" anchor="ctr"/>
            <a:lstStyle/>
            <a:p>
              <a:pPr marL="0" indent="0">
                <a:buNone/>
              </a:pPr>
              <a:r>
                <a:rPr lang="en-US" sz="1600" dirty="0">
                  <a:solidFill>
                    <a:srgbClr val="172033"/>
                  </a:solidFill>
                  <a:latin typeface="Aptos SemiBold" pitchFamily="34" charset="0"/>
                  <a:ea typeface="Aptos SemiBold" pitchFamily="34" charset="-122"/>
                  <a:cs typeface="Aptos SemiBold" pitchFamily="34" charset="-120"/>
                </a:rPr>
                <a:t>The practical result</a:t>
              </a:r>
              <a:endParaRPr lang="en-US" sz="1600" dirty="0"/>
            </a:p>
          </p:txBody>
        </p:sp>
        <p:sp>
          <p:nvSpPr>
            <p:cNvPr id="32" name="Text 30">
              <a:extLst>
                <a:ext uri="{FF2B5EF4-FFF2-40B4-BE49-F238E27FC236}">
                  <a16:creationId xmlns:a16="http://schemas.microsoft.com/office/drawing/2014/main" id="{190B580A-E015-BD54-75B6-4DE286E752CB}"/>
                </a:ext>
              </a:extLst>
            </p:cNvPr>
            <p:cNvSpPr/>
            <p:nvPr/>
          </p:nvSpPr>
          <p:spPr>
            <a:xfrm>
              <a:off x="631868" y="1641268"/>
              <a:ext cx="7328194" cy="451840"/>
            </a:xfrm>
            <a:prstGeom prst="rect">
              <a:avLst/>
            </a:prstGeom>
            <a:noFill/>
            <a:ln/>
          </p:spPr>
          <p:txBody>
            <a:bodyPr wrap="square" lIns="0" tIns="0" rIns="0" bIns="0" rtlCol="0" anchor="ctr">
              <a:normAutofit/>
            </a:bodyPr>
            <a:lstStyle/>
            <a:p>
              <a:pPr marL="0" indent="0">
                <a:buNone/>
              </a:pPr>
              <a:r>
                <a:rPr lang="en-US" sz="1200">
                  <a:solidFill>
                    <a:srgbClr val="5F6B7A"/>
                  </a:solidFill>
                  <a:latin typeface="Aptos" pitchFamily="34" charset="0"/>
                  <a:ea typeface="Aptos" pitchFamily="34" charset="-122"/>
                  <a:cs typeface="Aptos" pitchFamily="34" charset="-120"/>
                </a:rPr>
                <a:t>10–15 min shaping • ~45 min agent execution • roughly the same hour, with far less synchronous attention.</a:t>
              </a:r>
              <a:endParaRPr lang="en-US" sz="1200"/>
            </a:p>
          </p:txBody>
        </p:sp>
      </p:grpSp>
      <p:sp>
        <p:nvSpPr>
          <p:cNvPr id="33" name="Slide Number Placeholder 0">
            <a:extLst>
              <a:ext uri="{FF2B5EF4-FFF2-40B4-BE49-F238E27FC236}">
                <a16:creationId xmlns:a16="http://schemas.microsoft.com/office/drawing/2014/main" id="{37503931-71BD-CE58-B272-8C0835B1A674}"/>
              </a:ext>
            </a:extLst>
          </p:cNvPr>
          <p:cNvSpPr>
            <a:spLocks noGrp="1"/>
          </p:cNvSpPr>
          <p:nvPr>
            <p:ph type="sldNum" sz="quarter" idx="4294967295"/>
          </p:nvPr>
        </p:nvSpPr>
        <p:spPr>
          <a:xfrm>
            <a:off x="11731752" y="6428232"/>
            <a:ext cx="201168" cy="201168"/>
          </a:xfrm>
          <a:prstGeom prst="rect">
            <a:avLst/>
          </a:prstGeom>
          <a:extLst>
            <a:ext uri="{C572A759-6A51-4108-AA02-DFA0A04FC94B}">
              <ma14:wrappingTextBoxFlag xmlns="" xmlns:ma14="http://schemas.microsoft.com/office/mac/drawingml/2011/main"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14</a:t>
            </a:r>
            <a:endParaRPr lang="en-US"/>
          </a:p>
        </p:txBody>
      </p:sp>
      <p:grpSp>
        <p:nvGrpSpPr>
          <p:cNvPr id="90" name="Group 89">
            <a:extLst>
              <a:ext uri="{FF2B5EF4-FFF2-40B4-BE49-F238E27FC236}">
                <a16:creationId xmlns:a16="http://schemas.microsoft.com/office/drawing/2014/main" id="{7B6EB459-5728-0943-894D-45327D45F1C8}"/>
              </a:ext>
            </a:extLst>
          </p:cNvPr>
          <p:cNvGrpSpPr/>
          <p:nvPr/>
        </p:nvGrpSpPr>
        <p:grpSpPr>
          <a:xfrm>
            <a:off x="192829" y="3018228"/>
            <a:ext cx="2687097" cy="1358731"/>
            <a:chOff x="255279" y="2052388"/>
            <a:chExt cx="2687097" cy="1358731"/>
          </a:xfrm>
        </p:grpSpPr>
        <p:sp>
          <p:nvSpPr>
            <p:cNvPr id="6" name="Text 4">
              <a:extLst>
                <a:ext uri="{FF2B5EF4-FFF2-40B4-BE49-F238E27FC236}">
                  <a16:creationId xmlns:a16="http://schemas.microsoft.com/office/drawing/2014/main" id="{72CD70E2-049F-B8D7-A69C-EB2060CA6946}"/>
                </a:ext>
              </a:extLst>
            </p:cNvPr>
            <p:cNvSpPr/>
            <p:nvPr/>
          </p:nvSpPr>
          <p:spPr>
            <a:xfrm>
              <a:off x="360715" y="2081408"/>
              <a:ext cx="2562355" cy="384128"/>
            </a:xfrm>
            <a:prstGeom prst="rect">
              <a:avLst/>
            </a:prstGeom>
            <a:noFill/>
            <a:ln/>
          </p:spPr>
          <p:txBody>
            <a:bodyPr wrap="square" lIns="0" tIns="0" rIns="0" bIns="0" rtlCol="0" anchor="ctr">
              <a:normAutofit fontScale="77500" lnSpcReduction="20000"/>
            </a:bodyPr>
            <a:lstStyle/>
            <a:p>
              <a:r>
                <a:rPr lang="en-US" sz="1900" dirty="0">
                  <a:solidFill>
                    <a:srgbClr val="172033"/>
                  </a:solidFill>
                  <a:latin typeface="Aptos SemiBold" pitchFamily="34" charset="0"/>
                  <a:ea typeface="Aptos SemiBold" pitchFamily="34" charset="-122"/>
                  <a:cs typeface="Aptos SemiBold" pitchFamily="34" charset="-120"/>
                </a:rPr>
                <a:t>Long-running worker session </a:t>
              </a:r>
              <a:endParaRPr lang="en-US" sz="1300" dirty="0"/>
            </a:p>
          </p:txBody>
        </p:sp>
        <p:grpSp>
          <p:nvGrpSpPr>
            <p:cNvPr id="40" name="Group 39">
              <a:extLst>
                <a:ext uri="{FF2B5EF4-FFF2-40B4-BE49-F238E27FC236}">
                  <a16:creationId xmlns:a16="http://schemas.microsoft.com/office/drawing/2014/main" id="{F2CD0B7C-8A85-A24D-2C6E-F23042EE63FD}"/>
                </a:ext>
              </a:extLst>
            </p:cNvPr>
            <p:cNvGrpSpPr/>
            <p:nvPr/>
          </p:nvGrpSpPr>
          <p:grpSpPr>
            <a:xfrm>
              <a:off x="747685" y="2648326"/>
              <a:ext cx="1647968" cy="623702"/>
              <a:chOff x="2448544" y="4624954"/>
              <a:chExt cx="1647968" cy="623702"/>
            </a:xfrm>
          </p:grpSpPr>
          <p:sp>
            <p:nvSpPr>
              <p:cNvPr id="8" name="Shape 6">
                <a:extLst>
                  <a:ext uri="{FF2B5EF4-FFF2-40B4-BE49-F238E27FC236}">
                    <a16:creationId xmlns:a16="http://schemas.microsoft.com/office/drawing/2014/main" id="{BDD1DA2B-F27A-0A25-C838-7AA45A6AB1BA}"/>
                  </a:ext>
                </a:extLst>
              </p:cNvPr>
              <p:cNvSpPr/>
              <p:nvPr/>
            </p:nvSpPr>
            <p:spPr>
              <a:xfrm>
                <a:off x="2496312" y="4649724"/>
                <a:ext cx="1600200" cy="598932"/>
              </a:xfrm>
              <a:prstGeom prst="roundRect">
                <a:avLst>
                  <a:gd name="adj" fmla="val 8000"/>
                </a:avLst>
              </a:prstGeom>
              <a:solidFill>
                <a:srgbClr val="E7EEF9"/>
              </a:solidFill>
              <a:ln w="12700">
                <a:solidFill>
                  <a:srgbClr val="E7EEF9"/>
                </a:solidFill>
                <a:prstDash val="solid"/>
              </a:ln>
            </p:spPr>
            <p:txBody>
              <a:bodyPr/>
              <a:lstStyle/>
              <a:p>
                <a:endParaRPr lang="en-CA"/>
              </a:p>
            </p:txBody>
          </p:sp>
          <p:sp>
            <p:nvSpPr>
              <p:cNvPr id="10" name="Text 8">
                <a:extLst>
                  <a:ext uri="{FF2B5EF4-FFF2-40B4-BE49-F238E27FC236}">
                    <a16:creationId xmlns:a16="http://schemas.microsoft.com/office/drawing/2014/main" id="{1FE8091D-D1CF-59F3-2F2C-162E1AD9894B}"/>
                  </a:ext>
                </a:extLst>
              </p:cNvPr>
              <p:cNvSpPr/>
              <p:nvPr/>
            </p:nvSpPr>
            <p:spPr>
              <a:xfrm>
                <a:off x="2448544" y="4624954"/>
                <a:ext cx="1600200" cy="598932"/>
              </a:xfrm>
              <a:prstGeom prst="rect">
                <a:avLst/>
              </a:prstGeom>
              <a:noFill/>
              <a:ln/>
            </p:spPr>
            <p:txBody>
              <a:bodyPr wrap="square" lIns="0" tIns="0" rIns="0" bIns="0" rtlCol="0" anchor="ctr">
                <a:normAutofit/>
              </a:bodyPr>
              <a:lstStyle/>
              <a:p>
                <a:pPr marL="0" indent="0" algn="ctr">
                  <a:buNone/>
                </a:pPr>
                <a:r>
                  <a:rPr lang="en-US" sz="1400" dirty="0">
                    <a:solidFill>
                      <a:srgbClr val="172033"/>
                    </a:solidFill>
                    <a:latin typeface="Aptos SemiBold" pitchFamily="34" charset="0"/>
                    <a:ea typeface="Aptos SemiBold" pitchFamily="34" charset="-122"/>
                    <a:cs typeface="Aptos SemiBold" pitchFamily="34" charset="-120"/>
                  </a:rPr>
                  <a:t>Detailed prompts +</a:t>
                </a:r>
                <a:endParaRPr lang="en-US" sz="1400" dirty="0"/>
              </a:p>
              <a:p>
                <a:pPr marL="0" indent="0" algn="ctr">
                  <a:buNone/>
                </a:pPr>
                <a:r>
                  <a:rPr lang="en-US" sz="1400" dirty="0">
                    <a:solidFill>
                      <a:srgbClr val="172033"/>
                    </a:solidFill>
                    <a:latin typeface="Aptos SemiBold" pitchFamily="34" charset="0"/>
                    <a:ea typeface="Aptos SemiBold" pitchFamily="34" charset="-122"/>
                    <a:cs typeface="Aptos SemiBold" pitchFamily="34" charset="-120"/>
                  </a:rPr>
                  <a:t>live supervision</a:t>
                </a:r>
                <a:endParaRPr lang="en-US" sz="1400" dirty="0"/>
              </a:p>
            </p:txBody>
          </p:sp>
        </p:grpSp>
        <p:sp>
          <p:nvSpPr>
            <p:cNvPr id="46" name="Rectangle 45">
              <a:extLst>
                <a:ext uri="{FF2B5EF4-FFF2-40B4-BE49-F238E27FC236}">
                  <a16:creationId xmlns:a16="http://schemas.microsoft.com/office/drawing/2014/main" id="{EB3EB4CD-BDF9-C7F1-ABE6-3E4913E34D68}"/>
                </a:ext>
              </a:extLst>
            </p:cNvPr>
            <p:cNvSpPr/>
            <p:nvPr/>
          </p:nvSpPr>
          <p:spPr>
            <a:xfrm>
              <a:off x="255279" y="2052388"/>
              <a:ext cx="2687097" cy="13587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CA"/>
            </a:p>
          </p:txBody>
        </p:sp>
      </p:grpSp>
      <p:sp>
        <p:nvSpPr>
          <p:cNvPr id="59" name="Arrow: Right 58">
            <a:extLst>
              <a:ext uri="{FF2B5EF4-FFF2-40B4-BE49-F238E27FC236}">
                <a16:creationId xmlns:a16="http://schemas.microsoft.com/office/drawing/2014/main" id="{45412CC6-F41A-FB26-167F-56A64288BF50}"/>
              </a:ext>
            </a:extLst>
          </p:cNvPr>
          <p:cNvSpPr/>
          <p:nvPr/>
        </p:nvSpPr>
        <p:spPr>
          <a:xfrm>
            <a:off x="3133996" y="369302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67" name="Group 66">
            <a:extLst>
              <a:ext uri="{FF2B5EF4-FFF2-40B4-BE49-F238E27FC236}">
                <a16:creationId xmlns:a16="http://schemas.microsoft.com/office/drawing/2014/main" id="{C12EAA2F-144E-8BC1-3FC9-F1040AFD3394}"/>
              </a:ext>
            </a:extLst>
          </p:cNvPr>
          <p:cNvGrpSpPr/>
          <p:nvPr/>
        </p:nvGrpSpPr>
        <p:grpSpPr>
          <a:xfrm>
            <a:off x="3621289" y="1465855"/>
            <a:ext cx="3313343" cy="2901697"/>
            <a:chOff x="4763685" y="1465070"/>
            <a:chExt cx="3323587" cy="2901697"/>
          </a:xfrm>
        </p:grpSpPr>
        <p:sp>
          <p:nvSpPr>
            <p:cNvPr id="12" name="Shape 10">
              <a:extLst>
                <a:ext uri="{FF2B5EF4-FFF2-40B4-BE49-F238E27FC236}">
                  <a16:creationId xmlns:a16="http://schemas.microsoft.com/office/drawing/2014/main" id="{C440E479-64A1-3B6E-50F5-98154B3B3121}"/>
                </a:ext>
              </a:extLst>
            </p:cNvPr>
            <p:cNvSpPr/>
            <p:nvPr/>
          </p:nvSpPr>
          <p:spPr>
            <a:xfrm>
              <a:off x="5119117" y="1878245"/>
              <a:ext cx="1600200" cy="384048"/>
            </a:xfrm>
            <a:prstGeom prst="roundRect">
              <a:avLst>
                <a:gd name="adj" fmla="val 8000"/>
              </a:avLst>
            </a:prstGeom>
            <a:solidFill>
              <a:schemeClr val="accent4">
                <a:lumMod val="20000"/>
                <a:lumOff val="80000"/>
              </a:schemeClr>
            </a:solidFill>
            <a:ln w="12700">
              <a:solidFill>
                <a:srgbClr val="E8F1FF"/>
              </a:solidFill>
              <a:prstDash val="solid"/>
            </a:ln>
          </p:spPr>
          <p:txBody>
            <a:bodyPr/>
            <a:lstStyle/>
            <a:p>
              <a:r>
                <a:rPr lang="en-US" sz="1400">
                  <a:latin typeface="+mj-lt"/>
                </a:rPr>
                <a:t>“I have an idea”</a:t>
              </a:r>
              <a:endParaRPr lang="en-CA" sz="1400">
                <a:latin typeface="+mj-lt"/>
              </a:endParaRPr>
            </a:p>
          </p:txBody>
        </p:sp>
        <p:sp>
          <p:nvSpPr>
            <p:cNvPr id="19" name="Shape 17">
              <a:extLst>
                <a:ext uri="{FF2B5EF4-FFF2-40B4-BE49-F238E27FC236}">
                  <a16:creationId xmlns:a16="http://schemas.microsoft.com/office/drawing/2014/main" id="{0803E283-0716-D419-1B12-34598E999025}"/>
                </a:ext>
              </a:extLst>
            </p:cNvPr>
            <p:cNvSpPr/>
            <p:nvPr/>
          </p:nvSpPr>
          <p:spPr>
            <a:xfrm>
              <a:off x="5175652" y="2376254"/>
              <a:ext cx="256032" cy="310896"/>
            </a:xfrm>
            <a:prstGeom prst="chevron">
              <a:avLst/>
            </a:prstGeom>
            <a:solidFill>
              <a:srgbClr val="0F766E"/>
            </a:solidFill>
            <a:ln w="12700">
              <a:solidFill>
                <a:srgbClr val="0F766E"/>
              </a:solidFill>
              <a:prstDash val="solid"/>
            </a:ln>
          </p:spPr>
          <p:txBody>
            <a:bodyPr/>
            <a:lstStyle/>
            <a:p>
              <a:endParaRPr lang="en-CA"/>
            </a:p>
          </p:txBody>
        </p:sp>
        <p:sp>
          <p:nvSpPr>
            <p:cNvPr id="48" name="Rectangle 47">
              <a:extLst>
                <a:ext uri="{FF2B5EF4-FFF2-40B4-BE49-F238E27FC236}">
                  <a16:creationId xmlns:a16="http://schemas.microsoft.com/office/drawing/2014/main" id="{342B6711-6746-7683-431E-100587452BE6}"/>
                </a:ext>
              </a:extLst>
            </p:cNvPr>
            <p:cNvSpPr/>
            <p:nvPr/>
          </p:nvSpPr>
          <p:spPr>
            <a:xfrm>
              <a:off x="4763685" y="1465070"/>
              <a:ext cx="3304224" cy="290169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CA"/>
            </a:p>
          </p:txBody>
        </p:sp>
        <p:sp>
          <p:nvSpPr>
            <p:cNvPr id="50" name="Text 4">
              <a:extLst>
                <a:ext uri="{FF2B5EF4-FFF2-40B4-BE49-F238E27FC236}">
                  <a16:creationId xmlns:a16="http://schemas.microsoft.com/office/drawing/2014/main" id="{A843CC75-31C5-5399-A56F-26A8E8991940}"/>
                </a:ext>
              </a:extLst>
            </p:cNvPr>
            <p:cNvSpPr/>
            <p:nvPr/>
          </p:nvSpPr>
          <p:spPr>
            <a:xfrm>
              <a:off x="4927092" y="1466427"/>
              <a:ext cx="3054260" cy="384048"/>
            </a:xfrm>
            <a:prstGeom prst="rect">
              <a:avLst/>
            </a:prstGeom>
            <a:noFill/>
            <a:ln/>
          </p:spPr>
          <p:txBody>
            <a:bodyPr wrap="square" lIns="0" tIns="0" rIns="0" bIns="0" rtlCol="0" anchor="ctr">
              <a:normAutofit/>
            </a:bodyPr>
            <a:lstStyle/>
            <a:p>
              <a:pPr marL="0" indent="0">
                <a:buNone/>
              </a:pPr>
              <a:r>
                <a:rPr lang="en-US" sz="1300">
                  <a:solidFill>
                    <a:srgbClr val="172033"/>
                  </a:solidFill>
                  <a:latin typeface="Aptos SemiBold" pitchFamily="34" charset="0"/>
                  <a:ea typeface="Aptos SemiBold" pitchFamily="34" charset="-122"/>
                  <a:cs typeface="Aptos SemiBold" pitchFamily="34" charset="-120"/>
                </a:rPr>
                <a:t>1. Issue shaping session</a:t>
              </a:r>
              <a:endParaRPr lang="en-US" sz="1300"/>
            </a:p>
          </p:txBody>
        </p:sp>
        <p:sp>
          <p:nvSpPr>
            <p:cNvPr id="52" name="Shape 10">
              <a:extLst>
                <a:ext uri="{FF2B5EF4-FFF2-40B4-BE49-F238E27FC236}">
                  <a16:creationId xmlns:a16="http://schemas.microsoft.com/office/drawing/2014/main" id="{483A7D69-D38F-B118-69E0-CE3A20E3A424}"/>
                </a:ext>
              </a:extLst>
            </p:cNvPr>
            <p:cNvSpPr/>
            <p:nvPr/>
          </p:nvSpPr>
          <p:spPr>
            <a:xfrm>
              <a:off x="5434076" y="2369819"/>
              <a:ext cx="1600200" cy="384048"/>
            </a:xfrm>
            <a:prstGeom prst="roundRect">
              <a:avLst>
                <a:gd name="adj" fmla="val 8000"/>
              </a:avLst>
            </a:prstGeom>
            <a:solidFill>
              <a:srgbClr val="E8F1FF"/>
            </a:solidFill>
            <a:ln w="12700">
              <a:solidFill>
                <a:srgbClr val="E8F1FF"/>
              </a:solidFill>
              <a:prstDash val="solid"/>
            </a:ln>
          </p:spPr>
          <p:txBody>
            <a:bodyPr/>
            <a:lstStyle/>
            <a:p>
              <a:r>
                <a:rPr lang="en-US" sz="1400">
                  <a:latin typeface="+mj-lt"/>
                </a:rPr>
                <a:t>Shaping skill</a:t>
              </a:r>
              <a:endParaRPr lang="en-CA" sz="1400">
                <a:latin typeface="+mj-lt"/>
              </a:endParaRPr>
            </a:p>
          </p:txBody>
        </p:sp>
        <p:sp>
          <p:nvSpPr>
            <p:cNvPr id="54" name="Shape 10">
              <a:extLst>
                <a:ext uri="{FF2B5EF4-FFF2-40B4-BE49-F238E27FC236}">
                  <a16:creationId xmlns:a16="http://schemas.microsoft.com/office/drawing/2014/main" id="{64FDE1DD-F3D1-5EB0-756F-4FD084B5882E}"/>
                </a:ext>
              </a:extLst>
            </p:cNvPr>
            <p:cNvSpPr/>
            <p:nvPr/>
          </p:nvSpPr>
          <p:spPr>
            <a:xfrm>
              <a:off x="5733055" y="2858685"/>
              <a:ext cx="2354217" cy="384048"/>
            </a:xfrm>
            <a:prstGeom prst="roundRect">
              <a:avLst>
                <a:gd name="adj" fmla="val 8000"/>
              </a:avLst>
            </a:prstGeom>
            <a:solidFill>
              <a:schemeClr val="accent2">
                <a:lumMod val="20000"/>
                <a:lumOff val="80000"/>
              </a:schemeClr>
            </a:solidFill>
            <a:ln w="12700">
              <a:solidFill>
                <a:srgbClr val="E8F1FF"/>
              </a:solidFill>
              <a:prstDash val="solid"/>
            </a:ln>
          </p:spPr>
          <p:txBody>
            <a:bodyPr/>
            <a:lstStyle/>
            <a:p>
              <a:r>
                <a:rPr lang="en-US" sz="1400" dirty="0">
                  <a:latin typeface="+mj-lt"/>
                </a:rPr>
                <a:t>Collaborate to create brief</a:t>
              </a:r>
              <a:endParaRPr lang="en-CA" sz="1400" dirty="0">
                <a:latin typeface="+mj-lt"/>
              </a:endParaRPr>
            </a:p>
          </p:txBody>
        </p:sp>
        <p:sp>
          <p:nvSpPr>
            <p:cNvPr id="56" name="Shape 10">
              <a:extLst>
                <a:ext uri="{FF2B5EF4-FFF2-40B4-BE49-F238E27FC236}">
                  <a16:creationId xmlns:a16="http://schemas.microsoft.com/office/drawing/2014/main" id="{74997B9D-3B2E-1B6F-AE56-42B7BDF6A320}"/>
                </a:ext>
              </a:extLst>
            </p:cNvPr>
            <p:cNvSpPr/>
            <p:nvPr/>
          </p:nvSpPr>
          <p:spPr>
            <a:xfrm>
              <a:off x="5713691" y="3368293"/>
              <a:ext cx="2267660" cy="275083"/>
            </a:xfrm>
            <a:prstGeom prst="roundRect">
              <a:avLst>
                <a:gd name="adj" fmla="val 8000"/>
              </a:avLst>
            </a:prstGeom>
            <a:solidFill>
              <a:srgbClr val="E8F1FF"/>
            </a:solidFill>
            <a:ln w="12700">
              <a:solidFill>
                <a:srgbClr val="E8F1FF"/>
              </a:solidFill>
              <a:prstDash val="solid"/>
            </a:ln>
          </p:spPr>
          <p:txBody>
            <a:bodyPr/>
            <a:lstStyle/>
            <a:p>
              <a:r>
                <a:rPr lang="en-US" sz="1400">
                  <a:latin typeface="+mj-lt"/>
                </a:rPr>
                <a:t>Specialists enhance</a:t>
              </a:r>
              <a:endParaRPr lang="en-CA" sz="1400">
                <a:latin typeface="+mj-lt"/>
              </a:endParaRPr>
            </a:p>
          </p:txBody>
        </p:sp>
        <p:sp>
          <p:nvSpPr>
            <p:cNvPr id="58" name="Shape 10">
              <a:extLst>
                <a:ext uri="{FF2B5EF4-FFF2-40B4-BE49-F238E27FC236}">
                  <a16:creationId xmlns:a16="http://schemas.microsoft.com/office/drawing/2014/main" id="{0EE18C8A-331C-830A-7A93-A141E5ECD1AD}"/>
                </a:ext>
              </a:extLst>
            </p:cNvPr>
            <p:cNvSpPr/>
            <p:nvPr/>
          </p:nvSpPr>
          <p:spPr>
            <a:xfrm>
              <a:off x="5782392" y="3843104"/>
              <a:ext cx="1489951" cy="384048"/>
            </a:xfrm>
            <a:prstGeom prst="roundRect">
              <a:avLst>
                <a:gd name="adj" fmla="val 8000"/>
              </a:avLst>
            </a:prstGeom>
            <a:solidFill>
              <a:schemeClr val="accent4">
                <a:lumMod val="20000"/>
                <a:lumOff val="80000"/>
              </a:schemeClr>
            </a:solidFill>
            <a:ln w="12700">
              <a:solidFill>
                <a:srgbClr val="E8F1FF"/>
              </a:solidFill>
              <a:prstDash val="solid"/>
            </a:ln>
          </p:spPr>
          <p:txBody>
            <a:bodyPr/>
            <a:lstStyle/>
            <a:p>
              <a:r>
                <a:rPr lang="en-US" sz="1400" dirty="0">
                  <a:latin typeface="+mj-lt"/>
                </a:rPr>
                <a:t>Create issue</a:t>
              </a:r>
              <a:endParaRPr lang="en-CA" sz="1400" dirty="0">
                <a:latin typeface="+mj-lt"/>
              </a:endParaRPr>
            </a:p>
          </p:txBody>
        </p:sp>
        <p:sp>
          <p:nvSpPr>
            <p:cNvPr id="61" name="Shape 17">
              <a:extLst>
                <a:ext uri="{FF2B5EF4-FFF2-40B4-BE49-F238E27FC236}">
                  <a16:creationId xmlns:a16="http://schemas.microsoft.com/office/drawing/2014/main" id="{E83C7A50-1860-18F6-FC44-DDD5EC00350E}"/>
                </a:ext>
              </a:extLst>
            </p:cNvPr>
            <p:cNvSpPr/>
            <p:nvPr/>
          </p:nvSpPr>
          <p:spPr>
            <a:xfrm>
              <a:off x="5457659" y="2888911"/>
              <a:ext cx="256032" cy="310896"/>
            </a:xfrm>
            <a:prstGeom prst="chevron">
              <a:avLst/>
            </a:prstGeom>
            <a:solidFill>
              <a:srgbClr val="0F766E"/>
            </a:solidFill>
            <a:ln w="12700">
              <a:solidFill>
                <a:srgbClr val="0F766E"/>
              </a:solidFill>
              <a:prstDash val="solid"/>
            </a:ln>
          </p:spPr>
          <p:txBody>
            <a:bodyPr/>
            <a:lstStyle/>
            <a:p>
              <a:endParaRPr lang="en-CA"/>
            </a:p>
          </p:txBody>
        </p:sp>
        <p:sp>
          <p:nvSpPr>
            <p:cNvPr id="63" name="Shape 17">
              <a:extLst>
                <a:ext uri="{FF2B5EF4-FFF2-40B4-BE49-F238E27FC236}">
                  <a16:creationId xmlns:a16="http://schemas.microsoft.com/office/drawing/2014/main" id="{63B332A6-181D-1060-A922-7F97042DECBA}"/>
                </a:ext>
              </a:extLst>
            </p:cNvPr>
            <p:cNvSpPr/>
            <p:nvPr/>
          </p:nvSpPr>
          <p:spPr>
            <a:xfrm>
              <a:off x="5465719" y="3385238"/>
              <a:ext cx="256032" cy="310896"/>
            </a:xfrm>
            <a:prstGeom prst="chevron">
              <a:avLst/>
            </a:prstGeom>
            <a:solidFill>
              <a:srgbClr val="0F766E"/>
            </a:solidFill>
            <a:ln w="12700">
              <a:solidFill>
                <a:srgbClr val="0F766E"/>
              </a:solidFill>
              <a:prstDash val="solid"/>
            </a:ln>
          </p:spPr>
          <p:txBody>
            <a:bodyPr/>
            <a:lstStyle/>
            <a:p>
              <a:endParaRPr lang="en-CA"/>
            </a:p>
          </p:txBody>
        </p:sp>
        <p:sp>
          <p:nvSpPr>
            <p:cNvPr id="65" name="Shape 17">
              <a:extLst>
                <a:ext uri="{FF2B5EF4-FFF2-40B4-BE49-F238E27FC236}">
                  <a16:creationId xmlns:a16="http://schemas.microsoft.com/office/drawing/2014/main" id="{0B984B1C-3BE8-5E9B-FA80-A806C02CAC67}"/>
                </a:ext>
              </a:extLst>
            </p:cNvPr>
            <p:cNvSpPr/>
            <p:nvPr/>
          </p:nvSpPr>
          <p:spPr>
            <a:xfrm>
              <a:off x="5473790" y="3843104"/>
              <a:ext cx="256032" cy="310896"/>
            </a:xfrm>
            <a:prstGeom prst="chevron">
              <a:avLst/>
            </a:prstGeom>
            <a:solidFill>
              <a:srgbClr val="0F766E"/>
            </a:solidFill>
            <a:ln w="12700">
              <a:solidFill>
                <a:srgbClr val="0F766E"/>
              </a:solidFill>
              <a:prstDash val="solid"/>
            </a:ln>
          </p:spPr>
          <p:txBody>
            <a:bodyPr/>
            <a:lstStyle/>
            <a:p>
              <a:endParaRPr lang="en-CA"/>
            </a:p>
          </p:txBody>
        </p:sp>
      </p:grpSp>
      <p:sp>
        <p:nvSpPr>
          <p:cNvPr id="70" name="Plus Sign 69">
            <a:extLst>
              <a:ext uri="{FF2B5EF4-FFF2-40B4-BE49-F238E27FC236}">
                <a16:creationId xmlns:a16="http://schemas.microsoft.com/office/drawing/2014/main" id="{ED5E6DAE-34CC-4565-D7C1-CF7C7A39FE0B}"/>
              </a:ext>
            </a:extLst>
          </p:cNvPr>
          <p:cNvSpPr/>
          <p:nvPr/>
        </p:nvSpPr>
        <p:spPr>
          <a:xfrm>
            <a:off x="7615830" y="2348240"/>
            <a:ext cx="826268" cy="81864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92" name="Group 91">
            <a:extLst>
              <a:ext uri="{FF2B5EF4-FFF2-40B4-BE49-F238E27FC236}">
                <a16:creationId xmlns:a16="http://schemas.microsoft.com/office/drawing/2014/main" id="{F2AA4ECB-DB7E-54D2-E6B9-E64946B4D933}"/>
              </a:ext>
            </a:extLst>
          </p:cNvPr>
          <p:cNvGrpSpPr/>
          <p:nvPr/>
        </p:nvGrpSpPr>
        <p:grpSpPr>
          <a:xfrm>
            <a:off x="8453096" y="1483475"/>
            <a:ext cx="3500177" cy="2901697"/>
            <a:chOff x="9493494" y="1465477"/>
            <a:chExt cx="3304224" cy="2901697"/>
          </a:xfrm>
        </p:grpSpPr>
        <p:sp>
          <p:nvSpPr>
            <p:cNvPr id="24" name="Shape 22">
              <a:extLst>
                <a:ext uri="{FF2B5EF4-FFF2-40B4-BE49-F238E27FC236}">
                  <a16:creationId xmlns:a16="http://schemas.microsoft.com/office/drawing/2014/main" id="{2A35B016-A9F4-E5DE-8029-4EED96D737EE}"/>
                </a:ext>
              </a:extLst>
            </p:cNvPr>
            <p:cNvSpPr/>
            <p:nvPr/>
          </p:nvSpPr>
          <p:spPr>
            <a:xfrm>
              <a:off x="11104615" y="3802279"/>
              <a:ext cx="1462996" cy="484632"/>
            </a:xfrm>
            <a:prstGeom prst="roundRect">
              <a:avLst>
                <a:gd name="adj" fmla="val 8000"/>
              </a:avLst>
            </a:prstGeom>
            <a:solidFill>
              <a:srgbClr val="E6E7FF"/>
            </a:solidFill>
            <a:ln w="12700">
              <a:solidFill>
                <a:srgbClr val="E6E7FF"/>
              </a:solidFill>
              <a:prstDash val="solid"/>
            </a:ln>
          </p:spPr>
          <p:txBody>
            <a:bodyPr/>
            <a:lstStyle/>
            <a:p>
              <a:r>
                <a:rPr lang="en-US" sz="1000">
                  <a:latin typeface="+mj-lt"/>
                </a:rPr>
                <a:t>Verified release</a:t>
              </a:r>
              <a:endParaRPr lang="en-CA" sz="1000">
                <a:latin typeface="+mj-lt"/>
              </a:endParaRPr>
            </a:p>
          </p:txBody>
        </p:sp>
        <p:grpSp>
          <p:nvGrpSpPr>
            <p:cNvPr id="71" name="Group 70">
              <a:extLst>
                <a:ext uri="{FF2B5EF4-FFF2-40B4-BE49-F238E27FC236}">
                  <a16:creationId xmlns:a16="http://schemas.microsoft.com/office/drawing/2014/main" id="{D10156CE-CC04-5D58-3AD2-9A308C07C115}"/>
                </a:ext>
              </a:extLst>
            </p:cNvPr>
            <p:cNvGrpSpPr/>
            <p:nvPr/>
          </p:nvGrpSpPr>
          <p:grpSpPr>
            <a:xfrm>
              <a:off x="9493494" y="1465477"/>
              <a:ext cx="3304224" cy="2901697"/>
              <a:chOff x="4763685" y="1465070"/>
              <a:chExt cx="3304224" cy="2901697"/>
            </a:xfrm>
          </p:grpSpPr>
          <p:sp>
            <p:nvSpPr>
              <p:cNvPr id="73" name="Shape 17">
                <a:extLst>
                  <a:ext uri="{FF2B5EF4-FFF2-40B4-BE49-F238E27FC236}">
                    <a16:creationId xmlns:a16="http://schemas.microsoft.com/office/drawing/2014/main" id="{9CFB3C7E-C445-7BA3-49AA-655B63A5AFCC}"/>
                  </a:ext>
                </a:extLst>
              </p:cNvPr>
              <p:cNvSpPr/>
              <p:nvPr/>
            </p:nvSpPr>
            <p:spPr>
              <a:xfrm>
                <a:off x="5165776" y="2366411"/>
                <a:ext cx="256032" cy="310896"/>
              </a:xfrm>
              <a:prstGeom prst="chevron">
                <a:avLst/>
              </a:prstGeom>
              <a:solidFill>
                <a:srgbClr val="0F766E"/>
              </a:solidFill>
              <a:ln w="12700">
                <a:solidFill>
                  <a:srgbClr val="0F766E"/>
                </a:solidFill>
                <a:prstDash val="solid"/>
              </a:ln>
            </p:spPr>
            <p:txBody>
              <a:bodyPr/>
              <a:lstStyle/>
              <a:p>
                <a:endParaRPr lang="en-CA"/>
              </a:p>
            </p:txBody>
          </p:sp>
          <p:sp>
            <p:nvSpPr>
              <p:cNvPr id="74" name="Rectangle 73">
                <a:extLst>
                  <a:ext uri="{FF2B5EF4-FFF2-40B4-BE49-F238E27FC236}">
                    <a16:creationId xmlns:a16="http://schemas.microsoft.com/office/drawing/2014/main" id="{A8688A5C-0D00-7BCA-436B-3574F820523E}"/>
                  </a:ext>
                </a:extLst>
              </p:cNvPr>
              <p:cNvSpPr/>
              <p:nvPr/>
            </p:nvSpPr>
            <p:spPr>
              <a:xfrm>
                <a:off x="4763685" y="1465070"/>
                <a:ext cx="3304224" cy="290169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CA"/>
              </a:p>
            </p:txBody>
          </p:sp>
          <p:sp>
            <p:nvSpPr>
              <p:cNvPr id="75" name="Text 4">
                <a:extLst>
                  <a:ext uri="{FF2B5EF4-FFF2-40B4-BE49-F238E27FC236}">
                    <a16:creationId xmlns:a16="http://schemas.microsoft.com/office/drawing/2014/main" id="{0E29820B-919F-6A46-DF99-0260A937C2DD}"/>
                  </a:ext>
                </a:extLst>
              </p:cNvPr>
              <p:cNvSpPr/>
              <p:nvPr/>
            </p:nvSpPr>
            <p:spPr>
              <a:xfrm>
                <a:off x="4927092" y="1466427"/>
                <a:ext cx="3054260" cy="384048"/>
              </a:xfrm>
              <a:prstGeom prst="rect">
                <a:avLst/>
              </a:prstGeom>
              <a:noFill/>
              <a:ln/>
            </p:spPr>
            <p:txBody>
              <a:bodyPr wrap="square" lIns="0" tIns="0" rIns="0" bIns="0" rtlCol="0" anchor="ctr">
                <a:normAutofit/>
              </a:bodyPr>
              <a:lstStyle/>
              <a:p>
                <a:pPr marL="0" indent="0">
                  <a:buNone/>
                </a:pPr>
                <a:r>
                  <a:rPr lang="en-US" sz="1300">
                    <a:solidFill>
                      <a:srgbClr val="172033"/>
                    </a:solidFill>
                    <a:latin typeface="Aptos SemiBold" pitchFamily="34" charset="0"/>
                    <a:ea typeface="Aptos SemiBold" pitchFamily="34" charset="-122"/>
                    <a:cs typeface="Aptos SemiBold" pitchFamily="34" charset="-120"/>
                  </a:rPr>
                  <a:t>2. Implement session</a:t>
                </a:r>
                <a:endParaRPr lang="en-US" sz="1300"/>
              </a:p>
            </p:txBody>
          </p:sp>
          <p:sp>
            <p:nvSpPr>
              <p:cNvPr id="76" name="Shape 10">
                <a:extLst>
                  <a:ext uri="{FF2B5EF4-FFF2-40B4-BE49-F238E27FC236}">
                    <a16:creationId xmlns:a16="http://schemas.microsoft.com/office/drawing/2014/main" id="{DEF98325-9732-FBAC-690B-01581B41689F}"/>
                  </a:ext>
                </a:extLst>
              </p:cNvPr>
              <p:cNvSpPr/>
              <p:nvPr/>
            </p:nvSpPr>
            <p:spPr>
              <a:xfrm>
                <a:off x="5457659" y="2329835"/>
                <a:ext cx="1600200" cy="384048"/>
              </a:xfrm>
              <a:prstGeom prst="roundRect">
                <a:avLst>
                  <a:gd name="adj" fmla="val 8000"/>
                </a:avLst>
              </a:prstGeom>
              <a:solidFill>
                <a:srgbClr val="E8F1FF"/>
              </a:solidFill>
              <a:ln w="12700">
                <a:solidFill>
                  <a:srgbClr val="E8F1FF"/>
                </a:solidFill>
                <a:prstDash val="solid"/>
              </a:ln>
            </p:spPr>
            <p:txBody>
              <a:bodyPr/>
              <a:lstStyle/>
              <a:p>
                <a:r>
                  <a:rPr lang="en-US" sz="1400">
                    <a:latin typeface="+mj-lt"/>
                  </a:rPr>
                  <a:t>Delivery Skill</a:t>
                </a:r>
                <a:endParaRPr lang="en-CA" sz="1400">
                  <a:latin typeface="+mj-lt"/>
                </a:endParaRPr>
              </a:p>
            </p:txBody>
          </p:sp>
          <p:sp>
            <p:nvSpPr>
              <p:cNvPr id="78" name="Shape 10">
                <a:extLst>
                  <a:ext uri="{FF2B5EF4-FFF2-40B4-BE49-F238E27FC236}">
                    <a16:creationId xmlns:a16="http://schemas.microsoft.com/office/drawing/2014/main" id="{9054E720-93A5-CC16-A7E7-44FF83259A9C}"/>
                  </a:ext>
                </a:extLst>
              </p:cNvPr>
              <p:cNvSpPr/>
              <p:nvPr/>
            </p:nvSpPr>
            <p:spPr>
              <a:xfrm>
                <a:off x="6046198" y="3337561"/>
                <a:ext cx="1600200" cy="384048"/>
              </a:xfrm>
              <a:prstGeom prst="roundRect">
                <a:avLst>
                  <a:gd name="adj" fmla="val 8000"/>
                </a:avLst>
              </a:prstGeom>
              <a:solidFill>
                <a:srgbClr val="E8F1FF"/>
              </a:solidFill>
              <a:ln w="12700">
                <a:solidFill>
                  <a:srgbClr val="E8F1FF"/>
                </a:solidFill>
                <a:prstDash val="solid"/>
              </a:ln>
            </p:spPr>
            <p:txBody>
              <a:bodyPr/>
              <a:lstStyle/>
              <a:p>
                <a:r>
                  <a:rPr lang="en-US" sz="1400">
                    <a:latin typeface="+mj-lt"/>
                  </a:rPr>
                  <a:t>Release skill</a:t>
                </a:r>
                <a:endParaRPr lang="en-CA" sz="1400">
                  <a:latin typeface="+mj-lt"/>
                </a:endParaRPr>
              </a:p>
            </p:txBody>
          </p:sp>
          <p:sp>
            <p:nvSpPr>
              <p:cNvPr id="80" name="Shape 17">
                <a:extLst>
                  <a:ext uri="{FF2B5EF4-FFF2-40B4-BE49-F238E27FC236}">
                    <a16:creationId xmlns:a16="http://schemas.microsoft.com/office/drawing/2014/main" id="{74D13FC5-F67C-B7BE-3004-DC4FAAD336B1}"/>
                  </a:ext>
                </a:extLst>
              </p:cNvPr>
              <p:cNvSpPr/>
              <p:nvPr/>
            </p:nvSpPr>
            <p:spPr>
              <a:xfrm>
                <a:off x="5431238" y="2888911"/>
                <a:ext cx="256032" cy="310896"/>
              </a:xfrm>
              <a:prstGeom prst="chevron">
                <a:avLst/>
              </a:prstGeom>
              <a:solidFill>
                <a:srgbClr val="0F766E"/>
              </a:solidFill>
              <a:ln w="12700">
                <a:solidFill>
                  <a:srgbClr val="0F766E"/>
                </a:solidFill>
                <a:prstDash val="solid"/>
              </a:ln>
            </p:spPr>
            <p:txBody>
              <a:bodyPr/>
              <a:lstStyle/>
              <a:p>
                <a:endParaRPr lang="en-CA"/>
              </a:p>
            </p:txBody>
          </p:sp>
          <p:sp>
            <p:nvSpPr>
              <p:cNvPr id="81" name="Shape 17">
                <a:extLst>
                  <a:ext uri="{FF2B5EF4-FFF2-40B4-BE49-F238E27FC236}">
                    <a16:creationId xmlns:a16="http://schemas.microsoft.com/office/drawing/2014/main" id="{71E94438-E231-D149-C42E-0E85F608D3AE}"/>
                  </a:ext>
                </a:extLst>
              </p:cNvPr>
              <p:cNvSpPr/>
              <p:nvPr/>
            </p:nvSpPr>
            <p:spPr>
              <a:xfrm>
                <a:off x="5724291" y="3368293"/>
                <a:ext cx="256032" cy="310896"/>
              </a:xfrm>
              <a:prstGeom prst="chevron">
                <a:avLst/>
              </a:prstGeom>
              <a:solidFill>
                <a:srgbClr val="0F766E"/>
              </a:solidFill>
              <a:ln w="12700">
                <a:solidFill>
                  <a:srgbClr val="0F766E"/>
                </a:solidFill>
                <a:prstDash val="solid"/>
              </a:ln>
            </p:spPr>
            <p:txBody>
              <a:bodyPr/>
              <a:lstStyle/>
              <a:p>
                <a:endParaRPr lang="en-CA"/>
              </a:p>
            </p:txBody>
          </p:sp>
          <p:sp>
            <p:nvSpPr>
              <p:cNvPr id="82" name="Shape 17">
                <a:extLst>
                  <a:ext uri="{FF2B5EF4-FFF2-40B4-BE49-F238E27FC236}">
                    <a16:creationId xmlns:a16="http://schemas.microsoft.com/office/drawing/2014/main" id="{FE3E2822-1D51-800F-FE0B-293D13C894D4}"/>
                  </a:ext>
                </a:extLst>
              </p:cNvPr>
              <p:cNvSpPr/>
              <p:nvPr/>
            </p:nvSpPr>
            <p:spPr>
              <a:xfrm>
                <a:off x="6028132" y="3861884"/>
                <a:ext cx="256032" cy="310896"/>
              </a:xfrm>
              <a:prstGeom prst="chevron">
                <a:avLst/>
              </a:prstGeom>
              <a:solidFill>
                <a:srgbClr val="0F766E"/>
              </a:solidFill>
              <a:ln w="12700">
                <a:solidFill>
                  <a:srgbClr val="0F766E"/>
                </a:solidFill>
                <a:prstDash val="solid"/>
              </a:ln>
            </p:spPr>
            <p:txBody>
              <a:bodyPr/>
              <a:lstStyle/>
              <a:p>
                <a:endParaRPr lang="en-CA"/>
              </a:p>
            </p:txBody>
          </p:sp>
        </p:grpSp>
        <p:sp>
          <p:nvSpPr>
            <p:cNvPr id="85" name="Text 20">
              <a:extLst>
                <a:ext uri="{FF2B5EF4-FFF2-40B4-BE49-F238E27FC236}">
                  <a16:creationId xmlns:a16="http://schemas.microsoft.com/office/drawing/2014/main" id="{01E57584-E729-B319-269D-328EDCAEAFB5}"/>
                </a:ext>
              </a:extLst>
            </p:cNvPr>
            <p:cNvSpPr/>
            <p:nvPr/>
          </p:nvSpPr>
          <p:spPr>
            <a:xfrm>
              <a:off x="9885625" y="1823471"/>
              <a:ext cx="1898335" cy="381636"/>
            </a:xfrm>
            <a:prstGeom prst="rect">
              <a:avLst/>
            </a:prstGeom>
            <a:solidFill>
              <a:schemeClr val="accent4">
                <a:lumMod val="20000"/>
                <a:lumOff val="80000"/>
              </a:schemeClr>
            </a:solidFill>
            <a:ln/>
          </p:spPr>
          <p:txBody>
            <a:bodyPr wrap="square" lIns="0" tIns="0" rIns="0" bIns="0" rtlCol="0" anchor="ctr">
              <a:normAutofit/>
            </a:bodyPr>
            <a:lstStyle/>
            <a:p>
              <a:pPr marL="0" indent="0">
                <a:buNone/>
              </a:pPr>
              <a:r>
                <a:rPr lang="en-US" sz="1300">
                  <a:solidFill>
                    <a:srgbClr val="172033"/>
                  </a:solidFill>
                  <a:latin typeface="Aptos SemiBold" pitchFamily="34" charset="0"/>
                  <a:ea typeface="Aptos SemiBold" pitchFamily="34" charset="-122"/>
                  <a:cs typeface="Aptos SemiBold" pitchFamily="34" charset="-120"/>
                </a:rPr>
                <a:t>  “Implement issue 66”</a:t>
              </a:r>
              <a:endParaRPr lang="en-US" sz="1300"/>
            </a:p>
          </p:txBody>
        </p:sp>
        <p:sp>
          <p:nvSpPr>
            <p:cNvPr id="87" name="Text 20">
              <a:extLst>
                <a:ext uri="{FF2B5EF4-FFF2-40B4-BE49-F238E27FC236}">
                  <a16:creationId xmlns:a16="http://schemas.microsoft.com/office/drawing/2014/main" id="{D7321D97-B5B2-E563-D97B-2C7BD4446E2C}"/>
                </a:ext>
              </a:extLst>
            </p:cNvPr>
            <p:cNvSpPr/>
            <p:nvPr/>
          </p:nvSpPr>
          <p:spPr>
            <a:xfrm>
              <a:off x="10477871" y="2861505"/>
              <a:ext cx="1898335" cy="381636"/>
            </a:xfrm>
            <a:prstGeom prst="rect">
              <a:avLst/>
            </a:prstGeom>
            <a:solidFill>
              <a:schemeClr val="accent4">
                <a:lumMod val="20000"/>
                <a:lumOff val="80000"/>
              </a:schemeClr>
            </a:solidFill>
            <a:ln/>
          </p:spPr>
          <p:txBody>
            <a:bodyPr wrap="square" lIns="0" tIns="0" rIns="0" bIns="0" rtlCol="0" anchor="ctr">
              <a:normAutofit/>
            </a:bodyPr>
            <a:lstStyle/>
            <a:p>
              <a:pPr marL="0" indent="0">
                <a:buNone/>
              </a:pPr>
              <a:r>
                <a:rPr lang="en-US" sz="1300">
                  <a:solidFill>
                    <a:srgbClr val="172033"/>
                  </a:solidFill>
                  <a:latin typeface="Aptos SemiBold" pitchFamily="34" charset="0"/>
                  <a:cs typeface="Aptos SemiBold" pitchFamily="34" charset="-120"/>
                </a:rPr>
                <a:t>  Commit and push</a:t>
              </a:r>
              <a:endParaRPr lang="en-US" sz="1300"/>
            </a:p>
          </p:txBody>
        </p:sp>
      </p:grpSp>
      <p:grpSp>
        <p:nvGrpSpPr>
          <p:cNvPr id="7" name="Group 6">
            <a:extLst>
              <a:ext uri="{FF2B5EF4-FFF2-40B4-BE49-F238E27FC236}">
                <a16:creationId xmlns:a16="http://schemas.microsoft.com/office/drawing/2014/main" id="{97E418C6-92FF-1699-0791-8AA757480DA9}"/>
              </a:ext>
            </a:extLst>
          </p:cNvPr>
          <p:cNvGrpSpPr/>
          <p:nvPr/>
        </p:nvGrpSpPr>
        <p:grpSpPr>
          <a:xfrm>
            <a:off x="685800" y="5532120"/>
            <a:ext cx="9952155" cy="621792"/>
            <a:chOff x="685800" y="5532120"/>
            <a:chExt cx="9952155" cy="621792"/>
          </a:xfrm>
        </p:grpSpPr>
        <p:sp>
          <p:nvSpPr>
            <p:cNvPr id="36" name="Text 27"/>
            <p:cNvSpPr/>
            <p:nvPr/>
          </p:nvSpPr>
          <p:spPr>
            <a:xfrm>
              <a:off x="898935" y="5619429"/>
              <a:ext cx="9739020" cy="440740"/>
            </a:xfrm>
            <a:prstGeom prst="rect">
              <a:avLst/>
            </a:prstGeom>
            <a:noFill/>
            <a:ln/>
          </p:spPr>
          <p:txBody>
            <a:bodyPr wrap="square" lIns="0" tIns="0" rIns="0" bIns="0" rtlCol="0" anchor="ctr">
              <a:normAutofit/>
            </a:bodyPr>
            <a:lstStyle/>
            <a:p>
              <a:pPr marL="0" indent="0">
                <a:buNone/>
              </a:pPr>
              <a:r>
                <a:rPr lang="en-US" sz="1900" i="1" dirty="0">
                  <a:solidFill>
                    <a:srgbClr val="172033"/>
                  </a:solidFill>
                  <a:latin typeface="Aptos SemiBold" pitchFamily="34" charset="0"/>
                  <a:ea typeface="Aptos SemiBold" pitchFamily="34" charset="-122"/>
                  <a:cs typeface="Aptos SemiBold" pitchFamily="34" charset="-120"/>
                </a:rPr>
                <a:t>Three transitions became repeatable: idea → issue → candidate → production.</a:t>
              </a:r>
              <a:endParaRPr lang="en-US" sz="1900" dirty="0"/>
            </a:p>
          </p:txBody>
        </p:sp>
        <p:sp>
          <p:nvSpPr>
            <p:cNvPr id="5" name="Shape 7">
              <a:extLst>
                <a:ext uri="{FF2B5EF4-FFF2-40B4-BE49-F238E27FC236}">
                  <a16:creationId xmlns:a16="http://schemas.microsoft.com/office/drawing/2014/main" id="{BBF6FDB3-75C7-BBB1-7A8E-179800FEBEBE}"/>
                </a:ext>
              </a:extLst>
            </p:cNvPr>
            <p:cNvSpPr/>
            <p:nvPr/>
          </p:nvSpPr>
          <p:spPr>
            <a:xfrm>
              <a:off x="685800" y="5532120"/>
              <a:ext cx="64008" cy="621792"/>
            </a:xfrm>
            <a:prstGeom prst="rect">
              <a:avLst/>
            </a:prstGeom>
            <a:solidFill>
              <a:srgbClr val="0F766E"/>
            </a:solidFill>
            <a:ln w="12700">
              <a:solidFill>
                <a:srgbClr val="0F766E"/>
              </a:solidFill>
              <a:prstDash val="solid"/>
            </a:ln>
          </p:spPr>
          <p:txBody>
            <a:bodyPr/>
            <a:lstStyle/>
            <a:p>
              <a:endParaRPr lang="en-CA"/>
            </a:p>
          </p:txBody>
        </p:sp>
      </p:grpSp>
    </p:spTree>
    <p:extLst>
      <p:ext uri="{BB962C8B-B14F-4D97-AF65-F5344CB8AC3E}">
        <p14:creationId xmlns:p14="http://schemas.microsoft.com/office/powerpoint/2010/main" val="1281209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53" name="Shape 22">
            <a:extLst>
              <a:ext uri="{FF2B5EF4-FFF2-40B4-BE49-F238E27FC236}">
                <a16:creationId xmlns:a16="http://schemas.microsoft.com/office/drawing/2014/main" id="{D0F13F5C-176F-E59D-EE41-33BE813DE2B3}"/>
              </a:ext>
            </a:extLst>
          </p:cNvPr>
          <p:cNvSpPr/>
          <p:nvPr/>
        </p:nvSpPr>
        <p:spPr>
          <a:xfrm>
            <a:off x="9032240" y="5442793"/>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49" name="Shape 22">
            <a:extLst>
              <a:ext uri="{FF2B5EF4-FFF2-40B4-BE49-F238E27FC236}">
                <a16:creationId xmlns:a16="http://schemas.microsoft.com/office/drawing/2014/main" id="{5A2DC4AB-58BD-0F2F-E92B-DC5A881E91F6}"/>
              </a:ext>
            </a:extLst>
          </p:cNvPr>
          <p:cNvSpPr/>
          <p:nvPr/>
        </p:nvSpPr>
        <p:spPr>
          <a:xfrm>
            <a:off x="8879840" y="5290393"/>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45" name="Shape 22">
            <a:extLst>
              <a:ext uri="{FF2B5EF4-FFF2-40B4-BE49-F238E27FC236}">
                <a16:creationId xmlns:a16="http://schemas.microsoft.com/office/drawing/2014/main" id="{0677A1EF-3F73-956E-1127-6CA33AD3D6BC}"/>
              </a:ext>
            </a:extLst>
          </p:cNvPr>
          <p:cNvSpPr/>
          <p:nvPr/>
        </p:nvSpPr>
        <p:spPr>
          <a:xfrm>
            <a:off x="8727440" y="5137993"/>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54" name="Shape 22">
            <a:extLst>
              <a:ext uri="{FF2B5EF4-FFF2-40B4-BE49-F238E27FC236}">
                <a16:creationId xmlns:a16="http://schemas.microsoft.com/office/drawing/2014/main" id="{13597D8B-B95E-D284-CF49-680D9CE72009}"/>
              </a:ext>
            </a:extLst>
          </p:cNvPr>
          <p:cNvSpPr/>
          <p:nvPr/>
        </p:nvSpPr>
        <p:spPr>
          <a:xfrm>
            <a:off x="9464040" y="3477260"/>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52" name="Shape 22">
            <a:extLst>
              <a:ext uri="{FF2B5EF4-FFF2-40B4-BE49-F238E27FC236}">
                <a16:creationId xmlns:a16="http://schemas.microsoft.com/office/drawing/2014/main" id="{B4776502-7BF0-E76B-72F8-6C24519912D2}"/>
              </a:ext>
            </a:extLst>
          </p:cNvPr>
          <p:cNvSpPr/>
          <p:nvPr/>
        </p:nvSpPr>
        <p:spPr>
          <a:xfrm>
            <a:off x="9311640" y="3324860"/>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50" name="Shape 22">
            <a:extLst>
              <a:ext uri="{FF2B5EF4-FFF2-40B4-BE49-F238E27FC236}">
                <a16:creationId xmlns:a16="http://schemas.microsoft.com/office/drawing/2014/main" id="{CC1F080C-C6B4-EA87-A21C-D97CD3EF74B3}"/>
              </a:ext>
            </a:extLst>
          </p:cNvPr>
          <p:cNvSpPr/>
          <p:nvPr/>
        </p:nvSpPr>
        <p:spPr>
          <a:xfrm>
            <a:off x="9159240" y="3172460"/>
            <a:ext cx="2240280" cy="987552"/>
          </a:xfrm>
          <a:prstGeom prst="roundRect">
            <a:avLst>
              <a:gd name="adj" fmla="val 7407"/>
            </a:avLst>
          </a:prstGeom>
          <a:ln>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n-CA"/>
          </a:p>
        </p:txBody>
      </p:sp>
      <p:sp>
        <p:nvSpPr>
          <p:cNvPr id="48" name="Shape 13">
            <a:extLst>
              <a:ext uri="{FF2B5EF4-FFF2-40B4-BE49-F238E27FC236}">
                <a16:creationId xmlns:a16="http://schemas.microsoft.com/office/drawing/2014/main" id="{E74F3747-FBF0-E10C-ABF8-676459991B8E}"/>
              </a:ext>
            </a:extLst>
          </p:cNvPr>
          <p:cNvSpPr/>
          <p:nvPr/>
        </p:nvSpPr>
        <p:spPr>
          <a:xfrm>
            <a:off x="9118735" y="1687599"/>
            <a:ext cx="2354580" cy="987552"/>
          </a:xfrm>
          <a:prstGeom prst="roundRect">
            <a:avLst>
              <a:gd name="adj" fmla="val 7407"/>
            </a:avLst>
          </a:prstGeom>
          <a:ln/>
        </p:spPr>
        <p:style>
          <a:lnRef idx="2">
            <a:schemeClr val="accent6"/>
          </a:lnRef>
          <a:fillRef idx="1">
            <a:schemeClr val="lt1"/>
          </a:fillRef>
          <a:effectRef idx="0">
            <a:schemeClr val="accent6"/>
          </a:effectRef>
          <a:fontRef idx="minor">
            <a:schemeClr val="dk1"/>
          </a:fontRef>
        </p:style>
        <p:txBody>
          <a:bodyPr/>
          <a:lstStyle/>
          <a:p>
            <a:endParaRPr lang="en-CA" dirty="0"/>
          </a:p>
        </p:txBody>
      </p:sp>
      <p:sp>
        <p:nvSpPr>
          <p:cNvPr id="46" name="Shape 13">
            <a:extLst>
              <a:ext uri="{FF2B5EF4-FFF2-40B4-BE49-F238E27FC236}">
                <a16:creationId xmlns:a16="http://schemas.microsoft.com/office/drawing/2014/main" id="{5FFC94D7-DE09-2BE0-EC03-6C3F93053D11}"/>
              </a:ext>
            </a:extLst>
          </p:cNvPr>
          <p:cNvSpPr/>
          <p:nvPr/>
        </p:nvSpPr>
        <p:spPr>
          <a:xfrm>
            <a:off x="8966335" y="1535199"/>
            <a:ext cx="2354580" cy="987552"/>
          </a:xfrm>
          <a:prstGeom prst="roundRect">
            <a:avLst>
              <a:gd name="adj" fmla="val 7407"/>
            </a:avLst>
          </a:prstGeom>
          <a:ln/>
        </p:spPr>
        <p:style>
          <a:lnRef idx="2">
            <a:schemeClr val="accent6"/>
          </a:lnRef>
          <a:fillRef idx="1">
            <a:schemeClr val="lt1"/>
          </a:fillRef>
          <a:effectRef idx="0">
            <a:schemeClr val="accent6"/>
          </a:effectRef>
          <a:fontRef idx="minor">
            <a:schemeClr val="dk1"/>
          </a:fontRef>
        </p:style>
        <p:txBody>
          <a:bodyPr/>
          <a:lstStyle/>
          <a:p>
            <a:endParaRPr lang="en-CA" dirty="0"/>
          </a:p>
        </p:txBody>
      </p:sp>
      <p:sp>
        <p:nvSpPr>
          <p:cNvPr id="44" name="Shape 13">
            <a:extLst>
              <a:ext uri="{FF2B5EF4-FFF2-40B4-BE49-F238E27FC236}">
                <a16:creationId xmlns:a16="http://schemas.microsoft.com/office/drawing/2014/main" id="{6466E7CB-6E33-6B89-4F33-C0BE4CCA3C50}"/>
              </a:ext>
            </a:extLst>
          </p:cNvPr>
          <p:cNvSpPr/>
          <p:nvPr/>
        </p:nvSpPr>
        <p:spPr>
          <a:xfrm>
            <a:off x="8813935" y="1382799"/>
            <a:ext cx="2354580" cy="987552"/>
          </a:xfrm>
          <a:prstGeom prst="roundRect">
            <a:avLst>
              <a:gd name="adj" fmla="val 7407"/>
            </a:avLst>
          </a:prstGeom>
          <a:ln/>
        </p:spPr>
        <p:style>
          <a:lnRef idx="2">
            <a:schemeClr val="accent6"/>
          </a:lnRef>
          <a:fillRef idx="1">
            <a:schemeClr val="lt1"/>
          </a:fillRef>
          <a:effectRef idx="0">
            <a:schemeClr val="accent6"/>
          </a:effectRef>
          <a:fontRef idx="minor">
            <a:schemeClr val="dk1"/>
          </a:fontRef>
        </p:style>
        <p:txBody>
          <a:bodyPr/>
          <a:lstStyle/>
          <a:p>
            <a:endParaRPr lang="en-CA" dirty="0"/>
          </a:p>
        </p:txBody>
      </p:sp>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CONTROL SURFACES</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Anatomy of a repository-native agentic harness</a:t>
            </a:r>
            <a:endParaRPr lang="en-US" sz="2800"/>
          </a:p>
        </p:txBody>
      </p:sp>
      <p:grpSp>
        <p:nvGrpSpPr>
          <p:cNvPr id="42" name="Group 41">
            <a:extLst>
              <a:ext uri="{FF2B5EF4-FFF2-40B4-BE49-F238E27FC236}">
                <a16:creationId xmlns:a16="http://schemas.microsoft.com/office/drawing/2014/main" id="{4E8AAF3F-B179-68B4-4A63-56A81BF66E1E}"/>
              </a:ext>
            </a:extLst>
          </p:cNvPr>
          <p:cNvGrpSpPr/>
          <p:nvPr/>
        </p:nvGrpSpPr>
        <p:grpSpPr>
          <a:xfrm>
            <a:off x="4677156" y="2889504"/>
            <a:ext cx="2788920" cy="1234440"/>
            <a:chOff x="4773168" y="2615184"/>
            <a:chExt cx="2788920" cy="1234440"/>
          </a:xfrm>
        </p:grpSpPr>
        <p:sp>
          <p:nvSpPr>
            <p:cNvPr id="4" name="Shape 2"/>
            <p:cNvSpPr/>
            <p:nvPr/>
          </p:nvSpPr>
          <p:spPr>
            <a:xfrm>
              <a:off x="4773168" y="2615184"/>
              <a:ext cx="2788920" cy="1234440"/>
            </a:xfrm>
            <a:prstGeom prst="roundRect">
              <a:avLst>
                <a:gd name="adj" fmla="val 5926"/>
              </a:avLst>
            </a:prstGeom>
            <a:solidFill>
              <a:srgbClr val="111827"/>
            </a:solidFill>
            <a:ln w="12700">
              <a:solidFill>
                <a:srgbClr val="111827"/>
              </a:solidFill>
              <a:prstDash val="solid"/>
            </a:ln>
          </p:spPr>
          <p:txBody>
            <a:bodyPr/>
            <a:lstStyle/>
            <a:p>
              <a:endParaRPr lang="en-CA"/>
            </a:p>
          </p:txBody>
        </p:sp>
        <p:sp>
          <p:nvSpPr>
            <p:cNvPr id="5" name="Text 3"/>
            <p:cNvSpPr/>
            <p:nvPr/>
          </p:nvSpPr>
          <p:spPr>
            <a:xfrm>
              <a:off x="4937760" y="2880360"/>
              <a:ext cx="2331720" cy="658368"/>
            </a:xfrm>
            <a:prstGeom prst="rect">
              <a:avLst/>
            </a:prstGeom>
            <a:noFill/>
            <a:ln/>
          </p:spPr>
          <p:txBody>
            <a:bodyPr wrap="square" lIns="0" tIns="0" rIns="0" bIns="0" rtlCol="0" anchor="ctr">
              <a:normAutofit/>
            </a:bodyPr>
            <a:lstStyle/>
            <a:p>
              <a:pPr marL="0" indent="0" algn="ctr">
                <a:buNone/>
              </a:pPr>
              <a:r>
                <a:rPr lang="en-US" sz="2100">
                  <a:solidFill>
                    <a:srgbClr val="FFFFFF"/>
                  </a:solidFill>
                  <a:latin typeface="Aptos SemiBold" pitchFamily="34" charset="0"/>
                  <a:ea typeface="Aptos SemiBold" pitchFamily="34" charset="-122"/>
                  <a:cs typeface="Aptos SemiBold" pitchFamily="34" charset="-120"/>
                </a:rPr>
                <a:t>Repository-native</a:t>
              </a:r>
              <a:endParaRPr lang="en-US" sz="2100"/>
            </a:p>
            <a:p>
              <a:pPr marL="0" indent="0" algn="ctr">
                <a:buNone/>
              </a:pPr>
              <a:r>
                <a:rPr lang="en-US" sz="2100">
                  <a:solidFill>
                    <a:srgbClr val="FFFFFF"/>
                  </a:solidFill>
                  <a:latin typeface="Aptos SemiBold" pitchFamily="34" charset="0"/>
                  <a:ea typeface="Aptos SemiBold" pitchFamily="34" charset="-122"/>
                  <a:cs typeface="Aptos SemiBold" pitchFamily="34" charset="-120"/>
                </a:rPr>
                <a:t>engineering system</a:t>
              </a:r>
              <a:endParaRPr lang="en-US" sz="2100"/>
            </a:p>
          </p:txBody>
        </p:sp>
      </p:grpSp>
      <p:grpSp>
        <p:nvGrpSpPr>
          <p:cNvPr id="36" name="Group 35">
            <a:extLst>
              <a:ext uri="{FF2B5EF4-FFF2-40B4-BE49-F238E27FC236}">
                <a16:creationId xmlns:a16="http://schemas.microsoft.com/office/drawing/2014/main" id="{6411686F-CCB2-E46E-8387-866A14130D65}"/>
              </a:ext>
            </a:extLst>
          </p:cNvPr>
          <p:cNvGrpSpPr/>
          <p:nvPr/>
        </p:nvGrpSpPr>
        <p:grpSpPr>
          <a:xfrm>
            <a:off x="1303021" y="1629658"/>
            <a:ext cx="2240280" cy="987552"/>
            <a:chOff x="640080" y="1463040"/>
            <a:chExt cx="2240280" cy="987552"/>
          </a:xfrm>
        </p:grpSpPr>
        <p:sp>
          <p:nvSpPr>
            <p:cNvPr id="6" name="Shape 4"/>
            <p:cNvSpPr/>
            <p:nvPr/>
          </p:nvSpPr>
          <p:spPr>
            <a:xfrm>
              <a:off x="640080" y="1463040"/>
              <a:ext cx="2240280" cy="987552"/>
            </a:xfrm>
            <a:prstGeom prst="roundRect">
              <a:avLst>
                <a:gd name="adj" fmla="val 7407"/>
              </a:avLst>
            </a:prstGeom>
            <a:solidFill>
              <a:srgbClr val="E8F1FF"/>
            </a:solidFill>
            <a:ln w="12700">
              <a:solidFill>
                <a:srgbClr val="E8F1FF"/>
              </a:solidFill>
              <a:prstDash val="solid"/>
            </a:ln>
          </p:spPr>
          <p:txBody>
            <a:bodyPr/>
            <a:lstStyle/>
            <a:p>
              <a:endParaRPr lang="en-CA"/>
            </a:p>
          </p:txBody>
        </p:sp>
        <p:sp>
          <p:nvSpPr>
            <p:cNvPr id="7" name="Text 5"/>
            <p:cNvSpPr/>
            <p:nvPr/>
          </p:nvSpPr>
          <p:spPr>
            <a:xfrm>
              <a:off x="822960" y="1609344"/>
              <a:ext cx="1874520" cy="256032"/>
            </a:xfrm>
            <a:prstGeom prst="rect">
              <a:avLst/>
            </a:prstGeom>
            <a:noFill/>
            <a:ln/>
          </p:spPr>
          <p:txBody>
            <a:bodyPr wrap="square" lIns="0" tIns="0" rIns="0" bIns="0" rtlCol="0" anchor="ctr"/>
            <a:lstStyle/>
            <a:p>
              <a:pPr marL="0" indent="0" algn="ctr">
                <a:buNone/>
              </a:pPr>
              <a:r>
                <a:rPr lang="en-US" sz="1500">
                  <a:solidFill>
                    <a:srgbClr val="1E40AF"/>
                  </a:solidFill>
                  <a:latin typeface="Aptos SemiBold" pitchFamily="34" charset="0"/>
                  <a:ea typeface="Aptos SemiBold" pitchFamily="34" charset="-122"/>
                  <a:cs typeface="Aptos SemiBold" pitchFamily="34" charset="-120"/>
                </a:rPr>
                <a:t>Instructions</a:t>
              </a:r>
              <a:endParaRPr lang="en-US" sz="1500"/>
            </a:p>
          </p:txBody>
        </p:sp>
        <p:sp>
          <p:nvSpPr>
            <p:cNvPr id="8" name="Text 6"/>
            <p:cNvSpPr/>
            <p:nvPr/>
          </p:nvSpPr>
          <p:spPr>
            <a:xfrm>
              <a:off x="822960" y="1938528"/>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Stable architecture,</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commands, invariants</a:t>
              </a:r>
              <a:endParaRPr lang="en-US" sz="1200"/>
            </a:p>
          </p:txBody>
        </p:sp>
      </p:grpSp>
      <p:grpSp>
        <p:nvGrpSpPr>
          <p:cNvPr id="35" name="Group 34">
            <a:extLst>
              <a:ext uri="{FF2B5EF4-FFF2-40B4-BE49-F238E27FC236}">
                <a16:creationId xmlns:a16="http://schemas.microsoft.com/office/drawing/2014/main" id="{471AA202-33A5-E766-9B23-194EF1FA0950}"/>
              </a:ext>
            </a:extLst>
          </p:cNvPr>
          <p:cNvGrpSpPr/>
          <p:nvPr/>
        </p:nvGrpSpPr>
        <p:grpSpPr>
          <a:xfrm>
            <a:off x="1485901" y="4849870"/>
            <a:ext cx="2240280" cy="987552"/>
            <a:chOff x="640080" y="4297680"/>
            <a:chExt cx="2240280" cy="987552"/>
          </a:xfrm>
        </p:grpSpPr>
        <p:sp>
          <p:nvSpPr>
            <p:cNvPr id="9" name="Shape 7"/>
            <p:cNvSpPr/>
            <p:nvPr/>
          </p:nvSpPr>
          <p:spPr>
            <a:xfrm>
              <a:off x="640080" y="4297680"/>
              <a:ext cx="2240280" cy="987552"/>
            </a:xfrm>
            <a:prstGeom prst="roundRect">
              <a:avLst>
                <a:gd name="adj" fmla="val 7407"/>
              </a:avLst>
            </a:prstGeom>
            <a:solidFill>
              <a:srgbClr val="E8F1FF"/>
            </a:solidFill>
            <a:ln w="12700">
              <a:solidFill>
                <a:srgbClr val="E8F1FF"/>
              </a:solidFill>
              <a:prstDash val="solid"/>
            </a:ln>
          </p:spPr>
          <p:txBody>
            <a:bodyPr/>
            <a:lstStyle/>
            <a:p>
              <a:endParaRPr lang="en-CA"/>
            </a:p>
          </p:txBody>
        </p:sp>
        <p:sp>
          <p:nvSpPr>
            <p:cNvPr id="10" name="Text 8"/>
            <p:cNvSpPr/>
            <p:nvPr/>
          </p:nvSpPr>
          <p:spPr>
            <a:xfrm>
              <a:off x="822960" y="4443984"/>
              <a:ext cx="1874520" cy="256032"/>
            </a:xfrm>
            <a:prstGeom prst="rect">
              <a:avLst/>
            </a:prstGeom>
            <a:noFill/>
            <a:ln/>
          </p:spPr>
          <p:txBody>
            <a:bodyPr wrap="square" lIns="0" tIns="0" rIns="0" bIns="0" rtlCol="0" anchor="ctr"/>
            <a:lstStyle/>
            <a:p>
              <a:pPr marL="0" indent="0" algn="ctr">
                <a:buNone/>
              </a:pPr>
              <a:r>
                <a:rPr lang="en-US" sz="1500">
                  <a:solidFill>
                    <a:srgbClr val="1E40AF"/>
                  </a:solidFill>
                  <a:latin typeface="Aptos SemiBold" pitchFamily="34" charset="0"/>
                  <a:ea typeface="Aptos SemiBold" pitchFamily="34" charset="-122"/>
                  <a:cs typeface="Aptos SemiBold" pitchFamily="34" charset="-120"/>
                </a:rPr>
                <a:t>Path rules</a:t>
              </a:r>
              <a:endParaRPr lang="en-US" sz="1500"/>
            </a:p>
          </p:txBody>
        </p:sp>
        <p:sp>
          <p:nvSpPr>
            <p:cNvPr id="11" name="Text 9"/>
            <p:cNvSpPr/>
            <p:nvPr/>
          </p:nvSpPr>
          <p:spPr>
            <a:xfrm>
              <a:off x="822960" y="4773168"/>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Localized backend,</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UI, workflow rules</a:t>
              </a:r>
              <a:endParaRPr lang="en-US" sz="1200"/>
            </a:p>
          </p:txBody>
        </p:sp>
      </p:grpSp>
      <p:grpSp>
        <p:nvGrpSpPr>
          <p:cNvPr id="37" name="Group 36">
            <a:extLst>
              <a:ext uri="{FF2B5EF4-FFF2-40B4-BE49-F238E27FC236}">
                <a16:creationId xmlns:a16="http://schemas.microsoft.com/office/drawing/2014/main" id="{8E30A705-73A7-5AB8-7AFA-C65BEB232BC5}"/>
              </a:ext>
            </a:extLst>
          </p:cNvPr>
          <p:cNvGrpSpPr/>
          <p:nvPr/>
        </p:nvGrpSpPr>
        <p:grpSpPr>
          <a:xfrm>
            <a:off x="4953000" y="1170432"/>
            <a:ext cx="2240280" cy="987552"/>
            <a:chOff x="3154680" y="1371600"/>
            <a:chExt cx="2240280" cy="987552"/>
          </a:xfrm>
        </p:grpSpPr>
        <p:sp>
          <p:nvSpPr>
            <p:cNvPr id="12" name="Shape 10"/>
            <p:cNvSpPr/>
            <p:nvPr/>
          </p:nvSpPr>
          <p:spPr>
            <a:xfrm>
              <a:off x="3154680" y="1371600"/>
              <a:ext cx="2240280" cy="987552"/>
            </a:xfrm>
            <a:prstGeom prst="roundRect">
              <a:avLst>
                <a:gd name="adj" fmla="val 7407"/>
              </a:avLst>
            </a:prstGeom>
            <a:solidFill>
              <a:srgbClr val="DDF5F1"/>
            </a:solidFill>
            <a:ln w="12700">
              <a:solidFill>
                <a:srgbClr val="DDF5F1"/>
              </a:solidFill>
              <a:prstDash val="solid"/>
            </a:ln>
          </p:spPr>
          <p:txBody>
            <a:bodyPr/>
            <a:lstStyle/>
            <a:p>
              <a:endParaRPr lang="en-CA"/>
            </a:p>
          </p:txBody>
        </p:sp>
        <p:sp>
          <p:nvSpPr>
            <p:cNvPr id="13" name="Text 11"/>
            <p:cNvSpPr/>
            <p:nvPr/>
          </p:nvSpPr>
          <p:spPr>
            <a:xfrm>
              <a:off x="3337560" y="1517904"/>
              <a:ext cx="1874520" cy="256032"/>
            </a:xfrm>
            <a:prstGeom prst="rect">
              <a:avLst/>
            </a:prstGeom>
            <a:noFill/>
            <a:ln/>
          </p:spPr>
          <p:txBody>
            <a:bodyPr wrap="square" lIns="0" tIns="0" rIns="0" bIns="0" rtlCol="0" anchor="ctr"/>
            <a:lstStyle/>
            <a:p>
              <a:pPr marL="0" indent="0" algn="ctr">
                <a:buNone/>
              </a:pPr>
              <a:r>
                <a:rPr lang="en-US" sz="1500">
                  <a:solidFill>
                    <a:srgbClr val="0F766E"/>
                  </a:solidFill>
                  <a:latin typeface="Aptos SemiBold" pitchFamily="34" charset="0"/>
                  <a:ea typeface="Aptos SemiBold" pitchFamily="34" charset="-122"/>
                  <a:cs typeface="Aptos SemiBold" pitchFamily="34" charset="-120"/>
                </a:rPr>
                <a:t>Issues</a:t>
              </a:r>
              <a:endParaRPr lang="en-US" sz="1500"/>
            </a:p>
          </p:txBody>
        </p:sp>
        <p:sp>
          <p:nvSpPr>
            <p:cNvPr id="14" name="Text 12"/>
            <p:cNvSpPr/>
            <p:nvPr/>
          </p:nvSpPr>
          <p:spPr>
            <a:xfrm>
              <a:off x="3337560" y="1847088"/>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Outcome, scope,</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acceptance, dependencies</a:t>
              </a:r>
              <a:endParaRPr lang="en-US" sz="1200"/>
            </a:p>
          </p:txBody>
        </p:sp>
      </p:grpSp>
      <p:grpSp>
        <p:nvGrpSpPr>
          <p:cNvPr id="38" name="Group 37">
            <a:extLst>
              <a:ext uri="{FF2B5EF4-FFF2-40B4-BE49-F238E27FC236}">
                <a16:creationId xmlns:a16="http://schemas.microsoft.com/office/drawing/2014/main" id="{D2E3F64D-64AC-1551-C186-1DAD27570E3E}"/>
              </a:ext>
            </a:extLst>
          </p:cNvPr>
          <p:cNvGrpSpPr/>
          <p:nvPr/>
        </p:nvGrpSpPr>
        <p:grpSpPr>
          <a:xfrm>
            <a:off x="8709660" y="1297178"/>
            <a:ext cx="2354580" cy="987552"/>
            <a:chOff x="8092440" y="1371600"/>
            <a:chExt cx="2240280" cy="987552"/>
          </a:xfrm>
        </p:grpSpPr>
        <p:sp>
          <p:nvSpPr>
            <p:cNvPr id="15" name="Shape 13"/>
            <p:cNvSpPr/>
            <p:nvPr/>
          </p:nvSpPr>
          <p:spPr>
            <a:xfrm>
              <a:off x="8092440" y="1371600"/>
              <a:ext cx="2240280" cy="987552"/>
            </a:xfrm>
            <a:prstGeom prst="roundRect">
              <a:avLst>
                <a:gd name="adj" fmla="val 7407"/>
              </a:avLst>
            </a:prstGeom>
            <a:solidFill>
              <a:srgbClr val="DDF5F1"/>
            </a:solidFill>
            <a:ln w="12700">
              <a:solidFill>
                <a:srgbClr val="DDF5F1"/>
              </a:solidFill>
              <a:prstDash val="solid"/>
            </a:ln>
          </p:spPr>
          <p:txBody>
            <a:bodyPr/>
            <a:lstStyle/>
            <a:p>
              <a:endParaRPr lang="en-CA"/>
            </a:p>
          </p:txBody>
        </p:sp>
        <p:sp>
          <p:nvSpPr>
            <p:cNvPr id="16" name="Text 14"/>
            <p:cNvSpPr/>
            <p:nvPr/>
          </p:nvSpPr>
          <p:spPr>
            <a:xfrm>
              <a:off x="8275320" y="1517904"/>
              <a:ext cx="1874520" cy="256032"/>
            </a:xfrm>
            <a:prstGeom prst="rect">
              <a:avLst/>
            </a:prstGeom>
            <a:noFill/>
            <a:ln/>
          </p:spPr>
          <p:txBody>
            <a:bodyPr wrap="square" lIns="0" tIns="0" rIns="0" bIns="0" rtlCol="0" anchor="ctr"/>
            <a:lstStyle/>
            <a:p>
              <a:pPr marL="0" indent="0" algn="ctr">
                <a:buNone/>
              </a:pPr>
              <a:r>
                <a:rPr lang="en-US" sz="1500">
                  <a:solidFill>
                    <a:srgbClr val="0F766E"/>
                  </a:solidFill>
                  <a:latin typeface="Aptos SemiBold" pitchFamily="34" charset="0"/>
                  <a:ea typeface="Aptos SemiBold" pitchFamily="34" charset="-122"/>
                  <a:cs typeface="Aptos SemiBold" pitchFamily="34" charset="-120"/>
                </a:rPr>
                <a:t>Specialist agents</a:t>
              </a:r>
              <a:endParaRPr lang="en-US" sz="1500"/>
            </a:p>
          </p:txBody>
        </p:sp>
        <p:sp>
          <p:nvSpPr>
            <p:cNvPr id="17" name="Text 15"/>
            <p:cNvSpPr/>
            <p:nvPr/>
          </p:nvSpPr>
          <p:spPr>
            <a:xfrm>
              <a:off x="8275320" y="1847088"/>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Bounded, read-only</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analysis</a:t>
              </a:r>
              <a:endParaRPr lang="en-US" sz="1200"/>
            </a:p>
          </p:txBody>
        </p:sp>
      </p:grpSp>
      <p:grpSp>
        <p:nvGrpSpPr>
          <p:cNvPr id="40" name="Group 39">
            <a:extLst>
              <a:ext uri="{FF2B5EF4-FFF2-40B4-BE49-F238E27FC236}">
                <a16:creationId xmlns:a16="http://schemas.microsoft.com/office/drawing/2014/main" id="{8AB7BD1A-6D7B-4093-436C-132C08AC0BB8}"/>
              </a:ext>
            </a:extLst>
          </p:cNvPr>
          <p:cNvGrpSpPr/>
          <p:nvPr/>
        </p:nvGrpSpPr>
        <p:grpSpPr>
          <a:xfrm>
            <a:off x="8544560" y="5014976"/>
            <a:ext cx="2240280" cy="987552"/>
            <a:chOff x="9189720" y="4224528"/>
            <a:chExt cx="2240280" cy="987552"/>
          </a:xfrm>
        </p:grpSpPr>
        <p:sp>
          <p:nvSpPr>
            <p:cNvPr id="18" name="Shape 16"/>
            <p:cNvSpPr/>
            <p:nvPr/>
          </p:nvSpPr>
          <p:spPr>
            <a:xfrm>
              <a:off x="9189720" y="4224528"/>
              <a:ext cx="2240280" cy="987552"/>
            </a:xfrm>
            <a:prstGeom prst="roundRect">
              <a:avLst>
                <a:gd name="adj" fmla="val 7407"/>
              </a:avLst>
            </a:prstGeom>
            <a:solidFill>
              <a:srgbClr val="FFF2D8"/>
            </a:solidFill>
            <a:ln w="12700">
              <a:solidFill>
                <a:srgbClr val="FFF2D8"/>
              </a:solidFill>
              <a:prstDash val="solid"/>
            </a:ln>
          </p:spPr>
          <p:txBody>
            <a:bodyPr/>
            <a:lstStyle/>
            <a:p>
              <a:endParaRPr lang="en-CA"/>
            </a:p>
          </p:txBody>
        </p:sp>
        <p:sp>
          <p:nvSpPr>
            <p:cNvPr id="19" name="Text 17"/>
            <p:cNvSpPr/>
            <p:nvPr/>
          </p:nvSpPr>
          <p:spPr>
            <a:xfrm>
              <a:off x="9372600" y="4370832"/>
              <a:ext cx="1874520" cy="256032"/>
            </a:xfrm>
            <a:prstGeom prst="rect">
              <a:avLst/>
            </a:prstGeom>
            <a:noFill/>
            <a:ln/>
          </p:spPr>
          <p:txBody>
            <a:bodyPr wrap="square" lIns="0" tIns="0" rIns="0" bIns="0" rtlCol="0" anchor="ctr"/>
            <a:lstStyle/>
            <a:p>
              <a:pPr marL="0" indent="0" algn="ctr">
                <a:buNone/>
              </a:pPr>
              <a:r>
                <a:rPr lang="en-US" sz="1500">
                  <a:solidFill>
                    <a:srgbClr val="D97706"/>
                  </a:solidFill>
                  <a:latin typeface="Aptos SemiBold" pitchFamily="34" charset="0"/>
                  <a:ea typeface="Aptos SemiBold" pitchFamily="34" charset="-122"/>
                  <a:cs typeface="Aptos SemiBold" pitchFamily="34" charset="-120"/>
                </a:rPr>
                <a:t>Skills</a:t>
              </a:r>
              <a:endParaRPr lang="en-US" sz="1500"/>
            </a:p>
          </p:txBody>
        </p:sp>
        <p:sp>
          <p:nvSpPr>
            <p:cNvPr id="20" name="Text 18"/>
            <p:cNvSpPr/>
            <p:nvPr/>
          </p:nvSpPr>
          <p:spPr>
            <a:xfrm>
              <a:off x="9372600" y="4700016"/>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Repeatable multi-step</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procedures</a:t>
              </a:r>
              <a:endParaRPr lang="en-US" sz="1200"/>
            </a:p>
          </p:txBody>
        </p:sp>
      </p:grpSp>
      <p:grpSp>
        <p:nvGrpSpPr>
          <p:cNvPr id="41" name="Group 40">
            <a:extLst>
              <a:ext uri="{FF2B5EF4-FFF2-40B4-BE49-F238E27FC236}">
                <a16:creationId xmlns:a16="http://schemas.microsoft.com/office/drawing/2014/main" id="{A18D3418-D908-8B0E-05ED-25A7B4B06614}"/>
              </a:ext>
            </a:extLst>
          </p:cNvPr>
          <p:cNvGrpSpPr/>
          <p:nvPr/>
        </p:nvGrpSpPr>
        <p:grpSpPr>
          <a:xfrm>
            <a:off x="5006340" y="5285232"/>
            <a:ext cx="2240280" cy="987552"/>
            <a:chOff x="4572000" y="4956048"/>
            <a:chExt cx="2240280" cy="987552"/>
          </a:xfrm>
        </p:grpSpPr>
        <p:sp>
          <p:nvSpPr>
            <p:cNvPr id="21" name="Shape 19"/>
            <p:cNvSpPr/>
            <p:nvPr/>
          </p:nvSpPr>
          <p:spPr>
            <a:xfrm>
              <a:off x="4572000" y="4956048"/>
              <a:ext cx="2240280" cy="987552"/>
            </a:xfrm>
            <a:prstGeom prst="roundRect">
              <a:avLst>
                <a:gd name="adj" fmla="val 7407"/>
              </a:avLst>
            </a:prstGeom>
            <a:solidFill>
              <a:srgbClr val="E1F4EA"/>
            </a:solidFill>
            <a:ln w="12700">
              <a:solidFill>
                <a:srgbClr val="E1F4EA"/>
              </a:solidFill>
              <a:prstDash val="solid"/>
            </a:ln>
          </p:spPr>
          <p:txBody>
            <a:bodyPr/>
            <a:lstStyle/>
            <a:p>
              <a:endParaRPr lang="en-CA"/>
            </a:p>
          </p:txBody>
        </p:sp>
        <p:sp>
          <p:nvSpPr>
            <p:cNvPr id="22" name="Text 20"/>
            <p:cNvSpPr/>
            <p:nvPr/>
          </p:nvSpPr>
          <p:spPr>
            <a:xfrm>
              <a:off x="4754880" y="5102352"/>
              <a:ext cx="1874520" cy="256032"/>
            </a:xfrm>
            <a:prstGeom prst="rect">
              <a:avLst/>
            </a:prstGeom>
            <a:noFill/>
            <a:ln/>
          </p:spPr>
          <p:txBody>
            <a:bodyPr wrap="square" lIns="0" tIns="0" rIns="0" bIns="0" rtlCol="0" anchor="ctr"/>
            <a:lstStyle/>
            <a:p>
              <a:pPr marL="0" indent="0" algn="ctr">
                <a:buNone/>
              </a:pPr>
              <a:r>
                <a:rPr lang="en-US" sz="1500">
                  <a:solidFill>
                    <a:srgbClr val="2E7D5B"/>
                  </a:solidFill>
                  <a:latin typeface="Aptos SemiBold" pitchFamily="34" charset="0"/>
                  <a:ea typeface="Aptos SemiBold" pitchFamily="34" charset="-122"/>
                  <a:cs typeface="Aptos SemiBold" pitchFamily="34" charset="-120"/>
                </a:rPr>
                <a:t>Tests + evals</a:t>
              </a:r>
              <a:endParaRPr lang="en-US" sz="1500"/>
            </a:p>
          </p:txBody>
        </p:sp>
        <p:sp>
          <p:nvSpPr>
            <p:cNvPr id="23" name="Text 21"/>
            <p:cNvSpPr/>
            <p:nvPr/>
          </p:nvSpPr>
          <p:spPr>
            <a:xfrm>
              <a:off x="4754880" y="5431536"/>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Executable</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invariants</a:t>
              </a:r>
              <a:endParaRPr lang="en-US" sz="1200"/>
            </a:p>
          </p:txBody>
        </p:sp>
      </p:grpSp>
      <p:grpSp>
        <p:nvGrpSpPr>
          <p:cNvPr id="39" name="Group 38">
            <a:extLst>
              <a:ext uri="{FF2B5EF4-FFF2-40B4-BE49-F238E27FC236}">
                <a16:creationId xmlns:a16="http://schemas.microsoft.com/office/drawing/2014/main" id="{7DAEFBB9-EED0-DD42-A7C2-C9A653AEFBE4}"/>
              </a:ext>
            </a:extLst>
          </p:cNvPr>
          <p:cNvGrpSpPr/>
          <p:nvPr/>
        </p:nvGrpSpPr>
        <p:grpSpPr>
          <a:xfrm>
            <a:off x="9006840" y="3020060"/>
            <a:ext cx="2240280" cy="987552"/>
            <a:chOff x="9098280" y="2606040"/>
            <a:chExt cx="2240280" cy="987552"/>
          </a:xfrm>
        </p:grpSpPr>
        <p:sp>
          <p:nvSpPr>
            <p:cNvPr id="24" name="Shape 22"/>
            <p:cNvSpPr/>
            <p:nvPr/>
          </p:nvSpPr>
          <p:spPr>
            <a:xfrm>
              <a:off x="9098280" y="2606040"/>
              <a:ext cx="2240280" cy="987552"/>
            </a:xfrm>
            <a:prstGeom prst="roundRect">
              <a:avLst>
                <a:gd name="adj" fmla="val 7407"/>
              </a:avLst>
            </a:prstGeom>
            <a:solidFill>
              <a:srgbClr val="E9E7FF"/>
            </a:solidFill>
            <a:ln w="12700">
              <a:solidFill>
                <a:srgbClr val="E9E7FF"/>
              </a:solidFill>
              <a:prstDash val="solid"/>
            </a:ln>
          </p:spPr>
          <p:txBody>
            <a:bodyPr/>
            <a:lstStyle/>
            <a:p>
              <a:endParaRPr lang="en-CA"/>
            </a:p>
          </p:txBody>
        </p:sp>
        <p:sp>
          <p:nvSpPr>
            <p:cNvPr id="25" name="Text 23"/>
            <p:cNvSpPr/>
            <p:nvPr/>
          </p:nvSpPr>
          <p:spPr>
            <a:xfrm>
              <a:off x="9281160" y="2752344"/>
              <a:ext cx="1874520" cy="256032"/>
            </a:xfrm>
            <a:prstGeom prst="rect">
              <a:avLst/>
            </a:prstGeom>
            <a:noFill/>
            <a:ln/>
          </p:spPr>
          <p:txBody>
            <a:bodyPr wrap="square" lIns="0" tIns="0" rIns="0" bIns="0" rtlCol="0" anchor="ctr"/>
            <a:lstStyle/>
            <a:p>
              <a:pPr marL="0" indent="0" algn="ctr">
                <a:buNone/>
              </a:pPr>
              <a:r>
                <a:rPr lang="en-US" sz="1500">
                  <a:solidFill>
                    <a:srgbClr val="4338CA"/>
                  </a:solidFill>
                  <a:latin typeface="Aptos SemiBold" pitchFamily="34" charset="0"/>
                  <a:ea typeface="Aptos SemiBold" pitchFamily="34" charset="-122"/>
                  <a:cs typeface="Aptos SemiBold" pitchFamily="34" charset="-120"/>
                </a:rPr>
                <a:t>Workflows</a:t>
              </a:r>
              <a:endParaRPr lang="en-US" sz="1500"/>
            </a:p>
          </p:txBody>
        </p:sp>
        <p:sp>
          <p:nvSpPr>
            <p:cNvPr id="26" name="Text 24"/>
            <p:cNvSpPr/>
            <p:nvPr/>
          </p:nvSpPr>
          <p:spPr>
            <a:xfrm>
              <a:off x="9281160" y="3081528"/>
              <a:ext cx="1874520" cy="365760"/>
            </a:xfrm>
            <a:prstGeom prst="rect">
              <a:avLst/>
            </a:prstGeom>
            <a:noFill/>
            <a:ln/>
          </p:spPr>
          <p:txBody>
            <a:bodyPr wrap="square" lIns="0" tIns="0" rIns="0" bIns="0" rtlCol="0" anchor="ctr">
              <a:normAutofit/>
            </a:bodyPr>
            <a:lstStyle/>
            <a:p>
              <a:pPr marL="0" indent="0" algn="ctr">
                <a:buNone/>
              </a:pPr>
              <a:r>
                <a:rPr lang="en-US" sz="1200">
                  <a:solidFill>
                    <a:srgbClr val="172033"/>
                  </a:solidFill>
                  <a:latin typeface="Aptos" pitchFamily="34" charset="0"/>
                  <a:ea typeface="Aptos" pitchFamily="34" charset="-122"/>
                  <a:cs typeface="Aptos" pitchFamily="34" charset="-120"/>
                </a:rPr>
                <a:t>Deterministic gates +</a:t>
              </a:r>
              <a:endParaRPr lang="en-US" sz="1200"/>
            </a:p>
            <a:p>
              <a:pPr marL="0" indent="0" algn="ctr">
                <a:buNone/>
              </a:pPr>
              <a:r>
                <a:rPr lang="en-US" sz="1200">
                  <a:solidFill>
                    <a:srgbClr val="172033"/>
                  </a:solidFill>
                  <a:latin typeface="Aptos" pitchFamily="34" charset="0"/>
                  <a:ea typeface="Aptos" pitchFamily="34" charset="-122"/>
                  <a:cs typeface="Aptos" pitchFamily="34" charset="-120"/>
                </a:rPr>
                <a:t>artifact movement</a:t>
              </a:r>
              <a:endParaRPr lang="en-US" sz="1200"/>
            </a:p>
          </p:txBody>
        </p:sp>
      </p:grpSp>
      <p:sp>
        <p:nvSpPr>
          <p:cNvPr id="27" name="Shape 25"/>
          <p:cNvSpPr/>
          <p:nvPr/>
        </p:nvSpPr>
        <p:spPr>
          <a:xfrm>
            <a:off x="6126480" y="2230625"/>
            <a:ext cx="0" cy="534924"/>
          </a:xfrm>
          <a:prstGeom prst="line">
            <a:avLst/>
          </a:prstGeom>
          <a:noFill/>
          <a:ln w="15240">
            <a:solidFill>
              <a:srgbClr val="AEB8C7"/>
            </a:solidFill>
            <a:prstDash val="solid"/>
            <a:tailEnd type="triangle"/>
          </a:ln>
        </p:spPr>
        <p:txBody>
          <a:bodyPr/>
          <a:lstStyle/>
          <a:p>
            <a:endParaRPr lang="en-CA"/>
          </a:p>
        </p:txBody>
      </p:sp>
      <p:sp>
        <p:nvSpPr>
          <p:cNvPr id="28" name="Shape 26"/>
          <p:cNvSpPr/>
          <p:nvPr/>
        </p:nvSpPr>
        <p:spPr>
          <a:xfrm flipV="1">
            <a:off x="2926082" y="3719821"/>
            <a:ext cx="1668778" cy="1051561"/>
          </a:xfrm>
          <a:prstGeom prst="line">
            <a:avLst/>
          </a:prstGeom>
          <a:noFill/>
          <a:ln w="15240">
            <a:solidFill>
              <a:srgbClr val="AEB8C7"/>
            </a:solidFill>
            <a:prstDash val="solid"/>
            <a:tailEnd type="triangle"/>
          </a:ln>
        </p:spPr>
        <p:txBody>
          <a:bodyPr/>
          <a:lstStyle/>
          <a:p>
            <a:endParaRPr lang="en-CA"/>
          </a:p>
        </p:txBody>
      </p:sp>
      <p:sp>
        <p:nvSpPr>
          <p:cNvPr id="29" name="Shape 27"/>
          <p:cNvSpPr/>
          <p:nvPr/>
        </p:nvSpPr>
        <p:spPr>
          <a:xfrm>
            <a:off x="2540005" y="2713986"/>
            <a:ext cx="2054856" cy="848877"/>
          </a:xfrm>
          <a:prstGeom prst="line">
            <a:avLst/>
          </a:prstGeom>
          <a:noFill/>
          <a:ln w="15240">
            <a:solidFill>
              <a:srgbClr val="AEB8C7"/>
            </a:solidFill>
            <a:prstDash val="solid"/>
            <a:tailEnd type="triangle"/>
          </a:ln>
        </p:spPr>
        <p:txBody>
          <a:bodyPr/>
          <a:lstStyle/>
          <a:p>
            <a:endParaRPr lang="en-CA" dirty="0"/>
          </a:p>
        </p:txBody>
      </p:sp>
      <p:sp>
        <p:nvSpPr>
          <p:cNvPr id="30" name="Shape 28"/>
          <p:cNvSpPr/>
          <p:nvPr/>
        </p:nvSpPr>
        <p:spPr>
          <a:xfrm flipV="1">
            <a:off x="7679114" y="2508529"/>
            <a:ext cx="1114687" cy="486385"/>
          </a:xfrm>
          <a:prstGeom prst="line">
            <a:avLst/>
          </a:prstGeom>
          <a:noFill/>
          <a:ln w="15240">
            <a:solidFill>
              <a:srgbClr val="AEB8C7"/>
            </a:solidFill>
            <a:prstDash val="solid"/>
            <a:tailEnd type="triangle"/>
          </a:ln>
        </p:spPr>
        <p:txBody>
          <a:bodyPr/>
          <a:lstStyle/>
          <a:p>
            <a:endParaRPr lang="en-CA" dirty="0"/>
          </a:p>
        </p:txBody>
      </p:sp>
      <p:sp>
        <p:nvSpPr>
          <p:cNvPr id="31" name="Shape 29"/>
          <p:cNvSpPr/>
          <p:nvPr/>
        </p:nvSpPr>
        <p:spPr>
          <a:xfrm>
            <a:off x="7671816" y="3857498"/>
            <a:ext cx="1426464" cy="1051560"/>
          </a:xfrm>
          <a:prstGeom prst="line">
            <a:avLst/>
          </a:prstGeom>
          <a:noFill/>
          <a:ln w="15240">
            <a:solidFill>
              <a:srgbClr val="AEB8C7"/>
            </a:solidFill>
            <a:prstDash val="solid"/>
            <a:tailEnd type="triangle"/>
          </a:ln>
        </p:spPr>
        <p:txBody>
          <a:bodyPr/>
          <a:lstStyle/>
          <a:p>
            <a:endParaRPr lang="en-CA"/>
          </a:p>
        </p:txBody>
      </p:sp>
      <p:sp>
        <p:nvSpPr>
          <p:cNvPr id="32" name="Shape 30"/>
          <p:cNvSpPr/>
          <p:nvPr/>
        </p:nvSpPr>
        <p:spPr>
          <a:xfrm>
            <a:off x="6096000" y="4131564"/>
            <a:ext cx="0" cy="1051560"/>
          </a:xfrm>
          <a:prstGeom prst="line">
            <a:avLst/>
          </a:prstGeom>
          <a:noFill/>
          <a:ln w="15240">
            <a:solidFill>
              <a:srgbClr val="AEB8C7"/>
            </a:solidFill>
            <a:prstDash val="solid"/>
            <a:tailEnd type="triangle"/>
          </a:ln>
        </p:spPr>
        <p:txBody>
          <a:bodyPr/>
          <a:lstStyle/>
          <a:p>
            <a:endParaRPr lang="en-CA"/>
          </a:p>
        </p:txBody>
      </p:sp>
      <p:sp>
        <p:nvSpPr>
          <p:cNvPr id="33" name="Shape 31"/>
          <p:cNvSpPr/>
          <p:nvPr/>
        </p:nvSpPr>
        <p:spPr>
          <a:xfrm>
            <a:off x="7631311" y="3422396"/>
            <a:ext cx="1335024" cy="0"/>
          </a:xfrm>
          <a:prstGeom prst="line">
            <a:avLst/>
          </a:prstGeom>
          <a:noFill/>
          <a:ln w="15240">
            <a:solidFill>
              <a:srgbClr val="AEB8C7"/>
            </a:solidFill>
            <a:prstDash val="solid"/>
            <a:tailEnd type="triangle"/>
          </a:ln>
        </p:spPr>
        <p:txBody>
          <a:bodyPr/>
          <a:lstStyle/>
          <a:p>
            <a:endParaRPr lang="en-CA" dirty="0"/>
          </a:p>
        </p:txBody>
      </p:sp>
      <p:sp>
        <p:nvSpPr>
          <p:cNvPr id="34"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16</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000" kern="0" spc="120">
                <a:solidFill>
                  <a:srgbClr val="3B82F6"/>
                </a:solidFill>
                <a:latin typeface="Aptos SemiBold" pitchFamily="34" charset="0"/>
                <a:ea typeface="Aptos SemiBold" pitchFamily="34" charset="-122"/>
                <a:cs typeface="Aptos SemiBold" pitchFamily="34" charset="-120"/>
              </a:rPr>
              <a:t>CHOREOGRAPHY + AUTHORITY</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800" b="1">
                <a:solidFill>
                  <a:srgbClr val="172033"/>
                </a:solidFill>
                <a:latin typeface="Aptos SemiBold" pitchFamily="34" charset="0"/>
                <a:ea typeface="Aptos SemiBold" pitchFamily="34" charset="-122"/>
                <a:cs typeface="Aptos SemiBold" pitchFamily="34" charset="-120"/>
              </a:rPr>
              <a:t>Skills orchestrate the lifecycle. Agents stay bounded.</a:t>
            </a:r>
            <a:endParaRPr lang="en-US" sz="2800"/>
          </a:p>
        </p:txBody>
      </p:sp>
      <p:sp>
        <p:nvSpPr>
          <p:cNvPr id="5" name="Shape 2"/>
          <p:cNvSpPr/>
          <p:nvPr/>
        </p:nvSpPr>
        <p:spPr>
          <a:xfrm>
            <a:off x="640080" y="1344168"/>
            <a:ext cx="10332720" cy="530352"/>
          </a:xfrm>
          <a:prstGeom prst="rect">
            <a:avLst/>
          </a:prstGeom>
          <a:solidFill>
            <a:srgbClr val="111827"/>
          </a:solidFill>
          <a:ln w="12700">
            <a:solidFill>
              <a:srgbClr val="111827"/>
            </a:solidFill>
            <a:prstDash val="solid"/>
          </a:ln>
        </p:spPr>
        <p:txBody>
          <a:bodyPr/>
          <a:lstStyle/>
          <a:p>
            <a:endParaRPr lang="en-CA"/>
          </a:p>
        </p:txBody>
      </p:sp>
      <p:sp>
        <p:nvSpPr>
          <p:cNvPr id="6" name="Text 3"/>
          <p:cNvSpPr/>
          <p:nvPr/>
        </p:nvSpPr>
        <p:spPr>
          <a:xfrm>
            <a:off x="749808" y="1499616"/>
            <a:ext cx="1920240" cy="201168"/>
          </a:xfrm>
          <a:prstGeom prst="rect">
            <a:avLst/>
          </a:prstGeom>
          <a:noFill/>
          <a:ln/>
        </p:spPr>
        <p:txBody>
          <a:bodyPr wrap="square" lIns="0" tIns="0" rIns="0" bIns="0" rtlCol="0" anchor="ctr"/>
          <a:lstStyle/>
          <a:p>
            <a:pPr marL="0" indent="0">
              <a:buNone/>
            </a:pPr>
            <a:r>
              <a:rPr lang="en-US" sz="1300">
                <a:solidFill>
                  <a:srgbClr val="FFFFFF"/>
                </a:solidFill>
                <a:latin typeface="Aptos SemiBold" pitchFamily="34" charset="0"/>
                <a:ea typeface="Aptos SemiBold" pitchFamily="34" charset="-122"/>
                <a:cs typeface="Aptos SemiBold" pitchFamily="34" charset="-120"/>
              </a:rPr>
              <a:t>Role</a:t>
            </a:r>
            <a:endParaRPr lang="en-US" sz="1300" dirty="0"/>
          </a:p>
        </p:txBody>
      </p:sp>
      <p:sp>
        <p:nvSpPr>
          <p:cNvPr id="7" name="Text 4"/>
          <p:cNvSpPr/>
          <p:nvPr/>
        </p:nvSpPr>
        <p:spPr>
          <a:xfrm>
            <a:off x="2898648" y="1499616"/>
            <a:ext cx="3566160" cy="201168"/>
          </a:xfrm>
          <a:prstGeom prst="rect">
            <a:avLst/>
          </a:prstGeom>
          <a:noFill/>
          <a:ln/>
        </p:spPr>
        <p:txBody>
          <a:bodyPr wrap="square" lIns="0" tIns="0" rIns="0" bIns="0" rtlCol="0" anchor="ctr"/>
          <a:lstStyle/>
          <a:p>
            <a:pPr marL="0" indent="0">
              <a:buNone/>
            </a:pPr>
            <a:r>
              <a:rPr lang="en-US" sz="1300">
                <a:solidFill>
                  <a:srgbClr val="FFFFFF"/>
                </a:solidFill>
                <a:latin typeface="Aptos SemiBold" pitchFamily="34" charset="0"/>
                <a:ea typeface="Aptos SemiBold" pitchFamily="34" charset="-122"/>
                <a:cs typeface="Aptos SemiBold" pitchFamily="34" charset="-120"/>
              </a:rPr>
              <a:t>Primary job</a:t>
            </a:r>
            <a:endParaRPr lang="en-US" sz="1300" dirty="0"/>
          </a:p>
        </p:txBody>
      </p:sp>
      <p:sp>
        <p:nvSpPr>
          <p:cNvPr id="8" name="Text 5"/>
          <p:cNvSpPr/>
          <p:nvPr/>
        </p:nvSpPr>
        <p:spPr>
          <a:xfrm>
            <a:off x="6693408" y="1499616"/>
            <a:ext cx="2011680" cy="201168"/>
          </a:xfrm>
          <a:prstGeom prst="rect">
            <a:avLst/>
          </a:prstGeom>
          <a:noFill/>
          <a:ln/>
        </p:spPr>
        <p:txBody>
          <a:bodyPr wrap="square" lIns="0" tIns="0" rIns="0" bIns="0" rtlCol="0" anchor="ctr"/>
          <a:lstStyle/>
          <a:p>
            <a:pPr marL="0" indent="0">
              <a:buNone/>
            </a:pPr>
            <a:r>
              <a:rPr lang="en-US" sz="1300">
                <a:solidFill>
                  <a:srgbClr val="FFFFFF"/>
                </a:solidFill>
                <a:latin typeface="Aptos SemiBold" pitchFamily="34" charset="0"/>
                <a:ea typeface="Aptos SemiBold" pitchFamily="34" charset="-122"/>
                <a:cs typeface="Aptos SemiBold" pitchFamily="34" charset="-120"/>
              </a:rPr>
              <a:t>Write access</a:t>
            </a:r>
            <a:endParaRPr lang="en-US" sz="1300" dirty="0"/>
          </a:p>
        </p:txBody>
      </p:sp>
      <p:sp>
        <p:nvSpPr>
          <p:cNvPr id="4" name="Text 6"/>
          <p:cNvSpPr/>
          <p:nvPr/>
        </p:nvSpPr>
        <p:spPr>
          <a:xfrm>
            <a:off x="8933688" y="1499616"/>
            <a:ext cx="1920240" cy="201168"/>
          </a:xfrm>
          <a:prstGeom prst="rect">
            <a:avLst/>
          </a:prstGeom>
          <a:noFill/>
          <a:ln/>
        </p:spPr>
        <p:txBody>
          <a:bodyPr wrap="square" lIns="0" tIns="0" rIns="0" bIns="0" rtlCol="0" anchor="ctr"/>
          <a:lstStyle/>
          <a:p>
            <a:pPr marL="0" indent="0">
              <a:buNone/>
            </a:pPr>
            <a:r>
              <a:rPr lang="en-US" sz="1300">
                <a:solidFill>
                  <a:srgbClr val="FFFFFF"/>
                </a:solidFill>
                <a:latin typeface="Aptos SemiBold" pitchFamily="34" charset="0"/>
                <a:ea typeface="Aptos SemiBold" pitchFamily="34" charset="-122"/>
                <a:cs typeface="Aptos SemiBold" pitchFamily="34" charset="-120"/>
              </a:rPr>
              <a:t>Release authority</a:t>
            </a:r>
            <a:endParaRPr lang="en-US" sz="1300" dirty="0"/>
          </a:p>
        </p:txBody>
      </p:sp>
      <p:sp>
        <p:nvSpPr>
          <p:cNvPr id="10" name="Shape 7"/>
          <p:cNvSpPr/>
          <p:nvPr/>
        </p:nvSpPr>
        <p:spPr>
          <a:xfrm>
            <a:off x="685800" y="5532120"/>
            <a:ext cx="64008" cy="621792"/>
          </a:xfrm>
          <a:prstGeom prst="rect">
            <a:avLst/>
          </a:prstGeom>
          <a:solidFill>
            <a:srgbClr val="0F766E"/>
          </a:solidFill>
          <a:ln w="12700">
            <a:solidFill>
              <a:srgbClr val="0F766E"/>
            </a:solidFill>
            <a:prstDash val="solid"/>
          </a:ln>
        </p:spPr>
        <p:txBody>
          <a:bodyPr/>
          <a:lstStyle/>
          <a:p>
            <a:endParaRPr lang="en-CA"/>
          </a:p>
        </p:txBody>
      </p:sp>
      <p:sp>
        <p:nvSpPr>
          <p:cNvPr id="11" name="Text 8"/>
          <p:cNvSpPr/>
          <p:nvPr/>
        </p:nvSpPr>
        <p:spPr>
          <a:xfrm>
            <a:off x="914400" y="5550408"/>
            <a:ext cx="10817352" cy="585216"/>
          </a:xfrm>
          <a:prstGeom prst="rect">
            <a:avLst/>
          </a:prstGeom>
          <a:noFill/>
          <a:ln/>
        </p:spPr>
        <p:txBody>
          <a:bodyPr wrap="square" lIns="0" tIns="0" rIns="0" bIns="0" rtlCol="0" anchor="ctr">
            <a:normAutofit/>
          </a:bodyPr>
          <a:lstStyle/>
          <a:p>
            <a:r>
              <a:rPr lang="en-US" sz="1900" i="1" dirty="0">
                <a:solidFill>
                  <a:srgbClr val="172033"/>
                </a:solidFill>
                <a:latin typeface="Aptos SemiBold" pitchFamily="34" charset="0"/>
                <a:ea typeface="Aptos SemiBold" pitchFamily="34" charset="-122"/>
                <a:cs typeface="Aptos SemiBold" pitchFamily="34" charset="-120"/>
              </a:rPr>
              <a:t>Skills own the sequence. Agents provide bounded judgment. </a:t>
            </a:r>
          </a:p>
          <a:p>
            <a:r>
              <a:rPr lang="en-US" sz="1900" i="1" dirty="0">
                <a:solidFill>
                  <a:srgbClr val="172033"/>
                </a:solidFill>
                <a:latin typeface="Aptos SemiBold" pitchFamily="34" charset="0"/>
                <a:ea typeface="Aptos SemiBold" pitchFamily="34" charset="-122"/>
                <a:cs typeface="Aptos SemiBold" pitchFamily="34" charset="-120"/>
              </a:rPr>
              <a:t>Humans </a:t>
            </a:r>
            <a:r>
              <a:rPr lang="en-US" sz="1900" i="1" dirty="0">
                <a:solidFill>
                  <a:srgbClr val="172033"/>
                </a:solidFill>
                <a:latin typeface="Aptos SemiBold" pitchFamily="34" charset="0"/>
                <a:cs typeface="Aptos SemiBold" pitchFamily="34" charset="-120"/>
              </a:rPr>
              <a:t>authorize consequential actions.</a:t>
            </a:r>
          </a:p>
        </p:txBody>
      </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15</a:t>
            </a:r>
            <a:endParaRPr lang="en-US"/>
          </a:p>
        </p:txBody>
      </p:sp>
      <p:graphicFrame>
        <p:nvGraphicFramePr>
          <p:cNvPr id="12" name="Lifecycle Authority Contract">
            <a:extLst>
              <a:ext uri="{FF2B5EF4-FFF2-40B4-BE49-F238E27FC236}">
                <a16:creationId xmlns:a16="http://schemas.microsoft.com/office/drawing/2014/main" id="{BDD56745-E4A7-5263-AEFD-37436D97C763}"/>
              </a:ext>
            </a:extLst>
          </p:cNvPr>
          <p:cNvGraphicFramePr>
            <a:graphicFrameLocks noGrp="1"/>
          </p:cNvGraphicFramePr>
          <p:nvPr>
            <p:extLst>
              <p:ext uri="{D42A27DB-BD31-4B8C-83A1-F6EECF244321}">
                <p14:modId xmlns:p14="http://schemas.microsoft.com/office/powerpoint/2010/main" val="3350195285"/>
              </p:ext>
            </p:extLst>
          </p:nvPr>
        </p:nvGraphicFramePr>
        <p:xfrm>
          <a:off x="635000" y="1346200"/>
          <a:ext cx="10337800" cy="3708400"/>
        </p:xfrm>
        <a:graphic>
          <a:graphicData uri="http://schemas.openxmlformats.org/drawingml/2006/table">
            <a:tbl>
              <a:tblPr firstRow="1" bandRow="1">
                <a:tableStyleId>{5C22544A-7EE6-4342-B048-85BDC9FD1C3A}</a:tableStyleId>
              </a:tblPr>
              <a:tblGrid>
                <a:gridCol w="1803400">
                  <a:extLst>
                    <a:ext uri="{9D8B030D-6E8A-4147-A177-3AD203B41FA5}">
                      <a16:colId xmlns:a16="http://schemas.microsoft.com/office/drawing/2014/main" val="3779354189"/>
                    </a:ext>
                  </a:extLst>
                </a:gridCol>
                <a:gridCol w="2336800">
                  <a:extLst>
                    <a:ext uri="{9D8B030D-6E8A-4147-A177-3AD203B41FA5}">
                      <a16:colId xmlns:a16="http://schemas.microsoft.com/office/drawing/2014/main" val="419641030"/>
                    </a:ext>
                  </a:extLst>
                </a:gridCol>
                <a:gridCol w="3632200">
                  <a:extLst>
                    <a:ext uri="{9D8B030D-6E8A-4147-A177-3AD203B41FA5}">
                      <a16:colId xmlns:a16="http://schemas.microsoft.com/office/drawing/2014/main" val="3652472816"/>
                    </a:ext>
                  </a:extLst>
                </a:gridCol>
                <a:gridCol w="2565400">
                  <a:extLst>
                    <a:ext uri="{9D8B030D-6E8A-4147-A177-3AD203B41FA5}">
                      <a16:colId xmlns:a16="http://schemas.microsoft.com/office/drawing/2014/main" val="2592153107"/>
                    </a:ext>
                  </a:extLst>
                </a:gridCol>
              </a:tblGrid>
              <a:tr h="495300">
                <a:tc>
                  <a:txBody>
                    <a:bodyPr/>
                    <a:lstStyle/>
                    <a:p>
                      <a:pPr algn="l"/>
                      <a:r>
                        <a:rPr lang="en-CA" sz="1000" b="1">
                          <a:solidFill>
                            <a:srgbClr val="FFFFFF"/>
                          </a:solidFill>
                          <a:latin typeface="Aptos" panose="020B0004020202020204" pitchFamily="34" charset="0"/>
                        </a:rPr>
                        <a:t>TRANSITION</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0F172A"/>
                    </a:solidFill>
                  </a:tcPr>
                </a:tc>
                <a:tc>
                  <a:txBody>
                    <a:bodyPr/>
                    <a:lstStyle/>
                    <a:p>
                      <a:pPr algn="l"/>
                      <a:r>
                        <a:rPr lang="en-CA" sz="1000" b="1">
                          <a:solidFill>
                            <a:srgbClr val="FFFFFF"/>
                          </a:solidFill>
                          <a:latin typeface="Aptos" panose="020B0004020202020204" pitchFamily="34" charset="0"/>
                        </a:rPr>
                        <a:t>ORCHESTRATING SKILL</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0F172A"/>
                    </a:solidFill>
                  </a:tcPr>
                </a:tc>
                <a:tc>
                  <a:txBody>
                    <a:bodyPr/>
                    <a:lstStyle/>
                    <a:p>
                      <a:pPr algn="l"/>
                      <a:r>
                        <a:rPr lang="en-CA" sz="1000" b="1">
                          <a:solidFill>
                            <a:srgbClr val="FFFFFF"/>
                          </a:solidFill>
                          <a:latin typeface="Aptos" panose="020B0004020202020204" pitchFamily="34" charset="0"/>
                        </a:rPr>
                        <a:t>BOUNDED SPECIALISTS + EVIDENCE</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0F172A"/>
                    </a:solidFill>
                  </a:tcPr>
                </a:tc>
                <a:tc>
                  <a:txBody>
                    <a:bodyPr/>
                    <a:lstStyle/>
                    <a:p>
                      <a:pPr algn="l"/>
                      <a:r>
                        <a:rPr lang="en-CA" sz="1000" b="1">
                          <a:solidFill>
                            <a:srgbClr val="FFFFFF"/>
                          </a:solidFill>
                          <a:latin typeface="Aptos" panose="020B0004020202020204" pitchFamily="34" charset="0"/>
                        </a:rPr>
                        <a:t>HARD STOP / AUTHORITY</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0F172A"/>
                    </a:solidFill>
                  </a:tcPr>
                </a:tc>
                <a:extLst>
                  <a:ext uri="{0D108BD9-81ED-4DB2-BD59-A6C34878D82A}">
                    <a16:rowId xmlns:a16="http://schemas.microsoft.com/office/drawing/2014/main" val="2106538853"/>
                  </a:ext>
                </a:extLst>
              </a:tr>
              <a:tr h="1066800">
                <a:tc>
                  <a:txBody>
                    <a:bodyPr/>
                    <a:lstStyle/>
                    <a:p>
                      <a:pPr algn="l"/>
                      <a:r>
                        <a:rPr lang="en-CA" sz="1400" b="1" dirty="0">
                          <a:solidFill>
                            <a:srgbClr val="1E293B"/>
                          </a:solidFill>
                          <a:latin typeface="Aptos" panose="020B0004020202020204" pitchFamily="34" charset="0"/>
                        </a:rPr>
                        <a:t>IDEA → </a:t>
                      </a:r>
                      <a:br>
                        <a:rPr lang="en-CA" sz="1400" b="1" dirty="0">
                          <a:solidFill>
                            <a:srgbClr val="1E293B"/>
                          </a:solidFill>
                          <a:latin typeface="Aptos" panose="020B0004020202020204" pitchFamily="34" charset="0"/>
                        </a:rPr>
                      </a:br>
                      <a:r>
                        <a:rPr lang="en-CA" sz="1400" b="1" dirty="0">
                          <a:solidFill>
                            <a:srgbClr val="1E293B"/>
                          </a:solidFill>
                          <a:latin typeface="Aptos" panose="020B0004020202020204" pitchFamily="34" charset="0"/>
                        </a:rPr>
                        <a:t>ISSUE DRAFT</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CFDF5"/>
                    </a:solidFill>
                  </a:tcPr>
                </a:tc>
                <a:tc>
                  <a:txBody>
                    <a:bodyPr/>
                    <a:lstStyle/>
                    <a:p>
                      <a:pPr algn="l"/>
                      <a:r>
                        <a:rPr lang="en-CA" sz="1400" b="0" dirty="0">
                          <a:solidFill>
                            <a:srgbClr val="1E293B"/>
                          </a:solidFill>
                          <a:latin typeface="Aptos" panose="020B0004020202020204" pitchFamily="34" charset="0"/>
                        </a:rPr>
                        <a:t>shape-</a:t>
                      </a:r>
                      <a:r>
                        <a:rPr lang="en-CA" sz="1400" b="0" dirty="0" err="1">
                          <a:solidFill>
                            <a:srgbClr val="1E293B"/>
                          </a:solidFill>
                          <a:latin typeface="Aptos" panose="020B0004020202020204" pitchFamily="34" charset="0"/>
                        </a:rPr>
                        <a:t>github</a:t>
                      </a:r>
                      <a:r>
                        <a:rPr lang="en-CA" sz="1400" b="0" dirty="0">
                          <a:solidFill>
                            <a:srgbClr val="1E293B"/>
                          </a:solidFill>
                          <a:latin typeface="Aptos" panose="020B0004020202020204" pitchFamily="34" charset="0"/>
                        </a:rPr>
                        <a:t>-issue</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CFDF5"/>
                    </a:solidFill>
                  </a:tcPr>
                </a:tc>
                <a:tc>
                  <a:txBody>
                    <a:bodyPr/>
                    <a:lstStyle/>
                    <a:p>
                      <a:pPr algn="l"/>
                      <a:r>
                        <a:rPr lang="en-US" sz="1400" b="1" dirty="0">
                          <a:solidFill>
                            <a:srgbClr val="1E293B"/>
                          </a:solidFill>
                          <a:latin typeface="Aptos" panose="020B0004020202020204" pitchFamily="34" charset="0"/>
                        </a:rPr>
                        <a:t>Product/Backlog</a:t>
                      </a:r>
                    </a:p>
                    <a:p>
                      <a:pPr algn="l"/>
                      <a:r>
                        <a:rPr lang="en-US" sz="1400" b="0" dirty="0">
                          <a:solidFill>
                            <a:srgbClr val="1E293B"/>
                          </a:solidFill>
                          <a:latin typeface="Aptos" panose="020B0004020202020204" pitchFamily="34" charset="0"/>
                        </a:rPr>
                        <a:t>Architecture · UX · Security/Data as risk requires</a:t>
                      </a:r>
                      <a:endParaRPr lang="en-CA" sz="1400" b="0" dirty="0">
                        <a:solidFill>
                          <a:srgbClr val="1E293B"/>
                        </a:solidFill>
                        <a:latin typeface="Aptos" panose="020B0004020202020204" pitchFamily="34" charset="0"/>
                      </a:endParaRP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CFDF5"/>
                    </a:solidFill>
                  </a:tcPr>
                </a:tc>
                <a:tc>
                  <a:txBody>
                    <a:bodyPr/>
                    <a:lstStyle/>
                    <a:p>
                      <a:pPr algn="l"/>
                      <a:r>
                        <a:rPr lang="en-US" sz="1400" b="0" dirty="0">
                          <a:solidFill>
                            <a:srgbClr val="1E293B"/>
                          </a:solidFill>
                          <a:latin typeface="Aptos" panose="020B0004020202020204" pitchFamily="34" charset="0"/>
                        </a:rPr>
                        <a:t>Human approves brief + draft</a:t>
                      </a:r>
                    </a:p>
                    <a:p>
                      <a:pPr algn="l"/>
                      <a:r>
                        <a:rPr lang="en-US" sz="1400" b="0" dirty="0">
                          <a:solidFill>
                            <a:srgbClr val="1E293B"/>
                          </a:solidFill>
                          <a:latin typeface="Aptos" panose="020B0004020202020204" pitchFamily="34" charset="0"/>
                        </a:rPr>
                        <a:t>Separate instruction creates issue</a:t>
                      </a:r>
                      <a:endParaRPr lang="en-CA" sz="1400" b="0" dirty="0">
                        <a:solidFill>
                          <a:srgbClr val="1E293B"/>
                        </a:solidFill>
                        <a:latin typeface="Aptos" panose="020B0004020202020204" pitchFamily="34" charset="0"/>
                      </a:endParaRP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CFDF5"/>
                    </a:solidFill>
                  </a:tcPr>
                </a:tc>
                <a:extLst>
                  <a:ext uri="{0D108BD9-81ED-4DB2-BD59-A6C34878D82A}">
                    <a16:rowId xmlns:a16="http://schemas.microsoft.com/office/drawing/2014/main" val="1044480901"/>
                  </a:ext>
                </a:extLst>
              </a:tr>
              <a:tr h="1066800">
                <a:tc>
                  <a:txBody>
                    <a:bodyPr/>
                    <a:lstStyle/>
                    <a:p>
                      <a:pPr algn="l"/>
                      <a:r>
                        <a:rPr lang="en-CA" sz="1400" b="1" dirty="0">
                          <a:solidFill>
                            <a:srgbClr val="1E293B"/>
                          </a:solidFill>
                          <a:latin typeface="Aptos" panose="020B0004020202020204" pitchFamily="34" charset="0"/>
                        </a:rPr>
                        <a:t>ISSUE → CANDIDATE</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FF6FF"/>
                    </a:solidFill>
                  </a:tcPr>
                </a:tc>
                <a:tc>
                  <a:txBody>
                    <a:bodyPr/>
                    <a:lstStyle/>
                    <a:p>
                      <a:pPr algn="l"/>
                      <a:r>
                        <a:rPr lang="en-CA" sz="1400" b="0" dirty="0">
                          <a:solidFill>
                            <a:srgbClr val="1E293B"/>
                          </a:solidFill>
                          <a:latin typeface="Aptos" panose="020B0004020202020204" pitchFamily="34" charset="0"/>
                        </a:rPr>
                        <a:t>deliver-issue</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FF6FF"/>
                    </a:solidFill>
                  </a:tcPr>
                </a:tc>
                <a:tc>
                  <a:txBody>
                    <a:bodyPr/>
                    <a:lstStyle/>
                    <a:p>
                      <a:pPr algn="l"/>
                      <a:r>
                        <a:rPr lang="en-CA" sz="1400" b="0" dirty="0">
                          <a:solidFill>
                            <a:srgbClr val="1E293B"/>
                          </a:solidFill>
                          <a:latin typeface="Aptos" panose="020B0004020202020204" pitchFamily="34" charset="0"/>
                        </a:rPr>
                        <a:t>Core implementation</a:t>
                      </a:r>
                    </a:p>
                    <a:p>
                      <a:pPr algn="l"/>
                      <a:r>
                        <a:rPr lang="en-CA" sz="1400" b="0" dirty="0">
                          <a:solidFill>
                            <a:srgbClr val="1E293B"/>
                          </a:solidFill>
                          <a:latin typeface="Aptos" panose="020B0004020202020204" pitchFamily="34" charset="0"/>
                        </a:rPr>
                        <a:t>Repository instructions · tests · targeted validation</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FF6FF"/>
                    </a:solidFill>
                  </a:tcPr>
                </a:tc>
                <a:tc>
                  <a:txBody>
                    <a:bodyPr/>
                    <a:lstStyle/>
                    <a:p>
                      <a:pPr algn="l"/>
                      <a:r>
                        <a:rPr lang="en-US" sz="1400" b="0" dirty="0">
                          <a:solidFill>
                            <a:srgbClr val="1E293B"/>
                          </a:solidFill>
                          <a:latin typeface="Aptos" panose="020B0004020202020204" pitchFamily="34" charset="0"/>
                        </a:rPr>
                        <a:t>Candidate only</a:t>
                      </a:r>
                    </a:p>
                    <a:p>
                      <a:pPr algn="l"/>
                      <a:r>
                        <a:rPr lang="en-US" sz="1400" b="0" dirty="0">
                          <a:solidFill>
                            <a:srgbClr val="1E293B"/>
                          </a:solidFill>
                          <a:latin typeface="Aptos" panose="020B0004020202020204" pitchFamily="34" charset="0"/>
                        </a:rPr>
                        <a:t>No commit, push, or release</a:t>
                      </a:r>
                      <a:endParaRPr lang="en-CA" sz="1400" b="0" dirty="0">
                        <a:solidFill>
                          <a:srgbClr val="1E293B"/>
                        </a:solidFill>
                        <a:latin typeface="Aptos" panose="020B0004020202020204" pitchFamily="34" charset="0"/>
                      </a:endParaRP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EFF6FF"/>
                    </a:solidFill>
                  </a:tcPr>
                </a:tc>
                <a:extLst>
                  <a:ext uri="{0D108BD9-81ED-4DB2-BD59-A6C34878D82A}">
                    <a16:rowId xmlns:a16="http://schemas.microsoft.com/office/drawing/2014/main" val="1411651192"/>
                  </a:ext>
                </a:extLst>
              </a:tr>
              <a:tr h="1079500">
                <a:tc>
                  <a:txBody>
                    <a:bodyPr/>
                    <a:lstStyle/>
                    <a:p>
                      <a:pPr algn="l"/>
                      <a:r>
                        <a:rPr lang="en-CA" sz="1400" b="1" dirty="0">
                          <a:solidFill>
                            <a:srgbClr val="1E293B"/>
                          </a:solidFill>
                          <a:latin typeface="Aptos" panose="020B0004020202020204" pitchFamily="34" charset="0"/>
                        </a:rPr>
                        <a:t>CANDIDATE → PRODUCTION</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F5F3FF"/>
                    </a:solidFill>
                  </a:tcPr>
                </a:tc>
                <a:tc>
                  <a:txBody>
                    <a:bodyPr/>
                    <a:lstStyle/>
                    <a:p>
                      <a:pPr algn="l"/>
                      <a:r>
                        <a:rPr lang="en-CA" sz="1400" b="0" dirty="0">
                          <a:solidFill>
                            <a:srgbClr val="1E293B"/>
                          </a:solidFill>
                          <a:latin typeface="Aptos" panose="020B0004020202020204" pitchFamily="34" charset="0"/>
                        </a:rPr>
                        <a:t>release-health-tracker</a:t>
                      </a: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F5F3FF"/>
                    </a:solidFill>
                  </a:tcPr>
                </a:tc>
                <a:tc>
                  <a:txBody>
                    <a:bodyPr/>
                    <a:lstStyle/>
                    <a:p>
                      <a:pPr algn="l"/>
                      <a:r>
                        <a:rPr lang="en-US" sz="1400" b="0" dirty="0">
                          <a:solidFill>
                            <a:srgbClr val="1E293B"/>
                          </a:solidFill>
                          <a:latin typeface="Aptos" panose="020B0004020202020204" pitchFamily="34" charset="0"/>
                        </a:rPr>
                        <a:t>Fresh risk-routed review</a:t>
                      </a:r>
                    </a:p>
                    <a:p>
                      <a:pPr algn="l"/>
                      <a:r>
                        <a:rPr lang="en-US" sz="1400" b="0" dirty="0">
                          <a:solidFill>
                            <a:srgbClr val="1E293B"/>
                          </a:solidFill>
                          <a:latin typeface="Aptos" panose="020B0004020202020204" pitchFamily="34" charset="0"/>
                        </a:rPr>
                        <a:t>CI/CD + health + exact version evidence</a:t>
                      </a:r>
                      <a:endParaRPr lang="en-CA" sz="1400" b="0" dirty="0">
                        <a:solidFill>
                          <a:srgbClr val="1E293B"/>
                        </a:solidFill>
                        <a:latin typeface="Aptos" panose="020B0004020202020204" pitchFamily="34" charset="0"/>
                      </a:endParaRP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F5F3FF"/>
                    </a:solidFill>
                  </a:tcPr>
                </a:tc>
                <a:tc>
                  <a:txBody>
                    <a:bodyPr/>
                    <a:lstStyle/>
                    <a:p>
                      <a:pPr algn="l"/>
                      <a:r>
                        <a:rPr lang="en-US" sz="1400" b="0" dirty="0">
                          <a:solidFill>
                            <a:srgbClr val="1E293B"/>
                          </a:solidFill>
                          <a:latin typeface="Aptos" panose="020B0004020202020204" pitchFamily="34" charset="0"/>
                        </a:rPr>
                        <a:t>Human resolves findings + authorizes consequential actions</a:t>
                      </a:r>
                    </a:p>
                    <a:p>
                      <a:pPr algn="l"/>
                      <a:r>
                        <a:rPr lang="en-US" sz="1400" b="0" dirty="0">
                          <a:solidFill>
                            <a:srgbClr val="1E293B"/>
                          </a:solidFill>
                          <a:latin typeface="Aptos" panose="020B0004020202020204" pitchFamily="34" charset="0"/>
                        </a:rPr>
                        <a:t>Environment controls deploy</a:t>
                      </a:r>
                      <a:endParaRPr lang="en-CA" sz="1400" b="0" dirty="0">
                        <a:solidFill>
                          <a:srgbClr val="1E293B"/>
                        </a:solidFill>
                        <a:latin typeface="Aptos" panose="020B0004020202020204" pitchFamily="34" charset="0"/>
                      </a:endParaRPr>
                    </a:p>
                  </a:txBody>
                  <a:tcPr marL="101600" marR="101600" marT="63500" marB="50800" anchor="ctr">
                    <a:lnL w="12700" cmpd="sng">
                      <a:solidFill>
                        <a:srgbClr val="CBD5E1"/>
                      </a:solidFill>
                    </a:lnL>
                    <a:lnR w="12700" cmpd="sng">
                      <a:solidFill>
                        <a:srgbClr val="CBD5E1"/>
                      </a:solidFill>
                    </a:lnR>
                    <a:lnT w="12700" cmpd="sng">
                      <a:solidFill>
                        <a:srgbClr val="CBD5E1"/>
                      </a:solidFill>
                    </a:lnT>
                    <a:lnB w="12700" cmpd="sng">
                      <a:solidFill>
                        <a:srgbClr val="CBD5E1"/>
                      </a:solidFill>
                    </a:lnB>
                    <a:solidFill>
                      <a:srgbClr val="F5F3FF"/>
                    </a:solidFill>
                  </a:tcPr>
                </a:tc>
                <a:extLst>
                  <a:ext uri="{0D108BD9-81ED-4DB2-BD59-A6C34878D82A}">
                    <a16:rowId xmlns:a16="http://schemas.microsoft.com/office/drawing/2014/main" val="230398459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buNone/>
            </a:pPr>
            <a:r>
              <a:rPr lang="en-US" sz="1100" kern="0" spc="120">
                <a:solidFill>
                  <a:srgbClr val="3B82F6"/>
                </a:solidFill>
                <a:latin typeface="Aptos SemiBold" pitchFamily="34" charset="0"/>
                <a:ea typeface="Aptos SemiBold" pitchFamily="34" charset="-122"/>
                <a:cs typeface="Aptos SemiBold" pitchFamily="34" charset="-120"/>
              </a:rPr>
              <a:t>LIVE DEMO · TWO CONTROLLED TRANSITIONS</a:t>
            </a:r>
            <a:endParaRPr lang="en-US" sz="1100" dirty="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700" b="1">
                <a:solidFill>
                  <a:srgbClr val="172033"/>
                </a:solidFill>
                <a:latin typeface="Aptos SemiBold" pitchFamily="34" charset="0"/>
                <a:ea typeface="Aptos SemiBold" pitchFamily="34" charset="-122"/>
                <a:cs typeface="Aptos SemiBold" pitchFamily="34" charset="-120"/>
              </a:rPr>
              <a:t>Shape intent, then build from the contract</a:t>
            </a:r>
            <a:endParaRPr lang="en-US" sz="2700"/>
          </a:p>
        </p:txBody>
      </p:sp>
      <p:sp>
        <p:nvSpPr>
          <p:cNvPr id="4" name="Shape 2"/>
          <p:cNvSpPr/>
          <p:nvPr/>
        </p:nvSpPr>
        <p:spPr>
          <a:xfrm>
            <a:off x="713232" y="1417320"/>
            <a:ext cx="6400800" cy="2487168"/>
          </a:xfrm>
          <a:prstGeom prst="roundRect">
            <a:avLst>
              <a:gd name="adj" fmla="val 1838"/>
            </a:avLst>
          </a:prstGeom>
          <a:solidFill>
            <a:srgbClr val="111827"/>
          </a:solidFill>
          <a:ln w="12700">
            <a:solidFill>
              <a:srgbClr val="111827"/>
            </a:solidFill>
            <a:prstDash val="solid"/>
          </a:ln>
        </p:spPr>
        <p:txBody>
          <a:bodyPr/>
          <a:lstStyle/>
          <a:p>
            <a:endParaRPr lang="en-CA"/>
          </a:p>
        </p:txBody>
      </p:sp>
      <p:sp>
        <p:nvSpPr>
          <p:cNvPr id="5" name="Text 3"/>
          <p:cNvSpPr/>
          <p:nvPr/>
        </p:nvSpPr>
        <p:spPr>
          <a:xfrm>
            <a:off x="932688" y="1600200"/>
            <a:ext cx="5961888" cy="2139696"/>
          </a:xfrm>
          <a:prstGeom prst="rect">
            <a:avLst/>
          </a:prstGeom>
          <a:noFill/>
          <a:ln/>
        </p:spPr>
        <p:txBody>
          <a:bodyPr wrap="square" lIns="0" tIns="0" rIns="0" bIns="0" rtlCol="0" anchor="ctr">
            <a:noAutofit/>
          </a:bodyPr>
          <a:lstStyle/>
          <a:p>
            <a:pPr marL="0" indent="0">
              <a:buNone/>
            </a:pPr>
            <a:r>
              <a:rPr lang="en-US" sz="1600">
                <a:solidFill>
                  <a:srgbClr val="E5E7EB"/>
                </a:solidFill>
                <a:latin typeface="Consolas" pitchFamily="34" charset="0"/>
                <a:ea typeface="Consolas" pitchFamily="34" charset="-122"/>
                <a:cs typeface="Consolas" pitchFamily="34" charset="-120"/>
              </a:rPr>
              <a:t>1 · SHAPE</a:t>
            </a:r>
          </a:p>
          <a:p>
            <a:pPr marL="0" indent="0">
              <a:buNone/>
            </a:pPr>
            <a:r>
              <a:rPr lang="en-US" sz="1600">
                <a:solidFill>
                  <a:srgbClr val="E5E7EB"/>
                </a:solidFill>
                <a:latin typeface="Consolas" pitchFamily="34" charset="0"/>
                <a:ea typeface="Consolas" pitchFamily="34" charset="-122"/>
                <a:cs typeface="Consolas" pitchFamily="34" charset="-120"/>
              </a:rPr>
              <a:t>“I want to import weight from my smart scale...”</a:t>
            </a:r>
          </a:p>
          <a:p>
            <a:pPr marL="0" indent="0">
              <a:buNone/>
            </a:pPr>
            <a:r>
              <a:rPr lang="en-US" sz="1600">
                <a:solidFill>
                  <a:srgbClr val="E5E7EB"/>
                </a:solidFill>
                <a:latin typeface="Consolas" pitchFamily="34" charset="0"/>
                <a:ea typeface="Consolas" pitchFamily="34" charset="-122"/>
                <a:cs typeface="Consolas" pitchFamily="34" charset="-120"/>
              </a:rPr>
              <a:t>Issue draft only. No GitHub mutation.</a:t>
            </a:r>
          </a:p>
          <a:p>
            <a:pPr marL="0" indent="0">
              <a:buNone/>
            </a:pPr>
            <a:endParaRPr lang="en-US" sz="1600">
              <a:solidFill>
                <a:srgbClr val="E5E7EB"/>
              </a:solidFill>
              <a:latin typeface="Consolas" pitchFamily="34" charset="0"/>
              <a:ea typeface="Consolas" pitchFamily="34" charset="-122"/>
              <a:cs typeface="Consolas" pitchFamily="34" charset="-120"/>
            </a:endParaRPr>
          </a:p>
          <a:p>
            <a:pPr marL="0" indent="0">
              <a:buNone/>
            </a:pPr>
            <a:r>
              <a:rPr lang="en-US" sz="1600">
                <a:solidFill>
                  <a:srgbClr val="E5E7EB"/>
                </a:solidFill>
                <a:latin typeface="Consolas" pitchFamily="34" charset="0"/>
                <a:ea typeface="Consolas" pitchFamily="34" charset="-122"/>
                <a:cs typeface="Consolas" pitchFamily="34" charset="-120"/>
              </a:rPr>
              <a:t>2 · DELIVER</a:t>
            </a:r>
          </a:p>
          <a:p>
            <a:pPr marL="0" indent="0">
              <a:buNone/>
            </a:pPr>
            <a:r>
              <a:rPr lang="en-US" sz="1600">
                <a:solidFill>
                  <a:srgbClr val="E5E7EB"/>
                </a:solidFill>
                <a:latin typeface="Consolas" pitchFamily="34" charset="0"/>
                <a:ea typeface="Consolas" pitchFamily="34" charset="-122"/>
                <a:cs typeface="Consolas" pitchFamily="34" charset="-120"/>
              </a:rPr>
              <a:t>“Implement issue 66.”</a:t>
            </a:r>
          </a:p>
          <a:p>
            <a:pPr marL="0" indent="0">
              <a:buNone/>
            </a:pPr>
            <a:r>
              <a:rPr lang="en-US" sz="1600">
                <a:solidFill>
                  <a:srgbClr val="E5E7EB"/>
                </a:solidFill>
                <a:latin typeface="Consolas" pitchFamily="34" charset="0"/>
                <a:ea typeface="Consolas" pitchFamily="34" charset="-122"/>
                <a:cs typeface="Consolas" pitchFamily="34" charset="-120"/>
              </a:rPr>
              <a:t>Reviewed candidate only. No commit or push.</a:t>
            </a:r>
            <a:endParaRPr lang="en-US" sz="1600" dirty="0"/>
          </a:p>
        </p:txBody>
      </p:sp>
      <p:sp>
        <p:nvSpPr>
          <p:cNvPr id="6" name="Shape 4"/>
          <p:cNvSpPr/>
          <p:nvPr/>
        </p:nvSpPr>
        <p:spPr>
          <a:xfrm>
            <a:off x="7543800" y="1417320"/>
            <a:ext cx="3886200" cy="2487168"/>
          </a:xfrm>
          <a:prstGeom prst="roundRect">
            <a:avLst>
              <a:gd name="adj" fmla="val 2941"/>
            </a:avLst>
          </a:prstGeom>
          <a:solidFill>
            <a:srgbClr val="DDF5F1"/>
          </a:solidFill>
          <a:ln w="12700">
            <a:solidFill>
              <a:srgbClr val="B9E6DD"/>
            </a:solidFill>
            <a:prstDash val="solid"/>
          </a:ln>
        </p:spPr>
        <p:txBody>
          <a:bodyPr/>
          <a:lstStyle/>
          <a:p>
            <a:endParaRPr lang="en-CA"/>
          </a:p>
        </p:txBody>
      </p:sp>
      <p:sp>
        <p:nvSpPr>
          <p:cNvPr id="7" name="Text 5"/>
          <p:cNvSpPr/>
          <p:nvPr/>
        </p:nvSpPr>
        <p:spPr>
          <a:xfrm>
            <a:off x="7882128" y="1737360"/>
            <a:ext cx="2834640" cy="201168"/>
          </a:xfrm>
          <a:prstGeom prst="rect">
            <a:avLst/>
          </a:prstGeom>
          <a:noFill/>
          <a:ln/>
        </p:spPr>
        <p:txBody>
          <a:bodyPr wrap="square" lIns="0" tIns="0" rIns="0" bIns="0" rtlCol="0" anchor="ctr"/>
          <a:lstStyle/>
          <a:p>
            <a:pPr marL="0" indent="0">
              <a:buNone/>
            </a:pPr>
            <a:r>
              <a:rPr lang="en-US" sz="1100" kern="0" spc="110">
                <a:solidFill>
                  <a:srgbClr val="0F766E"/>
                </a:solidFill>
                <a:latin typeface="Aptos SemiBold" pitchFamily="34" charset="0"/>
                <a:ea typeface="Aptos SemiBold" pitchFamily="34" charset="-122"/>
                <a:cs typeface="Aptos SemiBold" pitchFamily="34" charset="-120"/>
              </a:rPr>
              <a:t>WHAT TO WATCH</a:t>
            </a:r>
            <a:endParaRPr lang="en-US" sz="1100" dirty="0"/>
          </a:p>
        </p:txBody>
      </p:sp>
      <p:sp>
        <p:nvSpPr>
          <p:cNvPr id="8" name="Shape 6"/>
          <p:cNvSpPr/>
          <p:nvPr/>
        </p:nvSpPr>
        <p:spPr>
          <a:xfrm>
            <a:off x="7882128" y="2212848"/>
            <a:ext cx="91440" cy="91440"/>
          </a:xfrm>
          <a:prstGeom prst="ellipse">
            <a:avLst/>
          </a:prstGeom>
          <a:solidFill>
            <a:srgbClr val="0F766E"/>
          </a:solidFill>
          <a:ln w="12700">
            <a:solidFill>
              <a:srgbClr val="0F766E"/>
            </a:solidFill>
            <a:prstDash val="solid"/>
          </a:ln>
        </p:spPr>
        <p:txBody>
          <a:bodyPr/>
          <a:lstStyle/>
          <a:p>
            <a:endParaRPr lang="en-CA"/>
          </a:p>
        </p:txBody>
      </p:sp>
      <p:sp>
        <p:nvSpPr>
          <p:cNvPr id="9" name="Text 7"/>
          <p:cNvSpPr/>
          <p:nvPr/>
        </p:nvSpPr>
        <p:spPr>
          <a:xfrm>
            <a:off x="8083296" y="2103120"/>
            <a:ext cx="2724912" cy="29260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Rough idea → approved brief</a:t>
            </a:r>
            <a:endParaRPr lang="en-US" sz="1400" dirty="0"/>
          </a:p>
        </p:txBody>
      </p:sp>
      <p:sp>
        <p:nvSpPr>
          <p:cNvPr id="10" name="Shape 8"/>
          <p:cNvSpPr/>
          <p:nvPr/>
        </p:nvSpPr>
        <p:spPr>
          <a:xfrm>
            <a:off x="7882128" y="2551176"/>
            <a:ext cx="91440" cy="91440"/>
          </a:xfrm>
          <a:prstGeom prst="ellipse">
            <a:avLst/>
          </a:prstGeom>
          <a:solidFill>
            <a:srgbClr val="0F766E"/>
          </a:solidFill>
          <a:ln w="12700">
            <a:solidFill>
              <a:srgbClr val="0F766E"/>
            </a:solidFill>
            <a:prstDash val="solid"/>
          </a:ln>
        </p:spPr>
        <p:txBody>
          <a:bodyPr/>
          <a:lstStyle/>
          <a:p>
            <a:endParaRPr lang="en-CA"/>
          </a:p>
        </p:txBody>
      </p:sp>
      <p:sp>
        <p:nvSpPr>
          <p:cNvPr id="11" name="Text 9"/>
          <p:cNvSpPr/>
          <p:nvPr/>
        </p:nvSpPr>
        <p:spPr>
          <a:xfrm>
            <a:off x="8083296" y="2441448"/>
            <a:ext cx="2724912" cy="292608"/>
          </a:xfrm>
          <a:prstGeom prst="rect">
            <a:avLst/>
          </a:prstGeom>
          <a:noFill/>
          <a:ln/>
        </p:spPr>
        <p:txBody>
          <a:bodyPr wrap="square" lIns="0" tIns="0" rIns="0" bIns="0" rtlCol="0" anchor="ctr">
            <a:normAutofit/>
          </a:bodyPr>
          <a:lstStyle/>
          <a:p>
            <a:pPr marL="0" indent="0">
              <a:buNone/>
            </a:pPr>
            <a:r>
              <a:rPr lang="en-US" sz="1400" dirty="0">
                <a:solidFill>
                  <a:srgbClr val="172033"/>
                </a:solidFill>
                <a:latin typeface="Aptos" pitchFamily="34" charset="0"/>
                <a:ea typeface="Aptos" pitchFamily="34" charset="-122"/>
                <a:cs typeface="Aptos" pitchFamily="34" charset="-120"/>
              </a:rPr>
              <a:t>Fresh specialist reviews</a:t>
            </a:r>
            <a:endParaRPr lang="en-US" sz="1400" dirty="0"/>
          </a:p>
        </p:txBody>
      </p:sp>
      <p:sp>
        <p:nvSpPr>
          <p:cNvPr id="12" name="Shape 10"/>
          <p:cNvSpPr/>
          <p:nvPr/>
        </p:nvSpPr>
        <p:spPr>
          <a:xfrm>
            <a:off x="7882128" y="2889504"/>
            <a:ext cx="91440" cy="91440"/>
          </a:xfrm>
          <a:prstGeom prst="ellipse">
            <a:avLst/>
          </a:prstGeom>
          <a:solidFill>
            <a:srgbClr val="0F766E"/>
          </a:solidFill>
          <a:ln w="12700">
            <a:solidFill>
              <a:srgbClr val="0F766E"/>
            </a:solidFill>
            <a:prstDash val="solid"/>
          </a:ln>
        </p:spPr>
        <p:txBody>
          <a:bodyPr/>
          <a:lstStyle/>
          <a:p>
            <a:endParaRPr lang="en-CA"/>
          </a:p>
        </p:txBody>
      </p:sp>
      <p:sp>
        <p:nvSpPr>
          <p:cNvPr id="13" name="Text 11"/>
          <p:cNvSpPr/>
          <p:nvPr/>
        </p:nvSpPr>
        <p:spPr>
          <a:xfrm>
            <a:off x="8083296" y="2779776"/>
            <a:ext cx="2724912" cy="29260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Durable issue draft</a:t>
            </a:r>
            <a:endParaRPr lang="en-US" sz="1400" dirty="0"/>
          </a:p>
        </p:txBody>
      </p:sp>
      <p:sp>
        <p:nvSpPr>
          <p:cNvPr id="14" name="Shape 12"/>
          <p:cNvSpPr/>
          <p:nvPr/>
        </p:nvSpPr>
        <p:spPr>
          <a:xfrm>
            <a:off x="7882128" y="3227832"/>
            <a:ext cx="91440" cy="91440"/>
          </a:xfrm>
          <a:prstGeom prst="ellipse">
            <a:avLst/>
          </a:prstGeom>
          <a:solidFill>
            <a:srgbClr val="0F766E"/>
          </a:solidFill>
          <a:ln w="12700">
            <a:solidFill>
              <a:srgbClr val="0F766E"/>
            </a:solidFill>
            <a:prstDash val="solid"/>
          </a:ln>
        </p:spPr>
        <p:txBody>
          <a:bodyPr/>
          <a:lstStyle/>
          <a:p>
            <a:endParaRPr lang="en-CA"/>
          </a:p>
        </p:txBody>
      </p:sp>
      <p:sp>
        <p:nvSpPr>
          <p:cNvPr id="15" name="Text 13"/>
          <p:cNvSpPr/>
          <p:nvPr/>
        </p:nvSpPr>
        <p:spPr>
          <a:xfrm>
            <a:off x="8083296" y="3118104"/>
            <a:ext cx="2724912" cy="29260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Existing issue → candidate</a:t>
            </a:r>
            <a:endParaRPr lang="en-US" sz="1400" dirty="0"/>
          </a:p>
        </p:txBody>
      </p:sp>
      <p:sp>
        <p:nvSpPr>
          <p:cNvPr id="16" name="Shape 14"/>
          <p:cNvSpPr/>
          <p:nvPr/>
        </p:nvSpPr>
        <p:spPr>
          <a:xfrm>
            <a:off x="7882128" y="3566160"/>
            <a:ext cx="91440" cy="91440"/>
          </a:xfrm>
          <a:prstGeom prst="ellipse">
            <a:avLst/>
          </a:prstGeom>
          <a:solidFill>
            <a:srgbClr val="0F766E"/>
          </a:solidFill>
          <a:ln w="12700">
            <a:solidFill>
              <a:srgbClr val="0F766E"/>
            </a:solidFill>
            <a:prstDash val="solid"/>
          </a:ln>
        </p:spPr>
        <p:txBody>
          <a:bodyPr/>
          <a:lstStyle/>
          <a:p>
            <a:endParaRPr lang="en-CA"/>
          </a:p>
        </p:txBody>
      </p:sp>
      <p:sp>
        <p:nvSpPr>
          <p:cNvPr id="17" name="Text 15"/>
          <p:cNvSpPr/>
          <p:nvPr/>
        </p:nvSpPr>
        <p:spPr>
          <a:xfrm>
            <a:off x="8083296" y="3456432"/>
            <a:ext cx="2724912" cy="292608"/>
          </a:xfrm>
          <a:prstGeom prst="rect">
            <a:avLst/>
          </a:prstGeom>
          <a:noFill/>
          <a:ln/>
        </p:spPr>
        <p:txBody>
          <a:bodyPr wrap="square" lIns="0" tIns="0" rIns="0" bIns="0" rtlCol="0" anchor="ctr">
            <a:normAutofit/>
          </a:bodyPr>
          <a:lstStyle/>
          <a:p>
            <a:pPr marL="0" indent="0">
              <a:buNone/>
            </a:pPr>
            <a:r>
              <a:rPr lang="en-US" sz="1400">
                <a:solidFill>
                  <a:srgbClr val="172033"/>
                </a:solidFill>
                <a:latin typeface="Aptos" pitchFamily="34" charset="0"/>
                <a:ea typeface="Aptos" pitchFamily="34" charset="-122"/>
                <a:cs typeface="Aptos" pitchFamily="34" charset="-120"/>
              </a:rPr>
              <a:t>Two explicit stop boundaries</a:t>
            </a:r>
            <a:endParaRPr lang="en-US" sz="1400" dirty="0"/>
          </a:p>
        </p:txBody>
      </p:sp>
      <p:sp>
        <p:nvSpPr>
          <p:cNvPr id="18" name="Shape 16"/>
          <p:cNvSpPr/>
          <p:nvPr/>
        </p:nvSpPr>
        <p:spPr>
          <a:xfrm>
            <a:off x="722376" y="4187952"/>
            <a:ext cx="3383280" cy="874936"/>
          </a:xfrm>
          <a:prstGeom prst="roundRect">
            <a:avLst>
              <a:gd name="adj" fmla="val 7018"/>
            </a:avLst>
          </a:prstGeom>
          <a:solidFill>
            <a:srgbClr val="FFFFFF"/>
          </a:solidFill>
          <a:ln w="12700">
            <a:solidFill>
              <a:srgbClr val="D5DBE5"/>
            </a:solidFill>
            <a:prstDash val="solid"/>
          </a:ln>
        </p:spPr>
        <p:txBody>
          <a:bodyPr/>
          <a:lstStyle/>
          <a:p>
            <a:endParaRPr lang="en-CA"/>
          </a:p>
        </p:txBody>
      </p:sp>
      <p:sp>
        <p:nvSpPr>
          <p:cNvPr id="19" name="Shape 17"/>
          <p:cNvSpPr/>
          <p:nvPr/>
        </p:nvSpPr>
        <p:spPr>
          <a:xfrm>
            <a:off x="877824" y="4425696"/>
            <a:ext cx="713232" cy="347472"/>
          </a:xfrm>
          <a:prstGeom prst="roundRect">
            <a:avLst>
              <a:gd name="adj" fmla="val 21053"/>
            </a:avLst>
          </a:prstGeom>
          <a:solidFill>
            <a:srgbClr val="FFF2D8"/>
          </a:solidFill>
          <a:ln w="12700">
            <a:solidFill>
              <a:srgbClr val="FFF2D8"/>
            </a:solidFill>
            <a:prstDash val="solid"/>
          </a:ln>
        </p:spPr>
        <p:txBody>
          <a:bodyPr/>
          <a:lstStyle/>
          <a:p>
            <a:endParaRPr lang="en-CA"/>
          </a:p>
        </p:txBody>
      </p:sp>
      <p:sp>
        <p:nvSpPr>
          <p:cNvPr id="20" name="Text 18"/>
          <p:cNvSpPr/>
          <p:nvPr/>
        </p:nvSpPr>
        <p:spPr>
          <a:xfrm>
            <a:off x="987552" y="4498848"/>
            <a:ext cx="493776" cy="164592"/>
          </a:xfrm>
          <a:prstGeom prst="rect">
            <a:avLst/>
          </a:prstGeom>
          <a:noFill/>
          <a:ln/>
        </p:spPr>
        <p:txBody>
          <a:bodyPr wrap="square" lIns="0" tIns="0" rIns="0" bIns="0" rtlCol="0" anchor="ctr">
            <a:normAutofit/>
          </a:bodyPr>
          <a:lstStyle/>
          <a:p>
            <a:pPr marL="0" indent="0" algn="ctr">
              <a:buNone/>
            </a:pPr>
            <a:r>
              <a:rPr lang="en-US" sz="1000">
                <a:solidFill>
                  <a:srgbClr val="D97706"/>
                </a:solidFill>
                <a:latin typeface="Aptos SemiBold" pitchFamily="34" charset="0"/>
                <a:ea typeface="Aptos SemiBold" pitchFamily="34" charset="-122"/>
                <a:cs typeface="Aptos SemiBold" pitchFamily="34" charset="-120"/>
              </a:rPr>
              <a:t>SHAPE</a:t>
            </a:r>
            <a:endParaRPr lang="en-US" sz="1000" dirty="0"/>
          </a:p>
        </p:txBody>
      </p:sp>
      <p:sp>
        <p:nvSpPr>
          <p:cNvPr id="21" name="Text 19"/>
          <p:cNvSpPr/>
          <p:nvPr/>
        </p:nvSpPr>
        <p:spPr>
          <a:xfrm>
            <a:off x="1680090" y="4425696"/>
            <a:ext cx="2103120" cy="347472"/>
          </a:xfrm>
          <a:prstGeom prst="rect">
            <a:avLst/>
          </a:prstGeom>
          <a:noFill/>
          <a:ln/>
        </p:spPr>
        <p:txBody>
          <a:bodyPr wrap="square" lIns="0" tIns="0" rIns="0" bIns="0" rtlCol="0" anchor="ctr">
            <a:normAutofit/>
          </a:bodyPr>
          <a:lstStyle/>
          <a:p>
            <a:pPr marL="0" indent="0">
              <a:buNone/>
            </a:pPr>
            <a:r>
              <a:rPr lang="en-US" sz="1200" dirty="0">
                <a:solidFill>
                  <a:srgbClr val="172033"/>
                </a:solidFill>
                <a:latin typeface="Aptos" pitchFamily="34" charset="0"/>
                <a:ea typeface="Aptos" pitchFamily="34" charset="-122"/>
                <a:cs typeface="Aptos" pitchFamily="34" charset="-120"/>
              </a:rPr>
              <a:t>Draft only - no issue creation</a:t>
            </a:r>
            <a:endParaRPr lang="en-US" sz="1200" dirty="0"/>
          </a:p>
        </p:txBody>
      </p:sp>
      <p:sp>
        <p:nvSpPr>
          <p:cNvPr id="22" name="Shape 20"/>
          <p:cNvSpPr/>
          <p:nvPr/>
        </p:nvSpPr>
        <p:spPr>
          <a:xfrm>
            <a:off x="4370832" y="4224528"/>
            <a:ext cx="3383280" cy="838360"/>
          </a:xfrm>
          <a:prstGeom prst="roundRect">
            <a:avLst>
              <a:gd name="adj" fmla="val 7018"/>
            </a:avLst>
          </a:prstGeom>
          <a:solidFill>
            <a:srgbClr val="FFFFFF"/>
          </a:solidFill>
          <a:ln w="12700">
            <a:solidFill>
              <a:srgbClr val="D5DBE5"/>
            </a:solidFill>
            <a:prstDash val="solid"/>
          </a:ln>
        </p:spPr>
        <p:txBody>
          <a:bodyPr/>
          <a:lstStyle/>
          <a:p>
            <a:endParaRPr lang="en-CA" dirty="0"/>
          </a:p>
        </p:txBody>
      </p:sp>
      <p:sp>
        <p:nvSpPr>
          <p:cNvPr id="23" name="Shape 21"/>
          <p:cNvSpPr/>
          <p:nvPr/>
        </p:nvSpPr>
        <p:spPr>
          <a:xfrm>
            <a:off x="4535424" y="4425696"/>
            <a:ext cx="713232" cy="347472"/>
          </a:xfrm>
          <a:prstGeom prst="roundRect">
            <a:avLst>
              <a:gd name="adj" fmla="val 21053"/>
            </a:avLst>
          </a:prstGeom>
          <a:solidFill>
            <a:srgbClr val="FCE8EB"/>
          </a:solidFill>
          <a:ln w="12700">
            <a:solidFill>
              <a:srgbClr val="FCE8EB"/>
            </a:solidFill>
            <a:prstDash val="solid"/>
          </a:ln>
        </p:spPr>
        <p:txBody>
          <a:bodyPr/>
          <a:lstStyle/>
          <a:p>
            <a:endParaRPr lang="en-CA"/>
          </a:p>
        </p:txBody>
      </p:sp>
      <p:sp>
        <p:nvSpPr>
          <p:cNvPr id="24" name="Text 22"/>
          <p:cNvSpPr/>
          <p:nvPr/>
        </p:nvSpPr>
        <p:spPr>
          <a:xfrm>
            <a:off x="4645152" y="4498848"/>
            <a:ext cx="493776" cy="164592"/>
          </a:xfrm>
          <a:prstGeom prst="rect">
            <a:avLst/>
          </a:prstGeom>
          <a:noFill/>
          <a:ln/>
        </p:spPr>
        <p:txBody>
          <a:bodyPr wrap="square" lIns="0" tIns="0" rIns="0" bIns="0" rtlCol="0" anchor="ctr">
            <a:normAutofit/>
          </a:bodyPr>
          <a:lstStyle/>
          <a:p>
            <a:pPr marL="0" indent="0" algn="ctr">
              <a:buNone/>
            </a:pPr>
            <a:r>
              <a:rPr lang="en-US" sz="1000">
                <a:solidFill>
                  <a:srgbClr val="C2414E"/>
                </a:solidFill>
                <a:latin typeface="Aptos SemiBold" pitchFamily="34" charset="0"/>
                <a:ea typeface="Aptos SemiBold" pitchFamily="34" charset="-122"/>
                <a:cs typeface="Aptos SemiBold" pitchFamily="34" charset="-120"/>
              </a:rPr>
              <a:t>DELIVER</a:t>
            </a:r>
            <a:endParaRPr lang="en-US" sz="1000" dirty="0"/>
          </a:p>
        </p:txBody>
      </p:sp>
      <p:sp>
        <p:nvSpPr>
          <p:cNvPr id="25" name="Text 23"/>
          <p:cNvSpPr/>
          <p:nvPr/>
        </p:nvSpPr>
        <p:spPr>
          <a:xfrm>
            <a:off x="5330444" y="4334256"/>
            <a:ext cx="2523744" cy="493776"/>
          </a:xfrm>
          <a:prstGeom prst="rect">
            <a:avLst/>
          </a:prstGeom>
          <a:noFill/>
          <a:ln/>
        </p:spPr>
        <p:txBody>
          <a:bodyPr wrap="square" lIns="0" tIns="0" rIns="0" bIns="0" rtlCol="0" anchor="ctr">
            <a:normAutofit/>
          </a:bodyPr>
          <a:lstStyle/>
          <a:p>
            <a:pPr marL="0" indent="0">
              <a:buNone/>
            </a:pPr>
            <a:r>
              <a:rPr lang="en-US" sz="1200">
                <a:solidFill>
                  <a:srgbClr val="172033"/>
                </a:solidFill>
                <a:latin typeface="Aptos" pitchFamily="34" charset="0"/>
                <a:ea typeface="Aptos" pitchFamily="34" charset="-122"/>
                <a:cs typeface="Aptos" pitchFamily="34" charset="-120"/>
              </a:rPr>
              <a:t>Candidate only - no commit or push</a:t>
            </a:r>
            <a:endParaRPr lang="en-US" sz="1200" dirty="0"/>
          </a:p>
        </p:txBody>
      </p:sp>
      <p:sp>
        <p:nvSpPr>
          <p:cNvPr id="26" name="Shape 24"/>
          <p:cNvSpPr/>
          <p:nvPr/>
        </p:nvSpPr>
        <p:spPr>
          <a:xfrm>
            <a:off x="7994262" y="4224528"/>
            <a:ext cx="3383280" cy="838360"/>
          </a:xfrm>
          <a:prstGeom prst="roundRect">
            <a:avLst>
              <a:gd name="adj" fmla="val 7018"/>
            </a:avLst>
          </a:prstGeom>
          <a:solidFill>
            <a:srgbClr val="FFFFFF"/>
          </a:solidFill>
          <a:ln w="12700">
            <a:solidFill>
              <a:srgbClr val="D5DBE5"/>
            </a:solidFill>
            <a:prstDash val="solid"/>
          </a:ln>
        </p:spPr>
        <p:txBody>
          <a:bodyPr/>
          <a:lstStyle/>
          <a:p>
            <a:endParaRPr lang="en-CA"/>
          </a:p>
        </p:txBody>
      </p:sp>
      <p:sp>
        <p:nvSpPr>
          <p:cNvPr id="27" name="Shape 25"/>
          <p:cNvSpPr/>
          <p:nvPr/>
        </p:nvSpPr>
        <p:spPr>
          <a:xfrm>
            <a:off x="8193024" y="4425696"/>
            <a:ext cx="914400" cy="347472"/>
          </a:xfrm>
          <a:prstGeom prst="roundRect">
            <a:avLst>
              <a:gd name="adj" fmla="val 21053"/>
            </a:avLst>
          </a:prstGeom>
          <a:solidFill>
            <a:srgbClr val="E8F1FF"/>
          </a:solidFill>
          <a:ln w="12700">
            <a:solidFill>
              <a:srgbClr val="E8F1FF"/>
            </a:solidFill>
            <a:prstDash val="solid"/>
          </a:ln>
        </p:spPr>
        <p:txBody>
          <a:bodyPr/>
          <a:lstStyle/>
          <a:p>
            <a:endParaRPr lang="en-CA"/>
          </a:p>
        </p:txBody>
      </p:sp>
      <p:sp>
        <p:nvSpPr>
          <p:cNvPr id="28" name="Text 26"/>
          <p:cNvSpPr/>
          <p:nvPr/>
        </p:nvSpPr>
        <p:spPr>
          <a:xfrm>
            <a:off x="8255000" y="4498848"/>
            <a:ext cx="787400" cy="164592"/>
          </a:xfrm>
          <a:prstGeom prst="rect">
            <a:avLst/>
          </a:prstGeom>
          <a:noFill/>
          <a:ln/>
        </p:spPr>
        <p:txBody>
          <a:bodyPr wrap="square" lIns="0" tIns="0" rIns="0" bIns="0" rtlCol="0" anchor="ctr">
            <a:noAutofit/>
          </a:bodyPr>
          <a:lstStyle/>
          <a:p>
            <a:pPr marL="0" indent="0" algn="ctr">
              <a:buNone/>
            </a:pPr>
            <a:r>
              <a:rPr lang="en-US" sz="900">
                <a:solidFill>
                  <a:srgbClr val="1E40AF"/>
                </a:solidFill>
                <a:latin typeface="Aptos SemiBold" pitchFamily="34" charset="0"/>
                <a:ea typeface="Aptos SemiBold" pitchFamily="34" charset="-122"/>
                <a:cs typeface="Aptos SemiBold" pitchFamily="34" charset="-120"/>
              </a:rPr>
              <a:t>HUMAN</a:t>
            </a:r>
            <a:endParaRPr lang="en-US" sz="900" dirty="0"/>
          </a:p>
        </p:txBody>
      </p:sp>
      <p:sp>
        <p:nvSpPr>
          <p:cNvPr id="29" name="Text 27"/>
          <p:cNvSpPr/>
          <p:nvPr/>
        </p:nvSpPr>
        <p:spPr>
          <a:xfrm>
            <a:off x="9207500" y="4389120"/>
            <a:ext cx="1955800" cy="493776"/>
          </a:xfrm>
          <a:prstGeom prst="rect">
            <a:avLst/>
          </a:prstGeom>
          <a:noFill/>
          <a:ln/>
        </p:spPr>
        <p:txBody>
          <a:bodyPr wrap="square" lIns="0" tIns="0" rIns="0" bIns="0" rtlCol="0" anchor="ctr">
            <a:normAutofit/>
          </a:bodyPr>
          <a:lstStyle/>
          <a:p>
            <a:pPr marL="0" indent="0">
              <a:buNone/>
            </a:pPr>
            <a:r>
              <a:rPr lang="en-US" sz="1200" dirty="0">
                <a:solidFill>
                  <a:srgbClr val="172033"/>
                </a:solidFill>
                <a:latin typeface="Aptos" pitchFamily="34" charset="0"/>
                <a:ea typeface="Aptos" pitchFamily="34" charset="-122"/>
                <a:cs typeface="Aptos" pitchFamily="34" charset="-120"/>
              </a:rPr>
              <a:t>Authorizes every consequential action</a:t>
            </a:r>
            <a:endParaRPr lang="en-US" sz="1200" dirty="0"/>
          </a:p>
        </p:txBody>
      </p:sp>
      <p:sp>
        <p:nvSpPr>
          <p:cNvPr id="30"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0E12A76-466D-1644-A569-B139EDE1750E}"/>
              </a:ext>
            </a:extLst>
          </p:cNvPr>
          <p:cNvSpPr txBox="1"/>
          <p:nvPr/>
        </p:nvSpPr>
        <p:spPr>
          <a:xfrm>
            <a:off x="566928" y="310896"/>
            <a:ext cx="4203700" cy="153888"/>
          </a:xfrm>
          <a:prstGeom prst="rect">
            <a:avLst/>
          </a:prstGeom>
          <a:noFill/>
        </p:spPr>
        <p:txBody>
          <a:bodyPr vert="horz" wrap="square" lIns="0" tIns="0" rIns="0" bIns="0" rtlCol="0">
            <a:spAutoFit/>
          </a:bodyPr>
          <a:lstStyle/>
          <a:p>
            <a:r>
              <a:rPr lang="en-CA" sz="1000" b="0">
                <a:solidFill>
                  <a:srgbClr val="3B82F6"/>
                </a:solidFill>
                <a:latin typeface="Aptos SemiBold" panose="020B0702040204020203" pitchFamily="34" charset="0"/>
              </a:rPr>
              <a:t>INDEPENDENT CONVERGENCE</a:t>
            </a:r>
          </a:p>
        </p:txBody>
      </p:sp>
      <p:sp>
        <p:nvSpPr>
          <p:cNvPr id="3" name="Text 1">
            <a:extLst>
              <a:ext uri="{FF2B5EF4-FFF2-40B4-BE49-F238E27FC236}">
                <a16:creationId xmlns:a16="http://schemas.microsoft.com/office/drawing/2014/main" id="{96FEF272-CC97-81C3-01CE-39BA62FCED6A}"/>
              </a:ext>
            </a:extLst>
          </p:cNvPr>
          <p:cNvSpPr txBox="1"/>
          <p:nvPr/>
        </p:nvSpPr>
        <p:spPr>
          <a:xfrm>
            <a:off x="546100" y="571500"/>
            <a:ext cx="11049000" cy="415498"/>
          </a:xfrm>
          <a:prstGeom prst="rect">
            <a:avLst/>
          </a:prstGeom>
          <a:noFill/>
        </p:spPr>
        <p:txBody>
          <a:bodyPr vert="horz" wrap="square" lIns="0" tIns="0" rIns="0" bIns="0" rtlCol="0">
            <a:spAutoFit/>
          </a:bodyPr>
          <a:lstStyle/>
          <a:p>
            <a:r>
              <a:rPr lang="en-US" sz="2700" b="1">
                <a:solidFill>
                  <a:srgbClr val="111827"/>
                </a:solidFill>
                <a:latin typeface="Aptos SemiBold" panose="020B0702040204020203" pitchFamily="34" charset="0"/>
              </a:rPr>
              <a:t>The principles converged. The implementation remained local.</a:t>
            </a:r>
            <a:endParaRPr lang="en-CA" sz="2700" b="1">
              <a:solidFill>
                <a:srgbClr val="111827"/>
              </a:solidFill>
              <a:latin typeface="Aptos SemiBold" panose="020B0702040204020203" pitchFamily="34" charset="0"/>
            </a:endParaRPr>
          </a:p>
        </p:txBody>
      </p:sp>
      <p:graphicFrame>
        <p:nvGraphicFramePr>
          <p:cNvPr id="4" name="Principles and Implementation">
            <a:extLst>
              <a:ext uri="{FF2B5EF4-FFF2-40B4-BE49-F238E27FC236}">
                <a16:creationId xmlns:a16="http://schemas.microsoft.com/office/drawing/2014/main" id="{8C2411F0-E454-2B4C-E9DC-37594FBE1566}"/>
              </a:ext>
            </a:extLst>
          </p:cNvPr>
          <p:cNvGraphicFramePr>
            <a:graphicFrameLocks noGrp="1"/>
          </p:cNvGraphicFramePr>
          <p:nvPr>
            <p:extLst>
              <p:ext uri="{D42A27DB-BD31-4B8C-83A1-F6EECF244321}">
                <p14:modId xmlns:p14="http://schemas.microsoft.com/office/powerpoint/2010/main" val="2450597866"/>
              </p:ext>
            </p:extLst>
          </p:nvPr>
        </p:nvGraphicFramePr>
        <p:xfrm>
          <a:off x="685800" y="1333500"/>
          <a:ext cx="10820400" cy="3962400"/>
        </p:xfrm>
        <a:graphic>
          <a:graphicData uri="http://schemas.openxmlformats.org/drawingml/2006/table">
            <a:tbl>
              <a:tblPr firstRow="1" bandRow="1">
                <a:tableStyleId>{5C22544A-7EE6-4342-B048-85BDC9FD1C3A}</a:tableStyleId>
              </a:tblPr>
              <a:tblGrid>
                <a:gridCol w="4371230">
                  <a:extLst>
                    <a:ext uri="{9D8B030D-6E8A-4147-A177-3AD203B41FA5}">
                      <a16:colId xmlns:a16="http://schemas.microsoft.com/office/drawing/2014/main" val="1927005292"/>
                    </a:ext>
                  </a:extLst>
                </a:gridCol>
                <a:gridCol w="6449170">
                  <a:extLst>
                    <a:ext uri="{9D8B030D-6E8A-4147-A177-3AD203B41FA5}">
                      <a16:colId xmlns:a16="http://schemas.microsoft.com/office/drawing/2014/main" val="3048707969"/>
                    </a:ext>
                  </a:extLst>
                </a:gridCol>
              </a:tblGrid>
              <a:tr h="457200">
                <a:tc>
                  <a:txBody>
                    <a:bodyPr/>
                    <a:lstStyle/>
                    <a:p>
                      <a:pPr algn="l"/>
                      <a:r>
                        <a:rPr lang="en-CA" sz="1600" b="1">
                          <a:solidFill>
                            <a:srgbClr val="FFFFFF"/>
                          </a:solidFill>
                          <a:latin typeface="Aptos" panose="020B0502040204020203" pitchFamily="34" charset="0"/>
                        </a:rPr>
                        <a:t>OFFICIAL DIRECTION</a:t>
                      </a: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111827"/>
                    </a:solidFill>
                  </a:tcPr>
                </a:tc>
                <a:tc>
                  <a:txBody>
                    <a:bodyPr/>
                    <a:lstStyle/>
                    <a:p>
                      <a:pPr algn="l"/>
                      <a:r>
                        <a:rPr lang="en-CA" sz="1600" b="1" dirty="0">
                          <a:solidFill>
                            <a:srgbClr val="FFFFFF"/>
                          </a:solidFill>
                          <a:latin typeface="Aptos" panose="020B0502040204020203" pitchFamily="34" charset="0"/>
                        </a:rPr>
                        <a:t>MY IMPLEMENTATION</a:t>
                      </a: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111827"/>
                    </a:solidFill>
                  </a:tcPr>
                </a:tc>
                <a:extLst>
                  <a:ext uri="{0D108BD9-81ED-4DB2-BD59-A6C34878D82A}">
                    <a16:rowId xmlns:a16="http://schemas.microsoft.com/office/drawing/2014/main" val="226378768"/>
                  </a:ext>
                </a:extLst>
              </a:tr>
              <a:tr h="584200">
                <a:tc>
                  <a:txBody>
                    <a:bodyPr/>
                    <a:lstStyle/>
                    <a:p>
                      <a:pPr algn="l"/>
                      <a:r>
                        <a:rPr lang="en-US" sz="1400" b="0" dirty="0">
                          <a:solidFill>
                            <a:srgbClr val="2D3748"/>
                          </a:solidFill>
                          <a:latin typeface="Aptos" panose="020B0502040204020203" pitchFamily="34" charset="0"/>
                        </a:rPr>
                        <a:t>Structured inputs, outputs, and success criteria</a:t>
                      </a:r>
                      <a:endParaRPr lang="en-CA" sz="1400" b="0"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The issue became the API</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3939429822"/>
                  </a:ext>
                </a:extLst>
              </a:tr>
              <a:tr h="584200">
                <a:tc>
                  <a:txBody>
                    <a:bodyPr/>
                    <a:lstStyle/>
                    <a:p>
                      <a:pPr algn="l"/>
                      <a:r>
                        <a:rPr lang="en-US" sz="1400" b="0">
                          <a:solidFill>
                            <a:srgbClr val="2D3748"/>
                          </a:solidFill>
                          <a:latin typeface="Aptos" panose="020B0502040204020203" pitchFamily="34" charset="0"/>
                        </a:rPr>
                        <a:t>Separate planning, reasoning, and execution</a:t>
                      </a:r>
                      <a:endParaRPr lang="en-CA" sz="1400" b="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Idea → issue → candidate → verified production</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4220137504"/>
                  </a:ext>
                </a:extLst>
              </a:tr>
              <a:tr h="584200">
                <a:tc>
                  <a:txBody>
                    <a:bodyPr/>
                    <a:lstStyle/>
                    <a:p>
                      <a:pPr algn="l"/>
                      <a:r>
                        <a:rPr lang="en-CA" sz="1400" b="0" dirty="0">
                          <a:solidFill>
                            <a:srgbClr val="2D3748"/>
                          </a:solidFill>
                          <a:latin typeface="Aptos" panose="020B0502040204020203" pitchFamily="34" charset="0"/>
                        </a:rPr>
                        <a:t>Multi-agent coordination and isolation</a:t>
                      </a: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Risk-routed specialists in fresh contexts</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1472395869"/>
                  </a:ext>
                </a:extLst>
              </a:tr>
              <a:tr h="584200">
                <a:tc>
                  <a:txBody>
                    <a:bodyPr/>
                    <a:lstStyle/>
                    <a:p>
                      <a:pPr algn="l"/>
                      <a:r>
                        <a:rPr lang="en-CA" sz="1400" b="0" dirty="0">
                          <a:solidFill>
                            <a:srgbClr val="2D3748"/>
                          </a:solidFill>
                          <a:latin typeface="Aptos" panose="020B0502040204020203" pitchFamily="34" charset="0"/>
                        </a:rPr>
                        <a:t>Risk-based guardrails and intervention</a:t>
                      </a: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Explicit stage boundaries and consequential approvals</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716613347"/>
                  </a:ext>
                </a:extLst>
              </a:tr>
              <a:tr h="584200">
                <a:tc>
                  <a:txBody>
                    <a:bodyPr/>
                    <a:lstStyle/>
                    <a:p>
                      <a:pPr algn="l"/>
                      <a:r>
                        <a:rPr lang="en-CA" sz="1400" b="0">
                          <a:solidFill>
                            <a:srgbClr val="2D3748"/>
                          </a:solidFill>
                          <a:latin typeface="Aptos" panose="020B0502040204020203" pitchFamily="34" charset="0"/>
                        </a:rPr>
                        <a:t>Evaluation and durable state</a:t>
                      </a: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Re-review changed candidates; persist decisions and evidence</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417663002"/>
                  </a:ext>
                </a:extLst>
              </a:tr>
              <a:tr h="584200">
                <a:tc>
                  <a:txBody>
                    <a:bodyPr/>
                    <a:lstStyle/>
                    <a:p>
                      <a:pPr algn="l"/>
                      <a:r>
                        <a:rPr lang="en-US" sz="1400" b="0">
                          <a:solidFill>
                            <a:srgbClr val="2D3748"/>
                          </a:solidFill>
                          <a:latin typeface="Aptos" panose="020B0502040204020203" pitchFamily="34" charset="0"/>
                        </a:rPr>
                        <a:t>GitHub as system of record and control plane</a:t>
                      </a:r>
                      <a:endParaRPr lang="en-CA" sz="1400" b="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4F6F8"/>
                    </a:solidFill>
                  </a:tcPr>
                </a:tc>
                <a:tc>
                  <a:txBody>
                    <a:bodyPr/>
                    <a:lstStyle/>
                    <a:p>
                      <a:pPr algn="l"/>
                      <a:r>
                        <a:rPr lang="en-US" sz="1400" b="1" dirty="0">
                          <a:solidFill>
                            <a:srgbClr val="2D3748"/>
                          </a:solidFill>
                          <a:latin typeface="Aptos" panose="020B0502040204020203" pitchFamily="34" charset="0"/>
                        </a:rPr>
                        <a:t>Issues, instructions, tests, workflows, commits, and deployment identity</a:t>
                      </a:r>
                      <a:endParaRPr lang="en-CA" sz="1400" b="1" dirty="0">
                        <a:solidFill>
                          <a:srgbClr val="2D3748"/>
                        </a:solidFill>
                        <a:latin typeface="Aptos" panose="020B0502040204020203" pitchFamily="34" charset="0"/>
                      </a:endParaRPr>
                    </a:p>
                  </a:txBody>
                  <a:tcPr marL="152400" marR="127000" marT="63500" marB="50800" anchor="ctr">
                    <a:lnL w="12700" cmpd="sng">
                      <a:solidFill>
                        <a:srgbClr val="D6DBE2"/>
                      </a:solidFill>
                    </a:lnL>
                    <a:lnR w="12700" cmpd="sng">
                      <a:solidFill>
                        <a:srgbClr val="D6DBE2"/>
                      </a:solidFill>
                    </a:lnR>
                    <a:lnT w="12700" cmpd="sng">
                      <a:solidFill>
                        <a:srgbClr val="D6DBE2"/>
                      </a:solidFill>
                    </a:lnT>
                    <a:lnB w="12700" cmpd="sng">
                      <a:solidFill>
                        <a:srgbClr val="D6DBE2"/>
                      </a:solidFill>
                    </a:lnB>
                    <a:solidFill>
                      <a:srgbClr val="FAF4F2"/>
                    </a:solidFill>
                  </a:tcPr>
                </a:tc>
                <a:extLst>
                  <a:ext uri="{0D108BD9-81ED-4DB2-BD59-A6C34878D82A}">
                    <a16:rowId xmlns:a16="http://schemas.microsoft.com/office/drawing/2014/main" val="709629584"/>
                  </a:ext>
                </a:extLst>
              </a:tr>
            </a:tbl>
          </a:graphicData>
        </a:graphic>
      </p:graphicFrame>
      <p:sp>
        <p:nvSpPr>
          <p:cNvPr id="5" name="Bottom Accent">
            <a:extLst>
              <a:ext uri="{FF2B5EF4-FFF2-40B4-BE49-F238E27FC236}">
                <a16:creationId xmlns:a16="http://schemas.microsoft.com/office/drawing/2014/main" id="{74683F5D-74E4-D6FE-3DD5-1519F402760C}"/>
              </a:ext>
            </a:extLst>
          </p:cNvPr>
          <p:cNvSpPr/>
          <p:nvPr/>
        </p:nvSpPr>
        <p:spPr>
          <a:xfrm>
            <a:off x="685800" y="5588000"/>
            <a:ext cx="63500" cy="546100"/>
          </a:xfrm>
          <a:prstGeom prst="rect">
            <a:avLst/>
          </a:prstGeom>
          <a:solidFill>
            <a:srgbClr val="CF766E"/>
          </a:solidFill>
          <a:ln>
            <a:solidFill>
              <a:srgbClr val="C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Bottom Line">
            <a:extLst>
              <a:ext uri="{FF2B5EF4-FFF2-40B4-BE49-F238E27FC236}">
                <a16:creationId xmlns:a16="http://schemas.microsoft.com/office/drawing/2014/main" id="{1294DDFA-F21E-3887-8133-09803478775A}"/>
              </a:ext>
            </a:extLst>
          </p:cNvPr>
          <p:cNvSpPr txBox="1"/>
          <p:nvPr/>
        </p:nvSpPr>
        <p:spPr>
          <a:xfrm>
            <a:off x="914400" y="5737939"/>
            <a:ext cx="10375900" cy="292388"/>
          </a:xfrm>
          <a:prstGeom prst="rect">
            <a:avLst/>
          </a:prstGeom>
          <a:noFill/>
        </p:spPr>
        <p:txBody>
          <a:bodyPr vert="horz" wrap="square" lIns="0" tIns="0" rIns="0" bIns="0" rtlCol="0">
            <a:spAutoFit/>
          </a:bodyPr>
          <a:lstStyle/>
          <a:p>
            <a:r>
              <a:rPr lang="en-US" sz="1900" b="1" i="1" dirty="0">
                <a:solidFill>
                  <a:srgbClr val="111827"/>
                </a:solidFill>
                <a:latin typeface="Aptos SemiBold" panose="020B0702040204020203" pitchFamily="34" charset="0"/>
              </a:rPr>
              <a:t>Converge on engineering principles. Let teams own their implementation.</a:t>
            </a:r>
            <a:endParaRPr lang="en-CA" sz="1900" b="1" i="1" dirty="0">
              <a:solidFill>
                <a:srgbClr val="111827"/>
              </a:solidFill>
              <a:latin typeface="Aptos SemiBold" panose="020B0702040204020203" pitchFamily="34" charset="0"/>
            </a:endParaRPr>
          </a:p>
        </p:txBody>
      </p:sp>
      <p:sp>
        <p:nvSpPr>
          <p:cNvPr id="7" name="Slide Number Placeholder 0">
            <a:extLst>
              <a:ext uri="{FF2B5EF4-FFF2-40B4-BE49-F238E27FC236}">
                <a16:creationId xmlns:a16="http://schemas.microsoft.com/office/drawing/2014/main" id="{9FA935AC-D6B6-6D41-CC5E-D0D26479B3AD}"/>
              </a:ext>
            </a:extLst>
          </p:cNvPr>
          <p:cNvSpPr txBox="1"/>
          <p:nvPr/>
        </p:nvSpPr>
        <p:spPr>
          <a:xfrm>
            <a:off x="11734800" y="6426200"/>
            <a:ext cx="203200" cy="123111"/>
          </a:xfrm>
          <a:prstGeom prst="rect">
            <a:avLst/>
          </a:prstGeom>
          <a:noFill/>
        </p:spPr>
        <p:txBody>
          <a:bodyPr vert="horz" wrap="square" lIns="0" tIns="0" rIns="0" bIns="0" rtlCol="0" anchor="ctr">
            <a:spAutoFit/>
          </a:bodyPr>
          <a:lstStyle/>
          <a:p>
            <a:pPr algn="ctr">
              <a:spcBef>
                <a:spcPts val="0"/>
              </a:spcBef>
              <a:spcAft>
                <a:spcPts val="0"/>
              </a:spcAft>
              <a:defRPr sz="900" b="0">
                <a:solidFill>
                  <a:srgbClr val="596575"/>
                </a:solidFill>
                <a:latin typeface="Aptos"/>
              </a:defRPr>
            </a:pPr>
            <a:r>
              <a:t>18</a:t>
            </a:r>
          </a:p>
        </p:txBody>
      </p:sp>
    </p:spTree>
    <p:extLst>
      <p:ext uri="{BB962C8B-B14F-4D97-AF65-F5344CB8AC3E}">
        <p14:creationId xmlns:p14="http://schemas.microsoft.com/office/powerpoint/2010/main" val="3083973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F6CA-C0F2-901F-CB6A-31F662F997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219AFC-16FD-0102-FD9F-E94C5485837F}"/>
              </a:ext>
            </a:extLst>
          </p:cNvPr>
          <p:cNvSpPr txBox="1"/>
          <p:nvPr/>
        </p:nvSpPr>
        <p:spPr>
          <a:xfrm>
            <a:off x="566928" y="310896"/>
            <a:ext cx="4206240" cy="201168"/>
          </a:xfrm>
          <a:prstGeom prst="rect">
            <a:avLst/>
          </a:prstGeom>
          <a:noFill/>
        </p:spPr>
        <p:txBody>
          <a:bodyPr wrap="square" anchor="ctr">
            <a:spAutoFit/>
          </a:bodyPr>
          <a:lstStyle/>
          <a:p>
            <a:pPr>
              <a:spcBef>
                <a:spcPts val="0"/>
              </a:spcBef>
              <a:spcAft>
                <a:spcPts val="0"/>
              </a:spcAft>
              <a:defRPr sz="1000" b="1">
                <a:solidFill>
                  <a:srgbClr val="006EBE"/>
                </a:solidFill>
                <a:latin typeface="Aptos"/>
              </a:defRPr>
            </a:pPr>
            <a:r>
              <a:t>THE NEXT QUESTION</a:t>
            </a:r>
          </a:p>
        </p:txBody>
      </p:sp>
      <p:sp>
        <p:nvSpPr>
          <p:cNvPr id="3" name="TextBox 2">
            <a:extLst>
              <a:ext uri="{FF2B5EF4-FFF2-40B4-BE49-F238E27FC236}">
                <a16:creationId xmlns:a16="http://schemas.microsoft.com/office/drawing/2014/main" id="{445A2ABE-536E-0EAD-103B-192ED9F68D74}"/>
              </a:ext>
            </a:extLst>
          </p:cNvPr>
          <p:cNvSpPr txBox="1"/>
          <p:nvPr/>
        </p:nvSpPr>
        <p:spPr>
          <a:xfrm>
            <a:off x="548640" y="566928"/>
            <a:ext cx="11045952" cy="566928"/>
          </a:xfrm>
          <a:prstGeom prst="rect">
            <a:avLst/>
          </a:prstGeom>
          <a:noFill/>
        </p:spPr>
        <p:txBody>
          <a:bodyPr wrap="square" anchor="ctr">
            <a:spAutoFit/>
          </a:bodyPr>
          <a:lstStyle/>
          <a:p>
            <a:pPr>
              <a:spcBef>
                <a:spcPts val="0"/>
              </a:spcBef>
              <a:spcAft>
                <a:spcPts val="0"/>
              </a:spcAft>
              <a:defRPr sz="2800" b="1">
                <a:solidFill>
                  <a:srgbClr val="0F2340"/>
                </a:solidFill>
                <a:latin typeface="Aptos"/>
              </a:defRPr>
            </a:pPr>
            <a:r>
              <a:t>Could a working harness travel to another product?</a:t>
            </a:r>
          </a:p>
        </p:txBody>
      </p:sp>
      <p:sp>
        <p:nvSpPr>
          <p:cNvPr id="5" name="Rounded Rectangle 4">
            <a:extLst>
              <a:ext uri="{FF2B5EF4-FFF2-40B4-BE49-F238E27FC236}">
                <a16:creationId xmlns:a16="http://schemas.microsoft.com/office/drawing/2014/main" id="{9FD50C8E-DCCF-BE2E-0F92-7407D63AE5A0}"/>
              </a:ext>
            </a:extLst>
          </p:cNvPr>
          <p:cNvSpPr/>
          <p:nvPr/>
        </p:nvSpPr>
        <p:spPr>
          <a:xfrm>
            <a:off x="658368" y="1664208"/>
            <a:ext cx="3401568" cy="3200400"/>
          </a:xfrm>
          <a:prstGeom prst="roundRect">
            <a:avLst/>
          </a:prstGeom>
          <a:solidFill>
            <a:srgbClr val="E8F1FF"/>
          </a:solidFill>
          <a:ln w="12700">
            <a:solidFill>
              <a:srgbClr val="C4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A39F59D-93FB-1B8C-FA6C-5152B9B69304}"/>
              </a:ext>
            </a:extLst>
          </p:cNvPr>
          <p:cNvSpPr txBox="1"/>
          <p:nvPr/>
        </p:nvSpPr>
        <p:spPr>
          <a:xfrm>
            <a:off x="1499616" y="1929384"/>
            <a:ext cx="2368297" cy="210312"/>
          </a:xfrm>
          <a:prstGeom prst="rect">
            <a:avLst/>
          </a:prstGeom>
          <a:noFill/>
        </p:spPr>
        <p:txBody>
          <a:bodyPr wrap="square" lIns="0" tIns="0" rIns="0" bIns="0" anchor="ctr">
            <a:noAutofit/>
          </a:bodyPr>
          <a:lstStyle/>
          <a:p>
            <a:pPr algn="l">
              <a:lnSpc>
                <a:spcPct val="100000"/>
              </a:lnSpc>
              <a:spcBef>
                <a:spcPts val="0"/>
              </a:spcBef>
              <a:spcAft>
                <a:spcPts val="0"/>
              </a:spcAft>
              <a:defRPr sz="1400" b="1">
                <a:solidFill>
                  <a:srgbClr val="006EBE"/>
                </a:solidFill>
                <a:latin typeface="Aptos"/>
              </a:defRPr>
            </a:pPr>
            <a:r>
              <a:rPr lang="en-US" sz="1400" b="1" dirty="0">
                <a:solidFill>
                  <a:srgbClr val="1E40AF"/>
                </a:solidFill>
                <a:latin typeface="Aptos SemiBold"/>
              </a:rPr>
              <a:t>QUESTION 1</a:t>
            </a:r>
          </a:p>
        </p:txBody>
      </p:sp>
      <p:sp>
        <p:nvSpPr>
          <p:cNvPr id="7" name="TextBox 6">
            <a:extLst>
              <a:ext uri="{FF2B5EF4-FFF2-40B4-BE49-F238E27FC236}">
                <a16:creationId xmlns:a16="http://schemas.microsoft.com/office/drawing/2014/main" id="{DD057897-8510-84D0-321A-FC67CE1661E8}"/>
              </a:ext>
            </a:extLst>
          </p:cNvPr>
          <p:cNvSpPr txBox="1"/>
          <p:nvPr/>
        </p:nvSpPr>
        <p:spPr>
          <a:xfrm>
            <a:off x="914400" y="2322576"/>
            <a:ext cx="2889504" cy="1051560"/>
          </a:xfrm>
          <a:prstGeom prst="rect">
            <a:avLst/>
          </a:prstGeom>
          <a:noFill/>
        </p:spPr>
        <p:txBody>
          <a:bodyPr wrap="square" lIns="0" tIns="0" rIns="0" bIns="0" anchor="ctr">
            <a:noAutofit/>
          </a:bodyPr>
          <a:lstStyle/>
          <a:p>
            <a:pPr algn="l">
              <a:lnSpc>
                <a:spcPct val="100000"/>
              </a:lnSpc>
              <a:spcBef>
                <a:spcPts val="0"/>
              </a:spcBef>
              <a:spcAft>
                <a:spcPts val="0"/>
              </a:spcAft>
              <a:defRPr sz="1200" b="0">
                <a:solidFill>
                  <a:srgbClr val="212B36"/>
                </a:solidFill>
                <a:latin typeface="Aptos"/>
              </a:defRPr>
            </a:pPr>
            <a:endParaRPr lang="en-CA" sz="2000" b="1" dirty="0">
              <a:solidFill>
                <a:srgbClr val="1E40AF"/>
              </a:solidFill>
              <a:latin typeface="Aptos SemiBold"/>
            </a:endParaRPr>
          </a:p>
        </p:txBody>
      </p:sp>
      <p:sp>
        <p:nvSpPr>
          <p:cNvPr id="8" name="Rounded Rectangle 7">
            <a:extLst>
              <a:ext uri="{FF2B5EF4-FFF2-40B4-BE49-F238E27FC236}">
                <a16:creationId xmlns:a16="http://schemas.microsoft.com/office/drawing/2014/main" id="{11353028-0761-7F79-BB9D-9670B098BF3B}"/>
              </a:ext>
            </a:extLst>
          </p:cNvPr>
          <p:cNvSpPr/>
          <p:nvPr/>
        </p:nvSpPr>
        <p:spPr>
          <a:xfrm>
            <a:off x="4407408" y="1664208"/>
            <a:ext cx="3401568" cy="3200400"/>
          </a:xfrm>
          <a:prstGeom prst="roundRect">
            <a:avLst/>
          </a:prstGeom>
          <a:solidFill>
            <a:srgbClr val="E8F1FF"/>
          </a:solidFill>
          <a:ln w="12700">
            <a:solidFill>
              <a:srgbClr val="C4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990493DC-9D3C-CBA5-66CF-228148DE6CF9}"/>
              </a:ext>
            </a:extLst>
          </p:cNvPr>
          <p:cNvSpPr txBox="1"/>
          <p:nvPr/>
        </p:nvSpPr>
        <p:spPr>
          <a:xfrm>
            <a:off x="5248656" y="1929384"/>
            <a:ext cx="2368297" cy="210312"/>
          </a:xfrm>
          <a:prstGeom prst="rect">
            <a:avLst/>
          </a:prstGeom>
          <a:noFill/>
        </p:spPr>
        <p:txBody>
          <a:bodyPr wrap="square" lIns="0" tIns="0" rIns="0" bIns="0" anchor="ctr">
            <a:noAutofit/>
          </a:bodyPr>
          <a:lstStyle/>
          <a:p>
            <a:pPr algn="l">
              <a:lnSpc>
                <a:spcPct val="100000"/>
              </a:lnSpc>
              <a:spcBef>
                <a:spcPts val="0"/>
              </a:spcBef>
              <a:spcAft>
                <a:spcPts val="0"/>
              </a:spcAft>
              <a:defRPr sz="1400" b="1">
                <a:solidFill>
                  <a:srgbClr val="C97D00"/>
                </a:solidFill>
                <a:latin typeface="Aptos"/>
              </a:defRPr>
            </a:pPr>
            <a:r>
              <a:rPr lang="en-CA" sz="1400" b="1" dirty="0">
                <a:solidFill>
                  <a:srgbClr val="1E40AF"/>
                </a:solidFill>
                <a:latin typeface="Aptos SemiBold"/>
              </a:rPr>
              <a:t>QUESTION 2</a:t>
            </a:r>
          </a:p>
        </p:txBody>
      </p:sp>
      <p:sp>
        <p:nvSpPr>
          <p:cNvPr id="11" name="Rounded Rectangle 10">
            <a:extLst>
              <a:ext uri="{FF2B5EF4-FFF2-40B4-BE49-F238E27FC236}">
                <a16:creationId xmlns:a16="http://schemas.microsoft.com/office/drawing/2014/main" id="{6CD45EE4-BDF8-829B-54AC-265902D81150}"/>
              </a:ext>
            </a:extLst>
          </p:cNvPr>
          <p:cNvSpPr/>
          <p:nvPr/>
        </p:nvSpPr>
        <p:spPr>
          <a:xfrm>
            <a:off x="8156448" y="1664208"/>
            <a:ext cx="3401568" cy="3200400"/>
          </a:xfrm>
          <a:prstGeom prst="roundRect">
            <a:avLst/>
          </a:prstGeom>
          <a:solidFill>
            <a:srgbClr val="E8F1FF"/>
          </a:solidFill>
          <a:ln w="12700">
            <a:solidFill>
              <a:srgbClr val="C4D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FBFB6FE-ADDE-E062-B0F2-29AE16CBA2FF}"/>
              </a:ext>
            </a:extLst>
          </p:cNvPr>
          <p:cNvSpPr txBox="1"/>
          <p:nvPr/>
        </p:nvSpPr>
        <p:spPr>
          <a:xfrm>
            <a:off x="8997696" y="1929384"/>
            <a:ext cx="2368297" cy="210312"/>
          </a:xfrm>
          <a:prstGeom prst="rect">
            <a:avLst/>
          </a:prstGeom>
          <a:noFill/>
        </p:spPr>
        <p:txBody>
          <a:bodyPr wrap="square" lIns="0" tIns="0" rIns="0" bIns="0" anchor="ctr">
            <a:noAutofit/>
          </a:bodyPr>
          <a:lstStyle/>
          <a:p>
            <a:pPr algn="l">
              <a:lnSpc>
                <a:spcPct val="100000"/>
              </a:lnSpc>
              <a:spcBef>
                <a:spcPts val="0"/>
              </a:spcBef>
              <a:spcAft>
                <a:spcPts val="0"/>
              </a:spcAft>
              <a:defRPr sz="1400" b="1">
                <a:solidFill>
                  <a:srgbClr val="008787"/>
                </a:solidFill>
                <a:latin typeface="Aptos"/>
              </a:defRPr>
            </a:pPr>
            <a:r>
              <a:rPr lang="en-US" sz="1400" b="1" dirty="0">
                <a:solidFill>
                  <a:srgbClr val="1E40AF"/>
                </a:solidFill>
                <a:latin typeface="Aptos SemiBold"/>
              </a:rPr>
              <a:t>QUESTION 3</a:t>
            </a:r>
          </a:p>
        </p:txBody>
      </p:sp>
      <p:sp>
        <p:nvSpPr>
          <p:cNvPr id="15" name="TextBox 14">
            <a:extLst>
              <a:ext uri="{FF2B5EF4-FFF2-40B4-BE49-F238E27FC236}">
                <a16:creationId xmlns:a16="http://schemas.microsoft.com/office/drawing/2014/main" id="{F01A68B8-18DA-44C8-1643-418559D4E2E0}"/>
              </a:ext>
            </a:extLst>
          </p:cNvPr>
          <p:cNvSpPr txBox="1"/>
          <p:nvPr/>
        </p:nvSpPr>
        <p:spPr>
          <a:xfrm>
            <a:off x="11731752" y="6428232"/>
            <a:ext cx="201168" cy="201168"/>
          </a:xfrm>
          <a:prstGeom prst="rect">
            <a:avLst/>
          </a:prstGeom>
          <a:noFill/>
        </p:spPr>
        <p:txBody>
          <a:bodyPr wrap="square" anchor="ctr">
            <a:spAutoFit/>
          </a:bodyPr>
          <a:lstStyle/>
          <a:p>
            <a:pPr>
              <a:spcBef>
                <a:spcPts val="0"/>
              </a:spcBef>
              <a:spcAft>
                <a:spcPts val="0"/>
              </a:spcAft>
              <a:defRPr sz="900" b="0">
                <a:solidFill>
                  <a:srgbClr val="596575"/>
                </a:solidFill>
                <a:latin typeface="Aptos"/>
              </a:defRPr>
            </a:pPr>
            <a:r>
              <a:t>19</a:t>
            </a:r>
          </a:p>
        </p:txBody>
      </p:sp>
      <p:grpSp>
        <p:nvGrpSpPr>
          <p:cNvPr id="10" name="Group 9">
            <a:extLst>
              <a:ext uri="{FF2B5EF4-FFF2-40B4-BE49-F238E27FC236}">
                <a16:creationId xmlns:a16="http://schemas.microsoft.com/office/drawing/2014/main" id="{2ABBCE30-895F-CB0D-7EE9-414D03321BCB}"/>
              </a:ext>
            </a:extLst>
          </p:cNvPr>
          <p:cNvGrpSpPr/>
          <p:nvPr/>
        </p:nvGrpSpPr>
        <p:grpSpPr>
          <a:xfrm>
            <a:off x="658368" y="5619160"/>
            <a:ext cx="8145211" cy="512064"/>
            <a:chOff x="932688" y="5780110"/>
            <a:chExt cx="8145211" cy="512064"/>
          </a:xfrm>
        </p:grpSpPr>
        <p:sp>
          <p:nvSpPr>
            <p:cNvPr id="14" name="TextBox 13">
              <a:extLst>
                <a:ext uri="{FF2B5EF4-FFF2-40B4-BE49-F238E27FC236}">
                  <a16:creationId xmlns:a16="http://schemas.microsoft.com/office/drawing/2014/main" id="{30F4ED98-EE65-A382-F728-F32713ABEA67}"/>
                </a:ext>
              </a:extLst>
            </p:cNvPr>
            <p:cNvSpPr txBox="1"/>
            <p:nvPr/>
          </p:nvSpPr>
          <p:spPr>
            <a:xfrm>
              <a:off x="1124712" y="5811184"/>
              <a:ext cx="7953187" cy="384721"/>
            </a:xfrm>
            <a:prstGeom prst="rect">
              <a:avLst/>
            </a:prstGeom>
            <a:noFill/>
          </p:spPr>
          <p:txBody>
            <a:bodyPr wrap="square" anchor="ctr">
              <a:spAutoFit/>
            </a:bodyPr>
            <a:lstStyle/>
            <a:p>
              <a:pPr>
                <a:spcBef>
                  <a:spcPts val="0"/>
                </a:spcBef>
                <a:spcAft>
                  <a:spcPts val="0"/>
                </a:spcAft>
                <a:defRPr sz="1400" b="1">
                  <a:solidFill>
                    <a:srgbClr val="0F2340"/>
                  </a:solidFill>
                  <a:latin typeface="Aptos"/>
                </a:defRPr>
              </a:pPr>
              <a:r>
                <a:rPr sz="1900" i="1" dirty="0">
                  <a:latin typeface="+mj-lt"/>
                </a:rPr>
                <a:t>Port the engineering behavior. Re-learn the product truth.</a:t>
              </a:r>
            </a:p>
          </p:txBody>
        </p:sp>
        <p:sp>
          <p:nvSpPr>
            <p:cNvPr id="17" name="Shape 22">
              <a:extLst>
                <a:ext uri="{FF2B5EF4-FFF2-40B4-BE49-F238E27FC236}">
                  <a16:creationId xmlns:a16="http://schemas.microsoft.com/office/drawing/2014/main" id="{1E12A1A8-806A-62BE-DD23-3B342190FC37}"/>
                </a:ext>
              </a:extLst>
            </p:cNvPr>
            <p:cNvSpPr/>
            <p:nvPr/>
          </p:nvSpPr>
          <p:spPr>
            <a:xfrm>
              <a:off x="932688" y="5780110"/>
              <a:ext cx="64008" cy="512064"/>
            </a:xfrm>
            <a:prstGeom prst="rect">
              <a:avLst/>
            </a:prstGeom>
            <a:solidFill>
              <a:srgbClr val="D97706"/>
            </a:solidFill>
            <a:ln w="12700">
              <a:solidFill>
                <a:srgbClr val="D97706"/>
              </a:solidFill>
              <a:prstDash val="solid"/>
            </a:ln>
          </p:spPr>
          <p:txBody>
            <a:bodyPr/>
            <a:lstStyle/>
            <a:p>
              <a:endParaRPr lang="en-CA" sz="1400" i="1"/>
            </a:p>
          </p:txBody>
        </p:sp>
      </p:grpSp>
      <p:sp>
        <p:nvSpPr>
          <p:cNvPr id="18" name="Rounded Rectangle 17">
            <a:extLst>
              <a:ext uri="{FF2B5EF4-FFF2-40B4-BE49-F238E27FC236}">
                <a16:creationId xmlns:a16="http://schemas.microsoft.com/office/drawing/2014/main" id="{7E6ECD2B-3D82-6095-D359-4897C0DD4157}"/>
              </a:ext>
            </a:extLst>
          </p:cNvPr>
          <p:cNvSpPr/>
          <p:nvPr/>
        </p:nvSpPr>
        <p:spPr>
          <a:xfrm>
            <a:off x="932688" y="1828800"/>
            <a:ext cx="420624" cy="420624"/>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sz="2000" b="1">
                <a:solidFill>
                  <a:srgbClr val="FFFFFF"/>
                </a:solidFill>
                <a:latin typeface="Aptos SemiBold"/>
              </a:rPr>
              <a:t>1</a:t>
            </a:r>
          </a:p>
        </p:txBody>
      </p:sp>
      <p:sp>
        <p:nvSpPr>
          <p:cNvPr id="21" name="Rounded Rectangle 20">
            <a:extLst>
              <a:ext uri="{FF2B5EF4-FFF2-40B4-BE49-F238E27FC236}">
                <a16:creationId xmlns:a16="http://schemas.microsoft.com/office/drawing/2014/main" id="{D84232AB-8F35-9C7C-8809-A539BC213945}"/>
              </a:ext>
            </a:extLst>
          </p:cNvPr>
          <p:cNvSpPr/>
          <p:nvPr/>
        </p:nvSpPr>
        <p:spPr>
          <a:xfrm>
            <a:off x="4681728" y="1828800"/>
            <a:ext cx="420624" cy="420624"/>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sz="2000" b="1">
                <a:solidFill>
                  <a:srgbClr val="FFFFFF"/>
                </a:solidFill>
                <a:latin typeface="Aptos SemiBold"/>
              </a:rPr>
              <a:t>2</a:t>
            </a:r>
          </a:p>
        </p:txBody>
      </p:sp>
      <p:sp>
        <p:nvSpPr>
          <p:cNvPr id="24" name="Rounded Rectangle 23">
            <a:extLst>
              <a:ext uri="{FF2B5EF4-FFF2-40B4-BE49-F238E27FC236}">
                <a16:creationId xmlns:a16="http://schemas.microsoft.com/office/drawing/2014/main" id="{5B0A3230-DDD4-0E5F-1F97-A7DFDA00CE11}"/>
              </a:ext>
            </a:extLst>
          </p:cNvPr>
          <p:cNvSpPr/>
          <p:nvPr/>
        </p:nvSpPr>
        <p:spPr>
          <a:xfrm>
            <a:off x="8430768" y="1828800"/>
            <a:ext cx="420624" cy="420624"/>
          </a:xfrm>
          <a:prstGeom prst="roundRect">
            <a:avLst/>
          </a:prstGeom>
          <a:solidFill>
            <a:srgbClr val="64748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lnSpc>
                <a:spcPct val="100000"/>
              </a:lnSpc>
              <a:spcBef>
                <a:spcPts val="0"/>
              </a:spcBef>
              <a:spcAft>
                <a:spcPts val="0"/>
              </a:spcAft>
            </a:pPr>
            <a:r>
              <a:rPr sz="2000" b="1">
                <a:solidFill>
                  <a:srgbClr val="FFFFFF"/>
                </a:solidFill>
                <a:latin typeface="Aptos SemiBold"/>
              </a:rPr>
              <a:t>3</a:t>
            </a:r>
          </a:p>
        </p:txBody>
      </p:sp>
      <p:sp>
        <p:nvSpPr>
          <p:cNvPr id="26" name="TextBox 25">
            <a:extLst>
              <a:ext uri="{FF2B5EF4-FFF2-40B4-BE49-F238E27FC236}">
                <a16:creationId xmlns:a16="http://schemas.microsoft.com/office/drawing/2014/main" id="{6165EEFF-415A-D472-7833-1569FC707DC2}"/>
              </a:ext>
            </a:extLst>
          </p:cNvPr>
          <p:cNvSpPr txBox="1"/>
          <p:nvPr/>
        </p:nvSpPr>
        <p:spPr>
          <a:xfrm>
            <a:off x="8340089" y="3909232"/>
            <a:ext cx="3099055" cy="662768"/>
          </a:xfrm>
          <a:prstGeom prst="rect">
            <a:avLst/>
          </a:prstGeom>
          <a:noFill/>
        </p:spPr>
        <p:txBody>
          <a:bodyPr wrap="square" lIns="0" tIns="0" rIns="0" bIns="0" anchor="ctr">
            <a:noAutofit/>
          </a:bodyPr>
          <a:lstStyle/>
          <a:p>
            <a:pPr marL="285750" indent="-285750" algn="l">
              <a:lnSpc>
                <a:spcPct val="100000"/>
              </a:lnSpc>
              <a:spcBef>
                <a:spcPts val="0"/>
              </a:spcBef>
              <a:spcAft>
                <a:spcPts val="400"/>
              </a:spcAft>
              <a:buFont typeface="Arial" panose="020B0604020202020204" pitchFamily="34" charset="0"/>
              <a:buChar char="•"/>
            </a:pPr>
            <a:endParaRPr sz="1400" b="1" dirty="0">
              <a:solidFill>
                <a:srgbClr val="172033"/>
              </a:solidFill>
              <a:latin typeface="Aptos SemiBold"/>
            </a:endParaRPr>
          </a:p>
        </p:txBody>
      </p:sp>
      <p:sp>
        <p:nvSpPr>
          <p:cNvPr id="4" name="TextBox 3">
            <a:extLst>
              <a:ext uri="{FF2B5EF4-FFF2-40B4-BE49-F238E27FC236}">
                <a16:creationId xmlns:a16="http://schemas.microsoft.com/office/drawing/2014/main" id="{14DF524A-20C7-2C02-2710-D0AE82764286}"/>
              </a:ext>
            </a:extLst>
          </p:cNvPr>
          <p:cNvSpPr txBox="1"/>
          <p:nvPr/>
        </p:nvSpPr>
        <p:spPr>
          <a:xfrm>
            <a:off x="914400" y="2249423"/>
            <a:ext cx="2889504" cy="2359153"/>
          </a:xfrm>
          <a:prstGeom prst="rect">
            <a:avLst/>
          </a:prstGeom>
          <a:noFill/>
        </p:spPr>
        <p:txBody>
          <a:bodyPr wrap="square" lIns="0" tIns="0" rIns="0" bIns="0" anchor="ctr">
            <a:noAutofit/>
          </a:bodyPr>
          <a:lstStyle/>
          <a:p>
            <a:pPr>
              <a:spcAft>
                <a:spcPts val="400"/>
              </a:spcAft>
            </a:pPr>
            <a:r>
              <a:rPr lang="en-US" sz="2000" b="1" dirty="0">
                <a:solidFill>
                  <a:srgbClr val="1E40AF"/>
                </a:solidFill>
                <a:latin typeface="Aptos SemiBold"/>
              </a:rPr>
              <a:t>Would it still be helpful?</a:t>
            </a:r>
          </a:p>
        </p:txBody>
      </p:sp>
      <p:sp>
        <p:nvSpPr>
          <p:cNvPr id="13" name="TextBox 12">
            <a:extLst>
              <a:ext uri="{FF2B5EF4-FFF2-40B4-BE49-F238E27FC236}">
                <a16:creationId xmlns:a16="http://schemas.microsoft.com/office/drawing/2014/main" id="{EA44BBA1-7CDC-3537-7858-535F20BA81E4}"/>
              </a:ext>
            </a:extLst>
          </p:cNvPr>
          <p:cNvSpPr txBox="1"/>
          <p:nvPr/>
        </p:nvSpPr>
        <p:spPr>
          <a:xfrm>
            <a:off x="4663440" y="2322576"/>
            <a:ext cx="2889504" cy="2249424"/>
          </a:xfrm>
          <a:prstGeom prst="rect">
            <a:avLst/>
          </a:prstGeom>
          <a:noFill/>
        </p:spPr>
        <p:txBody>
          <a:bodyPr wrap="square" lIns="0" tIns="0" rIns="0" bIns="0" anchor="ctr">
            <a:noAutofit/>
          </a:bodyPr>
          <a:lstStyle>
            <a:lvl1pPr>
              <a:spcAft>
                <a:spcPts val="400"/>
              </a:spcAft>
              <a:defRPr sz="2000" b="1">
                <a:solidFill>
                  <a:srgbClr val="1E40AF"/>
                </a:solidFill>
                <a:latin typeface="Aptos SemiBold"/>
              </a:defRPr>
            </a:lvl1pPr>
          </a:lstStyle>
          <a:p>
            <a:r>
              <a:rPr lang="en-US" dirty="0"/>
              <a:t>How to find new </a:t>
            </a:r>
            <a:r>
              <a:rPr lang="en-CA" dirty="0"/>
              <a:t>product's context?</a:t>
            </a:r>
          </a:p>
        </p:txBody>
      </p:sp>
      <p:sp>
        <p:nvSpPr>
          <p:cNvPr id="27" name="TextBox 26">
            <a:extLst>
              <a:ext uri="{FF2B5EF4-FFF2-40B4-BE49-F238E27FC236}">
                <a16:creationId xmlns:a16="http://schemas.microsoft.com/office/drawing/2014/main" id="{A6B073DC-1F98-38CC-F9A6-CBFB2C0C823C}"/>
              </a:ext>
            </a:extLst>
          </p:cNvPr>
          <p:cNvSpPr txBox="1"/>
          <p:nvPr/>
        </p:nvSpPr>
        <p:spPr>
          <a:xfrm>
            <a:off x="8549640" y="2322576"/>
            <a:ext cx="2889504" cy="2171872"/>
          </a:xfrm>
          <a:prstGeom prst="rect">
            <a:avLst/>
          </a:prstGeom>
          <a:noFill/>
        </p:spPr>
        <p:txBody>
          <a:bodyPr wrap="square" lIns="0" tIns="0" rIns="0" bIns="0" anchor="ctr">
            <a:noAutofit/>
          </a:bodyPr>
          <a:lstStyle>
            <a:lvl1pPr>
              <a:spcAft>
                <a:spcPts val="400"/>
              </a:spcAft>
              <a:defRPr sz="2000" b="1">
                <a:solidFill>
                  <a:srgbClr val="1E40AF"/>
                </a:solidFill>
                <a:latin typeface="Aptos SemiBold"/>
              </a:defRPr>
            </a:lvl1pPr>
          </a:lstStyle>
          <a:p>
            <a:r>
              <a:rPr lang="en-US" dirty="0"/>
              <a:t>What about change management? </a:t>
            </a:r>
          </a:p>
        </p:txBody>
      </p:sp>
    </p:spTree>
    <p:extLst>
      <p:ext uri="{BB962C8B-B14F-4D97-AF65-F5344CB8AC3E}">
        <p14:creationId xmlns:p14="http://schemas.microsoft.com/office/powerpoint/2010/main" val="1257835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spcBef>
                <a:spcPts val="0"/>
              </a:spcBef>
              <a:spcAft>
                <a:spcPts val="0"/>
              </a:spcAft>
              <a:buNone/>
              <a:defRPr sz="1000" b="1">
                <a:solidFill>
                  <a:srgbClr val="006EBE"/>
                </a:solidFill>
                <a:latin typeface="Aptos"/>
              </a:defRPr>
            </a:pPr>
            <a:r>
              <a:t>REUSE STARTS WITH A BOUNDARY</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spcBef>
                <a:spcPts val="0"/>
              </a:spcBef>
              <a:spcAft>
                <a:spcPts val="0"/>
              </a:spcAft>
              <a:buNone/>
              <a:defRPr sz="2600" b="1">
                <a:solidFill>
                  <a:srgbClr val="0F2340"/>
                </a:solidFill>
                <a:latin typeface="Aptos"/>
              </a:defRPr>
            </a:pPr>
            <a:r>
              <a:t>First separate product truth from harness behavior</a:t>
            </a:r>
            <a:endParaRPr lang="en-US" sz="2800"/>
          </a:p>
        </p:txBody>
      </p:sp>
      <p:sp>
        <p:nvSpPr>
          <p:cNvPr id="4" name="Shape 2"/>
          <p:cNvSpPr/>
          <p:nvPr/>
        </p:nvSpPr>
        <p:spPr>
          <a:xfrm>
            <a:off x="676656" y="1316736"/>
            <a:ext cx="5093208" cy="4315968"/>
          </a:xfrm>
          <a:prstGeom prst="roundRect">
            <a:avLst>
              <a:gd name="adj" fmla="val 1695"/>
            </a:avLst>
          </a:prstGeom>
          <a:solidFill>
            <a:srgbClr val="E1F4EA"/>
          </a:solidFill>
          <a:ln w="12700">
            <a:solidFill>
              <a:srgbClr val="C5E7D5"/>
            </a:solidFill>
            <a:prstDash val="solid"/>
          </a:ln>
        </p:spPr>
        <p:txBody>
          <a:bodyPr/>
          <a:lstStyle/>
          <a:p>
            <a:endParaRPr lang="en-CA"/>
          </a:p>
        </p:txBody>
      </p:sp>
      <p:sp>
        <p:nvSpPr>
          <p:cNvPr id="5" name="Text 3"/>
          <p:cNvSpPr/>
          <p:nvPr/>
        </p:nvSpPr>
        <p:spPr>
          <a:xfrm>
            <a:off x="987552" y="1645920"/>
            <a:ext cx="4069080" cy="201168"/>
          </a:xfrm>
          <a:prstGeom prst="rect">
            <a:avLst/>
          </a:prstGeom>
          <a:noFill/>
          <a:ln/>
        </p:spPr>
        <p:txBody>
          <a:bodyPr wrap="square" lIns="0" tIns="0" rIns="0" bIns="0" rtlCol="0" anchor="ctr"/>
          <a:lstStyle/>
          <a:p>
            <a:pPr marL="0" indent="0">
              <a:spcBef>
                <a:spcPts val="0"/>
              </a:spcBef>
              <a:spcAft>
                <a:spcPts val="0"/>
              </a:spcAft>
              <a:buNone/>
              <a:defRPr sz="1200" b="1">
                <a:solidFill>
                  <a:srgbClr val="0F2340"/>
                </a:solidFill>
                <a:latin typeface="Aptos"/>
              </a:defRPr>
            </a:pPr>
            <a:r>
              <a:rPr sz="1600" dirty="0"/>
              <a:t>PRODUCT KNOWLEDGE - STAYS LOCAL</a:t>
            </a:r>
            <a:endParaRPr lang="en-US" sz="1600" dirty="0"/>
          </a:p>
        </p:txBody>
      </p:sp>
      <p:sp>
        <p:nvSpPr>
          <p:cNvPr id="6" name="Shape 4"/>
          <p:cNvSpPr/>
          <p:nvPr/>
        </p:nvSpPr>
        <p:spPr>
          <a:xfrm>
            <a:off x="987552" y="2231136"/>
            <a:ext cx="91440" cy="91440"/>
          </a:xfrm>
          <a:prstGeom prst="ellipse">
            <a:avLst/>
          </a:prstGeom>
          <a:solidFill>
            <a:srgbClr val="2E7D5B"/>
          </a:solidFill>
          <a:ln w="12700">
            <a:solidFill>
              <a:srgbClr val="2E7D5B"/>
            </a:solidFill>
            <a:prstDash val="solid"/>
          </a:ln>
        </p:spPr>
        <p:txBody>
          <a:bodyPr/>
          <a:lstStyle/>
          <a:p>
            <a:endParaRPr lang="en-CA"/>
          </a:p>
        </p:txBody>
      </p:sp>
      <p:sp>
        <p:nvSpPr>
          <p:cNvPr id="7" name="Text 5"/>
          <p:cNvSpPr/>
          <p:nvPr/>
        </p:nvSpPr>
        <p:spPr>
          <a:xfrm>
            <a:off x="1188720" y="2121408"/>
            <a:ext cx="4050792" cy="327594"/>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rPr dirty="0"/>
              <a:t>Architecture and domain rules</a:t>
            </a:r>
            <a:endParaRPr lang="en-US" sz="1700" dirty="0"/>
          </a:p>
        </p:txBody>
      </p:sp>
      <p:sp>
        <p:nvSpPr>
          <p:cNvPr id="8" name="Shape 6"/>
          <p:cNvSpPr/>
          <p:nvPr/>
        </p:nvSpPr>
        <p:spPr>
          <a:xfrm>
            <a:off x="987552" y="2825496"/>
            <a:ext cx="91440" cy="91440"/>
          </a:xfrm>
          <a:prstGeom prst="ellipse">
            <a:avLst/>
          </a:prstGeom>
          <a:solidFill>
            <a:srgbClr val="2E7D5B"/>
          </a:solidFill>
          <a:ln w="12700">
            <a:solidFill>
              <a:srgbClr val="2E7D5B"/>
            </a:solidFill>
            <a:prstDash val="solid"/>
          </a:ln>
        </p:spPr>
        <p:txBody>
          <a:bodyPr/>
          <a:lstStyle/>
          <a:p>
            <a:endParaRPr lang="en-CA"/>
          </a:p>
        </p:txBody>
      </p:sp>
      <p:sp>
        <p:nvSpPr>
          <p:cNvPr id="9" name="Text 7"/>
          <p:cNvSpPr/>
          <p:nvPr/>
        </p:nvSpPr>
        <p:spPr>
          <a:xfrm>
            <a:off x="1188720" y="2715768"/>
            <a:ext cx="4050792" cy="327595"/>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rPr dirty="0"/>
              <a:t>Operational and deployment facts</a:t>
            </a:r>
            <a:endParaRPr lang="en-US" sz="1700" dirty="0"/>
          </a:p>
        </p:txBody>
      </p:sp>
      <p:sp>
        <p:nvSpPr>
          <p:cNvPr id="10" name="Shape 8"/>
          <p:cNvSpPr/>
          <p:nvPr/>
        </p:nvSpPr>
        <p:spPr>
          <a:xfrm>
            <a:off x="987552" y="3419856"/>
            <a:ext cx="91440" cy="91440"/>
          </a:xfrm>
          <a:prstGeom prst="ellipse">
            <a:avLst/>
          </a:prstGeom>
          <a:solidFill>
            <a:srgbClr val="2E7D5B"/>
          </a:solidFill>
          <a:ln w="12700">
            <a:solidFill>
              <a:srgbClr val="2E7D5B"/>
            </a:solidFill>
            <a:prstDash val="solid"/>
          </a:ln>
        </p:spPr>
        <p:txBody>
          <a:bodyPr/>
          <a:lstStyle/>
          <a:p>
            <a:endParaRPr lang="en-CA"/>
          </a:p>
        </p:txBody>
      </p:sp>
      <p:sp>
        <p:nvSpPr>
          <p:cNvPr id="11" name="Text 9"/>
          <p:cNvSpPr/>
          <p:nvPr/>
        </p:nvSpPr>
        <p:spPr>
          <a:xfrm>
            <a:off x="1188720" y="3310129"/>
            <a:ext cx="4050792" cy="327596"/>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rPr dirty="0"/>
              <a:t>Issues, tests, and product decisions</a:t>
            </a:r>
            <a:endParaRPr lang="en-US" sz="1700" dirty="0"/>
          </a:p>
        </p:txBody>
      </p:sp>
      <p:sp>
        <p:nvSpPr>
          <p:cNvPr id="12" name="Shape 10"/>
          <p:cNvSpPr/>
          <p:nvPr/>
        </p:nvSpPr>
        <p:spPr>
          <a:xfrm>
            <a:off x="987552" y="4014216"/>
            <a:ext cx="91440" cy="91440"/>
          </a:xfrm>
          <a:prstGeom prst="ellipse">
            <a:avLst/>
          </a:prstGeom>
          <a:solidFill>
            <a:srgbClr val="2E7D5B"/>
          </a:solidFill>
          <a:ln w="12700">
            <a:solidFill>
              <a:srgbClr val="2E7D5B"/>
            </a:solidFill>
            <a:prstDash val="solid"/>
          </a:ln>
        </p:spPr>
        <p:txBody>
          <a:bodyPr/>
          <a:lstStyle/>
          <a:p>
            <a:endParaRPr lang="en-CA"/>
          </a:p>
        </p:txBody>
      </p:sp>
      <p:sp>
        <p:nvSpPr>
          <p:cNvPr id="13" name="Text 11"/>
          <p:cNvSpPr/>
          <p:nvPr/>
        </p:nvSpPr>
        <p:spPr>
          <a:xfrm>
            <a:off x="1188720" y="3904489"/>
            <a:ext cx="4050792" cy="327596"/>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rPr dirty="0"/>
              <a:t>Repository documentation</a:t>
            </a:r>
            <a:endParaRPr lang="en-US" sz="1700" dirty="0"/>
          </a:p>
        </p:txBody>
      </p:sp>
      <p:sp>
        <p:nvSpPr>
          <p:cNvPr id="14" name="Shape 12"/>
          <p:cNvSpPr/>
          <p:nvPr/>
        </p:nvSpPr>
        <p:spPr>
          <a:xfrm>
            <a:off x="6272784" y="1316736"/>
            <a:ext cx="5093208" cy="4315968"/>
          </a:xfrm>
          <a:prstGeom prst="roundRect">
            <a:avLst>
              <a:gd name="adj" fmla="val 1695"/>
            </a:avLst>
          </a:prstGeom>
          <a:solidFill>
            <a:srgbClr val="FCE8EB"/>
          </a:solidFill>
          <a:ln w="12700">
            <a:solidFill>
              <a:srgbClr val="F4C5CB"/>
            </a:solidFill>
            <a:prstDash val="solid"/>
          </a:ln>
        </p:spPr>
        <p:txBody>
          <a:bodyPr/>
          <a:lstStyle/>
          <a:p>
            <a:endParaRPr lang="en-CA"/>
          </a:p>
        </p:txBody>
      </p:sp>
      <p:sp>
        <p:nvSpPr>
          <p:cNvPr id="15" name="Text 13"/>
          <p:cNvSpPr/>
          <p:nvPr/>
        </p:nvSpPr>
        <p:spPr>
          <a:xfrm>
            <a:off x="6583680" y="1645920"/>
            <a:ext cx="4069080" cy="201168"/>
          </a:xfrm>
          <a:prstGeom prst="rect">
            <a:avLst/>
          </a:prstGeom>
          <a:noFill/>
          <a:ln/>
        </p:spPr>
        <p:txBody>
          <a:bodyPr wrap="square" lIns="0" tIns="0" rIns="0" bIns="0" rtlCol="0" anchor="ctr"/>
          <a:lstStyle/>
          <a:p>
            <a:pPr marL="0" indent="0">
              <a:spcBef>
                <a:spcPts val="0"/>
              </a:spcBef>
              <a:spcAft>
                <a:spcPts val="0"/>
              </a:spcAft>
              <a:buNone/>
              <a:defRPr sz="1200" b="1">
                <a:solidFill>
                  <a:srgbClr val="0F2340"/>
                </a:solidFill>
                <a:latin typeface="Aptos"/>
              </a:defRPr>
            </a:pPr>
            <a:r>
              <a:rPr sz="1600" dirty="0"/>
              <a:t>HARNESS BEHAVIOR - CAN TRAVEL</a:t>
            </a:r>
            <a:endParaRPr lang="en-US" sz="1600" dirty="0"/>
          </a:p>
        </p:txBody>
      </p:sp>
      <p:sp>
        <p:nvSpPr>
          <p:cNvPr id="16" name="Shape 14"/>
          <p:cNvSpPr/>
          <p:nvPr/>
        </p:nvSpPr>
        <p:spPr>
          <a:xfrm>
            <a:off x="6583680" y="2231136"/>
            <a:ext cx="91440" cy="91440"/>
          </a:xfrm>
          <a:prstGeom prst="ellipse">
            <a:avLst/>
          </a:prstGeom>
          <a:solidFill>
            <a:srgbClr val="C2414E"/>
          </a:solidFill>
          <a:ln w="12700">
            <a:solidFill>
              <a:srgbClr val="C2414E"/>
            </a:solidFill>
            <a:prstDash val="solid"/>
          </a:ln>
        </p:spPr>
        <p:txBody>
          <a:bodyPr/>
          <a:lstStyle/>
          <a:p>
            <a:endParaRPr lang="en-CA"/>
          </a:p>
        </p:txBody>
      </p:sp>
      <p:sp>
        <p:nvSpPr>
          <p:cNvPr id="17" name="Text 15"/>
          <p:cNvSpPr/>
          <p:nvPr/>
        </p:nvSpPr>
        <p:spPr>
          <a:xfrm>
            <a:off x="6784848" y="2121408"/>
            <a:ext cx="4050792" cy="320040"/>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t>Agents and skills</a:t>
            </a:r>
            <a:endParaRPr lang="en-US" sz="1700" dirty="0"/>
          </a:p>
        </p:txBody>
      </p:sp>
      <p:sp>
        <p:nvSpPr>
          <p:cNvPr id="18" name="Shape 16"/>
          <p:cNvSpPr/>
          <p:nvPr/>
        </p:nvSpPr>
        <p:spPr>
          <a:xfrm>
            <a:off x="6583680" y="2825496"/>
            <a:ext cx="91440" cy="91440"/>
          </a:xfrm>
          <a:prstGeom prst="ellipse">
            <a:avLst/>
          </a:prstGeom>
          <a:solidFill>
            <a:srgbClr val="C2414E"/>
          </a:solidFill>
          <a:ln w="12700">
            <a:solidFill>
              <a:srgbClr val="C2414E"/>
            </a:solidFill>
            <a:prstDash val="solid"/>
          </a:ln>
        </p:spPr>
        <p:txBody>
          <a:bodyPr/>
          <a:lstStyle/>
          <a:p>
            <a:endParaRPr lang="en-CA"/>
          </a:p>
        </p:txBody>
      </p:sp>
      <p:sp>
        <p:nvSpPr>
          <p:cNvPr id="19" name="Text 17"/>
          <p:cNvSpPr/>
          <p:nvPr/>
        </p:nvSpPr>
        <p:spPr>
          <a:xfrm>
            <a:off x="6784848" y="2715768"/>
            <a:ext cx="4050792" cy="320040"/>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t>Structural references: where to look</a:t>
            </a:r>
            <a:endParaRPr lang="en-US" sz="1700" dirty="0"/>
          </a:p>
        </p:txBody>
      </p:sp>
      <p:sp>
        <p:nvSpPr>
          <p:cNvPr id="20" name="Shape 18"/>
          <p:cNvSpPr/>
          <p:nvPr/>
        </p:nvSpPr>
        <p:spPr>
          <a:xfrm>
            <a:off x="6583680" y="3419856"/>
            <a:ext cx="91440" cy="91440"/>
          </a:xfrm>
          <a:prstGeom prst="ellipse">
            <a:avLst/>
          </a:prstGeom>
          <a:solidFill>
            <a:srgbClr val="C2414E"/>
          </a:solidFill>
          <a:ln w="12700">
            <a:solidFill>
              <a:srgbClr val="C2414E"/>
            </a:solidFill>
            <a:prstDash val="solid"/>
          </a:ln>
        </p:spPr>
        <p:txBody>
          <a:bodyPr/>
          <a:lstStyle/>
          <a:p>
            <a:endParaRPr lang="en-CA"/>
          </a:p>
        </p:txBody>
      </p:sp>
      <p:sp>
        <p:nvSpPr>
          <p:cNvPr id="21" name="Text 19"/>
          <p:cNvSpPr/>
          <p:nvPr/>
        </p:nvSpPr>
        <p:spPr>
          <a:xfrm>
            <a:off x="6784848" y="3310128"/>
            <a:ext cx="4581144" cy="327597"/>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t>Repeatable review and delivery choreography</a:t>
            </a:r>
            <a:endParaRPr lang="en-US" sz="1700" dirty="0"/>
          </a:p>
        </p:txBody>
      </p:sp>
      <p:sp>
        <p:nvSpPr>
          <p:cNvPr id="22" name="Shape 20"/>
          <p:cNvSpPr/>
          <p:nvPr/>
        </p:nvSpPr>
        <p:spPr>
          <a:xfrm>
            <a:off x="6583680" y="4014216"/>
            <a:ext cx="91440" cy="91440"/>
          </a:xfrm>
          <a:prstGeom prst="ellipse">
            <a:avLst/>
          </a:prstGeom>
          <a:solidFill>
            <a:srgbClr val="C2414E"/>
          </a:solidFill>
          <a:ln w="12700">
            <a:solidFill>
              <a:srgbClr val="C2414E"/>
            </a:solidFill>
            <a:prstDash val="solid"/>
          </a:ln>
        </p:spPr>
        <p:txBody>
          <a:bodyPr/>
          <a:lstStyle/>
          <a:p>
            <a:endParaRPr lang="en-CA"/>
          </a:p>
        </p:txBody>
      </p:sp>
      <p:sp>
        <p:nvSpPr>
          <p:cNvPr id="23" name="Text 21"/>
          <p:cNvSpPr/>
          <p:nvPr/>
        </p:nvSpPr>
        <p:spPr>
          <a:xfrm>
            <a:off x="6784848" y="3904488"/>
            <a:ext cx="4050792" cy="327597"/>
          </a:xfrm>
          <a:prstGeom prst="rect">
            <a:avLst/>
          </a:prstGeom>
          <a:noFill/>
          <a:ln/>
        </p:spPr>
        <p:txBody>
          <a:bodyPr wrap="square" lIns="0" tIns="0" rIns="0" bIns="0" rtlCol="0" anchor="ctr">
            <a:normAutofit/>
          </a:bodyPr>
          <a:lstStyle/>
          <a:p>
            <a:pPr marL="0" indent="0">
              <a:spcBef>
                <a:spcPts val="0"/>
              </a:spcBef>
              <a:spcAft>
                <a:spcPts val="0"/>
              </a:spcAft>
              <a:buNone/>
              <a:defRPr sz="1400" b="0">
                <a:solidFill>
                  <a:srgbClr val="212B36"/>
                </a:solidFill>
                <a:latin typeface="Aptos"/>
              </a:defRPr>
            </a:pPr>
            <a:r>
              <a:rPr dirty="0"/>
              <a:t>Shared engineering conventions</a:t>
            </a:r>
            <a:endParaRPr lang="en-US" sz="1700" dirty="0"/>
          </a:p>
        </p:txBody>
      </p:sp>
      <p:sp>
        <p:nvSpPr>
          <p:cNvPr id="24" name="Shape 22"/>
          <p:cNvSpPr/>
          <p:nvPr/>
        </p:nvSpPr>
        <p:spPr>
          <a:xfrm>
            <a:off x="566928" y="5780110"/>
            <a:ext cx="64008" cy="512064"/>
          </a:xfrm>
          <a:prstGeom prst="rect">
            <a:avLst/>
          </a:prstGeom>
          <a:solidFill>
            <a:srgbClr val="D97706"/>
          </a:solidFill>
          <a:ln w="12700">
            <a:solidFill>
              <a:srgbClr val="D97706"/>
            </a:solidFill>
            <a:prstDash val="solid"/>
          </a:ln>
        </p:spPr>
        <p:txBody>
          <a:bodyPr/>
          <a:lstStyle/>
          <a:p>
            <a:endParaRPr lang="en-CA" sz="1400" i="1"/>
          </a:p>
        </p:txBody>
      </p:sp>
      <p:sp>
        <p:nvSpPr>
          <p:cNvPr id="25" name="Text 23"/>
          <p:cNvSpPr/>
          <p:nvPr/>
        </p:nvSpPr>
        <p:spPr>
          <a:xfrm>
            <a:off x="795528" y="5798398"/>
            <a:ext cx="10247234" cy="475488"/>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rPr sz="1900" i="1" dirty="0">
                <a:latin typeface="+mj-lt"/>
              </a:rPr>
              <a:t>A portable harness knows the paths to product truth. It does not carry the product truth.</a:t>
            </a:r>
            <a:endParaRPr lang="en-US" sz="1900" i="1" dirty="0">
              <a:latin typeface="+mj-lt"/>
            </a:endParaRPr>
          </a:p>
        </p:txBody>
      </p:sp>
      <p:sp>
        <p:nvSpPr>
          <p:cNvPr id="26"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spcBef>
                <a:spcPts val="0"/>
              </a:spcBef>
              <a:spcAft>
                <a:spcPts val="0"/>
              </a:spcAft>
              <a:buNone/>
              <a:defRPr sz="1000" b="1">
                <a:solidFill>
                  <a:srgbClr val="006EBE"/>
                </a:solidFill>
                <a:latin typeface="Aptos"/>
              </a:defRPr>
            </a:pPr>
            <a:r>
              <a:t>COPYING IS NOT A CHANGE STRATEGY</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a:spcBef>
                <a:spcPts val="0"/>
              </a:spcBef>
              <a:spcAft>
                <a:spcPts val="0"/>
              </a:spcAft>
              <a:defRPr sz="2800" b="1">
                <a:solidFill>
                  <a:srgbClr val="0F2340"/>
                </a:solidFill>
                <a:latin typeface="Aptos"/>
              </a:defRPr>
            </a:pPr>
            <a:r>
              <a:t>We already solved this problem for code</a:t>
            </a:r>
            <a:endParaRPr lang="en-US" sz="2800" dirty="0"/>
          </a:p>
        </p:txBody>
      </p:sp>
      <p:sp>
        <p:nvSpPr>
          <p:cNvPr id="4" name="Shape 2"/>
          <p:cNvSpPr/>
          <p:nvPr/>
        </p:nvSpPr>
        <p:spPr>
          <a:xfrm>
            <a:off x="658368" y="1307592"/>
            <a:ext cx="4114800" cy="3886200"/>
          </a:xfrm>
          <a:prstGeom prst="roundRect">
            <a:avLst>
              <a:gd name="adj" fmla="val 1176"/>
            </a:avLst>
          </a:prstGeom>
          <a:solidFill>
            <a:srgbClr val="111827"/>
          </a:solidFill>
          <a:ln w="12700">
            <a:solidFill>
              <a:srgbClr val="111827"/>
            </a:solidFill>
            <a:prstDash val="solid"/>
          </a:ln>
        </p:spPr>
        <p:txBody>
          <a:bodyPr/>
          <a:lstStyle/>
          <a:p>
            <a:endParaRPr lang="en-CA"/>
          </a:p>
        </p:txBody>
      </p:sp>
      <p:sp>
        <p:nvSpPr>
          <p:cNvPr id="5" name="Text 3"/>
          <p:cNvSpPr/>
          <p:nvPr/>
        </p:nvSpPr>
        <p:spPr>
          <a:xfrm>
            <a:off x="877824" y="1490472"/>
            <a:ext cx="3675888" cy="3538728"/>
          </a:xfrm>
          <a:prstGeom prst="rect">
            <a:avLst/>
          </a:prstGeom>
          <a:noFill/>
          <a:ln/>
        </p:spPr>
        <p:txBody>
          <a:bodyPr wrap="square" lIns="0" tIns="0" rIns="0" bIns="0" rtlCol="0" anchor="ctr">
            <a:normAutofit/>
          </a:bodyPr>
          <a:lstStyle/>
          <a:p>
            <a:pPr marL="0" indent="0">
              <a:spcBef>
                <a:spcPts val="0"/>
              </a:spcBef>
              <a:spcAft>
                <a:spcPts val="0"/>
              </a:spcAft>
              <a:buNone/>
              <a:defRPr sz="1500" b="1">
                <a:solidFill>
                  <a:srgbClr val="0F2340"/>
                </a:solidFill>
                <a:latin typeface="Aptos"/>
              </a:defRPr>
            </a:pPr>
            <a:r>
              <a:rPr dirty="0">
                <a:solidFill>
                  <a:schemeClr val="bg2"/>
                </a:solidFill>
              </a:rPr>
              <a:t>COPIED HARNESS</a:t>
            </a:r>
            <a:endParaRPr lang="en-US" sz="1450" dirty="0">
              <a:solidFill>
                <a:schemeClr val="bg2"/>
              </a:solidFill>
            </a:endParaRPr>
          </a:p>
          <a:p>
            <a:pPr>
              <a:spcBef>
                <a:spcPts val="0"/>
              </a:spcBef>
              <a:spcAft>
                <a:spcPts val="0"/>
              </a:spcAft>
              <a:defRPr sz="1500" b="1">
                <a:solidFill>
                  <a:srgbClr val="0F2340"/>
                </a:solidFill>
                <a:latin typeface="Aptos"/>
              </a:defRPr>
            </a:pPr>
            <a:endParaRPr lang="en-US" sz="1450" dirty="0">
              <a:solidFill>
                <a:schemeClr val="bg2"/>
              </a:solidFill>
            </a:endParaRPr>
          </a:p>
          <a:p>
            <a:pPr>
              <a:spcBef>
                <a:spcPts val="0"/>
              </a:spcBef>
              <a:spcAft>
                <a:spcPts val="0"/>
              </a:spcAft>
              <a:defRPr sz="1500" b="1">
                <a:solidFill>
                  <a:srgbClr val="0F2340"/>
                </a:solidFill>
                <a:latin typeface="Aptos"/>
              </a:defRPr>
            </a:pPr>
            <a:r>
              <a:rPr dirty="0">
                <a:solidFill>
                  <a:schemeClr val="bg2"/>
                </a:solidFill>
              </a:rPr>
              <a:t>Project 1  .</a:t>
            </a:r>
            <a:r>
              <a:rPr dirty="0" err="1">
                <a:solidFill>
                  <a:schemeClr val="bg2"/>
                </a:solidFill>
              </a:rPr>
              <a:t>github</a:t>
            </a:r>
            <a:r>
              <a:rPr dirty="0">
                <a:solidFill>
                  <a:schemeClr val="bg2"/>
                </a:solidFill>
              </a:rPr>
              <a:t>/...</a:t>
            </a:r>
          </a:p>
          <a:p>
            <a:pPr>
              <a:spcBef>
                <a:spcPts val="0"/>
              </a:spcBef>
              <a:spcAft>
                <a:spcPts val="0"/>
              </a:spcAft>
              <a:defRPr sz="1500" b="1">
                <a:solidFill>
                  <a:srgbClr val="0F2340"/>
                </a:solidFill>
                <a:latin typeface="Aptos"/>
              </a:defRPr>
            </a:pPr>
            <a:r>
              <a:rPr dirty="0">
                <a:solidFill>
                  <a:schemeClr val="bg2"/>
                </a:solidFill>
              </a:rPr>
              <a:t>Project 2  .</a:t>
            </a:r>
            <a:r>
              <a:rPr dirty="0" err="1">
                <a:solidFill>
                  <a:schemeClr val="bg2"/>
                </a:solidFill>
              </a:rPr>
              <a:t>github</a:t>
            </a:r>
            <a:r>
              <a:rPr dirty="0">
                <a:solidFill>
                  <a:schemeClr val="bg2"/>
                </a:solidFill>
              </a:rPr>
              <a:t>/...</a:t>
            </a:r>
          </a:p>
          <a:p>
            <a:pPr>
              <a:spcBef>
                <a:spcPts val="0"/>
              </a:spcBef>
              <a:spcAft>
                <a:spcPts val="0"/>
              </a:spcAft>
              <a:defRPr sz="1500" b="1">
                <a:solidFill>
                  <a:srgbClr val="0F2340"/>
                </a:solidFill>
                <a:latin typeface="Aptos"/>
              </a:defRPr>
            </a:pPr>
            <a:r>
              <a:rPr dirty="0">
                <a:solidFill>
                  <a:schemeClr val="bg2"/>
                </a:solidFill>
              </a:rPr>
              <a:t>Project 3  .</a:t>
            </a:r>
            <a:r>
              <a:rPr dirty="0" err="1">
                <a:solidFill>
                  <a:schemeClr val="bg2"/>
                </a:solidFill>
              </a:rPr>
              <a:t>github</a:t>
            </a:r>
            <a:r>
              <a:rPr dirty="0">
                <a:solidFill>
                  <a:schemeClr val="bg2"/>
                </a:solidFill>
              </a:rPr>
              <a:t>/...</a:t>
            </a:r>
          </a:p>
          <a:p>
            <a:pPr>
              <a:spcBef>
                <a:spcPts val="0"/>
              </a:spcBef>
              <a:spcAft>
                <a:spcPts val="0"/>
              </a:spcAft>
              <a:defRPr sz="1500" b="1">
                <a:solidFill>
                  <a:srgbClr val="0F2340"/>
                </a:solidFill>
                <a:latin typeface="Aptos"/>
              </a:defRPr>
            </a:pPr>
            <a:endParaRPr dirty="0">
              <a:solidFill>
                <a:schemeClr val="bg2"/>
              </a:solidFill>
            </a:endParaRPr>
          </a:p>
          <a:p>
            <a:pPr>
              <a:spcBef>
                <a:spcPts val="0"/>
              </a:spcBef>
              <a:spcAft>
                <a:spcPts val="0"/>
              </a:spcAft>
              <a:defRPr sz="1500" b="1">
                <a:solidFill>
                  <a:srgbClr val="0F2340"/>
                </a:solidFill>
                <a:latin typeface="Aptos"/>
              </a:defRPr>
            </a:pPr>
            <a:r>
              <a:rPr dirty="0">
                <a:solidFill>
                  <a:schemeClr val="bg2"/>
                </a:solidFill>
              </a:rPr>
              <a:t>Which version is current?</a:t>
            </a:r>
          </a:p>
          <a:p>
            <a:pPr>
              <a:spcBef>
                <a:spcPts val="0"/>
              </a:spcBef>
              <a:spcAft>
                <a:spcPts val="0"/>
              </a:spcAft>
              <a:defRPr sz="1500" b="1">
                <a:solidFill>
                  <a:srgbClr val="0F2340"/>
                </a:solidFill>
                <a:latin typeface="Aptos"/>
              </a:defRPr>
            </a:pPr>
            <a:r>
              <a:rPr dirty="0">
                <a:solidFill>
                  <a:schemeClr val="bg2"/>
                </a:solidFill>
              </a:rPr>
              <a:t>Which change reached every project?</a:t>
            </a:r>
          </a:p>
          <a:p>
            <a:pPr>
              <a:spcBef>
                <a:spcPts val="0"/>
              </a:spcBef>
              <a:spcAft>
                <a:spcPts val="0"/>
              </a:spcAft>
              <a:defRPr sz="1500" b="1">
                <a:solidFill>
                  <a:srgbClr val="0F2340"/>
                </a:solidFill>
                <a:latin typeface="Aptos"/>
              </a:defRPr>
            </a:pPr>
            <a:r>
              <a:rPr dirty="0">
                <a:solidFill>
                  <a:schemeClr val="bg2"/>
                </a:solidFill>
              </a:rPr>
              <a:t>Where did the copies drift?</a:t>
            </a:r>
          </a:p>
        </p:txBody>
      </p:sp>
      <p:sp>
        <p:nvSpPr>
          <p:cNvPr id="6" name="Shape 4"/>
          <p:cNvSpPr/>
          <p:nvPr/>
        </p:nvSpPr>
        <p:spPr>
          <a:xfrm>
            <a:off x="5303520" y="1307592"/>
            <a:ext cx="2606040" cy="987552"/>
          </a:xfrm>
          <a:prstGeom prst="roundRect">
            <a:avLst>
              <a:gd name="adj" fmla="val 7407"/>
            </a:avLst>
          </a:prstGeom>
          <a:solidFill>
            <a:srgbClr val="E8F1FF"/>
          </a:solidFill>
          <a:ln w="12700">
            <a:solidFill>
              <a:srgbClr val="E8F1FF"/>
            </a:solidFill>
            <a:prstDash val="solid"/>
          </a:ln>
        </p:spPr>
        <p:txBody>
          <a:bodyPr/>
          <a:lstStyle/>
          <a:p>
            <a:endParaRPr lang="en-CA"/>
          </a:p>
        </p:txBody>
      </p:sp>
      <p:sp>
        <p:nvSpPr>
          <p:cNvPr id="7" name="Text 5"/>
          <p:cNvSpPr/>
          <p:nvPr/>
        </p:nvSpPr>
        <p:spPr>
          <a:xfrm>
            <a:off x="5504688" y="1472184"/>
            <a:ext cx="2203704" cy="256032"/>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t>One package source</a:t>
            </a:r>
            <a:endParaRPr lang="en-US" sz="1600" dirty="0"/>
          </a:p>
        </p:txBody>
      </p:sp>
      <p:sp>
        <p:nvSpPr>
          <p:cNvPr id="8" name="Text 6"/>
          <p:cNvSpPr/>
          <p:nvPr/>
        </p:nvSpPr>
        <p:spPr>
          <a:xfrm>
            <a:off x="5504688" y="1837944"/>
            <a:ext cx="2203704" cy="237744"/>
          </a:xfrm>
          <a:prstGeom prst="rect">
            <a:avLst/>
          </a:prstGeom>
          <a:noFill/>
          <a:ln/>
        </p:spPr>
        <p:txBody>
          <a:bodyPr wrap="square" lIns="0" tIns="0" rIns="0" bIns="0" rtlCol="0" anchor="ctr">
            <a:normAutofit/>
          </a:bodyPr>
          <a:lstStyle/>
          <a:p>
            <a:pPr marL="0" indent="0">
              <a:spcBef>
                <a:spcPts val="0"/>
              </a:spcBef>
              <a:spcAft>
                <a:spcPts val="0"/>
              </a:spcAft>
              <a:buNone/>
              <a:defRPr sz="1050" b="0">
                <a:solidFill>
                  <a:srgbClr val="212B36"/>
                </a:solidFill>
                <a:latin typeface="Aptos"/>
              </a:defRPr>
            </a:pPr>
            <a:r>
              <a:t>A single home for reusable behavior</a:t>
            </a:r>
            <a:endParaRPr lang="en-US" sz="1250" dirty="0"/>
          </a:p>
        </p:txBody>
      </p:sp>
      <p:sp>
        <p:nvSpPr>
          <p:cNvPr id="9" name="Shape 7"/>
          <p:cNvSpPr/>
          <p:nvPr/>
        </p:nvSpPr>
        <p:spPr>
          <a:xfrm>
            <a:off x="8275320" y="1307592"/>
            <a:ext cx="2606040" cy="987552"/>
          </a:xfrm>
          <a:prstGeom prst="roundRect">
            <a:avLst>
              <a:gd name="adj" fmla="val 7407"/>
            </a:avLst>
          </a:prstGeom>
          <a:solidFill>
            <a:srgbClr val="DDF5F1"/>
          </a:solidFill>
          <a:ln w="12700">
            <a:solidFill>
              <a:srgbClr val="DDF5F1"/>
            </a:solidFill>
            <a:prstDash val="solid"/>
          </a:ln>
        </p:spPr>
        <p:txBody>
          <a:bodyPr/>
          <a:lstStyle/>
          <a:p>
            <a:endParaRPr lang="en-CA"/>
          </a:p>
        </p:txBody>
      </p:sp>
      <p:sp>
        <p:nvSpPr>
          <p:cNvPr id="10" name="Text 8"/>
          <p:cNvSpPr/>
          <p:nvPr/>
        </p:nvSpPr>
        <p:spPr>
          <a:xfrm>
            <a:off x="8476488" y="1472184"/>
            <a:ext cx="2203704" cy="256032"/>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t>Versions + lockfile</a:t>
            </a:r>
            <a:endParaRPr lang="en-US" sz="1600" dirty="0"/>
          </a:p>
        </p:txBody>
      </p:sp>
      <p:sp>
        <p:nvSpPr>
          <p:cNvPr id="11" name="Text 9"/>
          <p:cNvSpPr/>
          <p:nvPr/>
        </p:nvSpPr>
        <p:spPr>
          <a:xfrm>
            <a:off x="8476488" y="1837944"/>
            <a:ext cx="2203704" cy="237744"/>
          </a:xfrm>
          <a:prstGeom prst="rect">
            <a:avLst/>
          </a:prstGeom>
          <a:noFill/>
          <a:ln/>
        </p:spPr>
        <p:txBody>
          <a:bodyPr wrap="square" lIns="0" tIns="0" rIns="0" bIns="0" rtlCol="0" anchor="ctr">
            <a:normAutofit fontScale="85000" lnSpcReduction="20000"/>
          </a:bodyPr>
          <a:lstStyle/>
          <a:p>
            <a:pPr marL="0" indent="0">
              <a:spcBef>
                <a:spcPts val="0"/>
              </a:spcBef>
              <a:spcAft>
                <a:spcPts val="0"/>
              </a:spcAft>
              <a:buNone/>
              <a:defRPr sz="1050" b="0">
                <a:solidFill>
                  <a:srgbClr val="212B36"/>
                </a:solidFill>
                <a:latin typeface="Aptos"/>
              </a:defRPr>
            </a:pPr>
            <a:r>
              <a:t>A known dependency, not an anonymous copy</a:t>
            </a:r>
            <a:endParaRPr lang="en-US" sz="1250" dirty="0"/>
          </a:p>
        </p:txBody>
      </p:sp>
      <p:sp>
        <p:nvSpPr>
          <p:cNvPr id="12" name="Shape 10"/>
          <p:cNvSpPr/>
          <p:nvPr/>
        </p:nvSpPr>
        <p:spPr>
          <a:xfrm>
            <a:off x="5303520" y="2615184"/>
            <a:ext cx="2606040" cy="987552"/>
          </a:xfrm>
          <a:prstGeom prst="roundRect">
            <a:avLst>
              <a:gd name="adj" fmla="val 7407"/>
            </a:avLst>
          </a:prstGeom>
          <a:solidFill>
            <a:srgbClr val="FFF2D8"/>
          </a:solidFill>
          <a:ln w="12700">
            <a:solidFill>
              <a:srgbClr val="FFF2D8"/>
            </a:solidFill>
            <a:prstDash val="solid"/>
          </a:ln>
        </p:spPr>
        <p:txBody>
          <a:bodyPr/>
          <a:lstStyle/>
          <a:p>
            <a:endParaRPr lang="en-CA"/>
          </a:p>
        </p:txBody>
      </p:sp>
      <p:sp>
        <p:nvSpPr>
          <p:cNvPr id="13" name="Text 11"/>
          <p:cNvSpPr/>
          <p:nvPr/>
        </p:nvSpPr>
        <p:spPr>
          <a:xfrm>
            <a:off x="5504688" y="2779776"/>
            <a:ext cx="2203704" cy="256032"/>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t>Install + update</a:t>
            </a:r>
            <a:endParaRPr lang="en-US" sz="1600" dirty="0"/>
          </a:p>
        </p:txBody>
      </p:sp>
      <p:sp>
        <p:nvSpPr>
          <p:cNvPr id="14" name="Text 12"/>
          <p:cNvSpPr/>
          <p:nvPr/>
        </p:nvSpPr>
        <p:spPr>
          <a:xfrm>
            <a:off x="5504688" y="3145536"/>
            <a:ext cx="2203704" cy="237744"/>
          </a:xfrm>
          <a:prstGeom prst="rect">
            <a:avLst/>
          </a:prstGeom>
          <a:noFill/>
          <a:ln/>
        </p:spPr>
        <p:txBody>
          <a:bodyPr wrap="square" lIns="0" tIns="0" rIns="0" bIns="0" rtlCol="0" anchor="ctr">
            <a:normAutofit fontScale="85000" lnSpcReduction="20000"/>
          </a:bodyPr>
          <a:lstStyle/>
          <a:p>
            <a:pPr marL="0" indent="0">
              <a:spcBef>
                <a:spcPts val="0"/>
              </a:spcBef>
              <a:spcAft>
                <a:spcPts val="0"/>
              </a:spcAft>
              <a:buNone/>
              <a:defRPr sz="1050" b="0">
                <a:solidFill>
                  <a:srgbClr val="212B36"/>
                </a:solidFill>
                <a:latin typeface="Aptos"/>
              </a:defRPr>
            </a:pPr>
            <a:r>
              <a:t>Deliberate propagation instead of ad hoc replacement</a:t>
            </a:r>
            <a:endParaRPr lang="en-US" sz="1250" dirty="0"/>
          </a:p>
        </p:txBody>
      </p:sp>
      <p:sp>
        <p:nvSpPr>
          <p:cNvPr id="15" name="Shape 13"/>
          <p:cNvSpPr/>
          <p:nvPr/>
        </p:nvSpPr>
        <p:spPr>
          <a:xfrm>
            <a:off x="8275320" y="2615184"/>
            <a:ext cx="2606040" cy="987552"/>
          </a:xfrm>
          <a:prstGeom prst="roundRect">
            <a:avLst>
              <a:gd name="adj" fmla="val 7407"/>
            </a:avLst>
          </a:prstGeom>
          <a:solidFill>
            <a:srgbClr val="E9E7FF"/>
          </a:solidFill>
          <a:ln w="12700">
            <a:solidFill>
              <a:srgbClr val="E9E7FF"/>
            </a:solidFill>
            <a:prstDash val="solid"/>
          </a:ln>
        </p:spPr>
        <p:txBody>
          <a:bodyPr/>
          <a:lstStyle/>
          <a:p>
            <a:endParaRPr lang="en-CA"/>
          </a:p>
        </p:txBody>
      </p:sp>
      <p:sp>
        <p:nvSpPr>
          <p:cNvPr id="16" name="Text 14"/>
          <p:cNvSpPr/>
          <p:nvPr/>
        </p:nvSpPr>
        <p:spPr>
          <a:xfrm>
            <a:off x="8476488" y="2779776"/>
            <a:ext cx="2203704" cy="256032"/>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t>Audit drift</a:t>
            </a:r>
            <a:endParaRPr lang="en-US" sz="1600" dirty="0"/>
          </a:p>
        </p:txBody>
      </p:sp>
      <p:sp>
        <p:nvSpPr>
          <p:cNvPr id="17" name="Text 15"/>
          <p:cNvSpPr/>
          <p:nvPr/>
        </p:nvSpPr>
        <p:spPr>
          <a:xfrm>
            <a:off x="8476488" y="3145536"/>
            <a:ext cx="2203704" cy="237744"/>
          </a:xfrm>
          <a:prstGeom prst="rect">
            <a:avLst/>
          </a:prstGeom>
          <a:noFill/>
          <a:ln/>
        </p:spPr>
        <p:txBody>
          <a:bodyPr wrap="square" lIns="0" tIns="0" rIns="0" bIns="0" rtlCol="0" anchor="ctr">
            <a:normAutofit/>
          </a:bodyPr>
          <a:lstStyle/>
          <a:p>
            <a:pPr marL="0" indent="0">
              <a:spcBef>
                <a:spcPts val="0"/>
              </a:spcBef>
              <a:spcAft>
                <a:spcPts val="0"/>
              </a:spcAft>
              <a:buNone/>
              <a:defRPr sz="1050" b="0">
                <a:solidFill>
                  <a:srgbClr val="212B36"/>
                </a:solidFill>
                <a:latin typeface="Aptos"/>
              </a:defRPr>
            </a:pPr>
            <a:r>
              <a:t>Detect changes to the deployed copy</a:t>
            </a:r>
            <a:endParaRPr lang="en-US" sz="1250" dirty="0"/>
          </a:p>
        </p:txBody>
      </p:sp>
      <p:sp>
        <p:nvSpPr>
          <p:cNvPr id="18" name="Shape 16"/>
          <p:cNvSpPr/>
          <p:nvPr/>
        </p:nvSpPr>
        <p:spPr>
          <a:xfrm>
            <a:off x="5303520" y="3922776"/>
            <a:ext cx="5577840" cy="987552"/>
          </a:xfrm>
          <a:prstGeom prst="roundRect">
            <a:avLst>
              <a:gd name="adj" fmla="val 7407"/>
            </a:avLst>
          </a:prstGeom>
          <a:solidFill>
            <a:srgbClr val="E1F4EA"/>
          </a:solidFill>
          <a:ln w="12700">
            <a:solidFill>
              <a:srgbClr val="E1F4EA"/>
            </a:solidFill>
            <a:prstDash val="solid"/>
          </a:ln>
        </p:spPr>
        <p:txBody>
          <a:bodyPr/>
          <a:lstStyle/>
          <a:p>
            <a:endParaRPr lang="en-CA"/>
          </a:p>
        </p:txBody>
      </p:sp>
      <p:sp>
        <p:nvSpPr>
          <p:cNvPr id="19" name="Text 17"/>
          <p:cNvSpPr/>
          <p:nvPr/>
        </p:nvSpPr>
        <p:spPr>
          <a:xfrm>
            <a:off x="5504688" y="4087368"/>
            <a:ext cx="5175504" cy="256032"/>
          </a:xfrm>
          <a:prstGeom prst="rect">
            <a:avLst/>
          </a:prstGeom>
          <a:noFill/>
          <a:ln/>
        </p:spPr>
        <p:txBody>
          <a:bodyPr wrap="square" lIns="0" tIns="0" rIns="0" bIns="0" rtlCol="0" anchor="ctr">
            <a:normAutofit/>
          </a:bodyPr>
          <a:lstStyle/>
          <a:p>
            <a:pPr marL="0" indent="0">
              <a:spcBef>
                <a:spcPts val="0"/>
              </a:spcBef>
              <a:spcAft>
                <a:spcPts val="0"/>
              </a:spcAft>
              <a:buNone/>
              <a:defRPr sz="1350" b="1">
                <a:solidFill>
                  <a:srgbClr val="0F2340"/>
                </a:solidFill>
                <a:latin typeface="Aptos"/>
              </a:defRPr>
            </a:pPr>
            <a:r>
              <a:t>The familiar answer</a:t>
            </a:r>
            <a:endParaRPr lang="en-US" sz="1600" dirty="0"/>
          </a:p>
        </p:txBody>
      </p:sp>
      <p:sp>
        <p:nvSpPr>
          <p:cNvPr id="20" name="Text 18"/>
          <p:cNvSpPr/>
          <p:nvPr/>
        </p:nvSpPr>
        <p:spPr>
          <a:xfrm>
            <a:off x="5504688" y="4453128"/>
            <a:ext cx="5175504" cy="237744"/>
          </a:xfrm>
          <a:prstGeom prst="rect">
            <a:avLst/>
          </a:prstGeom>
          <a:noFill/>
          <a:ln/>
        </p:spPr>
        <p:txBody>
          <a:bodyPr wrap="square" lIns="0" tIns="0" rIns="0" bIns="0" rtlCol="0" anchor="ctr">
            <a:normAutofit/>
          </a:bodyPr>
          <a:lstStyle/>
          <a:p>
            <a:pPr marL="0" indent="0">
              <a:spcBef>
                <a:spcPts val="0"/>
              </a:spcBef>
              <a:spcAft>
                <a:spcPts val="0"/>
              </a:spcAft>
              <a:buNone/>
              <a:defRPr sz="1050" b="0">
                <a:solidFill>
                  <a:srgbClr val="212B36"/>
                </a:solidFill>
                <a:latin typeface="Aptos"/>
              </a:defRPr>
            </a:pPr>
            <a:r>
              <a:t>Package reusable behavior; consume it as a dependency</a:t>
            </a:r>
            <a:endParaRPr lang="en-US" sz="1250" dirty="0"/>
          </a:p>
        </p:txBody>
      </p:sp>
      <p:sp>
        <p:nvSpPr>
          <p:cNvPr id="21" name="Shape 19"/>
          <p:cNvSpPr/>
          <p:nvPr/>
        </p:nvSpPr>
        <p:spPr>
          <a:xfrm>
            <a:off x="566928" y="5522976"/>
            <a:ext cx="64008" cy="621792"/>
          </a:xfrm>
          <a:prstGeom prst="rect">
            <a:avLst/>
          </a:prstGeom>
          <a:solidFill>
            <a:srgbClr val="3B82F6"/>
          </a:solidFill>
          <a:ln w="12700">
            <a:solidFill>
              <a:srgbClr val="3B82F6"/>
            </a:solidFill>
            <a:prstDash val="solid"/>
          </a:ln>
        </p:spPr>
        <p:txBody>
          <a:bodyPr/>
          <a:lstStyle/>
          <a:p>
            <a:endParaRPr lang="en-CA"/>
          </a:p>
        </p:txBody>
      </p:sp>
      <p:sp>
        <p:nvSpPr>
          <p:cNvPr id="22" name="Text 20"/>
          <p:cNvSpPr/>
          <p:nvPr/>
        </p:nvSpPr>
        <p:spPr>
          <a:xfrm>
            <a:off x="746760" y="5559552"/>
            <a:ext cx="10878312" cy="585216"/>
          </a:xfrm>
          <a:prstGeom prst="rect">
            <a:avLst/>
          </a:prstGeom>
          <a:noFill/>
          <a:ln/>
        </p:spPr>
        <p:txBody>
          <a:bodyPr wrap="square" lIns="0" tIns="0" rIns="0" bIns="0" rtlCol="0" anchor="ctr">
            <a:normAutofit/>
          </a:bodyPr>
          <a:lstStyle/>
          <a:p>
            <a:pPr marL="0" indent="0">
              <a:spcBef>
                <a:spcPts val="0"/>
              </a:spcBef>
              <a:spcAft>
                <a:spcPts val="0"/>
              </a:spcAft>
              <a:buNone/>
              <a:defRPr sz="1100" b="0">
                <a:solidFill>
                  <a:srgbClr val="596575"/>
                </a:solidFill>
                <a:latin typeface="Aptos"/>
              </a:defRPr>
            </a:pPr>
            <a:r>
              <a:rPr sz="1900" i="1" dirty="0">
                <a:latin typeface="+mj-lt"/>
              </a:rPr>
              <a:t>Code gave us NuGet and </a:t>
            </a:r>
            <a:r>
              <a:rPr sz="1900" i="1" dirty="0" err="1">
                <a:latin typeface="+mj-lt"/>
              </a:rPr>
              <a:t>npm</a:t>
            </a:r>
            <a:r>
              <a:rPr sz="1900" i="1" dirty="0">
                <a:latin typeface="+mj-lt"/>
              </a:rPr>
              <a:t>. APM applies the same discipline to agent context.</a:t>
            </a:r>
            <a:endParaRPr lang="en-US" sz="1900" i="1" dirty="0">
              <a:latin typeface="+mj-lt"/>
            </a:endParaRPr>
          </a:p>
        </p:txBody>
      </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spcBef>
                <a:spcPts val="0"/>
              </a:spcBef>
              <a:spcAft>
                <a:spcPts val="0"/>
              </a:spcAft>
              <a:buNone/>
              <a:defRPr sz="1000" b="1">
                <a:solidFill>
                  <a:srgbClr val="006EBE"/>
                </a:solidFill>
                <a:latin typeface="Aptos"/>
              </a:defRPr>
            </a:pPr>
            <a:r>
              <a:t>APM IS THE DISTRIBUTION LAYER</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spcBef>
                <a:spcPts val="0"/>
              </a:spcBef>
              <a:spcAft>
                <a:spcPts val="0"/>
              </a:spcAft>
              <a:buNone/>
              <a:defRPr sz="2700" b="1">
                <a:solidFill>
                  <a:srgbClr val="0F2340"/>
                </a:solidFill>
                <a:latin typeface="Aptos"/>
              </a:defRPr>
            </a:pPr>
            <a:r>
              <a:t>One source. Controlled installation in every consumer.</a:t>
            </a:r>
            <a:endParaRPr lang="en-US" sz="2800"/>
          </a:p>
        </p:txBody>
      </p:sp>
      <p:sp>
        <p:nvSpPr>
          <p:cNvPr id="4" name="Shape 2"/>
          <p:cNvSpPr/>
          <p:nvPr/>
        </p:nvSpPr>
        <p:spPr>
          <a:xfrm>
            <a:off x="749808" y="1335024"/>
            <a:ext cx="10698480" cy="1170432"/>
          </a:xfrm>
          <a:prstGeom prst="roundRect">
            <a:avLst>
              <a:gd name="adj" fmla="val 6250"/>
            </a:avLst>
          </a:prstGeom>
          <a:solidFill>
            <a:srgbClr val="E8F1FF"/>
          </a:solidFill>
          <a:ln w="12700">
            <a:solidFill>
              <a:srgbClr val="E8F1FF"/>
            </a:solidFill>
            <a:prstDash val="solid"/>
          </a:ln>
        </p:spPr>
        <p:txBody>
          <a:bodyPr/>
          <a:lstStyle/>
          <a:p>
            <a:endParaRPr lang="en-CA"/>
          </a:p>
        </p:txBody>
      </p:sp>
      <p:sp>
        <p:nvSpPr>
          <p:cNvPr id="5" name="Shape 3"/>
          <p:cNvSpPr/>
          <p:nvPr/>
        </p:nvSpPr>
        <p:spPr>
          <a:xfrm>
            <a:off x="1024128" y="1655064"/>
            <a:ext cx="585216" cy="585216"/>
          </a:xfrm>
          <a:prstGeom prst="ellipse">
            <a:avLst/>
          </a:prstGeom>
          <a:solidFill>
            <a:srgbClr val="1E40AF"/>
          </a:solidFill>
          <a:ln w="12700">
            <a:solidFill>
              <a:srgbClr val="1E40AF"/>
            </a:solidFill>
            <a:prstDash val="solid"/>
          </a:ln>
        </p:spPr>
        <p:txBody>
          <a:bodyPr/>
          <a:lstStyle/>
          <a:p>
            <a:endParaRPr lang="en-CA"/>
          </a:p>
        </p:txBody>
      </p:sp>
      <p:sp>
        <p:nvSpPr>
          <p:cNvPr id="6" name="Text 4"/>
          <p:cNvSpPr/>
          <p:nvPr/>
        </p:nvSpPr>
        <p:spPr>
          <a:xfrm>
            <a:off x="1024128" y="1746504"/>
            <a:ext cx="585216" cy="407416"/>
          </a:xfrm>
          <a:prstGeom prst="rect">
            <a:avLst/>
          </a:prstGeom>
          <a:noFill/>
          <a:ln/>
        </p:spPr>
        <p:txBody>
          <a:bodyPr wrap="square" lIns="0" tIns="0" rIns="0" bIns="0" rtlCol="0" anchor="ctr"/>
          <a:lstStyle/>
          <a:p>
            <a:pPr marL="0" indent="0" algn="ctr">
              <a:spcBef>
                <a:spcPts val="0"/>
              </a:spcBef>
              <a:spcAft>
                <a:spcPts val="0"/>
              </a:spcAft>
              <a:buNone/>
              <a:defRPr sz="1700" b="1">
                <a:solidFill>
                  <a:srgbClr val="006EBE"/>
                </a:solidFill>
                <a:latin typeface="Aptos"/>
              </a:defRPr>
            </a:pPr>
            <a:r>
              <a:rPr dirty="0">
                <a:solidFill>
                  <a:schemeClr val="tx2">
                    <a:lumMod val="20000"/>
                    <a:lumOff val="80000"/>
                  </a:schemeClr>
                </a:solidFill>
              </a:rPr>
              <a:t>1</a:t>
            </a:r>
            <a:endParaRPr lang="en-US" sz="1400" dirty="0">
              <a:solidFill>
                <a:schemeClr val="tx2">
                  <a:lumMod val="20000"/>
                  <a:lumOff val="80000"/>
                </a:schemeClr>
              </a:solidFill>
            </a:endParaRPr>
          </a:p>
        </p:txBody>
      </p:sp>
      <p:sp>
        <p:nvSpPr>
          <p:cNvPr id="7" name="Text 5"/>
          <p:cNvSpPr/>
          <p:nvPr/>
        </p:nvSpPr>
        <p:spPr>
          <a:xfrm>
            <a:off x="1874520" y="1563624"/>
            <a:ext cx="3886200" cy="25603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HARNESS PACKAGE</a:t>
            </a:r>
            <a:endParaRPr lang="en-US" sz="1500" dirty="0"/>
          </a:p>
        </p:txBody>
      </p:sp>
      <p:sp>
        <p:nvSpPr>
          <p:cNvPr id="8" name="Text 6"/>
          <p:cNvSpPr/>
          <p:nvPr/>
        </p:nvSpPr>
        <p:spPr>
          <a:xfrm>
            <a:off x="1874520" y="1947672"/>
            <a:ext cx="8823960" cy="301752"/>
          </a:xfrm>
          <a:prstGeom prst="rect">
            <a:avLst/>
          </a:prstGeom>
          <a:noFill/>
          <a:ln/>
        </p:spPr>
        <p:txBody>
          <a:bodyPr wrap="square" lIns="0" tIns="0" rIns="0" bIns="0" rtlCol="0" anchor="ctr">
            <a:normAutofit/>
          </a:bodyPr>
          <a:lstStyle/>
          <a:p>
            <a:pPr marL="0" indent="0">
              <a:spcBef>
                <a:spcPts val="0"/>
              </a:spcBef>
              <a:spcAft>
                <a:spcPts val="0"/>
              </a:spcAft>
              <a:buNone/>
              <a:defRPr sz="1300" b="0">
                <a:solidFill>
                  <a:srgbClr val="212B36"/>
                </a:solidFill>
                <a:latin typeface="Aptos"/>
              </a:defRPr>
            </a:pPr>
            <a:r>
              <a:t>Source of truth: apm.yml + .apm/agents + .apm/skills</a:t>
            </a:r>
            <a:endParaRPr lang="en-US" sz="1600" dirty="0"/>
          </a:p>
        </p:txBody>
      </p:sp>
      <p:sp>
        <p:nvSpPr>
          <p:cNvPr id="9" name="Shape 7"/>
          <p:cNvSpPr/>
          <p:nvPr/>
        </p:nvSpPr>
        <p:spPr>
          <a:xfrm>
            <a:off x="749808" y="2685800"/>
            <a:ext cx="10698480" cy="1170432"/>
          </a:xfrm>
          <a:prstGeom prst="roundRect">
            <a:avLst>
              <a:gd name="adj" fmla="val 6250"/>
            </a:avLst>
          </a:prstGeom>
          <a:solidFill>
            <a:srgbClr val="DDF5F1"/>
          </a:solidFill>
          <a:ln w="12700">
            <a:solidFill>
              <a:srgbClr val="DDF5F1"/>
            </a:solidFill>
            <a:prstDash val="solid"/>
          </a:ln>
        </p:spPr>
        <p:txBody>
          <a:bodyPr/>
          <a:lstStyle/>
          <a:p>
            <a:endParaRPr lang="en-CA"/>
          </a:p>
        </p:txBody>
      </p:sp>
      <p:sp>
        <p:nvSpPr>
          <p:cNvPr id="10" name="Shape 8"/>
          <p:cNvSpPr/>
          <p:nvPr/>
        </p:nvSpPr>
        <p:spPr>
          <a:xfrm>
            <a:off x="1024128" y="2960120"/>
            <a:ext cx="585216" cy="585216"/>
          </a:xfrm>
          <a:prstGeom prst="ellipse">
            <a:avLst/>
          </a:prstGeom>
          <a:solidFill>
            <a:srgbClr val="0F766E"/>
          </a:solidFill>
          <a:ln w="12700">
            <a:solidFill>
              <a:srgbClr val="0F766E"/>
            </a:solidFill>
            <a:prstDash val="solid"/>
          </a:ln>
        </p:spPr>
        <p:txBody>
          <a:bodyPr/>
          <a:lstStyle/>
          <a:p>
            <a:endParaRPr lang="en-CA" dirty="0">
              <a:solidFill>
                <a:schemeClr val="accent6">
                  <a:lumMod val="20000"/>
                  <a:lumOff val="80000"/>
                </a:schemeClr>
              </a:solidFill>
            </a:endParaRPr>
          </a:p>
        </p:txBody>
      </p:sp>
      <p:sp>
        <p:nvSpPr>
          <p:cNvPr id="11" name="Text 9"/>
          <p:cNvSpPr/>
          <p:nvPr/>
        </p:nvSpPr>
        <p:spPr>
          <a:xfrm>
            <a:off x="1024128" y="3097280"/>
            <a:ext cx="585216" cy="301752"/>
          </a:xfrm>
          <a:prstGeom prst="rect">
            <a:avLst/>
          </a:prstGeom>
          <a:noFill/>
          <a:ln/>
        </p:spPr>
        <p:txBody>
          <a:bodyPr wrap="square" lIns="0" tIns="0" rIns="0" bIns="0" rtlCol="0" anchor="ctr"/>
          <a:lstStyle/>
          <a:p>
            <a:pPr marL="0" indent="0" algn="ctr">
              <a:spcBef>
                <a:spcPts val="0"/>
              </a:spcBef>
              <a:spcAft>
                <a:spcPts val="0"/>
              </a:spcAft>
              <a:buNone/>
              <a:defRPr sz="1700" b="1">
                <a:solidFill>
                  <a:srgbClr val="006EBE"/>
                </a:solidFill>
                <a:latin typeface="Aptos"/>
              </a:defRPr>
            </a:pPr>
            <a:r>
              <a:rPr dirty="0">
                <a:solidFill>
                  <a:schemeClr val="accent6">
                    <a:lumMod val="20000"/>
                    <a:lumOff val="80000"/>
                  </a:schemeClr>
                </a:solidFill>
              </a:rPr>
              <a:t>2</a:t>
            </a:r>
            <a:endParaRPr lang="en-US" sz="1400" dirty="0">
              <a:solidFill>
                <a:schemeClr val="accent6">
                  <a:lumMod val="20000"/>
                  <a:lumOff val="80000"/>
                </a:schemeClr>
              </a:solidFill>
            </a:endParaRPr>
          </a:p>
        </p:txBody>
      </p:sp>
      <p:sp>
        <p:nvSpPr>
          <p:cNvPr id="12" name="Text 10"/>
          <p:cNvSpPr/>
          <p:nvPr/>
        </p:nvSpPr>
        <p:spPr>
          <a:xfrm>
            <a:off x="1874520" y="2914400"/>
            <a:ext cx="3886200" cy="25603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apm install</a:t>
            </a:r>
            <a:endParaRPr lang="en-US" sz="1500" dirty="0"/>
          </a:p>
        </p:txBody>
      </p:sp>
      <p:sp>
        <p:nvSpPr>
          <p:cNvPr id="13" name="Text 11"/>
          <p:cNvSpPr/>
          <p:nvPr/>
        </p:nvSpPr>
        <p:spPr>
          <a:xfrm>
            <a:off x="1874520" y="3298448"/>
            <a:ext cx="8823960" cy="301752"/>
          </a:xfrm>
          <a:prstGeom prst="rect">
            <a:avLst/>
          </a:prstGeom>
          <a:noFill/>
          <a:ln/>
        </p:spPr>
        <p:txBody>
          <a:bodyPr wrap="square" lIns="0" tIns="0" rIns="0" bIns="0" rtlCol="0" anchor="ctr">
            <a:normAutofit/>
          </a:bodyPr>
          <a:lstStyle/>
          <a:p>
            <a:pPr marL="0" indent="0">
              <a:spcBef>
                <a:spcPts val="0"/>
              </a:spcBef>
              <a:spcAft>
                <a:spcPts val="0"/>
              </a:spcAft>
              <a:buNone/>
              <a:defRPr sz="1300" b="0">
                <a:solidFill>
                  <a:srgbClr val="212B36"/>
                </a:solidFill>
                <a:latin typeface="Aptos"/>
              </a:defRPr>
            </a:pPr>
            <a:r>
              <a:t>Resolves the declared package version and records it in apm.lock.yaml</a:t>
            </a:r>
            <a:endParaRPr lang="en-US" sz="1600" dirty="0"/>
          </a:p>
        </p:txBody>
      </p:sp>
      <p:sp>
        <p:nvSpPr>
          <p:cNvPr id="14" name="Shape 12"/>
          <p:cNvSpPr/>
          <p:nvPr/>
        </p:nvSpPr>
        <p:spPr>
          <a:xfrm>
            <a:off x="749808" y="4025563"/>
            <a:ext cx="10698480" cy="1170432"/>
          </a:xfrm>
          <a:prstGeom prst="roundRect">
            <a:avLst>
              <a:gd name="adj" fmla="val 6250"/>
            </a:avLst>
          </a:prstGeom>
          <a:solidFill>
            <a:srgbClr val="FFF2D8"/>
          </a:solidFill>
          <a:ln w="12700">
            <a:solidFill>
              <a:srgbClr val="FFF2D8"/>
            </a:solidFill>
            <a:prstDash val="solid"/>
          </a:ln>
        </p:spPr>
        <p:txBody>
          <a:bodyPr/>
          <a:lstStyle/>
          <a:p>
            <a:endParaRPr lang="en-CA"/>
          </a:p>
        </p:txBody>
      </p:sp>
      <p:sp>
        <p:nvSpPr>
          <p:cNvPr id="15" name="Shape 13"/>
          <p:cNvSpPr/>
          <p:nvPr/>
        </p:nvSpPr>
        <p:spPr>
          <a:xfrm>
            <a:off x="1024128" y="4309027"/>
            <a:ext cx="585216" cy="585216"/>
          </a:xfrm>
          <a:prstGeom prst="ellipse">
            <a:avLst/>
          </a:prstGeom>
          <a:solidFill>
            <a:srgbClr val="D97706"/>
          </a:solidFill>
          <a:ln w="12700">
            <a:solidFill>
              <a:srgbClr val="D97706"/>
            </a:solidFill>
            <a:prstDash val="solid"/>
          </a:ln>
        </p:spPr>
        <p:txBody>
          <a:bodyPr/>
          <a:lstStyle/>
          <a:p>
            <a:endParaRPr lang="en-CA"/>
          </a:p>
        </p:txBody>
      </p:sp>
      <p:sp>
        <p:nvSpPr>
          <p:cNvPr id="16" name="Text 14"/>
          <p:cNvSpPr/>
          <p:nvPr/>
        </p:nvSpPr>
        <p:spPr>
          <a:xfrm>
            <a:off x="1024128" y="4437042"/>
            <a:ext cx="585216" cy="373717"/>
          </a:xfrm>
          <a:prstGeom prst="rect">
            <a:avLst/>
          </a:prstGeom>
          <a:noFill/>
          <a:ln/>
        </p:spPr>
        <p:txBody>
          <a:bodyPr wrap="square" lIns="0" tIns="0" rIns="0" bIns="0" rtlCol="0" anchor="ctr"/>
          <a:lstStyle/>
          <a:p>
            <a:pPr marL="0" indent="0" algn="ctr">
              <a:spcBef>
                <a:spcPts val="0"/>
              </a:spcBef>
              <a:spcAft>
                <a:spcPts val="0"/>
              </a:spcAft>
              <a:buNone/>
              <a:defRPr sz="1700" b="1">
                <a:solidFill>
                  <a:srgbClr val="006EBE"/>
                </a:solidFill>
                <a:latin typeface="Aptos"/>
              </a:defRPr>
            </a:pPr>
            <a:r>
              <a:rPr dirty="0">
                <a:solidFill>
                  <a:schemeClr val="accent2">
                    <a:lumMod val="20000"/>
                    <a:lumOff val="80000"/>
                  </a:schemeClr>
                </a:solidFill>
              </a:rPr>
              <a:t>3</a:t>
            </a:r>
            <a:endParaRPr lang="en-US" sz="1400" dirty="0">
              <a:solidFill>
                <a:schemeClr val="accent2">
                  <a:lumMod val="20000"/>
                  <a:lumOff val="80000"/>
                </a:schemeClr>
              </a:solidFill>
            </a:endParaRPr>
          </a:p>
        </p:txBody>
      </p:sp>
      <p:sp>
        <p:nvSpPr>
          <p:cNvPr id="17" name="Text 15"/>
          <p:cNvSpPr/>
          <p:nvPr/>
        </p:nvSpPr>
        <p:spPr>
          <a:xfrm>
            <a:off x="1874520" y="4254163"/>
            <a:ext cx="3886200" cy="25603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CONSUMER OUTPUT</a:t>
            </a:r>
            <a:endParaRPr lang="en-US" sz="1500" dirty="0"/>
          </a:p>
        </p:txBody>
      </p:sp>
      <p:sp>
        <p:nvSpPr>
          <p:cNvPr id="18" name="Text 16"/>
          <p:cNvSpPr/>
          <p:nvPr/>
        </p:nvSpPr>
        <p:spPr>
          <a:xfrm>
            <a:off x="1874520" y="4638211"/>
            <a:ext cx="8823960" cy="301752"/>
          </a:xfrm>
          <a:prstGeom prst="rect">
            <a:avLst/>
          </a:prstGeom>
          <a:noFill/>
          <a:ln/>
        </p:spPr>
        <p:txBody>
          <a:bodyPr wrap="square" lIns="0" tIns="0" rIns="0" bIns="0" rtlCol="0" anchor="ctr">
            <a:normAutofit/>
          </a:bodyPr>
          <a:lstStyle/>
          <a:p>
            <a:pPr marL="0" indent="0">
              <a:spcBef>
                <a:spcPts val="0"/>
              </a:spcBef>
              <a:spcAft>
                <a:spcPts val="0"/>
              </a:spcAft>
              <a:buNone/>
              <a:defRPr sz="1300" b="0">
                <a:solidFill>
                  <a:srgbClr val="212B36"/>
                </a:solidFill>
                <a:latin typeface="Aptos"/>
              </a:defRPr>
            </a:pPr>
            <a:r>
              <a:t>Deploys generated agents and skills to the Copilot locations the project uses</a:t>
            </a:r>
            <a:endParaRPr lang="en-US" sz="1600" dirty="0"/>
          </a:p>
        </p:txBody>
      </p:sp>
      <p:sp>
        <p:nvSpPr>
          <p:cNvPr id="19" name="Shape 17"/>
          <p:cNvSpPr/>
          <p:nvPr/>
        </p:nvSpPr>
        <p:spPr>
          <a:xfrm>
            <a:off x="566928" y="5715000"/>
            <a:ext cx="64008" cy="649224"/>
          </a:xfrm>
          <a:prstGeom prst="rect">
            <a:avLst/>
          </a:prstGeom>
          <a:solidFill>
            <a:srgbClr val="C2414E"/>
          </a:solidFill>
          <a:ln w="12700">
            <a:solidFill>
              <a:srgbClr val="C2414E"/>
            </a:solidFill>
            <a:prstDash val="solid"/>
          </a:ln>
        </p:spPr>
        <p:txBody>
          <a:bodyPr/>
          <a:lstStyle/>
          <a:p>
            <a:endParaRPr lang="en-CA"/>
          </a:p>
        </p:txBody>
      </p:sp>
      <p:sp>
        <p:nvSpPr>
          <p:cNvPr id="20" name="Text 18"/>
          <p:cNvSpPr/>
          <p:nvPr/>
        </p:nvSpPr>
        <p:spPr>
          <a:xfrm>
            <a:off x="795527" y="5788152"/>
            <a:ext cx="10419643" cy="502920"/>
          </a:xfrm>
          <a:prstGeom prst="rect">
            <a:avLst/>
          </a:prstGeom>
          <a:noFill/>
          <a:ln/>
        </p:spPr>
        <p:txBody>
          <a:bodyPr wrap="square" lIns="0" tIns="0" rIns="0" bIns="0" rtlCol="0" anchor="ctr">
            <a:noAutofit/>
          </a:bodyPr>
          <a:lstStyle/>
          <a:p>
            <a:pPr marL="0" indent="0">
              <a:spcBef>
                <a:spcPts val="0"/>
              </a:spcBef>
              <a:spcAft>
                <a:spcPts val="0"/>
              </a:spcAft>
              <a:buNone/>
              <a:defRPr sz="1250" b="1">
                <a:solidFill>
                  <a:srgbClr val="0F2340"/>
                </a:solidFill>
                <a:latin typeface="Aptos"/>
              </a:defRPr>
            </a:pPr>
            <a:r>
              <a:rPr sz="1900" i="1" dirty="0">
                <a:latin typeface="+mj-lt"/>
              </a:rPr>
              <a:t>Edit the package source</a:t>
            </a:r>
            <a:r>
              <a:rPr lang="en-US" sz="1900" i="1" dirty="0">
                <a:latin typeface="+mj-lt"/>
              </a:rPr>
              <a:t>, </a:t>
            </a:r>
            <a:r>
              <a:rPr sz="1900" i="1" dirty="0">
                <a:latin typeface="+mj-lt"/>
              </a:rPr>
              <a:t>n</a:t>
            </a:r>
            <a:r>
              <a:rPr lang="en-US" sz="1900" i="1" dirty="0">
                <a:latin typeface="+mj-lt"/>
              </a:rPr>
              <a:t>ot</a:t>
            </a:r>
            <a:r>
              <a:rPr sz="1900" i="1" dirty="0">
                <a:latin typeface="+mj-lt"/>
              </a:rPr>
              <a:t> the deployed consumer copy. </a:t>
            </a:r>
            <a:endParaRPr lang="en-US" sz="1900" i="1" dirty="0">
              <a:latin typeface="+mj-lt"/>
            </a:endParaRPr>
          </a:p>
          <a:p>
            <a:pPr marL="0" indent="0">
              <a:spcBef>
                <a:spcPts val="0"/>
              </a:spcBef>
              <a:spcAft>
                <a:spcPts val="0"/>
              </a:spcAft>
              <a:buNone/>
              <a:defRPr sz="1250" b="1">
                <a:solidFill>
                  <a:srgbClr val="0F2340"/>
                </a:solidFill>
                <a:latin typeface="Aptos"/>
              </a:defRPr>
            </a:pPr>
            <a:r>
              <a:rPr sz="1900" i="1" dirty="0">
                <a:latin typeface="+mj-lt"/>
              </a:rPr>
              <a:t>Consumers own product context, not a forked shared harness.</a:t>
            </a:r>
            <a:endParaRPr lang="en-US" sz="1900" i="1" dirty="0">
              <a:latin typeface="+mj-lt"/>
            </a:endParaRPr>
          </a:p>
        </p:txBody>
      </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4206240" cy="201168"/>
          </a:xfrm>
          <a:prstGeom prst="rect">
            <a:avLst/>
          </a:prstGeom>
          <a:noFill/>
          <a:ln/>
        </p:spPr>
        <p:txBody>
          <a:bodyPr wrap="square" lIns="0" tIns="0" rIns="0" bIns="0" rtlCol="0" anchor="ctr"/>
          <a:lstStyle/>
          <a:p>
            <a:pPr marL="0" indent="0">
              <a:spcBef>
                <a:spcPts val="0"/>
              </a:spcBef>
              <a:spcAft>
                <a:spcPts val="0"/>
              </a:spcAft>
              <a:buNone/>
              <a:defRPr sz="1000" b="1">
                <a:solidFill>
                  <a:srgbClr val="006EBE"/>
                </a:solidFill>
                <a:latin typeface="Aptos"/>
              </a:defRPr>
            </a:pPr>
            <a:r>
              <a:t>EVOLVE WITH REUSE</a:t>
            </a:r>
            <a:endParaRPr lang="en-US" sz="10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spcBef>
                <a:spcPts val="0"/>
              </a:spcBef>
              <a:spcAft>
                <a:spcPts val="0"/>
              </a:spcAft>
              <a:buNone/>
              <a:defRPr sz="2700" b="1">
                <a:solidFill>
                  <a:srgbClr val="0F2340"/>
                </a:solidFill>
                <a:latin typeface="Aptos"/>
              </a:defRPr>
            </a:pPr>
            <a:r>
              <a:t>Start local. Move only when sharing earns it.</a:t>
            </a:r>
            <a:endParaRPr lang="en-US" sz="2800"/>
          </a:p>
        </p:txBody>
      </p:sp>
      <p:sp>
        <p:nvSpPr>
          <p:cNvPr id="4" name="Shape 2"/>
          <p:cNvSpPr/>
          <p:nvPr/>
        </p:nvSpPr>
        <p:spPr>
          <a:xfrm>
            <a:off x="658368" y="1298448"/>
            <a:ext cx="3401568" cy="1572768"/>
          </a:xfrm>
          <a:prstGeom prst="roundRect">
            <a:avLst>
              <a:gd name="adj" fmla="val 4651"/>
            </a:avLst>
          </a:prstGeom>
          <a:solidFill>
            <a:srgbClr val="E8F1FF"/>
          </a:solidFill>
          <a:ln w="12700">
            <a:solidFill>
              <a:srgbClr val="E8F1FF"/>
            </a:solidFill>
            <a:prstDash val="solid"/>
          </a:ln>
        </p:spPr>
        <p:txBody>
          <a:bodyPr/>
          <a:lstStyle/>
          <a:p>
            <a:endParaRPr lang="en-CA"/>
          </a:p>
        </p:txBody>
      </p:sp>
      <p:sp>
        <p:nvSpPr>
          <p:cNvPr id="5" name="Text 3"/>
          <p:cNvSpPr/>
          <p:nvPr/>
        </p:nvSpPr>
        <p:spPr>
          <a:xfrm>
            <a:off x="914400" y="1536192"/>
            <a:ext cx="2889504" cy="30175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1. LOCAL PATH</a:t>
            </a:r>
            <a:endParaRPr lang="en-US" sz="1800" dirty="0"/>
          </a:p>
        </p:txBody>
      </p:sp>
      <p:sp>
        <p:nvSpPr>
          <p:cNvPr id="6" name="Text 4"/>
          <p:cNvSpPr/>
          <p:nvPr/>
        </p:nvSpPr>
        <p:spPr>
          <a:xfrm>
            <a:off x="914400" y="2048256"/>
            <a:ext cx="2889504" cy="512064"/>
          </a:xfrm>
          <a:prstGeom prst="rect">
            <a:avLst/>
          </a:prstGeom>
          <a:noFill/>
          <a:ln/>
        </p:spPr>
        <p:txBody>
          <a:bodyPr wrap="square" lIns="0" tIns="0" rIns="0" bIns="0" rtlCol="0" anchor="ctr">
            <a:normAutofit/>
          </a:bodyPr>
          <a:lstStyle/>
          <a:p>
            <a:pPr marL="0" indent="0">
              <a:spcBef>
                <a:spcPts val="0"/>
              </a:spcBef>
              <a:spcAft>
                <a:spcPts val="0"/>
              </a:spcAft>
              <a:buNone/>
              <a:defRPr sz="1200" b="0">
                <a:solidFill>
                  <a:srgbClr val="212B36"/>
                </a:solidFill>
                <a:latin typeface="Aptos"/>
              </a:defRPr>
            </a:pPr>
            <a:r>
              <a:t>Fast authoring and testing</a:t>
            </a:r>
            <a:endParaRPr lang="en-US" sz="1400" dirty="0"/>
          </a:p>
          <a:p>
            <a:pPr>
              <a:spcBef>
                <a:spcPts val="0"/>
              </a:spcBef>
              <a:spcAft>
                <a:spcPts val="0"/>
              </a:spcAft>
              <a:defRPr sz="1200" b="0">
                <a:solidFill>
                  <a:srgbClr val="212B36"/>
                </a:solidFill>
                <a:latin typeface="Aptos"/>
              </a:defRPr>
            </a:pPr>
            <a:r>
              <a:t>One person / early alpha</a:t>
            </a:r>
          </a:p>
        </p:txBody>
      </p:sp>
      <p:sp>
        <p:nvSpPr>
          <p:cNvPr id="7" name="Shape 5"/>
          <p:cNvSpPr/>
          <p:nvPr/>
        </p:nvSpPr>
        <p:spPr>
          <a:xfrm>
            <a:off x="4425696" y="1298448"/>
            <a:ext cx="3401568" cy="1572768"/>
          </a:xfrm>
          <a:prstGeom prst="roundRect">
            <a:avLst>
              <a:gd name="adj" fmla="val 4651"/>
            </a:avLst>
          </a:prstGeom>
          <a:solidFill>
            <a:srgbClr val="FCE8EB"/>
          </a:solidFill>
          <a:ln w="12700">
            <a:solidFill>
              <a:srgbClr val="FCE8EB"/>
            </a:solidFill>
            <a:prstDash val="solid"/>
          </a:ln>
        </p:spPr>
        <p:txBody>
          <a:bodyPr/>
          <a:lstStyle/>
          <a:p>
            <a:endParaRPr lang="en-CA"/>
          </a:p>
        </p:txBody>
      </p:sp>
      <p:sp>
        <p:nvSpPr>
          <p:cNvPr id="8" name="Text 6"/>
          <p:cNvSpPr/>
          <p:nvPr/>
        </p:nvSpPr>
        <p:spPr>
          <a:xfrm>
            <a:off x="4681728" y="1536192"/>
            <a:ext cx="2889504" cy="30175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2. PRIVATE GIT</a:t>
            </a:r>
            <a:endParaRPr lang="en-US" sz="1800" dirty="0"/>
          </a:p>
        </p:txBody>
      </p:sp>
      <p:sp>
        <p:nvSpPr>
          <p:cNvPr id="9" name="Text 7"/>
          <p:cNvSpPr/>
          <p:nvPr/>
        </p:nvSpPr>
        <p:spPr>
          <a:xfrm>
            <a:off x="4681728" y="2048256"/>
            <a:ext cx="2889504" cy="512064"/>
          </a:xfrm>
          <a:prstGeom prst="rect">
            <a:avLst/>
          </a:prstGeom>
          <a:noFill/>
          <a:ln/>
        </p:spPr>
        <p:txBody>
          <a:bodyPr wrap="square" lIns="0" tIns="0" rIns="0" bIns="0" rtlCol="0" anchor="ctr">
            <a:normAutofit/>
          </a:bodyPr>
          <a:lstStyle/>
          <a:p>
            <a:pPr marL="0" indent="0">
              <a:spcBef>
                <a:spcPts val="0"/>
              </a:spcBef>
              <a:spcAft>
                <a:spcPts val="0"/>
              </a:spcAft>
              <a:buNone/>
              <a:defRPr sz="1200" b="0">
                <a:solidFill>
                  <a:srgbClr val="212B36"/>
                </a:solidFill>
                <a:latin typeface="Aptos"/>
              </a:defRPr>
            </a:pPr>
            <a:r>
              <a:t>Tags, review, and versioned updates</a:t>
            </a:r>
            <a:endParaRPr lang="en-US" sz="1400" dirty="0"/>
          </a:p>
          <a:p>
            <a:pPr>
              <a:spcBef>
                <a:spcPts val="0"/>
              </a:spcBef>
              <a:spcAft>
                <a:spcPts val="0"/>
              </a:spcAft>
              <a:defRPr sz="1200" b="0">
                <a:solidFill>
                  <a:srgbClr val="212B36"/>
                </a:solidFill>
                <a:latin typeface="Aptos"/>
              </a:defRPr>
            </a:pPr>
            <a:r>
              <a:t>Shared across projects</a:t>
            </a:r>
          </a:p>
        </p:txBody>
      </p:sp>
      <p:sp>
        <p:nvSpPr>
          <p:cNvPr id="10" name="Shape 8"/>
          <p:cNvSpPr/>
          <p:nvPr/>
        </p:nvSpPr>
        <p:spPr>
          <a:xfrm>
            <a:off x="8193024" y="1298448"/>
            <a:ext cx="3401568" cy="1572768"/>
          </a:xfrm>
          <a:prstGeom prst="roundRect">
            <a:avLst>
              <a:gd name="adj" fmla="val 4651"/>
            </a:avLst>
          </a:prstGeom>
          <a:solidFill>
            <a:srgbClr val="DDF5F1"/>
          </a:solidFill>
          <a:ln w="12700">
            <a:solidFill>
              <a:srgbClr val="DDF5F1"/>
            </a:solidFill>
            <a:prstDash val="solid"/>
          </a:ln>
        </p:spPr>
        <p:txBody>
          <a:bodyPr/>
          <a:lstStyle/>
          <a:p>
            <a:endParaRPr lang="en-CA"/>
          </a:p>
        </p:txBody>
      </p:sp>
      <p:sp>
        <p:nvSpPr>
          <p:cNvPr id="11" name="Text 9"/>
          <p:cNvSpPr/>
          <p:nvPr/>
        </p:nvSpPr>
        <p:spPr>
          <a:xfrm>
            <a:off x="8449056" y="1536192"/>
            <a:ext cx="2889504" cy="301752"/>
          </a:xfrm>
          <a:prstGeom prst="rect">
            <a:avLst/>
          </a:prstGeom>
          <a:noFill/>
          <a:ln/>
        </p:spPr>
        <p:txBody>
          <a:bodyPr wrap="square" lIns="0" tIns="0" rIns="0" bIns="0" rtlCol="0" anchor="ctr">
            <a:normAutofit/>
          </a:bodyPr>
          <a:lstStyle/>
          <a:p>
            <a:pPr marL="0" indent="0">
              <a:spcBef>
                <a:spcPts val="0"/>
              </a:spcBef>
              <a:spcAft>
                <a:spcPts val="0"/>
              </a:spcAft>
              <a:buNone/>
              <a:defRPr sz="1400" b="1">
                <a:solidFill>
                  <a:srgbClr val="0F2340"/>
                </a:solidFill>
                <a:latin typeface="Aptos"/>
              </a:defRPr>
            </a:pPr>
            <a:r>
              <a:t>3. MARKETPLACE</a:t>
            </a:r>
            <a:endParaRPr lang="en-US" sz="1800" dirty="0"/>
          </a:p>
        </p:txBody>
      </p:sp>
      <p:sp>
        <p:nvSpPr>
          <p:cNvPr id="12" name="Text 10"/>
          <p:cNvSpPr/>
          <p:nvPr/>
        </p:nvSpPr>
        <p:spPr>
          <a:xfrm>
            <a:off x="8449056" y="2048256"/>
            <a:ext cx="2889504" cy="512064"/>
          </a:xfrm>
          <a:prstGeom prst="rect">
            <a:avLst/>
          </a:prstGeom>
          <a:noFill/>
          <a:ln/>
        </p:spPr>
        <p:txBody>
          <a:bodyPr wrap="square" lIns="0" tIns="0" rIns="0" bIns="0" rtlCol="0" anchor="ctr">
            <a:normAutofit/>
          </a:bodyPr>
          <a:lstStyle/>
          <a:p>
            <a:pPr marL="0" indent="0">
              <a:spcBef>
                <a:spcPts val="0"/>
              </a:spcBef>
              <a:spcAft>
                <a:spcPts val="0"/>
              </a:spcAft>
              <a:buNone/>
              <a:defRPr sz="1200" b="0">
                <a:solidFill>
                  <a:srgbClr val="212B36"/>
                </a:solidFill>
                <a:latin typeface="Aptos"/>
              </a:defRPr>
            </a:pPr>
            <a:r>
              <a:t>Curated discovery and approved catalog</a:t>
            </a:r>
            <a:endParaRPr lang="en-US" sz="1400" dirty="0"/>
          </a:p>
          <a:p>
            <a:pPr>
              <a:spcBef>
                <a:spcPts val="0"/>
              </a:spcBef>
              <a:spcAft>
                <a:spcPts val="0"/>
              </a:spcAft>
              <a:defRPr sz="1200" b="0">
                <a:solidFill>
                  <a:srgbClr val="212B36"/>
                </a:solidFill>
                <a:latin typeface="Aptos"/>
              </a:defRPr>
            </a:pPr>
            <a:r>
              <a:t>Organization scale</a:t>
            </a:r>
          </a:p>
        </p:txBody>
      </p:sp>
      <p:sp>
        <p:nvSpPr>
          <p:cNvPr id="13" name="Shape 11"/>
          <p:cNvSpPr/>
          <p:nvPr/>
        </p:nvSpPr>
        <p:spPr>
          <a:xfrm>
            <a:off x="658368" y="3246120"/>
            <a:ext cx="5440680" cy="1572768"/>
          </a:xfrm>
          <a:prstGeom prst="roundRect">
            <a:avLst>
              <a:gd name="adj" fmla="val 4651"/>
            </a:avLst>
          </a:prstGeom>
          <a:solidFill>
            <a:srgbClr val="FFF2D8"/>
          </a:solidFill>
          <a:ln w="12700">
            <a:solidFill>
              <a:srgbClr val="FFF2D8"/>
            </a:solidFill>
            <a:prstDash val="solid"/>
          </a:ln>
        </p:spPr>
        <p:txBody>
          <a:bodyPr/>
          <a:lstStyle/>
          <a:p>
            <a:endParaRPr lang="en-CA"/>
          </a:p>
        </p:txBody>
      </p:sp>
      <p:sp>
        <p:nvSpPr>
          <p:cNvPr id="14" name="Text 12"/>
          <p:cNvSpPr/>
          <p:nvPr/>
        </p:nvSpPr>
        <p:spPr>
          <a:xfrm>
            <a:off x="914400" y="3483864"/>
            <a:ext cx="4928616" cy="301752"/>
          </a:xfrm>
          <a:prstGeom prst="rect">
            <a:avLst/>
          </a:prstGeom>
          <a:noFill/>
          <a:ln/>
        </p:spPr>
        <p:txBody>
          <a:bodyPr wrap="square" lIns="0" tIns="0" rIns="0" bIns="0" rtlCol="0" anchor="ctr">
            <a:normAutofit/>
          </a:bodyPr>
          <a:lstStyle/>
          <a:p>
            <a:pPr marL="0" indent="0">
              <a:spcBef>
                <a:spcPts val="0"/>
              </a:spcBef>
              <a:spcAft>
                <a:spcPts val="0"/>
              </a:spcAft>
              <a:buNone/>
              <a:defRPr sz="1300" b="1">
                <a:solidFill>
                  <a:srgbClr val="006EBE"/>
                </a:solidFill>
                <a:latin typeface="Aptos"/>
              </a:defRPr>
            </a:pPr>
            <a:r>
              <a:t>FIELD-TESTED START</a:t>
            </a:r>
            <a:endParaRPr lang="en-US" sz="1800" dirty="0"/>
          </a:p>
        </p:txBody>
      </p:sp>
      <p:sp>
        <p:nvSpPr>
          <p:cNvPr id="15" name="Text 13"/>
          <p:cNvSpPr/>
          <p:nvPr/>
        </p:nvSpPr>
        <p:spPr>
          <a:xfrm>
            <a:off x="914400" y="3995928"/>
            <a:ext cx="4928616" cy="512064"/>
          </a:xfrm>
          <a:prstGeom prst="rect">
            <a:avLst/>
          </a:prstGeom>
          <a:noFill/>
          <a:ln/>
        </p:spPr>
        <p:txBody>
          <a:bodyPr wrap="square" lIns="0" tIns="0" rIns="0" bIns="0" rtlCol="0" anchor="ctr">
            <a:normAutofit/>
          </a:bodyPr>
          <a:lstStyle/>
          <a:p>
            <a:pPr marL="0" indent="0">
              <a:spcBef>
                <a:spcPts val="0"/>
              </a:spcBef>
              <a:spcAft>
                <a:spcPts val="0"/>
              </a:spcAft>
              <a:buNone/>
              <a:defRPr sz="1200" b="0">
                <a:solidFill>
                  <a:srgbClr val="212B36"/>
                </a:solidFill>
                <a:latin typeface="Aptos"/>
              </a:defRPr>
            </a:pPr>
            <a:r>
              <a:t>Local-path development: evolve and test one harness against a real product</a:t>
            </a:r>
            <a:endParaRPr lang="en-US" sz="1400" dirty="0"/>
          </a:p>
        </p:txBody>
      </p:sp>
      <p:sp>
        <p:nvSpPr>
          <p:cNvPr id="16" name="Shape 14"/>
          <p:cNvSpPr/>
          <p:nvPr/>
        </p:nvSpPr>
        <p:spPr>
          <a:xfrm>
            <a:off x="6153912" y="3246120"/>
            <a:ext cx="5440680" cy="1572768"/>
          </a:xfrm>
          <a:prstGeom prst="roundRect">
            <a:avLst>
              <a:gd name="adj" fmla="val 4651"/>
            </a:avLst>
          </a:prstGeom>
          <a:solidFill>
            <a:srgbClr val="E1F4EA"/>
          </a:solidFill>
          <a:ln w="12700">
            <a:solidFill>
              <a:srgbClr val="E1F4EA"/>
            </a:solidFill>
            <a:prstDash val="solid"/>
          </a:ln>
        </p:spPr>
        <p:txBody>
          <a:bodyPr/>
          <a:lstStyle/>
          <a:p>
            <a:endParaRPr lang="en-CA"/>
          </a:p>
        </p:txBody>
      </p:sp>
      <p:sp>
        <p:nvSpPr>
          <p:cNvPr id="17" name="Text 15"/>
          <p:cNvSpPr/>
          <p:nvPr/>
        </p:nvSpPr>
        <p:spPr>
          <a:xfrm>
            <a:off x="6409944" y="3483864"/>
            <a:ext cx="4928616" cy="301752"/>
          </a:xfrm>
          <a:prstGeom prst="rect">
            <a:avLst/>
          </a:prstGeom>
          <a:noFill/>
          <a:ln/>
        </p:spPr>
        <p:txBody>
          <a:bodyPr wrap="square" lIns="0" tIns="0" rIns="0" bIns="0" rtlCol="0" anchor="ctr">
            <a:normAutofit/>
          </a:bodyPr>
          <a:lstStyle/>
          <a:p>
            <a:pPr marL="0" indent="0">
              <a:spcBef>
                <a:spcPts val="0"/>
              </a:spcBef>
              <a:spcAft>
                <a:spcPts val="0"/>
              </a:spcAft>
              <a:buNone/>
              <a:defRPr sz="1300" b="1">
                <a:solidFill>
                  <a:srgbClr val="0F2340"/>
                </a:solidFill>
                <a:latin typeface="Aptos"/>
              </a:defRPr>
            </a:pPr>
            <a:r>
              <a:t>THE RULE</a:t>
            </a:r>
            <a:endParaRPr lang="en-US" sz="1800" dirty="0"/>
          </a:p>
        </p:txBody>
      </p:sp>
      <p:sp>
        <p:nvSpPr>
          <p:cNvPr id="18" name="Text 16"/>
          <p:cNvSpPr/>
          <p:nvPr/>
        </p:nvSpPr>
        <p:spPr>
          <a:xfrm>
            <a:off x="6409944" y="3995928"/>
            <a:ext cx="4928616" cy="512064"/>
          </a:xfrm>
          <a:prstGeom prst="rect">
            <a:avLst/>
          </a:prstGeom>
          <a:noFill/>
          <a:ln/>
        </p:spPr>
        <p:txBody>
          <a:bodyPr wrap="square" lIns="0" tIns="0" rIns="0" bIns="0" rtlCol="0" anchor="ctr">
            <a:normAutofit/>
          </a:bodyPr>
          <a:lstStyle/>
          <a:p>
            <a:pPr marL="0" indent="0">
              <a:spcBef>
                <a:spcPts val="0"/>
              </a:spcBef>
              <a:spcAft>
                <a:spcPts val="0"/>
              </a:spcAft>
              <a:buNone/>
              <a:defRPr sz="1200" b="0">
                <a:solidFill>
                  <a:srgbClr val="212B36"/>
                </a:solidFill>
                <a:latin typeface="Aptos"/>
              </a:defRPr>
            </a:pPr>
            <a:r>
              <a:t>Private Git is the next step for shared use. A marketplace is optional - not the starting line.</a:t>
            </a:r>
            <a:endParaRPr lang="en-US" sz="1400" dirty="0"/>
          </a:p>
        </p:txBody>
      </p:sp>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5AF0A7-ADF7-E495-2B26-92A377829322}"/>
              </a:ext>
            </a:extLst>
          </p:cNvPr>
          <p:cNvSpPr>
            <a:spLocks noGrp="1"/>
          </p:cNvSpPr>
          <p:nvPr>
            <p:ph type="body" idx="10"/>
          </p:nvPr>
        </p:nvSpPr>
        <p:spPr/>
        <p:txBody>
          <a:bodyPr/>
          <a:lstStyle/>
          <a:p>
            <a:r>
              <a:rPr lang="en-US" dirty="0"/>
              <a:t>APM IN ACTION</a:t>
            </a:r>
            <a:endParaRPr lang="en-CA" dirty="0"/>
          </a:p>
        </p:txBody>
      </p:sp>
      <p:sp>
        <p:nvSpPr>
          <p:cNvPr id="3" name="Title 2">
            <a:extLst>
              <a:ext uri="{FF2B5EF4-FFF2-40B4-BE49-F238E27FC236}">
                <a16:creationId xmlns:a16="http://schemas.microsoft.com/office/drawing/2014/main" id="{36748961-390F-D487-A807-87837608E76F}"/>
              </a:ext>
            </a:extLst>
          </p:cNvPr>
          <p:cNvSpPr>
            <a:spLocks noGrp="1"/>
          </p:cNvSpPr>
          <p:nvPr>
            <p:ph type="title"/>
          </p:nvPr>
        </p:nvSpPr>
        <p:spPr/>
        <p:txBody>
          <a:bodyPr/>
          <a:lstStyle/>
          <a:p>
            <a:r>
              <a:rPr lang="en-US" dirty="0"/>
              <a:t>APM DEMO</a:t>
            </a:r>
            <a:endParaRPr lang="en-CA" dirty="0"/>
          </a:p>
        </p:txBody>
      </p:sp>
      <p:sp>
        <p:nvSpPr>
          <p:cNvPr id="4" name="Text Placeholder 3">
            <a:extLst>
              <a:ext uri="{FF2B5EF4-FFF2-40B4-BE49-F238E27FC236}">
                <a16:creationId xmlns:a16="http://schemas.microsoft.com/office/drawing/2014/main" id="{23C87347-7C90-9F2D-15D9-461AA3830D12}"/>
              </a:ext>
            </a:extLst>
          </p:cNvPr>
          <p:cNvSpPr>
            <a:spLocks noGrp="1"/>
          </p:cNvSpPr>
          <p:nvPr>
            <p:ph type="body" idx="11"/>
          </p:nvPr>
        </p:nvSpPr>
        <p:spPr/>
        <p:txBody>
          <a:bodyPr/>
          <a:lstStyle/>
          <a:p>
            <a:endParaRPr lang="en-CA"/>
          </a:p>
        </p:txBody>
      </p:sp>
      <p:sp>
        <p:nvSpPr>
          <p:cNvPr id="5" name="Text Placeholder 4">
            <a:extLst>
              <a:ext uri="{FF2B5EF4-FFF2-40B4-BE49-F238E27FC236}">
                <a16:creationId xmlns:a16="http://schemas.microsoft.com/office/drawing/2014/main" id="{03F259E9-DBF3-CC5C-31A0-7554E12127EA}"/>
              </a:ext>
            </a:extLst>
          </p:cNvPr>
          <p:cNvSpPr>
            <a:spLocks noGrp="1"/>
          </p:cNvSpPr>
          <p:nvPr>
            <p:ph type="body" idx="12"/>
          </p:nvPr>
        </p:nvSpPr>
        <p:spPr/>
        <p:txBody>
          <a:bodyPr/>
          <a:lstStyle/>
          <a:p>
            <a:endParaRPr lang="en-CA" dirty="0"/>
          </a:p>
        </p:txBody>
      </p:sp>
    </p:spTree>
    <p:extLst>
      <p:ext uri="{BB962C8B-B14F-4D97-AF65-F5344CB8AC3E}">
        <p14:creationId xmlns:p14="http://schemas.microsoft.com/office/powerpoint/2010/main" val="2663166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713232" y="694944"/>
            <a:ext cx="7680960" cy="1325880"/>
          </a:xfrm>
          <a:prstGeom prst="rect">
            <a:avLst/>
          </a:prstGeom>
          <a:noFill/>
          <a:ln/>
        </p:spPr>
        <p:txBody>
          <a:bodyPr wrap="square" lIns="0" tIns="0" rIns="0" bIns="0" rtlCol="0" anchor="ctr">
            <a:normAutofit/>
          </a:bodyPr>
          <a:lstStyle/>
          <a:p>
            <a:pPr marL="0" indent="0">
              <a:buNone/>
            </a:pPr>
            <a:r>
              <a:rPr lang="en-US" sz="3400" b="1">
                <a:solidFill>
                  <a:srgbClr val="FFFFFF"/>
                </a:solidFill>
                <a:latin typeface="Aptos SemiBold" pitchFamily="34" charset="0"/>
                <a:ea typeface="Aptos SemiBold" pitchFamily="34" charset="-122"/>
                <a:cs typeface="Aptos SemiBold" pitchFamily="34" charset="-120"/>
              </a:rPr>
              <a:t>SESSIONS ARE DISPOSABLE.</a:t>
            </a:r>
            <a:endParaRPr lang="en-US" sz="3400" dirty="0"/>
          </a:p>
          <a:p>
            <a:pPr marL="0" indent="0">
              <a:buNone/>
            </a:pPr>
            <a:r>
              <a:rPr lang="en-US" sz="3400" b="1">
                <a:solidFill>
                  <a:srgbClr val="FFFFFF"/>
                </a:solidFill>
                <a:latin typeface="Aptos SemiBold" pitchFamily="34" charset="0"/>
                <a:ea typeface="Aptos SemiBold" pitchFamily="34" charset="-122"/>
                <a:cs typeface="Aptos SemiBold" pitchFamily="34" charset="-120"/>
              </a:rPr>
              <a:t>ENGINEERING MEMORY IS NOT.</a:t>
            </a:r>
            <a:endParaRPr lang="en-US" sz="3400" dirty="0"/>
          </a:p>
        </p:txBody>
      </p:sp>
      <p:sp>
        <p:nvSpPr>
          <p:cNvPr id="18" name="Shape 16"/>
          <p:cNvSpPr/>
          <p:nvPr/>
        </p:nvSpPr>
        <p:spPr>
          <a:xfrm>
            <a:off x="8503920" y="0"/>
            <a:ext cx="3687775" cy="6858000"/>
          </a:xfrm>
          <a:prstGeom prst="rect">
            <a:avLst/>
          </a:prstGeom>
          <a:solidFill>
            <a:srgbClr val="172554"/>
          </a:solidFill>
          <a:ln w="12700">
            <a:solidFill>
              <a:srgbClr val="172554"/>
            </a:solidFill>
            <a:prstDash val="solid"/>
          </a:ln>
        </p:spPr>
        <p:txBody>
          <a:bodyPr/>
          <a:lstStyle/>
          <a:p>
            <a:endParaRPr lang="en-CA" dirty="0"/>
          </a:p>
        </p:txBody>
      </p:sp>
      <p:grpSp>
        <p:nvGrpSpPr>
          <p:cNvPr id="25" name="Group 24">
            <a:extLst>
              <a:ext uri="{FF2B5EF4-FFF2-40B4-BE49-F238E27FC236}">
                <a16:creationId xmlns:a16="http://schemas.microsoft.com/office/drawing/2014/main" id="{1690BDE8-8950-30AB-96CA-AEFFDF5AD444}"/>
              </a:ext>
            </a:extLst>
          </p:cNvPr>
          <p:cNvGrpSpPr/>
          <p:nvPr/>
        </p:nvGrpSpPr>
        <p:grpSpPr>
          <a:xfrm>
            <a:off x="713232" y="2875788"/>
            <a:ext cx="7205508" cy="2057400"/>
            <a:chOff x="816864" y="2857500"/>
            <a:chExt cx="7205508" cy="2057400"/>
          </a:xfrm>
        </p:grpSpPr>
        <p:sp>
          <p:nvSpPr>
            <p:cNvPr id="19" name="Shape 17"/>
            <p:cNvSpPr/>
            <p:nvPr/>
          </p:nvSpPr>
          <p:spPr>
            <a:xfrm>
              <a:off x="816864" y="2857500"/>
              <a:ext cx="64008" cy="2057400"/>
            </a:xfrm>
            <a:prstGeom prst="rect">
              <a:avLst/>
            </a:prstGeom>
            <a:solidFill>
              <a:srgbClr val="0F766E"/>
            </a:solidFill>
            <a:ln w="12700">
              <a:solidFill>
                <a:srgbClr val="0F766E"/>
              </a:solidFill>
              <a:prstDash val="solid"/>
            </a:ln>
          </p:spPr>
          <p:txBody>
            <a:bodyPr/>
            <a:lstStyle/>
            <a:p>
              <a:endParaRPr lang="en-CA"/>
            </a:p>
          </p:txBody>
        </p:sp>
        <p:sp>
          <p:nvSpPr>
            <p:cNvPr id="20" name="Text 18"/>
            <p:cNvSpPr/>
            <p:nvPr/>
          </p:nvSpPr>
          <p:spPr>
            <a:xfrm>
              <a:off x="1045464" y="2875788"/>
              <a:ext cx="6976908" cy="2020824"/>
            </a:xfrm>
            <a:prstGeom prst="rect">
              <a:avLst/>
            </a:prstGeom>
            <a:noFill/>
            <a:ln/>
          </p:spPr>
          <p:txBody>
            <a:bodyPr wrap="square" lIns="0" tIns="0" rIns="0" bIns="0" rtlCol="0" anchor="ctr">
              <a:normAutofit/>
            </a:bodyPr>
            <a:lstStyle/>
            <a:p>
              <a:pPr marL="0" indent="0">
                <a:buNone/>
              </a:pPr>
              <a:r>
                <a:rPr lang="en-US" sz="1700" i="1" dirty="0">
                  <a:solidFill>
                    <a:srgbClr val="DCE7F3"/>
                  </a:solidFill>
                  <a:latin typeface="Aptos SemiBold" pitchFamily="34" charset="0"/>
                  <a:ea typeface="Aptos SemiBold" pitchFamily="34" charset="-122"/>
                  <a:cs typeface="Aptos SemiBold" pitchFamily="34" charset="-120"/>
                </a:rPr>
                <a:t>The durable advantage is not the model. It is the engineering system that helps people and models produce trustworthy change together.</a:t>
              </a:r>
              <a:endParaRPr lang="en-US" sz="1700" dirty="0"/>
            </a:p>
          </p:txBody>
        </p:sp>
      </p:grpSp>
      <p:grpSp>
        <p:nvGrpSpPr>
          <p:cNvPr id="26" name="Group 25">
            <a:extLst>
              <a:ext uri="{FF2B5EF4-FFF2-40B4-BE49-F238E27FC236}">
                <a16:creationId xmlns:a16="http://schemas.microsoft.com/office/drawing/2014/main" id="{20B3AC42-7F14-6C73-9B8B-90438A5CDCC0}"/>
              </a:ext>
            </a:extLst>
          </p:cNvPr>
          <p:cNvGrpSpPr/>
          <p:nvPr/>
        </p:nvGrpSpPr>
        <p:grpSpPr>
          <a:xfrm>
            <a:off x="9009888" y="1660793"/>
            <a:ext cx="2240280" cy="1536192"/>
            <a:chOff x="8906256" y="3886200"/>
            <a:chExt cx="2240280" cy="1536192"/>
          </a:xfrm>
        </p:grpSpPr>
        <p:sp>
          <p:nvSpPr>
            <p:cNvPr id="21" name="Text 19"/>
            <p:cNvSpPr/>
            <p:nvPr/>
          </p:nvSpPr>
          <p:spPr>
            <a:xfrm>
              <a:off x="8906256" y="3886200"/>
              <a:ext cx="2194560" cy="310896"/>
            </a:xfrm>
            <a:prstGeom prst="rect">
              <a:avLst/>
            </a:prstGeom>
            <a:noFill/>
            <a:ln/>
          </p:spPr>
          <p:txBody>
            <a:bodyPr wrap="square" lIns="0" tIns="0" rIns="0" bIns="0" rtlCol="0" anchor="ctr"/>
            <a:lstStyle/>
            <a:p>
              <a:pPr marL="0" indent="0">
                <a:buNone/>
              </a:pPr>
              <a:r>
                <a:rPr lang="en-US" sz="1900" dirty="0">
                  <a:solidFill>
                    <a:srgbClr val="FFFFFF"/>
                  </a:solidFill>
                  <a:latin typeface="Aptos SemiBold" pitchFamily="34" charset="0"/>
                </a:rPr>
                <a:t>Your call to action</a:t>
              </a:r>
              <a:endParaRPr lang="en-US" sz="1900" dirty="0"/>
            </a:p>
          </p:txBody>
        </p:sp>
        <p:sp>
          <p:nvSpPr>
            <p:cNvPr id="22" name="Text 20"/>
            <p:cNvSpPr/>
            <p:nvPr/>
          </p:nvSpPr>
          <p:spPr>
            <a:xfrm>
              <a:off x="8906256" y="4370832"/>
              <a:ext cx="2240280" cy="1051560"/>
            </a:xfrm>
            <a:prstGeom prst="rect">
              <a:avLst/>
            </a:prstGeom>
            <a:noFill/>
            <a:ln/>
          </p:spPr>
          <p:txBody>
            <a:bodyPr wrap="square" lIns="0" tIns="0" rIns="0" bIns="0" rtlCol="0" anchor="ctr">
              <a:normAutofit fontScale="92500"/>
            </a:bodyPr>
            <a:lstStyle/>
            <a:p>
              <a:pPr marL="0" indent="0">
                <a:buNone/>
              </a:pPr>
              <a:r>
                <a:rPr lang="en-US" sz="1600" dirty="0">
                  <a:solidFill>
                    <a:srgbClr val="CBD5E1"/>
                  </a:solidFill>
                  <a:latin typeface="Aptos" pitchFamily="34" charset="0"/>
                  <a:ea typeface="Aptos" pitchFamily="34" charset="-122"/>
                  <a:cs typeface="Aptos" pitchFamily="34" charset="-120"/>
                </a:rPr>
                <a:t>Take one repeated lesson out of chat and place it into a versioned, reviewable control surface.</a:t>
              </a:r>
              <a:endParaRPr lang="en-US" sz="1600" dirty="0"/>
            </a:p>
          </p:txBody>
        </p:sp>
      </p:grpSp>
      <p:sp>
        <p:nvSpPr>
          <p:cNvPr id="23" name="Text 21"/>
          <p:cNvSpPr/>
          <p:nvPr/>
        </p:nvSpPr>
        <p:spPr>
          <a:xfrm>
            <a:off x="8906256" y="5989320"/>
            <a:ext cx="2011680" cy="274320"/>
          </a:xfrm>
          <a:prstGeom prst="rect">
            <a:avLst/>
          </a:prstGeom>
          <a:noFill/>
          <a:ln/>
        </p:spPr>
        <p:txBody>
          <a:bodyPr wrap="square" lIns="0" tIns="0" rIns="0" bIns="0" rtlCol="0" anchor="ctr"/>
          <a:lstStyle/>
          <a:p>
            <a:pPr marL="0" indent="0">
              <a:buNone/>
            </a:pPr>
            <a:r>
              <a:rPr lang="en-US" sz="1700">
                <a:solidFill>
                  <a:srgbClr val="93C5FD"/>
                </a:solidFill>
                <a:latin typeface="Aptos SemiBold" pitchFamily="34" charset="0"/>
                <a:ea typeface="Aptos SemiBold" pitchFamily="34" charset="-122"/>
                <a:cs typeface="Aptos SemiBold" pitchFamily="34" charset="-120"/>
              </a:rPr>
              <a:t>Thank you</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emo B Video Replay">
    <p:spTree>
      <p:nvGrpSpPr>
        <p:cNvPr id="1" name=""/>
        <p:cNvGrpSpPr/>
        <p:nvPr/>
      </p:nvGrpSpPr>
      <p:grpSpPr>
        <a:xfrm>
          <a:off x="0" y="0"/>
          <a:ext cx="0" cy="0"/>
          <a:chOff x="0" y="0"/>
          <a:chExt cx="0" cy="0"/>
        </a:xfrm>
      </p:grpSpPr>
      <p:sp>
        <p:nvSpPr>
          <p:cNvPr id="2" name="Text 0"/>
          <p:cNvSpPr>
            <a:spLocks noGrp="1"/>
          </p:cNvSpPr>
          <p:nvPr>
            <p:ph type="body" idx="10"/>
          </p:nvPr>
        </p:nvSpPr>
        <p:spPr>
          <a:xfrm>
            <a:off x="566928" y="310896"/>
            <a:ext cx="5339602" cy="201168"/>
          </a:xfrm>
          <a:prstGeom prst="rect">
            <a:avLst/>
          </a:prstGeom>
          <a:noFill/>
          <a:ln/>
        </p:spPr>
        <p:txBody>
          <a:bodyPr wrap="square" lIns="0" tIns="0" rIns="0" bIns="0" rtlCol="0" anchor="ctr"/>
          <a:lstStyle/>
          <a:p>
            <a:pPr marL="0" indent="0">
              <a:buNone/>
            </a:pPr>
            <a:r>
              <a:rPr lang="en-US" sz="1100" kern="0" spc="120">
                <a:solidFill>
                  <a:srgbClr val="3B82F6"/>
                </a:solidFill>
                <a:latin typeface="Aptos SemiBold" pitchFamily="34" charset="0"/>
                <a:ea typeface="Aptos SemiBold" pitchFamily="34" charset="-122"/>
                <a:cs typeface="Aptos SemiBold" pitchFamily="34" charset="-120"/>
              </a:rPr>
              <a:t>BACKUP · 90-SECOND REPLAY · REAL HEALTH TRACKER SESSION</a:t>
            </a:r>
            <a:endParaRPr lang="en-US" sz="1100"/>
          </a:p>
        </p:txBody>
      </p:sp>
      <p:sp>
        <p:nvSpPr>
          <p:cNvPr id="3" name="Text 1"/>
          <p:cNvSpPr>
            <a:spLocks noGrp="1"/>
          </p:cNvSpPr>
          <p:nvPr>
            <p:ph type="title"/>
          </p:nvPr>
        </p:nvSpPr>
        <p:spPr>
          <a:xfrm>
            <a:off x="548640" y="566928"/>
            <a:ext cx="11045952" cy="566928"/>
          </a:xfrm>
          <a:prstGeom prst="rect">
            <a:avLst/>
          </a:prstGeom>
          <a:noFill/>
          <a:ln/>
        </p:spPr>
        <p:txBody>
          <a:bodyPr wrap="square" lIns="0" tIns="0" rIns="0" bIns="0" rtlCol="0" anchor="ctr">
            <a:normAutofit/>
          </a:bodyPr>
          <a:lstStyle/>
          <a:p>
            <a:pPr marL="0" indent="0">
              <a:buNone/>
            </a:pPr>
            <a:r>
              <a:rPr lang="en-US" sz="2700" b="1">
                <a:solidFill>
                  <a:srgbClr val="172033"/>
                </a:solidFill>
                <a:latin typeface="Aptos SemiBold" pitchFamily="34" charset="0"/>
                <a:ea typeface="Aptos SemiBold" pitchFamily="34" charset="-122"/>
                <a:cs typeface="Aptos SemiBold" pitchFamily="34" charset="-120"/>
              </a:rPr>
              <a:t>Issue #95: two prompts, one controlled release</a:t>
            </a:r>
            <a:endParaRPr lang="en-US" sz="2700"/>
          </a:p>
        </p:txBody>
      </p:sp>
      <p:sp>
        <p:nvSpPr>
          <p:cNvPr id="31"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ma14="http://schemas.microsoft.com/office/mac/drawingml/2011/main" xmlns="" val="0"/>
            </a:ext>
          </a:extLst>
        </p:spPr>
        <p:txBody>
          <a:bodyPr wrap="square" lIns="0" tIns="0" rIns="0" bIns="0" anchor="ctr"/>
          <a:lstStyle>
            <a:lvl1pPr>
              <a:defRPr sz="800">
                <a:solidFill>
                  <a:srgbClr val="64748B"/>
                </a:solidFill>
                <a:latin typeface="Aptos"/>
                <a:ea typeface="Aptos"/>
                <a:cs typeface="Aptos"/>
              </a:defRPr>
            </a:lvl1pPr>
          </a:lstStyle>
          <a:p>
            <a:pPr algn="r">
              <a:spcBef>
                <a:spcPts val="0"/>
              </a:spcBef>
              <a:spcAft>
                <a:spcPts val="0"/>
              </a:spcAft>
              <a:defRPr sz="900" b="0">
                <a:solidFill>
                  <a:srgbClr val="596575"/>
                </a:solidFill>
                <a:latin typeface="Aptos"/>
              </a:defRPr>
            </a:pPr>
            <a:r>
              <a:t>31</a:t>
            </a:r>
            <a:endParaRPr lang="en-US"/>
          </a:p>
        </p:txBody>
      </p:sp>
      <p:sp>
        <p:nvSpPr>
          <p:cNvPr id="33" name="Replay subtitle" hidden="1">
            <a:extLst>
              <a:ext uri="{FF2B5EF4-FFF2-40B4-BE49-F238E27FC236}">
                <a16:creationId xmlns:a16="http://schemas.microsoft.com/office/drawing/2014/main" id="{1E2DE703-F409-C84E-A587-662A8D68422E}"/>
              </a:ext>
            </a:extLst>
          </p:cNvPr>
          <p:cNvSpPr txBox="1"/>
          <p:nvPr/>
        </p:nvSpPr>
        <p:spPr>
          <a:xfrm>
            <a:off x="596900" y="1244600"/>
            <a:ext cx="10795000" cy="184666"/>
          </a:xfrm>
          <a:prstGeom prst="rect">
            <a:avLst/>
          </a:prstGeom>
          <a:noFill/>
        </p:spPr>
        <p:txBody>
          <a:bodyPr vert="horz" wrap="square" lIns="0" tIns="0" rIns="0" bIns="0" rtlCol="0">
            <a:spAutoFit/>
          </a:bodyPr>
          <a:lstStyle/>
          <a:p>
            <a:r>
              <a:rPr lang="en-US" sz="1200">
                <a:solidFill>
                  <a:srgbClr val="64748B"/>
                </a:solidFill>
                <a:latin typeface="Aptos" panose="020B0004020202020204" pitchFamily="34" charset="0"/>
              </a:rPr>
              <a:t>90-second guided replay · selected verbatim excerpts · explicit time jumps</a:t>
            </a:r>
            <a:endParaRPr lang="en-CA" sz="1200">
              <a:solidFill>
                <a:srgbClr val="64748B"/>
              </a:solidFill>
              <a:latin typeface="Aptos" panose="020B0004020202020204" pitchFamily="34" charset="0"/>
            </a:endParaRPr>
          </a:p>
        </p:txBody>
      </p:sp>
      <p:grpSp>
        <p:nvGrpSpPr>
          <p:cNvPr id="39" name="Replay Stage 1" hidden="1">
            <a:extLst>
              <a:ext uri="{FF2B5EF4-FFF2-40B4-BE49-F238E27FC236}">
                <a16:creationId xmlns:a16="http://schemas.microsoft.com/office/drawing/2014/main" id="{E3EE330F-6168-B094-0C1E-560A93323429}"/>
              </a:ext>
            </a:extLst>
          </p:cNvPr>
          <p:cNvGrpSpPr/>
          <p:nvPr/>
        </p:nvGrpSpPr>
        <p:grpSpPr>
          <a:xfrm>
            <a:off x="596900" y="1714500"/>
            <a:ext cx="3302000" cy="3835400"/>
            <a:chOff x="596900" y="1714500"/>
            <a:chExt cx="3302000" cy="3835400"/>
          </a:xfrm>
        </p:grpSpPr>
        <p:sp>
          <p:nvSpPr>
            <p:cNvPr id="34" name="Replay 1 card" hidden="1">
              <a:extLst>
                <a:ext uri="{FF2B5EF4-FFF2-40B4-BE49-F238E27FC236}">
                  <a16:creationId xmlns:a16="http://schemas.microsoft.com/office/drawing/2014/main" id="{6E3E1CAC-C0CD-F45C-4966-37CD12A07EB3}"/>
                </a:ext>
              </a:extLst>
            </p:cNvPr>
            <p:cNvSpPr/>
            <p:nvPr/>
          </p:nvSpPr>
          <p:spPr>
            <a:xfrm>
              <a:off x="596900" y="1714500"/>
              <a:ext cx="3302000" cy="3835400"/>
            </a:xfrm>
            <a:prstGeom prst="roundRect">
              <a:avLst/>
            </a:prstGeom>
            <a:solidFill>
              <a:srgbClr val="F8FAFC"/>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play 1 label" hidden="1">
              <a:extLst>
                <a:ext uri="{FF2B5EF4-FFF2-40B4-BE49-F238E27FC236}">
                  <a16:creationId xmlns:a16="http://schemas.microsoft.com/office/drawing/2014/main" id="{9D385490-ABD4-6D5B-5036-CDBDB84E542D}"/>
                </a:ext>
              </a:extLst>
            </p:cNvPr>
            <p:cNvSpPr txBox="1"/>
            <p:nvPr/>
          </p:nvSpPr>
          <p:spPr>
            <a:xfrm>
              <a:off x="825500" y="1917700"/>
              <a:ext cx="2844800" cy="169277"/>
            </a:xfrm>
            <a:prstGeom prst="rect">
              <a:avLst/>
            </a:prstGeom>
            <a:noFill/>
          </p:spPr>
          <p:txBody>
            <a:bodyPr vert="horz" wrap="square" lIns="0" tIns="0" rIns="0" bIns="0" rtlCol="0">
              <a:spAutoFit/>
            </a:bodyPr>
            <a:lstStyle/>
            <a:p>
              <a:r>
                <a:rPr lang="en-CA" sz="1100" b="1">
                  <a:solidFill>
                    <a:srgbClr val="3B82F6"/>
                  </a:solidFill>
                  <a:latin typeface="Aptos" panose="020B0004020202020204" pitchFamily="34" charset="0"/>
                </a:rPr>
                <a:t>1  DELIVERY CANDIDATE</a:t>
              </a:r>
            </a:p>
          </p:txBody>
        </p:sp>
        <p:sp>
          <p:nvSpPr>
            <p:cNvPr id="36" name="Replay 1 terminal" hidden="1">
              <a:extLst>
                <a:ext uri="{FF2B5EF4-FFF2-40B4-BE49-F238E27FC236}">
                  <a16:creationId xmlns:a16="http://schemas.microsoft.com/office/drawing/2014/main" id="{2A9875FD-6492-9B36-180F-8BAC2E4A43B7}"/>
                </a:ext>
              </a:extLst>
            </p:cNvPr>
            <p:cNvSpPr/>
            <p:nvPr/>
          </p:nvSpPr>
          <p:spPr>
            <a:xfrm>
              <a:off x="800100" y="2336800"/>
              <a:ext cx="2895600" cy="2654300"/>
            </a:xfrm>
            <a:prstGeom prst="roundRect">
              <a:avLst/>
            </a:prstGeom>
            <a:solidFill>
              <a:srgbClr val="111827"/>
            </a:solidFill>
            <a:ln w="12700">
              <a:solidFill>
                <a:srgbClr val="1118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Replay 1 text" hidden="1">
              <a:extLst>
                <a:ext uri="{FF2B5EF4-FFF2-40B4-BE49-F238E27FC236}">
                  <a16:creationId xmlns:a16="http://schemas.microsoft.com/office/drawing/2014/main" id="{F9CF8812-4C10-BF51-FD71-39C51179FE2E}"/>
                </a:ext>
              </a:extLst>
            </p:cNvPr>
            <p:cNvSpPr txBox="1"/>
            <p:nvPr/>
          </p:nvSpPr>
          <p:spPr>
            <a:xfrm>
              <a:off x="977900" y="2552700"/>
              <a:ext cx="2552700" cy="1131079"/>
            </a:xfrm>
            <a:prstGeom prst="rect">
              <a:avLst/>
            </a:prstGeom>
            <a:noFill/>
          </p:spPr>
          <p:txBody>
            <a:bodyPr vert="horz" wrap="square" lIns="0" tIns="0" rIns="0" bIns="0" rtlCol="0">
              <a:spAutoFit/>
            </a:bodyPr>
            <a:lstStyle/>
            <a:p>
              <a:r>
                <a:rPr lang="en-US" sz="1050">
                  <a:solidFill>
                    <a:srgbClr val="FFFFFF"/>
                  </a:solidFill>
                  <a:latin typeface="Cascadia Mono" panose="020B0609020000020004" pitchFamily="49" charset="0"/>
                </a:rPr>
                <a:t>&gt; please start work on 95</a:t>
              </a:r>
            </a:p>
            <a:p>
              <a:endParaRPr lang="en-US" sz="1050">
                <a:solidFill>
                  <a:srgbClr val="FFFFFF"/>
                </a:solidFill>
                <a:latin typeface="Cascadia Mono" panose="020B0609020000020004" pitchFamily="49" charset="0"/>
              </a:endParaRPr>
            </a:p>
            <a:p>
              <a:r>
                <a:rPr lang="en-US" sz="1050">
                  <a:solidFill>
                    <a:srgbClr val="FFFFFF"/>
                  </a:solidFill>
                  <a:latin typeface="Cascadia Mono" panose="020B0609020000020004" pitchFamily="49" charset="0"/>
                </a:rPr>
                <a:t>[agent] Issue #95 loaded</a:t>
              </a:r>
            </a:p>
            <a:p>
              <a:r>
                <a:rPr lang="en-US" sz="1050">
                  <a:solidFill>
                    <a:srgbClr val="FFFFFF"/>
                  </a:solidFill>
                  <a:latin typeface="Cascadia Mono" panose="020B0609020000020004" pitchFamily="49" charset="0"/>
                </a:rPr>
                <a:t>[agent] Candidate implemented</a:t>
              </a:r>
            </a:p>
            <a:p>
              <a:r>
                <a:rPr lang="en-US" sz="1050">
                  <a:solidFill>
                    <a:srgbClr val="FFFFFF"/>
                  </a:solidFill>
                  <a:latin typeface="Cascadia Mono" panose="020B0609020000020004" pitchFamily="49" charset="0"/>
                </a:rPr>
                <a:t>[tests] Focused checks pass</a:t>
              </a:r>
            </a:p>
            <a:p>
              <a:r>
                <a:rPr lang="en-US" sz="1050">
                  <a:solidFill>
                    <a:srgbClr val="FFFFFF"/>
                  </a:solidFill>
                  <a:latin typeface="Cascadia Mono" panose="020B0609020000020004" pitchFamily="49" charset="0"/>
                </a:rPr>
                <a:t>[boundary] Await release authorization</a:t>
              </a:r>
              <a:endParaRPr lang="en-CA" sz="1050">
                <a:solidFill>
                  <a:srgbClr val="FFFFFF"/>
                </a:solidFill>
                <a:latin typeface="Cascadia Mono" panose="020B0609020000020004" pitchFamily="49" charset="0"/>
              </a:endParaRPr>
            </a:p>
          </p:txBody>
        </p:sp>
        <p:sp>
          <p:nvSpPr>
            <p:cNvPr id="38" name="Replay 1 footer" hidden="1">
              <a:extLst>
                <a:ext uri="{FF2B5EF4-FFF2-40B4-BE49-F238E27FC236}">
                  <a16:creationId xmlns:a16="http://schemas.microsoft.com/office/drawing/2014/main" id="{F3FC0412-BC3D-95C1-8D79-77253F72AA17}"/>
                </a:ext>
              </a:extLst>
            </p:cNvPr>
            <p:cNvSpPr txBox="1"/>
            <p:nvPr/>
          </p:nvSpPr>
          <p:spPr>
            <a:xfrm>
              <a:off x="825500" y="5156200"/>
              <a:ext cx="2844800" cy="153888"/>
            </a:xfrm>
            <a:prstGeom prst="rect">
              <a:avLst/>
            </a:prstGeom>
            <a:noFill/>
          </p:spPr>
          <p:txBody>
            <a:bodyPr vert="horz" wrap="square" lIns="0" tIns="0" rIns="0" bIns="0" rtlCol="0">
              <a:spAutoFit/>
            </a:bodyPr>
            <a:lstStyle/>
            <a:p>
              <a:r>
                <a:rPr lang="en-US" sz="1000">
                  <a:solidFill>
                    <a:srgbClr val="64748B"/>
                  </a:solidFill>
                  <a:latin typeface="Aptos" panose="020B0004020202020204" pitchFamily="34" charset="0"/>
                </a:rPr>
                <a:t>Fresh context -&gt; code + tests -&gt; stop</a:t>
              </a:r>
              <a:endParaRPr lang="en-CA" sz="1000">
                <a:solidFill>
                  <a:srgbClr val="64748B"/>
                </a:solidFill>
                <a:latin typeface="Aptos" panose="020B0004020202020204" pitchFamily="34" charset="0"/>
              </a:endParaRPr>
            </a:p>
          </p:txBody>
        </p:sp>
      </p:grpSp>
      <p:grpSp>
        <p:nvGrpSpPr>
          <p:cNvPr id="45" name="Replay Stage 2" hidden="1">
            <a:extLst>
              <a:ext uri="{FF2B5EF4-FFF2-40B4-BE49-F238E27FC236}">
                <a16:creationId xmlns:a16="http://schemas.microsoft.com/office/drawing/2014/main" id="{50E56029-FCDB-32DA-A833-BADF750CFDC9}"/>
              </a:ext>
            </a:extLst>
          </p:cNvPr>
          <p:cNvGrpSpPr/>
          <p:nvPr/>
        </p:nvGrpSpPr>
        <p:grpSpPr>
          <a:xfrm>
            <a:off x="4457700" y="1714500"/>
            <a:ext cx="3302000" cy="3835400"/>
            <a:chOff x="4457700" y="1714500"/>
            <a:chExt cx="3302000" cy="3835400"/>
          </a:xfrm>
        </p:grpSpPr>
        <p:sp>
          <p:nvSpPr>
            <p:cNvPr id="40" name="Replay 2 card" hidden="1">
              <a:extLst>
                <a:ext uri="{FF2B5EF4-FFF2-40B4-BE49-F238E27FC236}">
                  <a16:creationId xmlns:a16="http://schemas.microsoft.com/office/drawing/2014/main" id="{43E06055-24FC-1B3A-F5D5-DB4363667C2A}"/>
                </a:ext>
              </a:extLst>
            </p:cNvPr>
            <p:cNvSpPr/>
            <p:nvPr/>
          </p:nvSpPr>
          <p:spPr>
            <a:xfrm>
              <a:off x="4457700" y="1714500"/>
              <a:ext cx="3302000" cy="3835400"/>
            </a:xfrm>
            <a:prstGeom prst="roundRect">
              <a:avLst/>
            </a:prstGeom>
            <a:solidFill>
              <a:srgbClr val="FFF7E1"/>
            </a:solidFill>
            <a:ln w="12700">
              <a:solidFill>
                <a:srgbClr val="FDD3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Replay 2 label" hidden="1">
              <a:extLst>
                <a:ext uri="{FF2B5EF4-FFF2-40B4-BE49-F238E27FC236}">
                  <a16:creationId xmlns:a16="http://schemas.microsoft.com/office/drawing/2014/main" id="{1FF9EE03-A918-78A4-1C44-1B3A829C6E6C}"/>
                </a:ext>
              </a:extLst>
            </p:cNvPr>
            <p:cNvSpPr txBox="1"/>
            <p:nvPr/>
          </p:nvSpPr>
          <p:spPr>
            <a:xfrm>
              <a:off x="4686300" y="1917700"/>
              <a:ext cx="2844800" cy="169277"/>
            </a:xfrm>
            <a:prstGeom prst="rect">
              <a:avLst/>
            </a:prstGeom>
            <a:noFill/>
          </p:spPr>
          <p:txBody>
            <a:bodyPr vert="horz" wrap="square" lIns="0" tIns="0" rIns="0" bIns="0" rtlCol="0">
              <a:spAutoFit/>
            </a:bodyPr>
            <a:lstStyle/>
            <a:p>
              <a:r>
                <a:rPr lang="en-CA" sz="1100" b="1">
                  <a:solidFill>
                    <a:srgbClr val="D97706"/>
                  </a:solidFill>
                  <a:latin typeface="Aptos" panose="020B0004020202020204" pitchFamily="34" charset="0"/>
                </a:rPr>
                <a:t>2  RELEASE AUTHORIZATION</a:t>
              </a:r>
            </a:p>
          </p:txBody>
        </p:sp>
        <p:sp>
          <p:nvSpPr>
            <p:cNvPr id="42" name="Replay 2 terminal" hidden="1">
              <a:extLst>
                <a:ext uri="{FF2B5EF4-FFF2-40B4-BE49-F238E27FC236}">
                  <a16:creationId xmlns:a16="http://schemas.microsoft.com/office/drawing/2014/main" id="{5F882963-8167-1944-FC54-A24F96782CE3}"/>
                </a:ext>
              </a:extLst>
            </p:cNvPr>
            <p:cNvSpPr/>
            <p:nvPr/>
          </p:nvSpPr>
          <p:spPr>
            <a:xfrm>
              <a:off x="4660900" y="2336800"/>
              <a:ext cx="2895600" cy="2654300"/>
            </a:xfrm>
            <a:prstGeom prst="roundRect">
              <a:avLst/>
            </a:prstGeom>
            <a:solidFill>
              <a:srgbClr val="111827"/>
            </a:solidFill>
            <a:ln w="12700">
              <a:solidFill>
                <a:srgbClr val="1118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Replay 2 text" hidden="1">
              <a:extLst>
                <a:ext uri="{FF2B5EF4-FFF2-40B4-BE49-F238E27FC236}">
                  <a16:creationId xmlns:a16="http://schemas.microsoft.com/office/drawing/2014/main" id="{E33D87E9-45EC-B63E-64BB-3691A07F8381}"/>
                </a:ext>
              </a:extLst>
            </p:cNvPr>
            <p:cNvSpPr txBox="1"/>
            <p:nvPr/>
          </p:nvSpPr>
          <p:spPr>
            <a:xfrm>
              <a:off x="4838700" y="2527300"/>
              <a:ext cx="2552700" cy="1034129"/>
            </a:xfrm>
            <a:prstGeom prst="rect">
              <a:avLst/>
            </a:prstGeom>
            <a:noFill/>
          </p:spPr>
          <p:txBody>
            <a:bodyPr vert="horz" wrap="square" lIns="0" tIns="0" rIns="0" bIns="0" rtlCol="0">
              <a:spAutoFit/>
            </a:bodyPr>
            <a:lstStyle/>
            <a:p>
              <a:r>
                <a:rPr lang="en-US" sz="960">
                  <a:solidFill>
                    <a:srgbClr val="FFFFFF"/>
                  </a:solidFill>
                  <a:latin typeface="Cascadia Mono" panose="020B0609020000020004" pitchFamily="49" charset="0"/>
                </a:rPr>
                <a:t>&gt; verify the ticket;</a:t>
              </a:r>
            </a:p>
            <a:p>
              <a:r>
                <a:rPr lang="en-US" sz="960">
                  <a:solidFill>
                    <a:srgbClr val="FFFFFF"/>
                  </a:solidFill>
                  <a:latin typeface="Cascadia Mono" panose="020B0609020000020004" pitchFamily="49" charset="0"/>
                </a:rPr>
                <a:t>  if complete, commit and push</a:t>
              </a:r>
            </a:p>
            <a:p>
              <a:endParaRPr lang="en-US" sz="960">
                <a:solidFill>
                  <a:srgbClr val="FFFFFF"/>
                </a:solidFill>
                <a:latin typeface="Cascadia Mono" panose="020B0609020000020004" pitchFamily="49" charset="0"/>
              </a:endParaRPr>
            </a:p>
            <a:p>
              <a:r>
                <a:rPr lang="en-US" sz="960">
                  <a:solidFill>
                    <a:srgbClr val="FFFFFF"/>
                  </a:solidFill>
                  <a:latin typeface="Cascadia Mono" panose="020B0609020000020004" pitchFamily="49" charset="0"/>
                </a:rPr>
                <a:t>[release] Candidate frozen</a:t>
              </a:r>
            </a:p>
            <a:p>
              <a:r>
                <a:rPr lang="en-US" sz="960">
                  <a:solidFill>
                    <a:srgbClr val="FFFFFF"/>
                  </a:solidFill>
                  <a:latin typeface="Cascadia Mono" panose="020B0609020000020004" pitchFamily="49" charset="0"/>
                </a:rPr>
                <a:t>[review] iOS PWA regression</a:t>
              </a:r>
            </a:p>
            <a:p>
              <a:r>
                <a:rPr lang="en-US" sz="960">
                  <a:solidFill>
                    <a:srgbClr val="FFFFFF"/>
                  </a:solidFill>
                  <a:latin typeface="Cascadia Mono" panose="020B0609020000020004" pitchFamily="49" charset="0"/>
                </a:rPr>
                <a:t>[fix] Corrected + re-reviewed</a:t>
              </a:r>
            </a:p>
            <a:p>
              <a:r>
                <a:rPr lang="en-US" sz="960">
                  <a:solidFill>
                    <a:srgbClr val="FFFFFF"/>
                  </a:solidFill>
                  <a:latin typeface="Cascadia Mono" panose="020B0609020000020004" pitchFamily="49" charset="0"/>
                </a:rPr>
                <a:t>[gates] Final validation passed</a:t>
              </a:r>
              <a:endParaRPr lang="en-CA" sz="960">
                <a:solidFill>
                  <a:srgbClr val="FFFFFF"/>
                </a:solidFill>
                <a:latin typeface="Cascadia Mono" panose="020B0609020000020004" pitchFamily="49" charset="0"/>
              </a:endParaRPr>
            </a:p>
          </p:txBody>
        </p:sp>
        <p:sp>
          <p:nvSpPr>
            <p:cNvPr id="44" name="Replay 2 footer" hidden="1">
              <a:extLst>
                <a:ext uri="{FF2B5EF4-FFF2-40B4-BE49-F238E27FC236}">
                  <a16:creationId xmlns:a16="http://schemas.microsoft.com/office/drawing/2014/main" id="{5F28B9BB-33EB-4D16-8982-C77FD7BFE54B}"/>
                </a:ext>
              </a:extLst>
            </p:cNvPr>
            <p:cNvSpPr txBox="1"/>
            <p:nvPr/>
          </p:nvSpPr>
          <p:spPr>
            <a:xfrm>
              <a:off x="4686300" y="5156200"/>
              <a:ext cx="2844800" cy="146194"/>
            </a:xfrm>
            <a:prstGeom prst="rect">
              <a:avLst/>
            </a:prstGeom>
            <a:noFill/>
          </p:spPr>
          <p:txBody>
            <a:bodyPr vert="horz" wrap="square" lIns="0" tIns="0" rIns="0" bIns="0" rtlCol="0">
              <a:spAutoFit/>
            </a:bodyPr>
            <a:lstStyle/>
            <a:p>
              <a:r>
                <a:rPr lang="en-US" sz="950">
                  <a:solidFill>
                    <a:srgbClr val="D97706"/>
                  </a:solidFill>
                  <a:latin typeface="Aptos" panose="020B0004020202020204" pitchFamily="34" charset="0"/>
                </a:rPr>
                <a:t>Authorization starts gates; it does not bypass them</a:t>
              </a:r>
              <a:endParaRPr lang="en-CA" sz="950">
                <a:solidFill>
                  <a:srgbClr val="D97706"/>
                </a:solidFill>
                <a:latin typeface="Aptos" panose="020B0004020202020204" pitchFamily="34" charset="0"/>
              </a:endParaRPr>
            </a:p>
          </p:txBody>
        </p:sp>
      </p:grpSp>
      <p:grpSp>
        <p:nvGrpSpPr>
          <p:cNvPr id="51" name="Replay Stage 3" hidden="1">
            <a:extLst>
              <a:ext uri="{FF2B5EF4-FFF2-40B4-BE49-F238E27FC236}">
                <a16:creationId xmlns:a16="http://schemas.microsoft.com/office/drawing/2014/main" id="{4487F3E5-B619-ED11-26C6-8489F36400EE}"/>
              </a:ext>
            </a:extLst>
          </p:cNvPr>
          <p:cNvGrpSpPr/>
          <p:nvPr/>
        </p:nvGrpSpPr>
        <p:grpSpPr>
          <a:xfrm>
            <a:off x="8318500" y="1714500"/>
            <a:ext cx="3302000" cy="3835400"/>
            <a:chOff x="8318500" y="1714500"/>
            <a:chExt cx="3302000" cy="3835400"/>
          </a:xfrm>
        </p:grpSpPr>
        <p:sp>
          <p:nvSpPr>
            <p:cNvPr id="46" name="Replay 3 card" hidden="1">
              <a:extLst>
                <a:ext uri="{FF2B5EF4-FFF2-40B4-BE49-F238E27FC236}">
                  <a16:creationId xmlns:a16="http://schemas.microsoft.com/office/drawing/2014/main" id="{E0522D41-94FD-8FE5-7E8E-58DA0EF41102}"/>
                </a:ext>
              </a:extLst>
            </p:cNvPr>
            <p:cNvSpPr/>
            <p:nvPr/>
          </p:nvSpPr>
          <p:spPr>
            <a:xfrm>
              <a:off x="8318500" y="1714500"/>
              <a:ext cx="3302000" cy="3835400"/>
            </a:xfrm>
            <a:prstGeom prst="roundRect">
              <a:avLst/>
            </a:prstGeom>
            <a:solidFill>
              <a:srgbClr val="E2F7F3"/>
            </a:solidFill>
            <a:ln w="12700">
              <a:solidFill>
                <a:srgbClr val="99E6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Replay 3 label" hidden="1">
              <a:extLst>
                <a:ext uri="{FF2B5EF4-FFF2-40B4-BE49-F238E27FC236}">
                  <a16:creationId xmlns:a16="http://schemas.microsoft.com/office/drawing/2014/main" id="{DD2E2B83-A522-748A-BE03-B3D4FA0763B2}"/>
                </a:ext>
              </a:extLst>
            </p:cNvPr>
            <p:cNvSpPr txBox="1"/>
            <p:nvPr/>
          </p:nvSpPr>
          <p:spPr>
            <a:xfrm>
              <a:off x="8547100" y="1917700"/>
              <a:ext cx="2844800" cy="169277"/>
            </a:xfrm>
            <a:prstGeom prst="rect">
              <a:avLst/>
            </a:prstGeom>
            <a:noFill/>
          </p:spPr>
          <p:txBody>
            <a:bodyPr vert="horz" wrap="square" lIns="0" tIns="0" rIns="0" bIns="0" rtlCol="0">
              <a:spAutoFit/>
            </a:bodyPr>
            <a:lstStyle/>
            <a:p>
              <a:r>
                <a:rPr lang="en-CA" sz="1100" b="1">
                  <a:solidFill>
                    <a:srgbClr val="0F766E"/>
                  </a:solidFill>
                  <a:latin typeface="Aptos" panose="020B0004020202020204" pitchFamily="34" charset="0"/>
                </a:rPr>
                <a:t>3  VERIFIED OUTCOME</a:t>
              </a:r>
            </a:p>
          </p:txBody>
        </p:sp>
        <p:sp>
          <p:nvSpPr>
            <p:cNvPr id="48" name="Replay 3 evidence" hidden="1">
              <a:extLst>
                <a:ext uri="{FF2B5EF4-FFF2-40B4-BE49-F238E27FC236}">
                  <a16:creationId xmlns:a16="http://schemas.microsoft.com/office/drawing/2014/main" id="{4E90BF6C-62FF-E324-6D45-7F07A451B747}"/>
                </a:ext>
              </a:extLst>
            </p:cNvPr>
            <p:cNvSpPr/>
            <p:nvPr/>
          </p:nvSpPr>
          <p:spPr>
            <a:xfrm>
              <a:off x="8521700" y="2336800"/>
              <a:ext cx="2895600" cy="2654300"/>
            </a:xfrm>
            <a:prstGeom prst="roundRect">
              <a:avLst/>
            </a:prstGeom>
            <a:solidFill>
              <a:srgbClr val="F0FDFA"/>
            </a:solidFill>
            <a:ln w="12700">
              <a:solidFill>
                <a:srgbClr val="99E6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Replay 3 text" hidden="1">
              <a:extLst>
                <a:ext uri="{FF2B5EF4-FFF2-40B4-BE49-F238E27FC236}">
                  <a16:creationId xmlns:a16="http://schemas.microsoft.com/office/drawing/2014/main" id="{A6A3BE88-480A-2E90-3916-12963C81A772}"/>
                </a:ext>
              </a:extLst>
            </p:cNvPr>
            <p:cNvSpPr txBox="1"/>
            <p:nvPr/>
          </p:nvSpPr>
          <p:spPr>
            <a:xfrm>
              <a:off x="8712200" y="2679700"/>
              <a:ext cx="2514600" cy="846386"/>
            </a:xfrm>
            <a:prstGeom prst="rect">
              <a:avLst/>
            </a:prstGeom>
            <a:noFill/>
          </p:spPr>
          <p:txBody>
            <a:bodyPr vert="horz" wrap="square" lIns="0" tIns="0" rIns="0" bIns="0" rtlCol="0">
              <a:spAutoFit/>
            </a:bodyPr>
            <a:lstStyle/>
            <a:p>
              <a:r>
                <a:rPr lang="en-US" sz="1100">
                  <a:solidFill>
                    <a:srgbClr val="182033"/>
                  </a:solidFill>
                  <a:latin typeface="Cascadia Mono" panose="020B0609020000020004" pitchFamily="49" charset="0"/>
                </a:rPr>
                <a:t>commit    2067c5c</a:t>
              </a:r>
            </a:p>
            <a:p>
              <a:r>
                <a:rPr lang="en-US" sz="1100">
                  <a:solidFill>
                    <a:srgbClr val="182033"/>
                  </a:solidFill>
                  <a:latin typeface="Cascadia Mono" panose="020B0609020000020004" pitchFamily="49" charset="0"/>
                </a:rPr>
                <a:t>workflow  34311026424  PASS</a:t>
              </a:r>
            </a:p>
            <a:p>
              <a:r>
                <a:rPr lang="en-US" sz="1100">
                  <a:solidFill>
                    <a:srgbClr val="182033"/>
                  </a:solidFill>
                  <a:latin typeface="Cascadia Mono" panose="020B0609020000020004" pitchFamily="49" charset="0"/>
                </a:rPr>
                <a:t>health    HTTP 200</a:t>
              </a:r>
            </a:p>
            <a:p>
              <a:r>
                <a:rPr lang="en-US" sz="1100">
                  <a:solidFill>
                    <a:srgbClr val="182033"/>
                  </a:solidFill>
                  <a:latin typeface="Cascadia Mono" panose="020B0609020000020004" pitchFamily="49" charset="0"/>
                </a:rPr>
                <a:t>version   2067c5c</a:t>
              </a:r>
            </a:p>
            <a:p>
              <a:r>
                <a:rPr lang="en-US" sz="1100">
                  <a:solidFill>
                    <a:srgbClr val="182033"/>
                  </a:solidFill>
                  <a:latin typeface="Cascadia Mono" panose="020B0609020000020004" pitchFamily="49" charset="0"/>
                </a:rPr>
                <a:t>issue     #95 CLOSED</a:t>
              </a:r>
              <a:endParaRPr lang="en-CA" sz="1100">
                <a:solidFill>
                  <a:srgbClr val="182033"/>
                </a:solidFill>
                <a:latin typeface="Cascadia Mono" panose="020B0609020000020004" pitchFamily="49" charset="0"/>
              </a:endParaRPr>
            </a:p>
          </p:txBody>
        </p:sp>
        <p:sp>
          <p:nvSpPr>
            <p:cNvPr id="50" name="Replay 3 footer" hidden="1">
              <a:extLst>
                <a:ext uri="{FF2B5EF4-FFF2-40B4-BE49-F238E27FC236}">
                  <a16:creationId xmlns:a16="http://schemas.microsoft.com/office/drawing/2014/main" id="{37390AAD-494B-B46B-7970-C2AF67A78931}"/>
                </a:ext>
              </a:extLst>
            </p:cNvPr>
            <p:cNvSpPr txBox="1"/>
            <p:nvPr/>
          </p:nvSpPr>
          <p:spPr>
            <a:xfrm>
              <a:off x="8547100" y="5156200"/>
              <a:ext cx="2844800" cy="153888"/>
            </a:xfrm>
            <a:prstGeom prst="rect">
              <a:avLst/>
            </a:prstGeom>
            <a:noFill/>
          </p:spPr>
          <p:txBody>
            <a:bodyPr vert="horz" wrap="square" lIns="0" tIns="0" rIns="0" bIns="0" rtlCol="0">
              <a:spAutoFit/>
            </a:bodyPr>
            <a:lstStyle/>
            <a:p>
              <a:r>
                <a:rPr lang="en-US" sz="1000">
                  <a:solidFill>
                    <a:srgbClr val="0F766E"/>
                  </a:solidFill>
                  <a:latin typeface="Aptos" panose="020B0004020202020204" pitchFamily="34" charset="0"/>
                </a:rPr>
                <a:t>Exact release identity + operational health</a:t>
              </a:r>
              <a:endParaRPr lang="en-CA" sz="1000">
                <a:solidFill>
                  <a:srgbClr val="0F766E"/>
                </a:solidFill>
                <a:latin typeface="Aptos" panose="020B0004020202020204" pitchFamily="34" charset="0"/>
              </a:endParaRPr>
            </a:p>
          </p:txBody>
        </p:sp>
      </p:grpSp>
      <p:sp>
        <p:nvSpPr>
          <p:cNvPr id="52" name="Replay moral bar" hidden="1">
            <a:extLst>
              <a:ext uri="{FF2B5EF4-FFF2-40B4-BE49-F238E27FC236}">
                <a16:creationId xmlns:a16="http://schemas.microsoft.com/office/drawing/2014/main" id="{CE50227E-0B69-DA93-2E93-78B3929BAE6F}"/>
              </a:ext>
            </a:extLst>
          </p:cNvPr>
          <p:cNvSpPr/>
          <p:nvPr/>
        </p:nvSpPr>
        <p:spPr>
          <a:xfrm>
            <a:off x="2819400" y="5880100"/>
            <a:ext cx="63500" cy="546100"/>
          </a:xfrm>
          <a:prstGeom prst="rect">
            <a:avLst/>
          </a:prstGeom>
          <a:solidFill>
            <a:srgbClr val="3B8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Replay moral" hidden="1">
            <a:extLst>
              <a:ext uri="{FF2B5EF4-FFF2-40B4-BE49-F238E27FC236}">
                <a16:creationId xmlns:a16="http://schemas.microsoft.com/office/drawing/2014/main" id="{578B3585-AB6B-8EED-5912-9B2F4364FB60}"/>
              </a:ext>
            </a:extLst>
          </p:cNvPr>
          <p:cNvSpPr txBox="1"/>
          <p:nvPr/>
        </p:nvSpPr>
        <p:spPr>
          <a:xfrm>
            <a:off x="3098800" y="5905500"/>
            <a:ext cx="6350000" cy="492443"/>
          </a:xfrm>
          <a:prstGeom prst="rect">
            <a:avLst/>
          </a:prstGeom>
          <a:noFill/>
        </p:spPr>
        <p:txBody>
          <a:bodyPr vert="horz" wrap="square" lIns="0" tIns="0" rIns="0" bIns="0" rtlCol="0">
            <a:spAutoFit/>
          </a:bodyPr>
          <a:lstStyle/>
          <a:p>
            <a:r>
              <a:rPr lang="en-US" sz="1600" b="1" i="1">
                <a:solidFill>
                  <a:srgbClr val="182033"/>
                </a:solidFill>
                <a:latin typeface="Aptos" panose="020B0004020202020204" pitchFamily="34" charset="0"/>
              </a:rPr>
              <a:t>My interaction became smaller because the engineering system became richer.</a:t>
            </a:r>
            <a:endParaRPr lang="en-CA" sz="1600" b="1" i="1">
              <a:solidFill>
                <a:srgbClr val="182033"/>
              </a:solidFill>
              <a:latin typeface="Aptos" panose="020B0004020202020204" pitchFamily="34" charset="0"/>
            </a:endParaRPr>
          </a:p>
        </p:txBody>
      </p:sp>
      <p:pic>
        <p:nvPicPr>
          <p:cNvPr id="5" name="Issue 95 CLI Replay">
            <a:hlinkClick r:id="" action="ppaction://media"/>
            <a:extLst>
              <a:ext uri="{FF2B5EF4-FFF2-40B4-BE49-F238E27FC236}">
                <a16:creationId xmlns:a16="http://schemas.microsoft.com/office/drawing/2014/main" id="{0FD03477-99CD-8320-49BA-FC9CD0CDBE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17517" y="1022150"/>
            <a:ext cx="9556965" cy="53757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Aptos"/>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Aptos"/>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4014</TotalTime>
  <Words>8601</Words>
  <Application>Microsoft Office PowerPoint</Application>
  <PresentationFormat>Widescreen</PresentationFormat>
  <Paragraphs>689</Paragraphs>
  <Slides>26</Slides>
  <Notes>26</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Aptos Light</vt:lpstr>
      <vt:lpstr>Aptos SemiBold</vt:lpstr>
      <vt:lpstr>Arial</vt:lpstr>
      <vt:lpstr>Cascadia Mono</vt:lpstr>
      <vt:lpstr>Consolas</vt:lpstr>
      <vt:lpstr>Office Theme</vt:lpstr>
      <vt:lpstr>PowerPoint Presentation</vt:lpstr>
      <vt:lpstr>Sixteen minutes from approved change to verified recovery</vt:lpstr>
      <vt:lpstr>Hypervelocity is not code velocity</vt:lpstr>
      <vt:lpstr>Health Track – a perfect HVE test bench</vt:lpstr>
      <vt:lpstr>Evidence, not a productivity claim</vt:lpstr>
      <vt:lpstr>The session became the system</vt:lpstr>
      <vt:lpstr>The prompt became three words</vt:lpstr>
      <vt:lpstr>The issue is the “API” between intent and implementation</vt:lpstr>
      <vt:lpstr>Creating the issue needed an engineering process too</vt:lpstr>
      <vt:lpstr>The issue began with one sentence</vt:lpstr>
      <vt:lpstr>From works on my machine to … works</vt:lpstr>
      <vt:lpstr>Issue #95: fresh review changed the candidate three times</vt:lpstr>
      <vt:lpstr>The release skill closes the loop around DevOps</vt:lpstr>
      <vt:lpstr>The hour stayed. My job changed.</vt:lpstr>
      <vt:lpstr>Anatomy of a repository-native agentic harness</vt:lpstr>
      <vt:lpstr>Skills orchestrate the lifecycle. Agents stay bounded.</vt:lpstr>
      <vt:lpstr>Shape intent, then build from the contract</vt:lpstr>
      <vt:lpstr>PowerPoint Presentation</vt:lpstr>
      <vt:lpstr>PowerPoint Presentation</vt:lpstr>
      <vt:lpstr>First separate product truth from harness behavior</vt:lpstr>
      <vt:lpstr>We already solved this problem for code</vt:lpstr>
      <vt:lpstr>One source. Controlled installation in every consumer.</vt:lpstr>
      <vt:lpstr>Start local. Move only when sharing earns it.</vt:lpstr>
      <vt:lpstr>APM DEMO</vt:lpstr>
      <vt:lpstr>PowerPoint Presentation</vt:lpstr>
      <vt:lpstr>Issue #95: two prompts, one controlled release</vt:lpstr>
    </vt:vector>
  </TitlesOfParts>
  <Company>Conference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SDLC across GitHub and Azure</dc:title>
  <dc:subject>Agentic software delivery across GitHub and Azure</dc:subject>
  <dc:creator>Alex Drenea</dc:creator>
  <cp:lastModifiedBy>Alex Drenea</cp:lastModifiedBy>
  <cp:revision>88</cp:revision>
  <dcterms:created xsi:type="dcterms:W3CDTF">2026-09-13T16:34:11Z</dcterms:created>
  <dcterms:modified xsi:type="dcterms:W3CDTF">2026-09-24T02:28:55Z</dcterms:modified>
</cp:coreProperties>
</file>
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88" r:id="rId2"/>
    <p:sldId id="293" r:id="rId3"/>
    <p:sldId id="257" r:id="rId4"/>
    <p:sldId id="286" r:id="rId5"/>
    <p:sldId id="285" r:id="rId6"/>
    <p:sldId id="260" r:id="rId7"/>
    <p:sldId id="290" r:id="rId8"/>
    <p:sldId id="287" r:id="rId9"/>
    <p:sldId id="262" r:id="rId10"/>
    <p:sldId id="283" r:id="rId11"/>
    <p:sldId id="292" r:id="rId12"/>
    <p:sldId id="282" r:id="rId13"/>
    <p:sldId id="281" r:id="rId14"/>
    <p:sldId id="280" r:id="rId15"/>
    <p:sldId id="279" r:id="rId16"/>
    <p:sldId id="278" r:id="rId17"/>
    <p:sldId id="277" r:id="rId18"/>
    <p:sldId id="276" r:id="rId19"/>
    <p:sldId id="291" r:id="rId20"/>
    <p:sldId id="271" r:id="rId21"/>
    <p:sldId id="272" r:id="rId22"/>
    <p:sldId id="273" r:id="rId23"/>
    <p:sldId id="289"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1F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B9DDE0-30B4-44B0-A9FA-2DF535113066}" v="4" dt="2026-09-13T17:10:11.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00" autoAdjust="0"/>
    <p:restoredTop sz="73773" autoAdjust="0"/>
  </p:normalViewPr>
  <p:slideViewPr>
    <p:cSldViewPr snapToGrid="0" snapToObjects="1">
      <p:cViewPr varScale="1">
        <p:scale>
          <a:sx n="74" d="100"/>
          <a:sy n="74" d="100"/>
        </p:scale>
        <p:origin x="45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399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CA" dirty="0"/>
          </a:p>
        </p:txBody>
      </p:sp>
    </p:spTree>
    <p:extLst>
      <p:ext uri="{BB962C8B-B14F-4D97-AF65-F5344CB8AC3E}">
        <p14:creationId xmlns:p14="http://schemas.microsoft.com/office/powerpoint/2010/main" val="2920318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2 — Agents do not inherently remember</a:t>
            </a:r>
          </a:p>
          <a:p>
            <a:endParaRPr lang="en-US" dirty="0"/>
          </a:p>
          <a:p>
            <a:r>
              <a:rPr lang="en-US" dirty="0"/>
              <a:t>A model invocation is fundamentally input, model, output. On the next invocation, the model only knows what the application supplies again.</a:t>
            </a:r>
          </a:p>
          <a:p>
            <a:endParaRPr lang="en-US" dirty="0"/>
          </a:p>
          <a:p>
            <a:r>
              <a:rPr lang="en-US" dirty="0"/>
              <a:t>The conversational experience can make this easy to forget. The agent appears to remember because a harness retrieves previous information and places it into the next context window.</a:t>
            </a:r>
          </a:p>
          <a:p>
            <a:endParaRPr lang="en-US" dirty="0"/>
          </a:p>
          <a:p>
            <a:r>
              <a:rPr lang="en-US" dirty="0"/>
              <a:t>Every useful memory therefore exists because the surrounding application performed four jobs.</a:t>
            </a:r>
          </a:p>
          <a:p>
            <a:endParaRPr lang="en-US" dirty="0"/>
          </a:p>
          <a:p>
            <a:r>
              <a:rPr lang="en-US" dirty="0"/>
              <a:t>First, it captured raw experience: messages, tool requests, tool results, task state, decisions, and outcomes.</a:t>
            </a:r>
          </a:p>
          <a:p>
            <a:endParaRPr lang="en-US" dirty="0"/>
          </a:p>
          <a:p>
            <a:r>
              <a:rPr lang="en-US" dirty="0"/>
              <a:t>Second, it distilled some of that experience into more durable artifacts: summaries, facts, user preferences, reusable procedures, or lessons from an episode.</a:t>
            </a:r>
          </a:p>
          <a:p>
            <a:endParaRPr lang="en-US" dirty="0"/>
          </a:p>
          <a:p>
            <a:r>
              <a:rPr lang="en-US" dirty="0"/>
              <a:t>Third, it retrieved a small, relevant subset when the agent needed it.</a:t>
            </a:r>
          </a:p>
          <a:p>
            <a:endParaRPr lang="en-US" dirty="0"/>
          </a:p>
          <a:p>
            <a:r>
              <a:rPr lang="en-US" dirty="0"/>
              <a:t>Finally, it governed the lifecycle: identity boundaries, confidence, provenance, retention, supersession, and deletion.</a:t>
            </a:r>
          </a:p>
          <a:p>
            <a:endParaRPr lang="en-US" dirty="0"/>
          </a:p>
          <a:p>
            <a:r>
              <a:rPr lang="en-US" dirty="0"/>
              <a:t>This is why memory should be treated as an architectural component rather than a prompt-engineering trick.</a:t>
            </a:r>
          </a:p>
          <a:p>
            <a:endParaRPr lang="en-US" dirty="0"/>
          </a:p>
          <a:p>
            <a:r>
              <a:rPr lang="en-US" dirty="0"/>
              <a:t>### Transition</a:t>
            </a:r>
          </a:p>
          <a:p>
            <a:endParaRPr lang="en-US" dirty="0"/>
          </a:p>
          <a:p>
            <a:r>
              <a:rPr lang="en-US" dirty="0"/>
              <a:t>This also helps us separate agent memory from a nearby and often-confused pattern: retrieval-augmented generation.</a:t>
            </a:r>
            <a:endParaRPr lang="en-CA" dirty="0"/>
          </a:p>
        </p:txBody>
      </p:sp>
    </p:spTree>
    <p:extLst>
      <p:ext uri="{BB962C8B-B14F-4D97-AF65-F5344CB8AC3E}">
        <p14:creationId xmlns:p14="http://schemas.microsoft.com/office/powerpoint/2010/main" val="163725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3 — Agentic memory: beyond RAG</a:t>
            </a:r>
          </a:p>
          <a:p>
            <a:endParaRPr lang="en-US" dirty="0"/>
          </a:p>
          <a:p>
            <a:r>
              <a:rPr lang="en-US" dirty="0"/>
              <a:t>Traditional RAG normally begins with a curated or indexed knowledge corpus. A user asks a question, the application retrieves relevant passages, and the model grounds its response in those passages.</a:t>
            </a:r>
          </a:p>
          <a:p>
            <a:endParaRPr lang="en-US" dirty="0"/>
          </a:p>
          <a:p>
            <a:r>
              <a:rPr lang="en-US" dirty="0"/>
              <a:t>Agent memory solves a different problem. It carries forward what happened to this user, this task, this thread, or this agent. It is dynamic and personalized. It can include preferences, earlier decisions, tool outcomes, abandoned plans, and lessons learned.</a:t>
            </a:r>
          </a:p>
          <a:p>
            <a:endParaRPr lang="en-US" dirty="0"/>
          </a:p>
          <a:p>
            <a:r>
              <a:rPr lang="en-US" dirty="0"/>
              <a:t>RAG asks, “What does our knowledge base say?”</a:t>
            </a:r>
          </a:p>
          <a:p>
            <a:endParaRPr lang="en-US" dirty="0"/>
          </a:p>
          <a:p>
            <a:r>
              <a:rPr lang="en-US" dirty="0"/>
              <a:t>Memory asks, “What happened before, is it relevant now, and should we still believe it?”</a:t>
            </a:r>
          </a:p>
          <a:p>
            <a:endParaRPr lang="en-US" dirty="0"/>
          </a:p>
          <a:p>
            <a:r>
              <a:rPr lang="en-US" dirty="0"/>
              <a:t>The “living” part matters. Memories can gain or lose relevance. A preference can change. Two extracted facts can contradict one another. An old task result may no longer be useful. A sensitive interaction may need to expire or be erased.</a:t>
            </a:r>
          </a:p>
          <a:p>
            <a:endParaRPr lang="en-US" dirty="0"/>
          </a:p>
          <a:p>
            <a:r>
              <a:rPr lang="en-US" dirty="0"/>
              <a:t>RAG and memory work together. Knowledge can explain the refund policy. Memory can recall that this customer already attempted the return, prefers store credit, and was promised a follow-up.</a:t>
            </a:r>
          </a:p>
          <a:p>
            <a:endParaRPr lang="en-US" dirty="0"/>
          </a:p>
          <a:p>
            <a:r>
              <a:rPr lang="en-US" dirty="0"/>
              <a:t>The architecture must preserve that distinction because the lifecycle and trust model are different.</a:t>
            </a:r>
          </a:p>
          <a:p>
            <a:endParaRPr lang="en-US" dirty="0"/>
          </a:p>
          <a:p>
            <a:r>
              <a:rPr lang="en-US" dirty="0"/>
              <a:t>### Transition</a:t>
            </a:r>
          </a:p>
          <a:p>
            <a:endParaRPr lang="en-US" dirty="0"/>
          </a:p>
          <a:p>
            <a:r>
              <a:rPr lang="en-US" dirty="0"/>
              <a:t>To make that concrete, we need to separate temporary state from durable memory.</a:t>
            </a:r>
            <a:endParaRPr lang="en-CA" dirty="0"/>
          </a:p>
        </p:txBody>
      </p:sp>
    </p:spTree>
    <p:extLst>
      <p:ext uri="{BB962C8B-B14F-4D97-AF65-F5344CB8AC3E}">
        <p14:creationId xmlns:p14="http://schemas.microsoft.com/office/powerpoint/2010/main" val="1913780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4 — State and memory</a:t>
            </a:r>
          </a:p>
          <a:p>
            <a:endParaRPr lang="en-US" dirty="0"/>
          </a:p>
          <a:p>
            <a:r>
              <a:rPr lang="en-US" dirty="0"/>
              <a:t>Not everything an agent uses should become long-term memory.</a:t>
            </a:r>
          </a:p>
          <a:p>
            <a:endParaRPr lang="en-US" dirty="0"/>
          </a:p>
          <a:p>
            <a:r>
              <a:rPr lang="en-US" dirty="0"/>
              <a:t>Some state lasts milliseconds: an intermediate result used by the next planning step.</a:t>
            </a:r>
          </a:p>
          <a:p>
            <a:endParaRPr lang="en-US" dirty="0"/>
          </a:p>
          <a:p>
            <a:r>
              <a:rPr lang="en-US" dirty="0"/>
              <a:t>Some lasts for the active session: recent conversation turns, a partially completed workflow, or the response from a tool call.</a:t>
            </a:r>
          </a:p>
          <a:p>
            <a:endParaRPr lang="en-US" dirty="0"/>
          </a:p>
          <a:p>
            <a:r>
              <a:rPr lang="en-US" dirty="0"/>
              <a:t>Some may be useful across sessions: a stable user preference, a confirmed requirement, a summary of a long-running case, or a reusable procedure.</a:t>
            </a:r>
          </a:p>
          <a:p>
            <a:endParaRPr lang="en-US" dirty="0"/>
          </a:p>
          <a:p>
            <a:r>
              <a:rPr lang="en-US" dirty="0"/>
              <a:t>And some records may need to exist for audit or learning even when they should no longer be retrieved into ordinary prompts.</a:t>
            </a:r>
          </a:p>
          <a:p>
            <a:endParaRPr lang="en-US" dirty="0"/>
          </a:p>
          <a:p>
            <a:r>
              <a:rPr lang="en-US" dirty="0"/>
              <a:t>The source material describes short-term memory as recent conversational or working context and long-term memory as factual, episodic, or semantic information that persists beyond the immediate thread.</a:t>
            </a:r>
          </a:p>
          <a:p>
            <a:endParaRPr lang="en-US" dirty="0"/>
          </a:p>
          <a:p>
            <a:r>
              <a:rPr lang="en-US" dirty="0"/>
              <a:t>The implementation question is not simply “where do we store history?” It is “what is the intended lifetime and retrieval job of each artifact?”</a:t>
            </a:r>
          </a:p>
          <a:p>
            <a:endParaRPr lang="en-US" dirty="0"/>
          </a:p>
          <a:p>
            <a:r>
              <a:rPr lang="en-US" dirty="0"/>
              <a:t>That decision drives the item shape, partition key, indexes, TTL, transformation pipeline, and authorization model.</a:t>
            </a:r>
          </a:p>
          <a:p>
            <a:endParaRPr lang="en-US" dirty="0"/>
          </a:p>
          <a:p>
            <a:r>
              <a:rPr lang="en-US" dirty="0"/>
              <a:t>### Transition</a:t>
            </a:r>
          </a:p>
          <a:p>
            <a:endParaRPr lang="en-US" dirty="0"/>
          </a:p>
          <a:p>
            <a:r>
              <a:rPr lang="en-US" dirty="0"/>
              <a:t>A useful architecture starts with a practical memory taxonomy rather than one giant transcript.</a:t>
            </a:r>
            <a:endParaRPr lang="en-CA" dirty="0"/>
          </a:p>
        </p:txBody>
      </p:sp>
    </p:spTree>
    <p:extLst>
      <p:ext uri="{BB962C8B-B14F-4D97-AF65-F5344CB8AC3E}">
        <p14:creationId xmlns:p14="http://schemas.microsoft.com/office/powerpoint/2010/main" val="1449153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5 — Store artifacts with different jobs and lifetimes</a:t>
            </a:r>
          </a:p>
          <a:p>
            <a:endParaRPr lang="en-US" dirty="0"/>
          </a:p>
          <a:p>
            <a:r>
              <a:rPr lang="en-US" dirty="0"/>
              <a:t>The first category is raw turns. These are user, agent, system, or tool messages and their metadata. They are the source experience and usually support recent-context replay, audit, and later transformation.</a:t>
            </a:r>
          </a:p>
          <a:p>
            <a:endParaRPr lang="en-US" dirty="0"/>
          </a:p>
          <a:p>
            <a:r>
              <a:rPr lang="en-US" dirty="0"/>
              <a:t>The second category is summaries. A thread summary compresses a long interaction. A user summary can carry stable cross-thread context. Summaries reduce prompt cost, but they are model-generated interpretations rather than guaranteed truth.</a:t>
            </a:r>
          </a:p>
          <a:p>
            <a:endParaRPr lang="en-US" dirty="0"/>
          </a:p>
          <a:p>
            <a:r>
              <a:rPr lang="en-US" dirty="0"/>
              <a:t>The third category is facts and profiles. These are discrete assertions such as a confirmed preference, environment detail, requirement, or decision. They are valuable because they can be independently searched, reconciled, and superseded.</a:t>
            </a:r>
          </a:p>
          <a:p>
            <a:endParaRPr lang="en-US" dirty="0"/>
          </a:p>
          <a:p>
            <a:r>
              <a:rPr lang="en-US" dirty="0"/>
              <a:t>The current Agent Memory Toolkit also models procedural and episodic memory. A procedural memory is a reusable rule or workflow: when this condition occurs, follow these steps. An episode captures a past experience, its outcome, and potentially the lesson learned.</a:t>
            </a:r>
          </a:p>
          <a:p>
            <a:endParaRPr lang="en-US" dirty="0"/>
          </a:p>
          <a:p>
            <a:r>
              <a:rPr lang="en-US" dirty="0"/>
              <a:t>These names can evolve. The stable design principle is that each artifact should have a clear purpose, source lineage, confidence, retrieval scope, and lifecycle.</a:t>
            </a:r>
          </a:p>
          <a:p>
            <a:endParaRPr lang="en-US" dirty="0"/>
          </a:p>
          <a:p>
            <a:r>
              <a:rPr lang="en-US" dirty="0"/>
              <a:t>### Transition</a:t>
            </a:r>
          </a:p>
          <a:p>
            <a:endParaRPr lang="en-US" dirty="0"/>
          </a:p>
          <a:p>
            <a:r>
              <a:rPr lang="en-US" dirty="0"/>
              <a:t>Now we can ask why Azure Cosmos DB fits this architecture.</a:t>
            </a:r>
            <a:endParaRPr lang="en-CA" dirty="0"/>
          </a:p>
        </p:txBody>
      </p:sp>
    </p:spTree>
    <p:extLst>
      <p:ext uri="{BB962C8B-B14F-4D97-AF65-F5344CB8AC3E}">
        <p14:creationId xmlns:p14="http://schemas.microsoft.com/office/powerpoint/2010/main" val="2623492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Before connecting Cosmos DB specifically to agent memory, let me quickly refresh the broader capabilities of the platform.</a:t>
            </a:r>
          </a:p>
          <a:p>
            <a:r>
              <a:rPr lang="en-US" dirty="0"/>
              <a:t>At its core, Azure Cosmos DB is a globally distributed operational NoSQL database. It is designed for applications that need predictable low latency, elastic scale, high availability, and flexible JSON data.</a:t>
            </a:r>
          </a:p>
          <a:p>
            <a:endParaRPr lang="en-US" dirty="0"/>
          </a:p>
          <a:p>
            <a:r>
              <a:rPr lang="en-US" dirty="0"/>
              <a:t>The first capability I want to highlight is query and search together. Cosmos DB supports normal NoSQL queries alongside vector search, full-text search, and hybrid retrieval. That means an application can combine deterministic filters, exact-term matching, and semantic similarity without in the same system.</a:t>
            </a:r>
          </a:p>
          <a:p>
            <a:endParaRPr lang="en-US" dirty="0"/>
          </a:p>
          <a:p>
            <a:r>
              <a:rPr lang="en-US" dirty="0"/>
              <a:t>Second, Cosmos DB was built with multitenant applications in mind. Partition keys distribute and route data efficiently, while containers, databases, and accounts provide additional isolation options. Partitioning is not authorization—the application must still enforce identity and access—but it gives us an important foundation for organizing data around tenants, users, sessions, or workloads.</a:t>
            </a:r>
          </a:p>
          <a:p>
            <a:endParaRPr lang="en-US" dirty="0"/>
          </a:p>
          <a:p>
            <a:r>
              <a:rPr lang="en-US" dirty="0"/>
              <a:t>Third, the NoSQL model gives us a flexible JSON representation. Different records do not all need an identical shape, and vectors can be stored beside the data they describe. That is useful when an application contains ordinary business records, conversation turns, summaries, facts, embeddings, and lifecycle metadata.</a:t>
            </a:r>
          </a:p>
          <a:p>
            <a:endParaRPr lang="en-US" dirty="0"/>
          </a:p>
          <a:p>
            <a:r>
              <a:rPr lang="en-US" dirty="0"/>
              <a:t>On the operational side, Cosmos DB automatically partitions data and can scale throughput as demand changes.</a:t>
            </a:r>
          </a:p>
          <a:p>
            <a:r>
              <a:rPr lang="en-US" dirty="0"/>
              <a:t>Its vector indexing options are designed to support low-latency retrieval over very large datasets. As always, actual latency depends on the index, vector dimensions, filters, regions, and workload—but the platform is designed for retrieval at production scale.</a:t>
            </a:r>
          </a:p>
          <a:p>
            <a:endParaRPr lang="en-US" dirty="0"/>
          </a:p>
          <a:p>
            <a:r>
              <a:rPr lang="en-US" dirty="0"/>
              <a:t>It also provides the availability and geographic distribution expected from an operational database. That matters because once an application depends on this data to make decisions or continue a workflow, it is no longer merely an offline search index. It becomes part of the application’s runtime state.</a:t>
            </a:r>
          </a:p>
          <a:p>
            <a:endParaRPr lang="en-US" dirty="0"/>
          </a:p>
          <a:p>
            <a:r>
              <a:rPr lang="en-US" dirty="0"/>
              <a:t>And finally, serverless and consumption-based options make it possible to start relatively small. The cost example on this slide is illustrative—the actual result depends on document size, indexing, dimensions, and query patterns—but the important point is that adopting vector search does not automatically require operating a large, separate cluster.</a:t>
            </a:r>
          </a:p>
          <a:p>
            <a:endParaRPr lang="en-US" dirty="0"/>
          </a:p>
          <a:p>
            <a:r>
              <a:rPr lang="en-US" dirty="0"/>
              <a:t>So if we summarize this slide, Cosmos DB brings together:</a:t>
            </a:r>
          </a:p>
          <a:p>
            <a:r>
              <a:rPr lang="en-US" dirty="0"/>
              <a:t>• Operational JSON storage</a:t>
            </a:r>
          </a:p>
          <a:p>
            <a:r>
              <a:rPr lang="en-US" dirty="0"/>
              <a:t>• Multiple query and search modes</a:t>
            </a:r>
          </a:p>
          <a:p>
            <a:r>
              <a:rPr lang="en-US" dirty="0"/>
              <a:t>• Partitioning and multitenant routing</a:t>
            </a:r>
          </a:p>
          <a:p>
            <a:r>
              <a:rPr lang="en-US" dirty="0"/>
              <a:t>• Elastic scale</a:t>
            </a:r>
          </a:p>
          <a:p>
            <a:r>
              <a:rPr lang="en-US" dirty="0"/>
              <a:t>• Global availability</a:t>
            </a:r>
          </a:p>
          <a:p>
            <a:r>
              <a:rPr lang="en-US" dirty="0"/>
              <a:t>• And vectors stored beside the data they represent</a:t>
            </a:r>
          </a:p>
          <a:p>
            <a:endParaRPr lang="en-US" dirty="0"/>
          </a:p>
          <a:p>
            <a:r>
              <a:rPr lang="en-US" dirty="0"/>
              <a:t>Those are useful general database capabilities. But the more important question for this session is: why are they relevant to generative AI and intelligent agents?</a:t>
            </a:r>
            <a:endParaRPr lang="en-CA" dirty="0"/>
          </a:p>
        </p:txBody>
      </p:sp>
    </p:spTree>
    <p:extLst>
      <p:ext uri="{BB962C8B-B14F-4D97-AF65-F5344CB8AC3E}">
        <p14:creationId xmlns:p14="http://schemas.microsoft.com/office/powerpoint/2010/main" val="245065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AD4A4-471D-2BE7-3ADD-40B3AD852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4C8C7-0CD1-B6C2-8270-5F01BD41E3C8}"/>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a:extLst>
              <a:ext uri="{FF2B5EF4-FFF2-40B4-BE49-F238E27FC236}">
                <a16:creationId xmlns:a16="http://schemas.microsoft.com/office/drawing/2014/main" id="{6D6AAADC-A068-A601-180C-9164B154D7BC}"/>
              </a:ext>
            </a:extLst>
          </p:cNvPr>
          <p:cNvSpPr>
            <a:spLocks noGrp="1"/>
          </p:cNvSpPr>
          <p:nvPr>
            <p:ph type="body" idx="1"/>
          </p:nvPr>
        </p:nvSpPr>
        <p:spPr>
          <a:xfrm>
            <a:off x="685800" y="5867400"/>
            <a:ext cx="5486400" cy="4800600"/>
          </a:xfrm>
          <a:prstGeom prst="rect">
            <a:avLst/>
          </a:prstGeom>
        </p:spPr>
        <p:txBody>
          <a:bodyPr/>
          <a:lstStyle/>
          <a:p>
            <a:r>
              <a:rPr lang="en-US" dirty="0"/>
              <a:t>## Slide 7 — Why Azure Cosmos DB</a:t>
            </a:r>
          </a:p>
          <a:p>
            <a:endParaRPr lang="en-US" dirty="0"/>
          </a:p>
          <a:p>
            <a:r>
              <a:rPr lang="en-US" dirty="0"/>
              <a:t>Azure Cosmos DB sits at the intersection of several GenAI data scenarios.</a:t>
            </a:r>
          </a:p>
          <a:p>
            <a:endParaRPr lang="en-US" dirty="0"/>
          </a:p>
          <a:p>
            <a:r>
              <a:rPr lang="en-US" dirty="0"/>
              <a:t>---------------</a:t>
            </a:r>
          </a:p>
          <a:p>
            <a:r>
              <a:rPr lang="en-US" dirty="0"/>
              <a:t>It can hold operational application data, conversational history, semantic-cache records, RAG content, and agent memories as JSON documents.</a:t>
            </a:r>
          </a:p>
          <a:p>
            <a:endParaRPr lang="en-US" dirty="0"/>
          </a:p>
          <a:p>
            <a:r>
              <a:rPr lang="en-US" dirty="0"/>
              <a:t>Importantly, embeddings can live beside the source data rather than being copied into an unrelated vector system. The same platform supports ordinary queries, vector similarity, full-text search, and hybrid ranking.</a:t>
            </a:r>
          </a:p>
          <a:p>
            <a:endParaRPr lang="en-US" dirty="0"/>
          </a:p>
          <a:p>
            <a:r>
              <a:rPr lang="en-US" dirty="0"/>
              <a:t>That unification matters for freshness and consistency. When an interaction is written, the application does not need a separate ETL pipeline before the new record is visible to operational queries. Derived processing can react through the change feed.</a:t>
            </a:r>
          </a:p>
          <a:p>
            <a:endParaRPr lang="en-US" dirty="0"/>
          </a:p>
          <a:p>
            <a:r>
              <a:rPr lang="en-US" dirty="0"/>
              <a:t>Another important scenario that fits </a:t>
            </a:r>
            <a:r>
              <a:rPr lang="en-US" dirty="0" err="1"/>
              <a:t>CosmosDB</a:t>
            </a:r>
            <a:r>
              <a:rPr lang="en-US" dirty="0"/>
              <a:t> well is semantic caching - If</a:t>
            </a:r>
            <a:r>
              <a:rPr lang="en-CA" sz="1200" b="0" i="0" kern="1200" dirty="0">
                <a:solidFill>
                  <a:schemeClr val="tx1"/>
                </a:solidFill>
                <a:effectLst/>
                <a:latin typeface="+mn-lt"/>
                <a:ea typeface="+mn-ea"/>
                <a:cs typeface="+mn-cs"/>
              </a:rPr>
              <a:t> I want to reduce cost, I’m don’t want to be going back to an LLM to generate the same response time and time and time again. Instead, I can use semantic caching over previously answered prompts and then use that to serve subsequent requests from users that are asking the same questions in there over and over again. This might sound niche or edge, and it might be when you consider user-to-agent conversations, but when you think about multi-agent orchestrations that happen behind the scenes when a user asks a question, the amount of times agents pass information scales really quickly making this semantic caching really important component of cost savings.</a:t>
            </a:r>
            <a:endParaRPr lang="en-US" dirty="0"/>
          </a:p>
          <a:p>
            <a:endParaRPr lang="en-US" dirty="0"/>
          </a:p>
          <a:p>
            <a:r>
              <a:rPr lang="en-US" dirty="0"/>
              <a:t>Cosmos DB also gives us the database capabilities an agent demo often ignores: partitioning, multitenant routing, </a:t>
            </a:r>
            <a:r>
              <a:rPr lang="en-US" dirty="0" err="1"/>
              <a:t>autoscale</a:t>
            </a:r>
            <a:r>
              <a:rPr lang="en-US" dirty="0"/>
              <a:t>, availability, regional distribution, RBAC, network controls, TTL, and change processing.</a:t>
            </a:r>
          </a:p>
          <a:p>
            <a:endParaRPr lang="en-US" dirty="0"/>
          </a:p>
          <a:p>
            <a:r>
              <a:rPr lang="en-US" dirty="0"/>
              <a:t>This is not a claim that every architecture needs only one data service. It means Cosmos DB can remove unnecessary duplication when its native operational and retrieval capabilities satisfy the workload.</a:t>
            </a:r>
          </a:p>
          <a:p>
            <a:endParaRPr lang="en-US" dirty="0"/>
          </a:p>
          <a:p>
            <a:r>
              <a:rPr lang="en-US" dirty="0"/>
              <a:t>### Transition</a:t>
            </a:r>
          </a:p>
          <a:p>
            <a:endParaRPr lang="en-US" dirty="0"/>
          </a:p>
          <a:p>
            <a:r>
              <a:rPr lang="en-US" dirty="0"/>
              <a:t>Let us assemble those capabilities into an end-to-end memory blueprint.</a:t>
            </a:r>
            <a:endParaRPr lang="en-CA" dirty="0"/>
          </a:p>
        </p:txBody>
      </p:sp>
    </p:spTree>
    <p:extLst>
      <p:ext uri="{BB962C8B-B14F-4D97-AF65-F5344CB8AC3E}">
        <p14:creationId xmlns:p14="http://schemas.microsoft.com/office/powerpoint/2010/main" val="3669147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8 — Keep the request path fast</a:t>
            </a:r>
          </a:p>
          <a:p>
            <a:endParaRPr lang="en-US" dirty="0"/>
          </a:p>
          <a:p>
            <a:r>
              <a:rPr lang="en-US" dirty="0"/>
              <a:t>The synchronous request path should do as little transformation as possible.</a:t>
            </a:r>
          </a:p>
          <a:p>
            <a:endParaRPr lang="en-US" dirty="0"/>
          </a:p>
          <a:p>
            <a:r>
              <a:rPr lang="en-US" dirty="0"/>
              <a:t>The agent retrieves the recent turns and relevant durable memories it needs. It performs the model and tool work. Then the application writes the raw turns and outcomes quickly.</a:t>
            </a:r>
          </a:p>
          <a:p>
            <a:endParaRPr lang="en-US" dirty="0"/>
          </a:p>
          <a:p>
            <a:r>
              <a:rPr lang="en-US" dirty="0"/>
              <a:t>Those writes become the durable source of experience in Cosmos DB.</a:t>
            </a:r>
          </a:p>
          <a:p>
            <a:endParaRPr lang="en-US" dirty="0"/>
          </a:p>
          <a:p>
            <a:r>
              <a:rPr lang="en-US" dirty="0"/>
              <a:t>The change feed can then notify an asynchronous processing path. Azure Durable Functions is a natural fit when the work needs orchestration state, retries, checkpoints, and recovery.</a:t>
            </a:r>
          </a:p>
          <a:p>
            <a:endParaRPr lang="en-US" dirty="0"/>
          </a:p>
          <a:p>
            <a:r>
              <a:rPr lang="en-US" dirty="0"/>
              <a:t>That path can generate embeddings, update thread summaries, extract facts, build user profiles, identify procedures, form episodes, and reconcile duplicates or contradictions. Microsoft Foundry supplies the embedding and language models used for those transformations.</a:t>
            </a:r>
          </a:p>
          <a:p>
            <a:endParaRPr lang="en-US" dirty="0"/>
          </a:p>
          <a:p>
            <a:r>
              <a:rPr lang="en-US" dirty="0"/>
              <a:t>The derived artifacts are written back to Cosmos DB and become available to future retrieval.</a:t>
            </a:r>
          </a:p>
          <a:p>
            <a:endParaRPr lang="en-US" dirty="0"/>
          </a:p>
          <a:p>
            <a:r>
              <a:rPr lang="en-US" dirty="0"/>
              <a:t>Two reliability rules are important. Change-feed processing is at least once, so every transformation must be idempotent or replay-safe. Also choose exactly one owner for a stream; running competing in-process and Durable processors can create duplicate work.</a:t>
            </a:r>
          </a:p>
          <a:p>
            <a:endParaRPr lang="en-US" dirty="0"/>
          </a:p>
          <a:p>
            <a:r>
              <a:rPr lang="en-US" dirty="0"/>
              <a:t>### Transition</a:t>
            </a:r>
          </a:p>
          <a:p>
            <a:endParaRPr lang="en-US" dirty="0"/>
          </a:p>
          <a:p>
            <a:r>
              <a:rPr lang="en-US" dirty="0"/>
              <a:t>Before choosing a vector index, choose the identity and scope in which memory is allowed to operate.</a:t>
            </a:r>
            <a:endParaRPr lang="en-CA" dirty="0"/>
          </a:p>
        </p:txBody>
      </p:sp>
    </p:spTree>
    <p:extLst>
      <p:ext uri="{BB962C8B-B14F-4D97-AF65-F5344CB8AC3E}">
        <p14:creationId xmlns:p14="http://schemas.microsoft.com/office/powerpoint/2010/main" val="1725125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9 — Scope before search</a:t>
            </a:r>
          </a:p>
          <a:p>
            <a:endParaRPr lang="en-US" dirty="0"/>
          </a:p>
          <a:p>
            <a:r>
              <a:rPr lang="en-US" dirty="0"/>
              <a:t>The dominant retrieval boundary should shape the partition strategy.</a:t>
            </a:r>
          </a:p>
          <a:p>
            <a:endParaRPr lang="en-US" dirty="0"/>
          </a:p>
          <a:p>
            <a:r>
              <a:rPr lang="en-US" dirty="0"/>
              <a:t>For an isolated conversation, thread ID can </a:t>
            </a:r>
            <a:r>
              <a:rPr lang="en-US" dirty="0" err="1"/>
              <a:t>colocate</a:t>
            </a:r>
            <a:r>
              <a:rPr lang="en-US" dirty="0"/>
              <a:t> the recent turns and summary for efficient latest-N queries.</a:t>
            </a:r>
          </a:p>
          <a:p>
            <a:endParaRPr lang="en-US" dirty="0"/>
          </a:p>
          <a:p>
            <a:r>
              <a:rPr lang="en-US" dirty="0"/>
              <a:t>If a user has multiple threads and memories need to travel between them, the user becomes an important retrieval prefix.</a:t>
            </a:r>
          </a:p>
          <a:p>
            <a:endParaRPr lang="en-US" dirty="0"/>
          </a:p>
          <a:p>
            <a:r>
              <a:rPr lang="en-US" dirty="0"/>
              <a:t>For SaaS and enterprise applications, tenant, user, and thread scopes may all matter. Hierarchical partition keys can preserve locality while giving Cosmos DB useful routing prefixes.</a:t>
            </a:r>
          </a:p>
          <a:p>
            <a:endParaRPr lang="en-US" dirty="0"/>
          </a:p>
          <a:p>
            <a:r>
              <a:rPr lang="en-US" dirty="0"/>
              <a:t>The most important query is usually not “find a similar memory anywhere.” It is “find relevant memory inside the tenant, user, and thread this request is authorized to see.”</a:t>
            </a:r>
          </a:p>
          <a:p>
            <a:endParaRPr lang="en-US" dirty="0"/>
          </a:p>
          <a:p>
            <a:r>
              <a:rPr lang="en-US" dirty="0"/>
              <a:t>Partitioning improves distribution and routing. It does not implement authorization. The authenticated identity must still constrain every read and write, and some tenants may require dedicated accounts, databases, or containers for stronger isolation.</a:t>
            </a:r>
          </a:p>
          <a:p>
            <a:endParaRPr lang="en-US" dirty="0"/>
          </a:p>
          <a:p>
            <a:r>
              <a:rPr lang="en-US" dirty="0"/>
              <a:t>Also watch first-level cardinality and traffic distribution. A small number of very large tenants can still produce concentrated throughput.</a:t>
            </a:r>
          </a:p>
          <a:p>
            <a:endParaRPr lang="en-US" dirty="0"/>
          </a:p>
          <a:p>
            <a:r>
              <a:rPr lang="en-US" dirty="0"/>
              <a:t>### Transition</a:t>
            </a:r>
          </a:p>
          <a:p>
            <a:endParaRPr lang="en-US" dirty="0"/>
          </a:p>
          <a:p>
            <a:r>
              <a:rPr lang="en-US" dirty="0"/>
              <a:t>Once the search scope is known, we can choose an index for the size and behavior of that search space.</a:t>
            </a:r>
            <a:endParaRPr lang="en-CA" dirty="0"/>
          </a:p>
          <a:p>
            <a:endParaRPr lang="en-CA" dirty="0"/>
          </a:p>
        </p:txBody>
      </p:sp>
    </p:spTree>
    <p:extLst>
      <p:ext uri="{BB962C8B-B14F-4D97-AF65-F5344CB8AC3E}">
        <p14:creationId xmlns:p14="http://schemas.microsoft.com/office/powerpoint/2010/main" val="715291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Slide 10 – full Search index</a:t>
            </a:r>
          </a:p>
          <a:p>
            <a:endParaRPr lang="en-US" dirty="0"/>
          </a:p>
          <a:p>
            <a:r>
              <a:rPr lang="en-US" sz="1200" kern="1200" dirty="0">
                <a:solidFill>
                  <a:schemeClr val="tx1"/>
                </a:solidFill>
                <a:effectLst/>
                <a:latin typeface="+mn-lt"/>
                <a:ea typeface="+mn-ea"/>
                <a:cs typeface="+mn-cs"/>
              </a:rPr>
              <a:t>The two settings are complementary:</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Policy</a:t>
            </a:r>
            <a:r>
              <a:rPr lang="en-US" sz="1200" kern="1200" dirty="0">
                <a:solidFill>
                  <a:schemeClr val="tx1"/>
                </a:solidFill>
                <a:effectLst/>
                <a:latin typeface="+mn-lt"/>
                <a:ea typeface="+mn-ea"/>
                <a:cs typeface="+mn-cs"/>
              </a:rPr>
              <a:t>: The text contract: which document properties are searchable as language-aware text, and which analyzer/language applies.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Index</a:t>
            </a:r>
            <a:r>
              <a:rPr lang="en-US" sz="1200" kern="1200" dirty="0">
                <a:solidFill>
                  <a:schemeClr val="tx1"/>
                </a:solidFill>
                <a:effectLst/>
                <a:latin typeface="+mn-lt"/>
                <a:ea typeface="+mn-ea"/>
                <a:cs typeface="+mn-cs"/>
              </a:rPr>
              <a:t>: The physical index declaration in the container’s indexing policy: build and maintain the full-text search structure for those fields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example, a full-text policy says: “ /message/content  is English text; tokenize it, normalize it, and apply English linguistic handling.” The matching  fullTextIndexes  entry says: “maintain a full-text index for  /message/content .” The policy controls interpretation; the index controls materialization and query performance.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policy tells Cosmos what the text means: which properties contain language-aware text and which language rules to apply. The index tells Cosmos to build the physical structure that makes that text searchable. You need both, and the paths must match. Normal indexing on  /*  does not automatically create a full-text index.”</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these enabled, you can now do things like fuzzy matching or text based search and stemming. You can also enable BM25 scoring on the data. When combined with a vector search you can achieve the fill full hybrid search capabilities we discussed before. You're going to get even greater accuracy, greater results for the data that you’re searching on.</a:t>
            </a:r>
          </a:p>
          <a:p>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43890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10 — Choose the index for the search space</a:t>
            </a:r>
          </a:p>
          <a:p>
            <a:endParaRPr lang="en-US" dirty="0"/>
          </a:p>
          <a:p>
            <a:r>
              <a:rPr lang="en-US" dirty="0"/>
              <a:t>Azure Cosmos DB provides multiple vector-index choices.</a:t>
            </a:r>
          </a:p>
          <a:p>
            <a:endParaRPr lang="en-US" dirty="0"/>
          </a:p>
          <a:p>
            <a:r>
              <a:rPr lang="en-US" dirty="0"/>
              <a:t>Flat search is exact but has dimensional and scale constraints. Quantized Flat performs brute-force search over compressed vectors and is suitable for smaller, focused candidate sets.</a:t>
            </a:r>
          </a:p>
          <a:p>
            <a:endParaRPr lang="en-US" dirty="0"/>
          </a:p>
          <a:p>
            <a:r>
              <a:rPr lang="en-US" dirty="0" err="1"/>
              <a:t>DiskANN</a:t>
            </a:r>
            <a:r>
              <a:rPr lang="en-CA" sz="1200" b="0" i="0" kern="1200" dirty="0">
                <a:solidFill>
                  <a:schemeClr val="tx1"/>
                </a:solidFill>
                <a:effectLst/>
                <a:latin typeface="+mn-lt"/>
                <a:ea typeface="+mn-ea"/>
                <a:cs typeface="+mn-cs"/>
              </a:rPr>
              <a:t> was developed in Microsoft Research and it's used for a lot of services that you're familiar with like SharePoint uses it, M365 Copilot, even Bing Search.</a:t>
            </a:r>
            <a:endParaRPr lang="en-US" dirty="0"/>
          </a:p>
          <a:p>
            <a:r>
              <a:rPr lang="en-US" dirty="0"/>
              <a:t>It is not a single </a:t>
            </a:r>
            <a:r>
              <a:rPr lang="en-US" dirty="0" err="1"/>
              <a:t>algotithm</a:t>
            </a:r>
            <a:r>
              <a:rPr lang="en-US" dirty="0"/>
              <a:t> but a collection of them, contains</a:t>
            </a:r>
            <a:r>
              <a:rPr lang="en-CA" sz="1200" b="0" i="0" kern="1200" dirty="0">
                <a:solidFill>
                  <a:schemeClr val="tx1"/>
                </a:solidFill>
                <a:effectLst/>
                <a:latin typeface="+mn-lt"/>
                <a:ea typeface="+mn-ea"/>
                <a:cs typeface="+mn-cs"/>
              </a:rPr>
              <a:t> algorithms that build the graph that represents the dimensional data within there also provides quantization on that to compress those vectors within there. One of the other key innovations of </a:t>
            </a:r>
            <a:r>
              <a:rPr lang="en-CA" sz="1200" b="0" i="0" kern="1200" dirty="0" err="1">
                <a:solidFill>
                  <a:schemeClr val="tx1"/>
                </a:solidFill>
                <a:effectLst/>
                <a:latin typeface="+mn-lt"/>
                <a:ea typeface="+mn-ea"/>
                <a:cs typeface="+mn-cs"/>
              </a:rPr>
              <a:t>DiskANN</a:t>
            </a:r>
            <a:r>
              <a:rPr lang="en-CA" sz="1200" b="0" i="0" kern="1200" dirty="0">
                <a:solidFill>
                  <a:schemeClr val="tx1"/>
                </a:solidFill>
                <a:effectLst/>
                <a:latin typeface="+mn-lt"/>
                <a:ea typeface="+mn-ea"/>
                <a:cs typeface="+mn-cs"/>
              </a:rPr>
              <a:t> is how it was designed to store and use data - the full fidelity graphs that are generated using those algorithms are all intended to be stored on fast SSDs with a lighter quantized index served in memory. Which is, incidentally, same way </a:t>
            </a:r>
            <a:r>
              <a:rPr lang="en-CA" sz="1200" b="0" i="0" kern="1200" dirty="0" err="1">
                <a:solidFill>
                  <a:schemeClr val="tx1"/>
                </a:solidFill>
                <a:effectLst/>
                <a:latin typeface="+mn-lt"/>
                <a:ea typeface="+mn-ea"/>
                <a:cs typeface="+mn-cs"/>
              </a:rPr>
              <a:t>CosmosDB</a:t>
            </a:r>
            <a:r>
              <a:rPr lang="en-CA" sz="1200" b="0" i="0" kern="1200" dirty="0">
                <a:solidFill>
                  <a:schemeClr val="tx1"/>
                </a:solidFill>
                <a:effectLst/>
                <a:latin typeface="+mn-lt"/>
                <a:ea typeface="+mn-ea"/>
                <a:cs typeface="+mn-cs"/>
              </a:rPr>
              <a:t> was designed to work with data being stored on fast SSD and indexes in memory – this makes it a really good match.</a:t>
            </a:r>
          </a:p>
          <a:p>
            <a:r>
              <a:rPr lang="en-CA" sz="1200" b="0" i="0" kern="1200" dirty="0">
                <a:solidFill>
                  <a:schemeClr val="tx1"/>
                </a:solidFill>
                <a:effectLst/>
                <a:latin typeface="+mn-lt"/>
                <a:ea typeface="+mn-ea"/>
                <a:cs typeface="+mn-cs"/>
              </a:rPr>
              <a:t>	</a:t>
            </a:r>
            <a:endParaRPr lang="en-US" dirty="0"/>
          </a:p>
          <a:p>
            <a:r>
              <a:rPr lang="en-US" dirty="0" err="1"/>
              <a:t>DiskANN</a:t>
            </a:r>
            <a:r>
              <a:rPr lang="en-US" dirty="0"/>
              <a:t> is designed for larger search spaces. It provides approximate nearest-neighbor retrieval with a tunable tradeoff among recall, latency, and RU consumption.</a:t>
            </a:r>
          </a:p>
          <a:p>
            <a:endParaRPr lang="en-US" dirty="0"/>
          </a:p>
          <a:p>
            <a:r>
              <a:rPr lang="en-US" dirty="0"/>
              <a:t>Sharded </a:t>
            </a:r>
            <a:r>
              <a:rPr lang="en-US" dirty="0" err="1"/>
              <a:t>DiskANN</a:t>
            </a:r>
            <a:r>
              <a:rPr lang="en-US" dirty="0"/>
              <a:t> can create smaller vector indexes by a property such as tenant or category. When the query includes the matching filter, the search operates on a more focused index. That can improve latency, cost, and recall while preserving a useful isolation boundary.</a:t>
            </a:r>
          </a:p>
          <a:p>
            <a:endParaRPr lang="en-US" dirty="0"/>
          </a:p>
          <a:p>
            <a:r>
              <a:rPr lang="en-US" dirty="0"/>
              <a:t>Thresholds such as fifty thousand vectors are rules of thumb, not guarantees. Dimensions, data type, filters, candidate count, update frequency, recall target, and RU budget all affect the right choice.</a:t>
            </a:r>
          </a:p>
          <a:p>
            <a:endParaRPr lang="en-US" dirty="0"/>
          </a:p>
          <a:p>
            <a:r>
              <a:rPr lang="en-US" dirty="0"/>
              <a:t>The key principle is to benchmark the actual scoped search. A billion vectors globally may become a few thousand relevant vectors after the correct tenant, user, type, and time filters are applied.</a:t>
            </a:r>
          </a:p>
          <a:p>
            <a:endParaRPr lang="en-US" dirty="0"/>
          </a:p>
          <a:p>
            <a:r>
              <a:rPr lang="en-US" dirty="0"/>
              <a:t>### Transition</a:t>
            </a:r>
          </a:p>
          <a:p>
            <a:endParaRPr lang="en-US" dirty="0"/>
          </a:p>
          <a:p>
            <a:r>
              <a:rPr lang="en-US" dirty="0"/>
              <a:t>Indexing only works well when the stored item is also the right unit of capture and recall.</a:t>
            </a:r>
            <a:endParaRPr lang="en-CA" dirty="0"/>
          </a:p>
        </p:txBody>
      </p:sp>
    </p:spTree>
    <p:extLst>
      <p:ext uri="{BB962C8B-B14F-4D97-AF65-F5344CB8AC3E}">
        <p14:creationId xmlns:p14="http://schemas.microsoft.com/office/powerpoint/2010/main" val="2829751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12 — Short-term memory model</a:t>
            </a:r>
          </a:p>
          <a:p>
            <a:endParaRPr lang="en-US" dirty="0"/>
          </a:p>
          <a:p>
            <a:r>
              <a:rPr lang="en-US" dirty="0"/>
              <a:t>Okay, let’s move on to data modeling. I want to spend some time here because this can vary a lot by application, but it is also one of the most important design decisions.</a:t>
            </a:r>
          </a:p>
          <a:p>
            <a:endParaRPr lang="en-US" dirty="0"/>
          </a:p>
          <a:p>
            <a:r>
              <a:rPr lang="en-US" dirty="0"/>
              <a:t>This is a generalized starting point that we recommend. Let’s walk through the document structure and why each part exists.</a:t>
            </a:r>
          </a:p>
          <a:p>
            <a:endParaRPr lang="en-US" dirty="0"/>
          </a:p>
          <a:p>
            <a:r>
              <a:rPr lang="en-US" dirty="0"/>
              <a:t>First, every document in Cosmos DB needs an  id . That ID needs to be unique within its logical partition key.</a:t>
            </a:r>
          </a:p>
          <a:p>
            <a:endParaRPr lang="en-US" dirty="0"/>
          </a:p>
          <a:p>
            <a:r>
              <a:rPr lang="en-US" dirty="0"/>
              <a:t>Let’s assume we are building a multitenant SaaS application. In this example, I use a hierarchical partition key made up of:</a:t>
            </a:r>
          </a:p>
          <a:p>
            <a:endParaRPr lang="en-US" dirty="0"/>
          </a:p>
          <a:p>
            <a:r>
              <a:rPr lang="en-US" dirty="0"/>
              <a:t>• tenant ID  </a:t>
            </a:r>
          </a:p>
          <a:p>
            <a:r>
              <a:rPr lang="en-US" dirty="0"/>
              <a:t>• user ID  </a:t>
            </a:r>
          </a:p>
          <a:p>
            <a:r>
              <a:rPr lang="en-US" dirty="0"/>
              <a:t>• thread ID</a:t>
            </a:r>
          </a:p>
          <a:p>
            <a:endParaRPr lang="en-US" dirty="0"/>
          </a:p>
          <a:p>
            <a:r>
              <a:rPr lang="en-US" dirty="0"/>
              <a:t>Within that combination of partition-key values, I need a unique document ID. That document could represent a single conversational turn.</a:t>
            </a:r>
          </a:p>
          <a:p>
            <a:endParaRPr lang="en-US" dirty="0"/>
          </a:p>
          <a:p>
            <a:r>
              <a:rPr lang="en-US" dirty="0"/>
              <a:t>I also include a property that identifies the type of memory this record represents—something like  </a:t>
            </a:r>
            <a:r>
              <a:rPr lang="en-US" dirty="0" err="1"/>
              <a:t>memoryType</a:t>
            </a:r>
            <a:r>
              <a:rPr lang="en-US" dirty="0"/>
              <a:t>  or  </a:t>
            </a:r>
            <a:r>
              <a:rPr lang="en-US" dirty="0" err="1"/>
              <a:t>recordType</a:t>
            </a:r>
            <a:r>
              <a:rPr lang="en-US" dirty="0"/>
              <a:t> . In this case, it is short-term conversational memory. Later, that same property helps us distinguish a raw turn from a summary, a fact, a profile, a procedure, or an episode.</a:t>
            </a:r>
          </a:p>
          <a:p>
            <a:endParaRPr lang="en-US" dirty="0"/>
          </a:p>
          <a:p>
            <a:r>
              <a:rPr lang="en-US" dirty="0"/>
              <a:t>A turn can be a back-and-forth between a user and an agent, but it can also include an agent calling tools, an agent interacting with another agent, or multiple tool calls during one user request.</a:t>
            </a:r>
          </a:p>
          <a:p>
            <a:endParaRPr lang="en-US" dirty="0"/>
          </a:p>
          <a:p>
            <a:r>
              <a:rPr lang="en-US" dirty="0"/>
              <a:t>The key field here is the messages array.</a:t>
            </a:r>
          </a:p>
          <a:p>
            <a:endParaRPr lang="en-US" dirty="0"/>
          </a:p>
          <a:p>
            <a:r>
              <a:rPr lang="en-US" dirty="0"/>
              <a:t>Within one turn, I may have a user prompt followed by an assistant response. But in a realistic agent workflow, multiple things can happen before the final answer comes back. The agent might call several tools. Those tools may return different results. The agent may then decide to call another tool, or hand work to another agent.</a:t>
            </a:r>
          </a:p>
          <a:p>
            <a:endParaRPr lang="en-US" dirty="0"/>
          </a:p>
          <a:p>
            <a:r>
              <a:rPr lang="en-US" dirty="0"/>
              <a:t>I cannot hard-code a fixed structure for all of that because I do not know in advance which tools will be called, how many calls there will be, or what information each tool will return.</a:t>
            </a:r>
          </a:p>
          <a:p>
            <a:endParaRPr lang="en-US" dirty="0"/>
          </a:p>
          <a:p>
            <a:r>
              <a:rPr lang="en-US" dirty="0"/>
              <a:t>So I need an array that can capture a variable sequence of messages and events.</a:t>
            </a:r>
          </a:p>
          <a:p>
            <a:endParaRPr lang="en-US" dirty="0"/>
          </a:p>
          <a:p>
            <a:r>
              <a:rPr lang="en-US" dirty="0"/>
              <a:t>This is where Cosmos DB’s JSON model is useful for agent memory. I can store the messages array directly in the document. Inside that array, I can identify whether an entry came from the user, an assistant, a system instruction, or a tool.</a:t>
            </a:r>
          </a:p>
          <a:p>
            <a:endParaRPr lang="en-US" dirty="0"/>
          </a:p>
          <a:p>
            <a:r>
              <a:rPr lang="en-US" dirty="0"/>
              <a:t>Each role can also carry different metadata.</a:t>
            </a:r>
          </a:p>
          <a:p>
            <a:endParaRPr lang="en-US" dirty="0"/>
          </a:p>
          <a:p>
            <a:r>
              <a:rPr lang="en-US" dirty="0"/>
              <a:t>For example, a tool call might have a tool name, arguments, execution duration, a status, and structured output. An assistant message might include token usage, model information, or latency. A user message might include channel or session context.</a:t>
            </a:r>
          </a:p>
          <a:p>
            <a:endParaRPr lang="en-US" dirty="0"/>
          </a:p>
          <a:p>
            <a:r>
              <a:rPr lang="en-US" dirty="0"/>
              <a:t>Because the document is JSON, the application does not need every message type to have identical properties. Each role can contain the information that is natural to that role.</a:t>
            </a:r>
          </a:p>
          <a:p>
            <a:endParaRPr lang="en-US" dirty="0"/>
          </a:p>
          <a:p>
            <a:r>
              <a:rPr lang="en-US" dirty="0"/>
              <a:t>Below the messages array, I can also store an embedding.</a:t>
            </a:r>
          </a:p>
          <a:p>
            <a:endParaRPr lang="en-US" dirty="0"/>
          </a:p>
          <a:p>
            <a:r>
              <a:rPr lang="en-US" dirty="0"/>
              <a:t>That gives me the option to perform semantic search over this memory. I can find prior turns that are conceptually relevant to the current request, not just turns that use the same exact words.</a:t>
            </a:r>
          </a:p>
          <a:p>
            <a:endParaRPr lang="en-US" dirty="0"/>
          </a:p>
          <a:p>
            <a:r>
              <a:rPr lang="en-US" dirty="0"/>
              <a:t>It also creates an option for a semantic-cache pattern. For each short-term memory—or for the request represented by that memory—I can generate an embedding and store it with the record. A later request can search for a sufficiently similar prior request before repeating expensive model or tool work.</a:t>
            </a:r>
          </a:p>
          <a:p>
            <a:endParaRPr lang="en-US" dirty="0"/>
          </a:p>
          <a:p>
            <a:r>
              <a:rPr lang="en-US" dirty="0"/>
              <a:t>Then there is ordinary operational metadata.</a:t>
            </a:r>
          </a:p>
          <a:p>
            <a:endParaRPr lang="en-US" dirty="0"/>
          </a:p>
          <a:p>
            <a:r>
              <a:rPr lang="en-US" dirty="0"/>
              <a:t>For example:</a:t>
            </a:r>
          </a:p>
          <a:p>
            <a:endParaRPr lang="en-US" dirty="0"/>
          </a:p>
          <a:p>
            <a:r>
              <a:rPr lang="en-US" dirty="0"/>
              <a:t>• When did the turn happen?</a:t>
            </a:r>
          </a:p>
          <a:p>
            <a:r>
              <a:rPr lang="en-US" dirty="0"/>
              <a:t>• How long did the turn take?</a:t>
            </a:r>
          </a:p>
          <a:p>
            <a:r>
              <a:rPr lang="en-US" dirty="0"/>
              <a:t>• How many tokens were consumed?</a:t>
            </a:r>
          </a:p>
          <a:p>
            <a:r>
              <a:rPr lang="en-US" dirty="0"/>
              <a:t>• Which tools were called?</a:t>
            </a:r>
          </a:p>
          <a:p>
            <a:r>
              <a:rPr lang="en-US" dirty="0"/>
              <a:t>• Did the tool succeed or fail?</a:t>
            </a:r>
          </a:p>
          <a:p>
            <a:r>
              <a:rPr lang="en-US" dirty="0"/>
              <a:t>• What model or prompt version produced the result?</a:t>
            </a:r>
          </a:p>
          <a:p>
            <a:endParaRPr lang="en-US" dirty="0"/>
          </a:p>
          <a:p>
            <a:r>
              <a:rPr lang="en-US" dirty="0"/>
              <a:t>This data can help with troubleshooting, observability, cost analysis, and performance measurement. For example, I may want to understand whether one particular tool is responsible for slow agent turns.</a:t>
            </a:r>
          </a:p>
          <a:p>
            <a:endParaRPr lang="en-US" dirty="0"/>
          </a:p>
          <a:p>
            <a:r>
              <a:rPr lang="en-US" dirty="0"/>
              <a:t>Finally, I want to talk about TTL.</a:t>
            </a:r>
          </a:p>
          <a:p>
            <a:endParaRPr lang="en-US" dirty="0"/>
          </a:p>
          <a:p>
            <a:r>
              <a:rPr lang="en-US" dirty="0"/>
              <a:t>Short-term memory is high fidelity. It preserves a lot of useful detail. But that also means it can accumulate quickly. Storage will grow, and not every raw conversational turn will remain useful forever.</a:t>
            </a:r>
          </a:p>
          <a:p>
            <a:endParaRPr lang="en-US" dirty="0"/>
          </a:p>
          <a:p>
            <a:r>
              <a:rPr lang="en-US" dirty="0"/>
              <a:t>In fact, many of these records should not remain available indefinitely.</a:t>
            </a:r>
          </a:p>
          <a:p>
            <a:endParaRPr lang="en-US" dirty="0"/>
          </a:p>
          <a:p>
            <a:r>
              <a:rPr lang="en-US" dirty="0"/>
              <a:t>Cosmos DB gives us a simple lifecycle control through TTL. After TTL is enabled on the container, an individual document can carry its own  </a:t>
            </a:r>
            <a:r>
              <a:rPr lang="en-US" dirty="0" err="1"/>
              <a:t>ttl</a:t>
            </a:r>
            <a:r>
              <a:rPr lang="en-US" dirty="0"/>
              <a:t>  value. For example,  604800  seconds gives that record a seven-day retention period.</a:t>
            </a:r>
          </a:p>
          <a:p>
            <a:endParaRPr lang="en-US" dirty="0"/>
          </a:p>
          <a:p>
            <a:r>
              <a:rPr lang="en-US" dirty="0"/>
              <a:t>That lets us build basic hygiene directly into the data model. Raw short-term memories can expire automatically after the period in which they are useful, rather than becoming permanent, ever-growing history.</a:t>
            </a:r>
          </a:p>
          <a:p>
            <a:endParaRPr lang="en-US" dirty="0"/>
          </a:p>
          <a:p>
            <a:r>
              <a:rPr lang="en-US" dirty="0"/>
              <a:t>This is a good starting pattern, but it should vary by workload.</a:t>
            </a:r>
          </a:p>
          <a:p>
            <a:endParaRPr lang="en-US" dirty="0"/>
          </a:p>
          <a:p>
            <a:r>
              <a:rPr lang="en-US" dirty="0"/>
              <a:t>Cosmos DB does not require every record to conform to one rigid schema. If a new tool needs new metadata, or a new type of memory needs an additional property, you can evolve the application model and write that property to new documents.</a:t>
            </a:r>
          </a:p>
          <a:p>
            <a:endParaRPr lang="en-US" dirty="0"/>
          </a:p>
          <a:p>
            <a:r>
              <a:rPr lang="en-US" dirty="0"/>
              <a:t>The important question is not, “What is the one correct agent-memory schema?”</a:t>
            </a:r>
          </a:p>
          <a:p>
            <a:endParaRPr lang="en-US" dirty="0"/>
          </a:p>
          <a:p>
            <a:r>
              <a:rPr lang="en-US" dirty="0"/>
              <a:t>The important question is: what is the right atomic unit for this application to capture, retrieve, govern, and eventually forget?</a:t>
            </a:r>
          </a:p>
          <a:p>
            <a:endParaRPr lang="en-US" dirty="0"/>
          </a:p>
        </p:txBody>
      </p:sp>
    </p:spTree>
    <p:extLst>
      <p:ext uri="{BB962C8B-B14F-4D97-AF65-F5344CB8AC3E}">
        <p14:creationId xmlns:p14="http://schemas.microsoft.com/office/powerpoint/2010/main" val="1303128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13 — Derived long-term memory</a:t>
            </a:r>
          </a:p>
          <a:p>
            <a:endParaRPr lang="en-US" dirty="0"/>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All right, now let’s move from short-term memory into derived long-term memory.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Short-term memory gives us high-fidelity history. It captures the raw conversation, tool calls, results, timing information, and the sequence of what actually happened.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a long-running agent cannot efficiently carry all of that raw history forever.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Long-term memory is how we take a large amount of prior experience and distill it into smaller, higher-value artifacts that are easier to retrieve and use later.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summary is one example. Instead of replaying every message from a long conversation, a summary can preserve the important parts: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What is the user trying to accomplish?</a:t>
            </a:r>
          </a:p>
          <a:p>
            <a:r>
              <a:rPr lang="en-US" sz="1200" kern="1200" dirty="0">
                <a:solidFill>
                  <a:schemeClr val="tx1"/>
                </a:solidFill>
                <a:effectLst/>
                <a:latin typeface="+mn-lt"/>
                <a:ea typeface="+mn-ea"/>
                <a:cs typeface="+mn-cs"/>
              </a:rPr>
              <a:t>• What decisions were made?</a:t>
            </a:r>
          </a:p>
          <a:p>
            <a:r>
              <a:rPr lang="en-US" sz="1200" kern="1200" dirty="0">
                <a:solidFill>
                  <a:schemeClr val="tx1"/>
                </a:solidFill>
                <a:effectLst/>
                <a:latin typeface="+mn-lt"/>
                <a:ea typeface="+mn-ea"/>
                <a:cs typeface="+mn-cs"/>
              </a:rPr>
              <a:t>• What constraints or preferences matter?</a:t>
            </a:r>
          </a:p>
          <a:p>
            <a:r>
              <a:rPr lang="en-US" sz="1200" kern="1200" dirty="0">
                <a:solidFill>
                  <a:schemeClr val="tx1"/>
                </a:solidFill>
                <a:effectLst/>
                <a:latin typeface="+mn-lt"/>
                <a:ea typeface="+mn-ea"/>
                <a:cs typeface="+mn-cs"/>
              </a:rPr>
              <a:t>• What work has already been completed?</a:t>
            </a:r>
          </a:p>
          <a:p>
            <a:r>
              <a:rPr lang="en-US" sz="1200" kern="1200" dirty="0">
                <a:solidFill>
                  <a:schemeClr val="tx1"/>
                </a:solidFill>
                <a:effectLst/>
                <a:latin typeface="+mn-lt"/>
                <a:ea typeface="+mn-ea"/>
                <a:cs typeface="+mn-cs"/>
              </a:rPr>
              <a:t>• What remains unresolved?</a:t>
            </a:r>
          </a:p>
          <a:p>
            <a:r>
              <a:rPr lang="en-US" sz="1200" kern="1200" dirty="0">
                <a:solidFill>
                  <a:schemeClr val="tx1"/>
                </a:solidFill>
                <a:effectLst/>
                <a:latin typeface="+mn-lt"/>
                <a:ea typeface="+mn-ea"/>
                <a:cs typeface="+mn-cs"/>
              </a:rPr>
              <a:t>• What should the next agent or next session know?</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can also extract more discrete memory artifacts: a user preference, a confirmed requirement, a decision, a reusable procedure, or an episode that records what happened and what the outcome was.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example, depending on the application, we might remember that a user prefers a certain color, has a budget sensitivity, prefers concise answers, works in a particular environment, or previously chose one option over another.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important point is that these should be useful beyond the immediate turn. They are not simply a second copy of the transcript.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do want to qualify the word “fact” here. These are application-derived facts or assertions. They can be useful, but they are not automatically authoritative truth. A model may summarize incorrectly. A preference can change. A later conversation can contradict an earlier one.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for an important domain, we need provenance, timestamps, confidence, and a way to supersede or retire older memories. And if something is authoritative business state—an address, account balance, order status, eligibility decision—that truth should remain in the system of record. Memory can help an agent recall context; it should not silently become the source of truth.</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Why do we do this at all?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first reason is retrieval efficiency.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we store every conversation turn as raw short-term memory, then retrieving context from a long-running thread can mean reading and ranking a large amount of data. Many turns will be irrelevant to the user’s current request.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compact summary reduces both the number of documents and the amount of content we need to bring back into the request path. That matters because the agent turn should remain responsive. We want to retrieve the context that helps the model act, not replay an entire historical archive every time someone asks a new question.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can improve query efficiency, reduce prompt size, and reduce the cost of sending context to the language model.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It also makes the data easier to search.</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long conversation may contain useful information surrounded by greetings, abandoned directions, repeated clarifications, tool output, and other low-value detail. A derived memory intentionally prunes that noise and preserves the information that has continuing value.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That makes summaries and discrete facts especially good candidates for semantic search, full-text search, or hybrid search.</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example, a user might ask, “What did we decide about the deployment approach?” A hybrid search over a concise set of summaries and decision records is often more precise and less expensive than searching every raw turn from the last several months.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Embeddings can be especially useful here as well.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can create embeddings for a compact summary or fact and store them with the derived memory. Because the content is smaller and more focused than a complete conversation history, it is often cheaper to embed and easier to retrieve meaningfully.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That does not mean every raw turn must or must not have an embedding. That is a workload decision. But derived artifacts are often a high-value place to invest in semantic retrieval because they have already been filtered and shaped for later reuse.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There are tradeoffs.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obvious tradeoff is loss of precision.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summary is not the original conversation. It can omit a detail, compress nuance, or preserve an interpretation that later turns out to be wrong. This is why raw turns remain valuable for grounding, audit, replay, reconciliation, and investigation.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second tradeoff is operational complexity.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must decide when to create or update these long-term memories. Do we summarize after every turn? After a period of inactivity? Every N turns? When a workflow reaches a milestone? When a tool result materially changes the state of the task?</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Usually, we do not want this transformation in the synchronous response path. We capture the raw turn quickly, then asynchronously generate or update summaries, facts, profiles, and other durable artifacts.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That keeps the interactive agent response fast while still making better memory available for future requests.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Also, derived memory does not necessarily replace short-term memory.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regulated environments—financial services, healthcare, government, aviation, or other controlled domains—you may need to retain raw interactions for audit, compliance, quality review, or downstream analysis. You may also want to export raw history to a lake for analytics or offline evaluation.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the architecture is not necessarily “keep summaries and delete everything else.” It is “give each artifact the right retention policy, retrieval role, and governance model.”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Finally, notice the  type  property again.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Earlier, the type identified a raw conversational turn. Here, the type identifies a summary. In the same container, we could also have fact, profile, procedure, or episode records.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That lets us use one container and one shared throughput model while keeping related records in the same partition scope—for example, tenant, user, and thread.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the application retrieves context, it can query the raw recent turns, the active thread summary, and relevant durable facts from the same scoped data set. It can distinguish them using the type field, but it does not have to make separate round trips to unrelated stores just to reconstruct useful context.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the overall pattern is: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Capture detailed raw experience first.</a:t>
            </a:r>
          </a:p>
          <a:p>
            <a:r>
              <a:rPr lang="en-US" sz="1200" kern="1200" dirty="0">
                <a:solidFill>
                  <a:schemeClr val="tx1"/>
                </a:solidFill>
                <a:effectLst/>
                <a:latin typeface="+mn-lt"/>
                <a:ea typeface="+mn-ea"/>
                <a:cs typeface="+mn-cs"/>
              </a:rPr>
              <a:t>Distill it asynchronously into compact, attributable long-term memory.</a:t>
            </a:r>
          </a:p>
          <a:p>
            <a:r>
              <a:rPr lang="en-US" sz="1200" kern="1200" dirty="0">
                <a:solidFill>
                  <a:schemeClr val="tx1"/>
                </a:solidFill>
                <a:effectLst/>
                <a:latin typeface="+mn-lt"/>
                <a:ea typeface="+mn-ea"/>
                <a:cs typeface="+mn-cs"/>
              </a:rPr>
              <a:t>Retrieve the right combination of recent turns and durable memory for the next task.</a:t>
            </a:r>
          </a:p>
        </p:txBody>
      </p:sp>
    </p:spTree>
    <p:extLst>
      <p:ext uri="{BB962C8B-B14F-4D97-AF65-F5344CB8AC3E}">
        <p14:creationId xmlns:p14="http://schemas.microsoft.com/office/powerpoint/2010/main" val="984104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14 — Retrieval is a ladder</a:t>
            </a:r>
          </a:p>
          <a:p>
            <a:endParaRPr lang="en-US" dirty="0"/>
          </a:p>
          <a:p>
            <a:r>
              <a:rPr lang="en-US" dirty="0"/>
              <a:t>Begin with deterministic context.</a:t>
            </a:r>
          </a:p>
          <a:p>
            <a:endParaRPr lang="en-US" dirty="0"/>
          </a:p>
          <a:p>
            <a:r>
              <a:rPr lang="en-US" dirty="0"/>
              <a:t>Retrieve the most recent turns for the current thread using the partition key and turn index or timestamp. That reconstructs the immediate conversation without semantic uncertainty.</a:t>
            </a:r>
          </a:p>
          <a:p>
            <a:endParaRPr lang="en-US" dirty="0"/>
          </a:p>
          <a:p>
            <a:r>
              <a:rPr lang="en-US" dirty="0"/>
              <a:t>Then retrieve semantically relevant durable memories inside the authorized tenant and user scope. Vector search is valuable for paraphrases and conceptual similarity.</a:t>
            </a:r>
          </a:p>
          <a:p>
            <a:endParaRPr lang="en-US" dirty="0"/>
          </a:p>
          <a:p>
            <a:r>
              <a:rPr lang="en-US" dirty="0"/>
              <a:t>Apply filters for memory type, active or superseded state, confidence, salience, time, and any domain metadata before consuming prompt budget.</a:t>
            </a:r>
          </a:p>
          <a:p>
            <a:endParaRPr lang="en-US" dirty="0"/>
          </a:p>
          <a:p>
            <a:r>
              <a:rPr lang="en-US" dirty="0"/>
              <a:t>Summaries can provide compact background context, while individual facts provide precise assertions.</a:t>
            </a:r>
          </a:p>
          <a:p>
            <a:endParaRPr lang="en-US" dirty="0"/>
          </a:p>
          <a:p>
            <a:r>
              <a:rPr lang="en-US" dirty="0"/>
              <a:t>Recent context and semantic context have different jobs. The latest turn should not disappear because it was not semantically similar to the new question. Conversely, an important preference from six months ago may be relevant even though it is outside the recent window.</a:t>
            </a:r>
          </a:p>
          <a:p>
            <a:endParaRPr lang="en-US" dirty="0"/>
          </a:p>
          <a:p>
            <a:r>
              <a:rPr lang="en-US" dirty="0"/>
              <a:t>Finally, cap and rank the resulting context. More retrieved content is not necessarily better; it can increase cost and distract the model.</a:t>
            </a:r>
          </a:p>
          <a:p>
            <a:endParaRPr lang="en-US" dirty="0"/>
          </a:p>
          <a:p>
            <a:r>
              <a:rPr lang="en-US" dirty="0"/>
              <a:t>### Transition</a:t>
            </a:r>
          </a:p>
          <a:p>
            <a:endParaRPr lang="en-US" dirty="0"/>
          </a:p>
          <a:p>
            <a:r>
              <a:rPr lang="en-US" dirty="0"/>
              <a:t>Semantic similarity is only one kind of relevance. Exact words and identifiers still matter.</a:t>
            </a:r>
            <a:endParaRPr lang="en-CA" dirty="0"/>
          </a:p>
        </p:txBody>
      </p:sp>
    </p:spTree>
    <p:extLst>
      <p:ext uri="{BB962C8B-B14F-4D97-AF65-F5344CB8AC3E}">
        <p14:creationId xmlns:p14="http://schemas.microsoft.com/office/powerpoint/2010/main" val="3207398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15 — Hybrid recall</a:t>
            </a:r>
          </a:p>
          <a:p>
            <a:endParaRPr lang="en-US" dirty="0"/>
          </a:p>
          <a:p>
            <a:r>
              <a:rPr lang="en-US" dirty="0"/>
              <a:t>Vector search is good at meaning. Full-text search is good at exact terms, product names, error codes, identifiers, and phrases.</a:t>
            </a:r>
          </a:p>
          <a:p>
            <a:endParaRPr lang="en-US" dirty="0"/>
          </a:p>
          <a:p>
            <a:r>
              <a:rPr lang="en-US" dirty="0"/>
              <a:t>Cosmos DB full-text search uses linguistic processing and BM25 ranking. Hybrid search combines full-text and vector scores through reciprocal rank fusion.</a:t>
            </a:r>
          </a:p>
          <a:p>
            <a:endParaRPr lang="en-US" dirty="0"/>
          </a:p>
          <a:p>
            <a:r>
              <a:rPr lang="en-US" dirty="0"/>
              <a:t>This is useful when a memory should match both the intent and the vocabulary of the request.</a:t>
            </a:r>
          </a:p>
          <a:p>
            <a:endParaRPr lang="en-US" dirty="0"/>
          </a:p>
          <a:p>
            <a:r>
              <a:rPr lang="en-US" dirty="0"/>
              <a:t>Imagine a support agent searching for a previous issue involving error `AADSTS50011`. A vector-only query may retrieve broadly similar authentication failures. Full-text search preserves the exact error code. Hybrid ranking can combine both signals.</a:t>
            </a:r>
          </a:p>
          <a:p>
            <a:endParaRPr lang="en-US" dirty="0"/>
          </a:p>
          <a:p>
            <a:r>
              <a:rPr lang="en-US" dirty="0"/>
              <a:t>The query should still be scoped by tenant, user, type, and active state. A good ranking function cannot repair an authorization boundary that was never applied.</a:t>
            </a:r>
          </a:p>
          <a:p>
            <a:endParaRPr lang="en-US" dirty="0"/>
          </a:p>
          <a:p>
            <a:r>
              <a:rPr lang="en-US" dirty="0"/>
              <a:t>The current toolkit has implementation-specific behavior: raw turn embeddings are optional, and raw-turn results can be appended rather than globally score-fused with derived memories. Treat toolkit behavior as a reference, not as a universal retrieval contract.</a:t>
            </a:r>
          </a:p>
          <a:p>
            <a:endParaRPr lang="en-US" dirty="0"/>
          </a:p>
          <a:p>
            <a:r>
              <a:rPr lang="en-US" dirty="0"/>
              <a:t>### Transition</a:t>
            </a:r>
          </a:p>
          <a:p>
            <a:endParaRPr lang="en-US" dirty="0"/>
          </a:p>
          <a:p>
            <a:r>
              <a:rPr lang="en-US" dirty="0"/>
              <a:t>Retrieval quality depends on the asynchronous process that turns raw experience into usable memories.</a:t>
            </a:r>
            <a:endParaRPr lang="en-CA" dirty="0"/>
          </a:p>
        </p:txBody>
      </p:sp>
    </p:spTree>
    <p:extLst>
      <p:ext uri="{BB962C8B-B14F-4D97-AF65-F5344CB8AC3E}">
        <p14:creationId xmlns:p14="http://schemas.microsoft.com/office/powerpoint/2010/main" val="374406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16 — Distill memory asynchronously</a:t>
            </a:r>
          </a:p>
          <a:p>
            <a:endParaRPr lang="en-US" dirty="0"/>
          </a:p>
          <a:p>
            <a:r>
              <a:rPr lang="en-US" dirty="0"/>
              <a:t>Summarization, extraction, and reconciliation should normally happen outside the user-response critical path.</a:t>
            </a:r>
          </a:p>
          <a:p>
            <a:endParaRPr lang="en-US" dirty="0"/>
          </a:p>
          <a:p>
            <a:r>
              <a:rPr lang="en-US" dirty="0"/>
              <a:t>The worker reads existing derived artifacts and only the new source turns since its last watermark. It asks a model to update the summary or extract candidate memories, embeds the result, and </a:t>
            </a:r>
            <a:r>
              <a:rPr lang="en-US" dirty="0" err="1"/>
              <a:t>upserts</a:t>
            </a:r>
            <a:r>
              <a:rPr lang="en-US" dirty="0"/>
              <a:t> the derived documents.</a:t>
            </a:r>
          </a:p>
          <a:p>
            <a:endParaRPr lang="en-US" dirty="0"/>
          </a:p>
          <a:p>
            <a:r>
              <a:rPr lang="en-US" dirty="0"/>
              <a:t>Incremental processing reduces the need to resend an entire thread to the model every time.</a:t>
            </a:r>
          </a:p>
          <a:p>
            <a:endParaRPr lang="en-US" dirty="0"/>
          </a:p>
          <a:p>
            <a:r>
              <a:rPr lang="en-US" dirty="0"/>
              <a:t>The process should preserve prompt and model versions so a changed extraction policy can be evaluated or replayed.</a:t>
            </a:r>
          </a:p>
          <a:p>
            <a:endParaRPr lang="en-US" dirty="0"/>
          </a:p>
          <a:p>
            <a:r>
              <a:rPr lang="en-US" dirty="0"/>
              <a:t>It should also be observable. Monitor change-feed lag, failed transformations, token and model cost, duplicate rates, confidence distribution, and retrieval outcomes.</a:t>
            </a:r>
          </a:p>
          <a:p>
            <a:endParaRPr lang="en-US" dirty="0"/>
          </a:p>
          <a:p>
            <a:r>
              <a:rPr lang="en-US" dirty="0"/>
              <a:t>The choice of model is scenario-specific. A smaller model may be faster and cheaper but lose nuance. A larger model may produce higher-fidelity summaries at greater cost. Evaluate with your own conversations and failure cases rather than assuming model size guarantees memory quality.</a:t>
            </a:r>
          </a:p>
          <a:p>
            <a:endParaRPr lang="en-US" dirty="0"/>
          </a:p>
          <a:p>
            <a:r>
              <a:rPr lang="en-US" dirty="0"/>
              <a:t>### Transition</a:t>
            </a:r>
          </a:p>
          <a:p>
            <a:endParaRPr lang="en-US" dirty="0"/>
          </a:p>
          <a:p>
            <a:r>
              <a:rPr lang="en-US" dirty="0"/>
              <a:t>A memory system that only accumulates data is incomplete. Remembering requires a forgetting strategy.</a:t>
            </a:r>
            <a:endParaRPr lang="en-CA" dirty="0"/>
          </a:p>
        </p:txBody>
      </p:sp>
    </p:spTree>
    <p:extLst>
      <p:ext uri="{BB962C8B-B14F-4D97-AF65-F5344CB8AC3E}">
        <p14:creationId xmlns:p14="http://schemas.microsoft.com/office/powerpoint/2010/main" val="29927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17 — Remembering requires forgetting</a:t>
            </a:r>
          </a:p>
          <a:p>
            <a:endParaRPr lang="en-US" dirty="0"/>
          </a:p>
          <a:p>
            <a:r>
              <a:rPr lang="en-US" dirty="0"/>
              <a:t>Not every old memory should be deleted, and not every retained memory should continue to influence the agent.</a:t>
            </a:r>
          </a:p>
          <a:p>
            <a:endParaRPr lang="en-US" dirty="0"/>
          </a:p>
          <a:p>
            <a:r>
              <a:rPr lang="en-US" dirty="0"/>
              <a:t>Recency can reduce the weight of older records. Usage frequency or salience can promote memories that repeatedly prove useful. Supersession can keep an audit trail while excluding outdated facts from ordinary retrieval.</a:t>
            </a:r>
          </a:p>
          <a:p>
            <a:endParaRPr lang="en-US" dirty="0"/>
          </a:p>
          <a:p>
            <a:r>
              <a:rPr lang="en-US" dirty="0"/>
              <a:t>TTL is useful for ephemeral turns and tool results, but Cosmos DB TTL is based on the item’s last-modified time. Updating an item resets its age.</a:t>
            </a:r>
          </a:p>
          <a:p>
            <a:endParaRPr lang="en-US" dirty="0"/>
          </a:p>
          <a:p>
            <a:r>
              <a:rPr lang="en-US" dirty="0"/>
              <a:t>TTL also applies per item. Expiring raw turns does not automatically remove summaries, facts, profiles, embeddings, counters, or exported records derived from those turns.</a:t>
            </a:r>
          </a:p>
          <a:p>
            <a:endParaRPr lang="en-US" dirty="0"/>
          </a:p>
          <a:p>
            <a:r>
              <a:rPr lang="en-US" dirty="0"/>
              <a:t>A user-erasure workflow must explicitly traverse every artifact type and downstream copy. Test it as an end-to-end capability.</a:t>
            </a:r>
          </a:p>
          <a:p>
            <a:endParaRPr lang="en-US" dirty="0"/>
          </a:p>
          <a:p>
            <a:r>
              <a:rPr lang="en-US" dirty="0"/>
              <a:t>For important domains, distinguish “not normally retrieved,” “soft-deleted for audit,” and “physically erased.” Those are different product and compliance states.</a:t>
            </a:r>
          </a:p>
          <a:p>
            <a:endParaRPr lang="en-US" dirty="0"/>
          </a:p>
          <a:p>
            <a:r>
              <a:rPr lang="en-US" dirty="0"/>
              <a:t>### Transition</a:t>
            </a:r>
          </a:p>
          <a:p>
            <a:endParaRPr lang="en-US" dirty="0"/>
          </a:p>
          <a:p>
            <a:r>
              <a:rPr lang="en-US" dirty="0"/>
              <a:t>These details lead to several production truths that are easy to miss in a prototype.</a:t>
            </a:r>
            <a:endParaRPr lang="en-CA" dirty="0"/>
          </a:p>
        </p:txBody>
      </p:sp>
    </p:spTree>
    <p:extLst>
      <p:ext uri="{BB962C8B-B14F-4D97-AF65-F5344CB8AC3E}">
        <p14:creationId xmlns:p14="http://schemas.microsoft.com/office/powerpoint/2010/main" val="2713416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CA" sz="1200" b="1" kern="1200" dirty="0">
                <a:solidFill>
                  <a:schemeClr val="tx1"/>
                </a:solidFill>
                <a:effectLst/>
                <a:latin typeface="+mn-lt"/>
                <a:ea typeface="+mn-ea"/>
                <a:cs typeface="+mn-cs"/>
              </a:rPr>
              <a:t># Reusable prompt: Build an Azure Cosmos DB agent-memory demo</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Copy and paste the prompt below into GitHub Copilot CLI or another coding agent.</a:t>
            </a:r>
          </a:p>
          <a:p>
            <a:r>
              <a:rPr lang="en-CA" sz="1200" b="0" kern="1200">
                <a:solidFill>
                  <a:schemeClr val="tx1"/>
                </a:solidFill>
                <a:effectLst/>
                <a:latin typeface="+mn-lt"/>
                <a:ea typeface="+mn-ea"/>
                <a:cs typeface="+mn-cs"/>
              </a:rPr>
              <a:t>Replace the values in the </a:t>
            </a:r>
            <a:r>
              <a:rPr lang="en-CA" sz="1200" b="1" kern="1200">
                <a:solidFill>
                  <a:schemeClr val="tx1"/>
                </a:solidFill>
                <a:effectLst/>
                <a:latin typeface="+mn-lt"/>
                <a:ea typeface="+mn-ea"/>
                <a:cs typeface="+mn-cs"/>
              </a:rPr>
              <a:t>**Configuration**</a:t>
            </a:r>
            <a:r>
              <a:rPr lang="en-CA" sz="1200" b="0" kern="1200">
                <a:solidFill>
                  <a:schemeClr val="tx1"/>
                </a:solidFill>
                <a:effectLst/>
                <a:latin typeface="+mn-lt"/>
                <a:ea typeface="+mn-ea"/>
                <a:cs typeface="+mn-cs"/>
              </a:rPr>
              <a:t> section before provisioning.</a:t>
            </a:r>
          </a:p>
          <a:p>
            <a:endParaRPr lang="en-CA" sz="1200" b="0" kern="1200" dirty="0">
              <a:solidFill>
                <a:schemeClr val="tx1"/>
              </a:solidFill>
              <a:effectLst/>
              <a:latin typeface="+mn-lt"/>
              <a:ea typeface="+mn-ea"/>
              <a:cs typeface="+mn-cs"/>
            </a:endParaRPr>
          </a:p>
          <a:p>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```text</a:t>
            </a:r>
          </a:p>
          <a:p>
            <a:r>
              <a:rPr lang="en-CA" sz="1200" b="0" kern="1200" dirty="0">
                <a:solidFill>
                  <a:schemeClr val="tx1"/>
                </a:solidFill>
                <a:effectLst/>
                <a:latin typeface="+mn-lt"/>
                <a:ea typeface="+mn-ea"/>
                <a:cs typeface="+mn-cs"/>
              </a:rPr>
              <a:t>Build a complete, presentation-ready demonstration application showing how to</a:t>
            </a:r>
          </a:p>
          <a:p>
            <a:r>
              <a:rPr lang="en-CA" sz="1200" b="0" kern="1200" dirty="0">
                <a:solidFill>
                  <a:schemeClr val="tx1"/>
                </a:solidFill>
                <a:effectLst/>
                <a:latin typeface="+mn-lt"/>
                <a:ea typeface="+mn-ea"/>
                <a:cs typeface="+mn-cs"/>
              </a:rPr>
              <a:t>implement intelligent-agent memory using Azure Cosmos DB and Azure OpenAI.</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stop at a plan. Implement the application, infrastructure, tests,</a:t>
            </a:r>
          </a:p>
          <a:p>
            <a:r>
              <a:rPr lang="en-CA" sz="1200" b="0" kern="1200" dirty="0">
                <a:solidFill>
                  <a:schemeClr val="tx1"/>
                </a:solidFill>
                <a:effectLst/>
                <a:latin typeface="+mn-lt"/>
                <a:ea typeface="+mn-ea"/>
                <a:cs typeface="+mn-cs"/>
              </a:rPr>
              <a:t>documentation, startup scripts, and validation described below.</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Goal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local web application that demonstrates this memory lifecycle: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Capture → Distill → Retrieve → Govern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central message is: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“Models do not inherently remember. The application uses Azure Cosmos DB as the</a:t>
            </a:r>
          </a:p>
          <a:p>
            <a:r>
              <a:rPr lang="en-CA" sz="1200" b="0" kern="1200" dirty="0">
                <a:solidFill>
                  <a:schemeClr val="tx1"/>
                </a:solidFill>
                <a:effectLst/>
                <a:latin typeface="+mn-lt"/>
                <a:ea typeface="+mn-ea"/>
                <a:cs typeface="+mn-cs"/>
              </a:rPr>
              <a:t>operational memory plane around the model.”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demo must clearly distinguish:</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Short-term memory:</a:t>
            </a:r>
          </a:p>
          <a:p>
            <a:r>
              <a:rPr lang="en-CA" sz="1200" b="0" kern="1200" dirty="0">
                <a:solidFill>
                  <a:schemeClr val="tx1"/>
                </a:solidFill>
                <a:effectLst/>
                <a:latin typeface="+mn-lt"/>
                <a:ea typeface="+mn-ea"/>
                <a:cs typeface="+mn-cs"/>
              </a:rPr>
              <a:t>  - Raw user and assistant turns</a:t>
            </a:r>
          </a:p>
          <a:p>
            <a:r>
              <a:rPr lang="en-CA" sz="1200" b="0" kern="1200" dirty="0">
                <a:solidFill>
                  <a:schemeClr val="tx1"/>
                </a:solidFill>
                <a:effectLst/>
                <a:latin typeface="+mn-lt"/>
                <a:ea typeface="+mn-ea"/>
                <a:cs typeface="+mn-cs"/>
              </a:rPr>
              <a:t>  - Scoped to a user and conversation thread</a:t>
            </a:r>
          </a:p>
          <a:p>
            <a:r>
              <a:rPr lang="en-CA" sz="1200" b="0" kern="1200" dirty="0">
                <a:solidFill>
                  <a:schemeClr val="tx1"/>
                </a:solidFill>
                <a:effectLst/>
                <a:latin typeface="+mn-lt"/>
                <a:ea typeface="+mn-ea"/>
                <a:cs typeface="+mn-cs"/>
              </a:rPr>
              <a:t>  - Time-bounded with Cosmos DB per-item TTL</a:t>
            </a:r>
          </a:p>
          <a:p>
            <a:r>
              <a:rPr lang="en-CA" sz="1200" b="0" kern="1200" dirty="0">
                <a:solidFill>
                  <a:schemeClr val="tx1"/>
                </a:solidFill>
                <a:effectLst/>
                <a:latin typeface="+mn-lt"/>
                <a:ea typeface="+mn-ea"/>
                <a:cs typeface="+mn-cs"/>
              </a:rPr>
              <a:t>  - Survives browser refresh and application restart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Long-term memory:</a:t>
            </a:r>
          </a:p>
          <a:p>
            <a:r>
              <a:rPr lang="en-CA" sz="1200" b="0" kern="1200" dirty="0">
                <a:solidFill>
                  <a:schemeClr val="tx1"/>
                </a:solidFill>
                <a:effectLst/>
                <a:latin typeface="+mn-lt"/>
                <a:ea typeface="+mn-ea"/>
                <a:cs typeface="+mn-cs"/>
              </a:rPr>
              <a:t>  - Derived facts with confidence, embeddings, and source-turn provenance</a:t>
            </a:r>
          </a:p>
          <a:p>
            <a:r>
              <a:rPr lang="en-CA" sz="1200" b="0" kern="1200" dirty="0">
                <a:solidFill>
                  <a:schemeClr val="tx1"/>
                </a:solidFill>
                <a:effectLst/>
                <a:latin typeface="+mn-lt"/>
                <a:ea typeface="+mn-ea"/>
                <a:cs typeface="+mn-cs"/>
              </a:rPr>
              <a:t>  - Scoped to the user and usable across conversation threads</a:t>
            </a:r>
          </a:p>
          <a:p>
            <a:r>
              <a:rPr lang="en-CA" sz="1200" b="0" kern="1200" dirty="0">
                <a:solidFill>
                  <a:schemeClr val="tx1"/>
                </a:solidFill>
                <a:effectLst/>
                <a:latin typeface="+mn-lt"/>
                <a:ea typeface="+mn-ea"/>
                <a:cs typeface="+mn-cs"/>
              </a:rPr>
              <a:t>  - Independently searchable and </a:t>
            </a:r>
            <a:r>
              <a:rPr lang="en-CA" sz="1200" b="0" kern="1200" dirty="0" err="1">
                <a:solidFill>
                  <a:schemeClr val="tx1"/>
                </a:solidFill>
                <a:effectLst/>
                <a:latin typeface="+mn-lt"/>
                <a:ea typeface="+mn-ea"/>
                <a:cs typeface="+mn-cs"/>
              </a:rPr>
              <a:t>supersedable</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 Retained until superseded, deleted, or expired by policy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Configuration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these values or ask me to provide replacements before provisioning:</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Azure subscription ID: &lt;SUBSCRIPTION_ID&gt;</a:t>
            </a:r>
          </a:p>
          <a:p>
            <a:r>
              <a:rPr lang="en-CA" sz="1200" b="0" kern="1200" dirty="0">
                <a:solidFill>
                  <a:schemeClr val="tx1"/>
                </a:solidFill>
                <a:effectLst/>
                <a:latin typeface="+mn-lt"/>
                <a:ea typeface="+mn-ea"/>
                <a:cs typeface="+mn-cs"/>
              </a:rPr>
              <a:t>- Microsoft Entra tenant ID: &lt;TENANT_ID&gt;</a:t>
            </a:r>
          </a:p>
          <a:p>
            <a:r>
              <a:rPr lang="en-CA" sz="1200" b="0" kern="1200" dirty="0">
                <a:solidFill>
                  <a:schemeClr val="tx1"/>
                </a:solidFill>
                <a:effectLst/>
                <a:latin typeface="+mn-lt"/>
                <a:ea typeface="+mn-ea"/>
                <a:cs typeface="+mn-cs"/>
              </a:rPr>
              <a:t>- Azure region for Cosmos DB: &lt;COSMOS_REGION&gt;</a:t>
            </a:r>
          </a:p>
          <a:p>
            <a:r>
              <a:rPr lang="en-CA" sz="1200" b="0" kern="1200" dirty="0">
                <a:solidFill>
                  <a:schemeClr val="tx1"/>
                </a:solidFill>
                <a:effectLst/>
                <a:latin typeface="+mn-lt"/>
                <a:ea typeface="+mn-ea"/>
                <a:cs typeface="+mn-cs"/>
              </a:rPr>
              <a:t>- Azure region for Azure OpenAI: &lt;OPENAI_REGION&gt;</a:t>
            </a:r>
          </a:p>
          <a:p>
            <a:r>
              <a:rPr lang="en-CA" sz="1200" b="0" kern="1200" dirty="0">
                <a:solidFill>
                  <a:schemeClr val="tx1"/>
                </a:solidFill>
                <a:effectLst/>
                <a:latin typeface="+mn-lt"/>
                <a:ea typeface="+mn-ea"/>
                <a:cs typeface="+mn-cs"/>
              </a:rPr>
              <a:t>- Resource group: &lt;RESOURCE_GROUP&gt;</a:t>
            </a:r>
          </a:p>
          <a:p>
            <a:r>
              <a:rPr lang="en-CA" sz="1200" b="0" kern="1200" dirty="0">
                <a:solidFill>
                  <a:schemeClr val="tx1"/>
                </a:solidFill>
                <a:effectLst/>
                <a:latin typeface="+mn-lt"/>
                <a:ea typeface="+mn-ea"/>
                <a:cs typeface="+mn-cs"/>
              </a:rPr>
              <a:t>- Cosmos DB account name: &lt;GLOBALLY_UNIQUE_COSMOS_NAME&gt;</a:t>
            </a:r>
          </a:p>
          <a:p>
            <a:r>
              <a:rPr lang="en-CA" sz="1200" b="0" kern="1200" dirty="0">
                <a:solidFill>
                  <a:schemeClr val="tx1"/>
                </a:solidFill>
                <a:effectLst/>
                <a:latin typeface="+mn-lt"/>
                <a:ea typeface="+mn-ea"/>
                <a:cs typeface="+mn-cs"/>
              </a:rPr>
              <a:t>- Azure OpenAI account name: &lt;GLOBALLY_UNIQUE_OPENAI_NAME&gt;</a:t>
            </a:r>
          </a:p>
          <a:p>
            <a:r>
              <a:rPr lang="en-CA" sz="1200" b="0" kern="1200" dirty="0">
                <a:solidFill>
                  <a:schemeClr val="tx1"/>
                </a:solidFill>
                <a:effectLst/>
                <a:latin typeface="+mn-lt"/>
                <a:ea typeface="+mn-ea"/>
                <a:cs typeface="+mn-cs"/>
              </a:rPr>
              <a:t>- Database: </a:t>
            </a:r>
            <a:r>
              <a:rPr lang="en-CA" sz="1200" b="0" kern="1200" dirty="0" err="1">
                <a:solidFill>
                  <a:schemeClr val="tx1"/>
                </a:solidFill>
                <a:effectLst/>
                <a:latin typeface="+mn-lt"/>
                <a:ea typeface="+mn-ea"/>
                <a:cs typeface="+mn-cs"/>
              </a:rPr>
              <a:t>AgentMemoryDemo</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Container: Memories</a:t>
            </a:r>
          </a:p>
          <a:p>
            <a:r>
              <a:rPr lang="en-CA" sz="1200" b="0" kern="1200" dirty="0">
                <a:solidFill>
                  <a:schemeClr val="tx1"/>
                </a:solidFill>
                <a:effectLst/>
                <a:latin typeface="+mn-lt"/>
                <a:ea typeface="+mn-ea"/>
                <a:cs typeface="+mn-cs"/>
              </a:rPr>
              <a:t>- Chat model: gpt-4.1-mini, or the closest currently available small chat model</a:t>
            </a:r>
          </a:p>
          <a:p>
            <a:r>
              <a:rPr lang="en-CA" sz="1200" b="0" kern="1200" dirty="0">
                <a:solidFill>
                  <a:schemeClr val="tx1"/>
                </a:solidFill>
                <a:effectLst/>
                <a:latin typeface="+mn-lt"/>
                <a:ea typeface="+mn-ea"/>
                <a:cs typeface="+mn-cs"/>
              </a:rPr>
              <a:t>- Embedding model: text-embedding-3-small</a:t>
            </a:r>
          </a:p>
          <a:p>
            <a:r>
              <a:rPr lang="en-CA" sz="1200" b="0" kern="1200" dirty="0">
                <a:solidFill>
                  <a:schemeClr val="tx1"/>
                </a:solidFill>
                <a:effectLst/>
                <a:latin typeface="+mn-lt"/>
                <a:ea typeface="+mn-ea"/>
                <a:cs typeface="+mn-cs"/>
              </a:rPr>
              <a:t>- Local URL: http://localhost:5198</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an explicit subscription argument for every subscription-scoped Azure CLI</a:t>
            </a:r>
          </a:p>
          <a:p>
            <a:r>
              <a:rPr lang="en-CA" sz="1200" b="0" kern="1200" dirty="0">
                <a:solidFill>
                  <a:schemeClr val="tx1"/>
                </a:solidFill>
                <a:effectLst/>
                <a:latin typeface="+mn-lt"/>
                <a:ea typeface="+mn-ea"/>
                <a:cs typeface="+mn-cs"/>
              </a:rPr>
              <a:t>command. Never rely on or change the global Azure CLI default subscription.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Support an isolated Azure CLI profile through AZURE_CONFIG_DIR so this demo does</a:t>
            </a:r>
          </a:p>
          <a:p>
            <a:r>
              <a:rPr lang="en-CA" sz="1200" b="0" kern="1200" dirty="0">
                <a:solidFill>
                  <a:schemeClr val="tx1"/>
                </a:solidFill>
                <a:effectLst/>
                <a:latin typeface="+mn-lt"/>
                <a:ea typeface="+mn-ea"/>
                <a:cs typeface="+mn-cs"/>
              </a:rPr>
              <a:t>not interfere with other Azure CLI sessions.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provision or modify Azure resources without first showing the proposed</a:t>
            </a:r>
          </a:p>
          <a:p>
            <a:r>
              <a:rPr lang="en-CA" sz="1200" b="0" kern="1200" dirty="0">
                <a:solidFill>
                  <a:schemeClr val="tx1"/>
                </a:solidFill>
                <a:effectLst/>
                <a:latin typeface="+mn-lt"/>
                <a:ea typeface="+mn-ea"/>
                <a:cs typeface="+mn-cs"/>
              </a:rPr>
              <a:t>resources and asking for approval.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Technology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Build the application with:</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ASP.NET Core and the latest installed supported .NET SDK</a:t>
            </a:r>
          </a:p>
          <a:p>
            <a:r>
              <a:rPr lang="en-CA" sz="1200" b="0" kern="1200" dirty="0">
                <a:solidFill>
                  <a:schemeClr val="tx1"/>
                </a:solidFill>
                <a:effectLst/>
                <a:latin typeface="+mn-lt"/>
                <a:ea typeface="+mn-ea"/>
                <a:cs typeface="+mn-cs"/>
              </a:rPr>
              <a:t>- Plain HTML, CSS, and JavaScript; no frontend framework is necessary</a:t>
            </a:r>
          </a:p>
          <a:p>
            <a:r>
              <a:rPr lang="en-CA" sz="1200" b="0" kern="1200" dirty="0">
                <a:solidFill>
                  <a:schemeClr val="tx1"/>
                </a:solidFill>
                <a:effectLst/>
                <a:latin typeface="+mn-lt"/>
                <a:ea typeface="+mn-ea"/>
                <a:cs typeface="+mn-cs"/>
              </a:rPr>
              <a:t>- Azure Cosmos DB for NoSQL SDK</a:t>
            </a:r>
          </a:p>
          <a:p>
            <a:r>
              <a:rPr lang="en-CA" sz="1200" b="0" kern="1200" dirty="0">
                <a:solidFill>
                  <a:schemeClr val="tx1"/>
                </a:solidFill>
                <a:effectLst/>
                <a:latin typeface="+mn-lt"/>
                <a:ea typeface="+mn-ea"/>
                <a:cs typeface="+mn-cs"/>
              </a:rPr>
              <a:t>- Azure OpenAI SDK</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Azure.Identity</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Microsoft Entra authentication only</a:t>
            </a:r>
          </a:p>
          <a:p>
            <a:r>
              <a:rPr lang="en-CA" sz="1200" b="0" kern="1200" dirty="0">
                <a:solidFill>
                  <a:schemeClr val="tx1"/>
                </a:solidFill>
                <a:effectLst/>
                <a:latin typeface="+mn-lt"/>
                <a:ea typeface="+mn-ea"/>
                <a:cs typeface="+mn-cs"/>
              </a:rPr>
              <a:t>- Bicep for infrastructure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xUnit</a:t>
            </a:r>
            <a:r>
              <a:rPr lang="en-CA" sz="1200" b="0" kern="1200" dirty="0">
                <a:solidFill>
                  <a:schemeClr val="tx1"/>
                </a:solidFill>
                <a:effectLst/>
                <a:latin typeface="+mn-lt"/>
                <a:ea typeface="+mn-ea"/>
                <a:cs typeface="+mn-cs"/>
              </a:rPr>
              <a:t> for focused unit tests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store secrets, keys, or connection strings. Use </a:t>
            </a:r>
            <a:r>
              <a:rPr lang="en-CA" sz="1200" b="0" kern="1200" dirty="0" err="1">
                <a:solidFill>
                  <a:schemeClr val="tx1"/>
                </a:solidFill>
                <a:effectLst/>
                <a:latin typeface="+mn-lt"/>
                <a:ea typeface="+mn-ea"/>
                <a:cs typeface="+mn-cs"/>
              </a:rPr>
              <a:t>AzureCliCredential</a:t>
            </a:r>
            <a:r>
              <a:rPr lang="en-CA" sz="1200" b="0" kern="1200" dirty="0">
                <a:solidFill>
                  <a:schemeClr val="tx1"/>
                </a:solidFill>
                <a:effectLst/>
                <a:latin typeface="+mn-lt"/>
                <a:ea typeface="+mn-ea"/>
                <a:cs typeface="+mn-cs"/>
              </a:rPr>
              <a:t> with</a:t>
            </a:r>
          </a:p>
          <a:p>
            <a:r>
              <a:rPr lang="en-CA" sz="1200" b="0" kern="1200" dirty="0">
                <a:solidFill>
                  <a:schemeClr val="tx1"/>
                </a:solidFill>
                <a:effectLst/>
                <a:latin typeface="+mn-lt"/>
                <a:ea typeface="+mn-ea"/>
                <a:cs typeface="+mn-cs"/>
              </a:rPr>
              <a:t>the explicitly configured tenant ID for local development.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Azure infrastructure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Bicep and PowerShell deployment scripts for: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Azure Cosmos DB</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API for NoSQL</a:t>
            </a:r>
          </a:p>
          <a:p>
            <a:r>
              <a:rPr lang="en-CA" sz="1200" b="0" kern="1200" dirty="0">
                <a:solidFill>
                  <a:schemeClr val="tx1"/>
                </a:solidFill>
                <a:effectLst/>
                <a:latin typeface="+mn-lt"/>
                <a:ea typeface="+mn-ea"/>
                <a:cs typeface="+mn-cs"/>
              </a:rPr>
              <a:t>- Serverless capacity</a:t>
            </a:r>
          </a:p>
          <a:p>
            <a:r>
              <a:rPr lang="en-CA" sz="1200" b="0" kern="1200" dirty="0">
                <a:solidFill>
                  <a:schemeClr val="tx1"/>
                </a:solidFill>
                <a:effectLst/>
                <a:latin typeface="+mn-lt"/>
                <a:ea typeface="+mn-ea"/>
                <a:cs typeface="+mn-cs"/>
              </a:rPr>
              <a:t>- Session consistency</a:t>
            </a:r>
          </a:p>
          <a:p>
            <a:r>
              <a:rPr lang="en-CA" sz="1200" b="0" kern="1200" dirty="0">
                <a:solidFill>
                  <a:schemeClr val="tx1"/>
                </a:solidFill>
                <a:effectLst/>
                <a:latin typeface="+mn-lt"/>
                <a:ea typeface="+mn-ea"/>
                <a:cs typeface="+mn-cs"/>
              </a:rPr>
              <a:t>- Local/key authentication disabled</a:t>
            </a:r>
          </a:p>
          <a:p>
            <a:r>
              <a:rPr lang="en-CA" sz="1200" b="0" kern="1200" dirty="0">
                <a:solidFill>
                  <a:schemeClr val="tx1"/>
                </a:solidFill>
                <a:effectLst/>
                <a:latin typeface="+mn-lt"/>
                <a:ea typeface="+mn-ea"/>
                <a:cs typeface="+mn-cs"/>
              </a:rPr>
              <a:t>- Public access configurable for demo use</a:t>
            </a:r>
          </a:p>
          <a:p>
            <a:r>
              <a:rPr lang="en-CA" sz="1200" b="0" kern="1200" dirty="0">
                <a:solidFill>
                  <a:schemeClr val="tx1"/>
                </a:solidFill>
                <a:effectLst/>
                <a:latin typeface="+mn-lt"/>
                <a:ea typeface="+mn-ea"/>
                <a:cs typeface="+mn-cs"/>
              </a:rPr>
              <a:t>- Database: </a:t>
            </a:r>
            <a:r>
              <a:rPr lang="en-CA" sz="1200" b="0" kern="1200" dirty="0" err="1">
                <a:solidFill>
                  <a:schemeClr val="tx1"/>
                </a:solidFill>
                <a:effectLst/>
                <a:latin typeface="+mn-lt"/>
                <a:ea typeface="+mn-ea"/>
                <a:cs typeface="+mn-cs"/>
              </a:rPr>
              <a:t>AgentMemoryDemo</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Container: Memories</a:t>
            </a:r>
          </a:p>
          <a:p>
            <a:r>
              <a:rPr lang="en-CA" sz="1200" b="0" kern="1200" dirty="0">
                <a:solidFill>
                  <a:schemeClr val="tx1"/>
                </a:solidFill>
                <a:effectLst/>
                <a:latin typeface="+mn-lt"/>
                <a:ea typeface="+mn-ea"/>
                <a:cs typeface="+mn-cs"/>
              </a:rPr>
              <a:t>- Partition key: /</a:t>
            </a:r>
            <a:r>
              <a:rPr lang="en-CA" sz="1200" b="0" kern="1200" dirty="0" err="1">
                <a:solidFill>
                  <a:schemeClr val="tx1"/>
                </a:solidFill>
                <a:effectLst/>
                <a:latin typeface="+mn-lt"/>
                <a:ea typeface="+mn-ea"/>
                <a:cs typeface="+mn-cs"/>
              </a:rPr>
              <a:t>userId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Default TTL enabled</a:t>
            </a:r>
          </a:p>
          <a:p>
            <a:r>
              <a:rPr lang="en-CA" sz="1200" b="0" kern="1200" dirty="0">
                <a:solidFill>
                  <a:schemeClr val="tx1"/>
                </a:solidFill>
                <a:effectLst/>
                <a:latin typeface="+mn-lt"/>
                <a:ea typeface="+mn-ea"/>
                <a:cs typeface="+mn-cs"/>
              </a:rPr>
              <a:t>- Vector search enabled</a:t>
            </a:r>
          </a:p>
          <a:p>
            <a:r>
              <a:rPr lang="en-CA" sz="1200" b="0" kern="1200" dirty="0">
                <a:solidFill>
                  <a:schemeClr val="tx1"/>
                </a:solidFill>
                <a:effectLst/>
                <a:latin typeface="+mn-lt"/>
                <a:ea typeface="+mn-ea"/>
                <a:cs typeface="+mn-cs"/>
              </a:rPr>
              <a:t>- Vector path: /embedding</a:t>
            </a:r>
          </a:p>
          <a:p>
            <a:r>
              <a:rPr lang="en-CA" sz="1200" b="0" kern="1200" dirty="0">
                <a:solidFill>
                  <a:schemeClr val="tx1"/>
                </a:solidFill>
                <a:effectLst/>
                <a:latin typeface="+mn-lt"/>
                <a:ea typeface="+mn-ea"/>
                <a:cs typeface="+mn-cs"/>
              </a:rPr>
              <a:t>- Dimensions: 1536</a:t>
            </a:r>
          </a:p>
          <a:p>
            <a:r>
              <a:rPr lang="en-CA" sz="1200" b="0" kern="1200" dirty="0">
                <a:solidFill>
                  <a:schemeClr val="tx1"/>
                </a:solidFill>
                <a:effectLst/>
                <a:latin typeface="+mn-lt"/>
                <a:ea typeface="+mn-ea"/>
                <a:cs typeface="+mn-cs"/>
              </a:rPr>
              <a:t>- Data type: float32</a:t>
            </a:r>
          </a:p>
          <a:p>
            <a:r>
              <a:rPr lang="en-CA" sz="1200" b="0" kern="1200" dirty="0">
                <a:solidFill>
                  <a:schemeClr val="tx1"/>
                </a:solidFill>
                <a:effectLst/>
                <a:latin typeface="+mn-lt"/>
                <a:ea typeface="+mn-ea"/>
                <a:cs typeface="+mn-cs"/>
              </a:rPr>
              <a:t>- Distance function: cosine</a:t>
            </a:r>
          </a:p>
          <a:p>
            <a:r>
              <a:rPr lang="en-CA" sz="1200" b="0" kern="1200" dirty="0">
                <a:solidFill>
                  <a:schemeClr val="tx1"/>
                </a:solidFill>
                <a:effectLst/>
                <a:latin typeface="+mn-lt"/>
                <a:ea typeface="+mn-ea"/>
                <a:cs typeface="+mn-cs"/>
              </a:rPr>
              <a:t>- Vector index: </a:t>
            </a:r>
            <a:r>
              <a:rPr lang="en-CA" sz="1200" b="0" kern="1200" dirty="0" err="1">
                <a:solidFill>
                  <a:schemeClr val="tx1"/>
                </a:solidFill>
                <a:effectLst/>
                <a:latin typeface="+mn-lt"/>
                <a:ea typeface="+mn-ea"/>
                <a:cs typeface="+mn-cs"/>
              </a:rPr>
              <a:t>quantizedFlat</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Assign the signed-in presenter the Cosmos DB Built-in Data Contributor role.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database and vector-enabled container must be provisioned through Bicep.</a:t>
            </a:r>
          </a:p>
          <a:p>
            <a:r>
              <a:rPr lang="en-CA" sz="1200" b="0" kern="1200" dirty="0">
                <a:solidFill>
                  <a:schemeClr val="tx1"/>
                </a:solidFill>
                <a:effectLst/>
                <a:latin typeface="+mn-lt"/>
                <a:ea typeface="+mn-ea"/>
                <a:cs typeface="+mn-cs"/>
              </a:rPr>
              <a:t>The runtime identity must not need schema-creation permissions.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Azure OpenAI</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Local/key authentication disabled</a:t>
            </a:r>
          </a:p>
          <a:p>
            <a:r>
              <a:rPr lang="en-CA" sz="1200" b="0" kern="1200" dirty="0">
                <a:solidFill>
                  <a:schemeClr val="tx1"/>
                </a:solidFill>
                <a:effectLst/>
                <a:latin typeface="+mn-lt"/>
                <a:ea typeface="+mn-ea"/>
                <a:cs typeface="+mn-cs"/>
              </a:rPr>
              <a:t>- Chat deployment</a:t>
            </a:r>
          </a:p>
          <a:p>
            <a:r>
              <a:rPr lang="en-CA" sz="1200" b="0" kern="1200" dirty="0">
                <a:solidFill>
                  <a:schemeClr val="tx1"/>
                </a:solidFill>
                <a:effectLst/>
                <a:latin typeface="+mn-lt"/>
                <a:ea typeface="+mn-ea"/>
                <a:cs typeface="+mn-cs"/>
              </a:rPr>
              <a:t>- Embedding deployment</a:t>
            </a:r>
          </a:p>
          <a:p>
            <a:r>
              <a:rPr lang="en-CA" sz="1200" b="0" kern="1200" dirty="0">
                <a:solidFill>
                  <a:schemeClr val="tx1"/>
                </a:solidFill>
                <a:effectLst/>
                <a:latin typeface="+mn-lt"/>
                <a:ea typeface="+mn-ea"/>
                <a:cs typeface="+mn-cs"/>
              </a:rPr>
              <a:t>- Assign the signed-in presenter the Cognitive Services OpenAI User role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Make deployment names configurable.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Generate a local, git-ignored environment file containing endpoints, deployment</a:t>
            </a:r>
          </a:p>
          <a:p>
            <a:r>
              <a:rPr lang="en-CA" sz="1200" b="0" kern="1200" dirty="0">
                <a:solidFill>
                  <a:schemeClr val="tx1"/>
                </a:solidFill>
                <a:effectLst/>
                <a:latin typeface="+mn-lt"/>
                <a:ea typeface="+mn-ea"/>
                <a:cs typeface="+mn-cs"/>
              </a:rPr>
              <a:t>names, database/container names, and tenant ID. It must not contain secrets.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Cosmos DB document model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separate JSON documents for raw turns and durable facts.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Short-term turn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"id": "turn-...",</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userId</a:t>
            </a:r>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alex</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threadId</a:t>
            </a:r>
            <a:r>
              <a:rPr lang="en-CA" sz="1200" b="0" kern="1200" dirty="0">
                <a:solidFill>
                  <a:schemeClr val="tx1"/>
                </a:solidFill>
                <a:effectLst/>
                <a:latin typeface="+mn-lt"/>
                <a:ea typeface="+mn-ea"/>
                <a:cs typeface="+mn-cs"/>
              </a:rPr>
              <a:t>": "thread-1",</a:t>
            </a:r>
          </a:p>
          <a:p>
            <a:r>
              <a:rPr lang="en-CA" sz="1200" b="0" kern="1200" dirty="0">
                <a:solidFill>
                  <a:schemeClr val="tx1"/>
                </a:solidFill>
                <a:effectLst/>
                <a:latin typeface="+mn-lt"/>
                <a:ea typeface="+mn-ea"/>
                <a:cs typeface="+mn-cs"/>
              </a:rPr>
              <a:t>  "type": "turn",</a:t>
            </a:r>
          </a:p>
          <a:p>
            <a:r>
              <a:rPr lang="en-CA" sz="1200" b="0" kern="1200" dirty="0">
                <a:solidFill>
                  <a:schemeClr val="tx1"/>
                </a:solidFill>
                <a:effectLst/>
                <a:latin typeface="+mn-lt"/>
                <a:ea typeface="+mn-ea"/>
                <a:cs typeface="+mn-cs"/>
              </a:rPr>
              <a:t>  "role": "user | assistant",</a:t>
            </a:r>
          </a:p>
          <a:p>
            <a:r>
              <a:rPr lang="en-CA" sz="1200" b="0" kern="1200" dirty="0">
                <a:solidFill>
                  <a:schemeClr val="tx1"/>
                </a:solidFill>
                <a:effectLst/>
                <a:latin typeface="+mn-lt"/>
                <a:ea typeface="+mn-ea"/>
                <a:cs typeface="+mn-cs"/>
              </a:rPr>
              <a:t>  "content": "...",</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createdAt</a:t>
            </a:r>
            <a:r>
              <a:rPr lang="en-CA" sz="1200" b="0" kern="1200" dirty="0">
                <a:solidFill>
                  <a:schemeClr val="tx1"/>
                </a:solidFill>
                <a:effectLst/>
                <a:latin typeface="+mn-lt"/>
                <a:ea typeface="+mn-ea"/>
                <a:cs typeface="+mn-cs"/>
              </a:rPr>
              <a:t>": "...",</a:t>
            </a:r>
          </a:p>
          <a:p>
            <a:r>
              <a:rPr lang="en-CA" sz="1200" b="0" kern="1200" dirty="0">
                <a:solidFill>
                  <a:schemeClr val="tx1"/>
                </a:solidFill>
                <a:effectLst/>
                <a:latin typeface="+mn-lt"/>
                <a:ea typeface="+mn-ea"/>
                <a:cs typeface="+mn-cs"/>
              </a:rPr>
              <a:t>  "active": true,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ttl</a:t>
            </a:r>
            <a:r>
              <a:rPr lang="en-CA" sz="1200" b="0" kern="1200" dirty="0">
                <a:solidFill>
                  <a:schemeClr val="tx1"/>
                </a:solidFill>
                <a:effectLst/>
                <a:latin typeface="+mn-lt"/>
                <a:ea typeface="+mn-ea"/>
                <a:cs typeface="+mn-cs"/>
              </a:rPr>
              <a:t>": 2592000</a:t>
            </a:r>
          </a:p>
          <a:p>
            <a:r>
              <a:rPr lang="en-CA" sz="1200" b="0" kern="1200" dirty="0">
                <a:solidFill>
                  <a:schemeClr val="tx1"/>
                </a:solidFill>
                <a:effectLst/>
                <a:latin typeface="+mn-lt"/>
                <a:ea typeface="+mn-ea"/>
                <a:cs typeface="+mn-cs"/>
              </a:rPr>
              <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 30-day per-item TTL for raw turns.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Long-term fact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"id": "fact-...",</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userId</a:t>
            </a:r>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alex</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threadId</a:t>
            </a:r>
            <a:r>
              <a:rPr lang="en-CA" sz="1200" b="0" kern="1200" dirty="0">
                <a:solidFill>
                  <a:schemeClr val="tx1"/>
                </a:solidFill>
                <a:effectLst/>
                <a:latin typeface="+mn-lt"/>
                <a:ea typeface="+mn-ea"/>
                <a:cs typeface="+mn-cs"/>
              </a:rPr>
              <a:t>": "source-thread",</a:t>
            </a:r>
          </a:p>
          <a:p>
            <a:r>
              <a:rPr lang="en-CA" sz="1200" b="0" kern="1200" dirty="0">
                <a:solidFill>
                  <a:schemeClr val="tx1"/>
                </a:solidFill>
                <a:effectLst/>
                <a:latin typeface="+mn-lt"/>
                <a:ea typeface="+mn-ea"/>
                <a:cs typeface="+mn-cs"/>
              </a:rPr>
              <a:t>  "type": "fact",</a:t>
            </a:r>
          </a:p>
          <a:p>
            <a:r>
              <a:rPr lang="en-CA" sz="1200" b="0" kern="1200" dirty="0">
                <a:solidFill>
                  <a:schemeClr val="tx1"/>
                </a:solidFill>
                <a:effectLst/>
                <a:latin typeface="+mn-lt"/>
                <a:ea typeface="+mn-ea"/>
                <a:cs typeface="+mn-cs"/>
              </a:rPr>
              <a:t>  "key": "answer-style",</a:t>
            </a:r>
          </a:p>
          <a:p>
            <a:r>
              <a:rPr lang="en-CA" sz="1200" b="0" kern="1200" dirty="0">
                <a:solidFill>
                  <a:schemeClr val="tx1"/>
                </a:solidFill>
                <a:effectLst/>
                <a:latin typeface="+mn-lt"/>
                <a:ea typeface="+mn-ea"/>
                <a:cs typeface="+mn-cs"/>
              </a:rPr>
              <a:t>  "value": "concise",</a:t>
            </a:r>
          </a:p>
          <a:p>
            <a:r>
              <a:rPr lang="en-CA" sz="1200" b="0" kern="1200" dirty="0">
                <a:solidFill>
                  <a:schemeClr val="tx1"/>
                </a:solidFill>
                <a:effectLst/>
                <a:latin typeface="+mn-lt"/>
                <a:ea typeface="+mn-ea"/>
                <a:cs typeface="+mn-cs"/>
              </a:rPr>
              <a:t>  "content": "The user prefers concise answers.",</a:t>
            </a:r>
          </a:p>
          <a:p>
            <a:r>
              <a:rPr lang="en-CA" sz="1200" b="0" kern="1200" dirty="0">
                <a:solidFill>
                  <a:schemeClr val="tx1"/>
                </a:solidFill>
                <a:effectLst/>
                <a:latin typeface="+mn-lt"/>
                <a:ea typeface="+mn-ea"/>
                <a:cs typeface="+mn-cs"/>
              </a:rPr>
              <a:t>  "confidence": 0.95,</a:t>
            </a:r>
          </a:p>
          <a:p>
            <a:r>
              <a:rPr lang="en-CA" sz="1200" b="0" kern="1200" dirty="0">
                <a:solidFill>
                  <a:schemeClr val="tx1"/>
                </a:solidFill>
                <a:effectLst/>
                <a:latin typeface="+mn-lt"/>
                <a:ea typeface="+mn-ea"/>
                <a:cs typeface="+mn-cs"/>
              </a:rPr>
              <a:t>  "embedding": [1536 floats],</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sourceTurnIds</a:t>
            </a:r>
            <a:r>
              <a:rPr lang="en-CA" sz="1200" b="0" kern="1200" dirty="0">
                <a:solidFill>
                  <a:schemeClr val="tx1"/>
                </a:solidFill>
                <a:effectLst/>
                <a:latin typeface="+mn-lt"/>
                <a:ea typeface="+mn-ea"/>
                <a:cs typeface="+mn-cs"/>
              </a:rPr>
              <a:t>": ["turn-...", "turn-..."],</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createdAt</a:t>
            </a:r>
            <a:r>
              <a:rPr lang="en-CA" sz="1200" b="0" kern="1200" dirty="0">
                <a:solidFill>
                  <a:schemeClr val="tx1"/>
                </a:solidFill>
                <a:effectLst/>
                <a:latin typeface="+mn-lt"/>
                <a:ea typeface="+mn-ea"/>
                <a:cs typeface="+mn-cs"/>
              </a:rPr>
              <a:t>": "...",</a:t>
            </a:r>
          </a:p>
          <a:p>
            <a:r>
              <a:rPr lang="en-CA" sz="1200" b="0" kern="1200" dirty="0">
                <a:solidFill>
                  <a:schemeClr val="tx1"/>
                </a:solidFill>
                <a:effectLst/>
                <a:latin typeface="+mn-lt"/>
                <a:ea typeface="+mn-ea"/>
                <a:cs typeface="+mn-cs"/>
              </a:rPr>
              <a:t>  "active": true,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supersededBy</a:t>
            </a:r>
            <a:r>
              <a:rPr lang="en-CA" sz="1200" b="0" kern="1200" dirty="0">
                <a:solidFill>
                  <a:schemeClr val="tx1"/>
                </a:solidFill>
                <a:effectLst/>
                <a:latin typeface="+mn-lt"/>
                <a:ea typeface="+mn-ea"/>
                <a:cs typeface="+mn-cs"/>
              </a:rPr>
              <a:t>": null,</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supersededAt</a:t>
            </a:r>
            <a:r>
              <a:rPr lang="en-CA" sz="1200" b="0" kern="1200" dirty="0">
                <a:solidFill>
                  <a:schemeClr val="tx1"/>
                </a:solidFill>
                <a:effectLst/>
                <a:latin typeface="+mn-lt"/>
                <a:ea typeface="+mn-ea"/>
                <a:cs typeface="+mn-cs"/>
              </a:rPr>
              <a:t>": null</a:t>
            </a:r>
          </a:p>
          <a:p>
            <a:r>
              <a:rPr lang="en-CA" sz="1200" b="0" kern="1200" dirty="0">
                <a:solidFill>
                  <a:schemeClr val="tx1"/>
                </a:solidFill>
                <a:effectLst/>
                <a:latin typeface="+mn-lt"/>
                <a:ea typeface="+mn-ea"/>
                <a:cs typeface="+mn-cs"/>
              </a:rPr>
              <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thread ID on a fact is provenance. Retrieval scope for durable facts is the</a:t>
            </a:r>
          </a:p>
          <a:p>
            <a:r>
              <a:rPr lang="en-CA" sz="1200" b="0" kern="1200" dirty="0">
                <a:solidFill>
                  <a:schemeClr val="tx1"/>
                </a:solidFill>
                <a:effectLst/>
                <a:latin typeface="+mn-lt"/>
                <a:ea typeface="+mn-ea"/>
                <a:cs typeface="+mn-cs"/>
              </a:rPr>
              <a:t>user, not only the source thread.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Memory contract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 bounded fact taxonomy so the stage demonstration is predictable: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answer_style</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example_language</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home_location</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cuisine_preference</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project_context</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technical_constraint</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Normalize aliases into canonical kebab-case keys, for example: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response_style</a:t>
            </a:r>
            <a:r>
              <a:rPr lang="en-CA" sz="1200" b="0" kern="1200" dirty="0">
                <a:solidFill>
                  <a:schemeClr val="tx1"/>
                </a:solidFill>
                <a:effectLst/>
                <a:latin typeface="+mn-lt"/>
                <a:ea typeface="+mn-ea"/>
                <a:cs typeface="+mn-cs"/>
              </a:rPr>
              <a:t>, response-style, </a:t>
            </a:r>
            <a:r>
              <a:rPr lang="en-CA" sz="1200" b="0" kern="1200" dirty="0" err="1">
                <a:solidFill>
                  <a:schemeClr val="tx1"/>
                </a:solidFill>
                <a:effectLst/>
                <a:latin typeface="+mn-lt"/>
                <a:ea typeface="+mn-ea"/>
                <a:cs typeface="+mn-cs"/>
              </a:rPr>
              <a:t>answer_style</a:t>
            </a:r>
            <a:r>
              <a:rPr lang="en-CA" sz="1200" b="0" kern="1200" dirty="0">
                <a:solidFill>
                  <a:schemeClr val="tx1"/>
                </a:solidFill>
                <a:effectLst/>
                <a:latin typeface="+mn-lt"/>
                <a:ea typeface="+mn-ea"/>
                <a:cs typeface="+mn-cs"/>
              </a:rPr>
              <a:t> → answer-style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programming_language</a:t>
            </a:r>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preferred_language</a:t>
            </a:r>
            <a:r>
              <a:rPr lang="en-CA" sz="1200" b="0" kern="1200" dirty="0">
                <a:solidFill>
                  <a:schemeClr val="tx1"/>
                </a:solidFill>
                <a:effectLst/>
                <a:latin typeface="+mn-lt"/>
                <a:ea typeface="+mn-ea"/>
                <a:cs typeface="+mn-cs"/>
              </a:rPr>
              <a:t> → example-language</a:t>
            </a:r>
          </a:p>
          <a:p>
            <a:r>
              <a:rPr lang="en-CA" sz="1200" b="0" kern="1200" dirty="0">
                <a:solidFill>
                  <a:schemeClr val="tx1"/>
                </a:solidFill>
                <a:effectLst/>
                <a:latin typeface="+mn-lt"/>
                <a:ea typeface="+mn-ea"/>
                <a:cs typeface="+mn-cs"/>
              </a:rPr>
              <a:t>- city, location → home-location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Accept only memories at or above a configurable confidence threshold, default</a:t>
            </a:r>
          </a:p>
          <a:p>
            <a:r>
              <a:rPr lang="en-CA" sz="1200" b="0" kern="1200" dirty="0">
                <a:solidFill>
                  <a:schemeClr val="tx1"/>
                </a:solidFill>
                <a:effectLst/>
                <a:latin typeface="+mn-lt"/>
                <a:ea typeface="+mn-ea"/>
                <a:cs typeface="+mn-cs"/>
              </a:rPr>
              <a:t>0.65.</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 bounded taxonomy is a demo choice, not a Cosmos DB limitation. Explain this in</a:t>
            </a:r>
          </a:p>
          <a:p>
            <a:r>
              <a:rPr lang="en-CA" sz="1200" b="0" kern="1200" dirty="0">
                <a:solidFill>
                  <a:schemeClr val="tx1"/>
                </a:solidFill>
                <a:effectLst/>
                <a:latin typeface="+mn-lt"/>
                <a:ea typeface="+mn-ea"/>
                <a:cs typeface="+mn-cs"/>
              </a:rPr>
              <a:t>the documentation.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Backend behavior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Implement these endpoints: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GET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/status</a:t>
            </a:r>
          </a:p>
          <a:p>
            <a:r>
              <a:rPr lang="en-CA" sz="1200" b="0" kern="1200" dirty="0">
                <a:solidFill>
                  <a:schemeClr val="tx1"/>
                </a:solidFill>
                <a:effectLst/>
                <a:latin typeface="+mn-lt"/>
                <a:ea typeface="+mn-ea"/>
                <a:cs typeface="+mn-cs"/>
              </a:rPr>
              <a:t>- GET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/state/{</a:t>
            </a:r>
            <a:r>
              <a:rPr lang="en-CA" sz="1200" b="0" kern="1200" dirty="0" err="1">
                <a:solidFill>
                  <a:schemeClr val="tx1"/>
                </a:solidFill>
                <a:effectLst/>
                <a:latin typeface="+mn-lt"/>
                <a:ea typeface="+mn-ea"/>
                <a:cs typeface="+mn-cs"/>
              </a:rPr>
              <a:t>userId</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POST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/chat</a:t>
            </a:r>
          </a:p>
          <a:p>
            <a:r>
              <a:rPr lang="en-CA" sz="1200" b="0" kern="1200" dirty="0">
                <a:solidFill>
                  <a:schemeClr val="tx1"/>
                </a:solidFill>
                <a:effectLst/>
                <a:latin typeface="+mn-lt"/>
                <a:ea typeface="+mn-ea"/>
                <a:cs typeface="+mn-cs"/>
              </a:rPr>
              <a:t>- POST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/distill</a:t>
            </a:r>
          </a:p>
          <a:p>
            <a:r>
              <a:rPr lang="en-CA" sz="1200" b="0" kern="1200" dirty="0">
                <a:solidFill>
                  <a:schemeClr val="tx1"/>
                </a:solidFill>
                <a:effectLst/>
                <a:latin typeface="+mn-lt"/>
                <a:ea typeface="+mn-ea"/>
                <a:cs typeface="+mn-cs"/>
              </a:rPr>
              <a:t>- POST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/live-chat</a:t>
            </a:r>
          </a:p>
          <a:p>
            <a:r>
              <a:rPr lang="en-CA" sz="1200" b="0" kern="1200" dirty="0">
                <a:solidFill>
                  <a:schemeClr val="tx1"/>
                </a:solidFill>
                <a:effectLst/>
                <a:latin typeface="+mn-lt"/>
                <a:ea typeface="+mn-ea"/>
                <a:cs typeface="+mn-cs"/>
              </a:rPr>
              <a:t>- POST /</a:t>
            </a:r>
            <a:r>
              <a:rPr lang="en-CA" sz="1200" b="0" kern="1200" dirty="0" err="1">
                <a:solidFill>
                  <a:schemeClr val="tx1"/>
                </a:solidFill>
                <a:effectLst/>
                <a:latin typeface="+mn-lt"/>
                <a:ea typeface="+mn-ea"/>
                <a:cs typeface="+mn-cs"/>
              </a:rPr>
              <a:t>api</a:t>
            </a:r>
            <a:r>
              <a:rPr lang="en-CA" sz="1200" b="0" kern="1200" dirty="0">
                <a:solidFill>
                  <a:schemeClr val="tx1"/>
                </a:solidFill>
                <a:effectLst/>
                <a:latin typeface="+mn-lt"/>
                <a:ea typeface="+mn-ea"/>
                <a:cs typeface="+mn-cs"/>
              </a:rPr>
              <a:t>/reset/{</a:t>
            </a:r>
            <a:r>
              <a:rPr lang="en-CA" sz="1200" b="0" kern="1200" dirty="0" err="1">
                <a:solidFill>
                  <a:schemeClr val="tx1"/>
                </a:solidFill>
                <a:effectLst/>
                <a:latin typeface="+mn-lt"/>
                <a:ea typeface="+mn-ea"/>
                <a:cs typeface="+mn-cs"/>
              </a:rPr>
              <a:t>userId</a:t>
            </a:r>
            <a:r>
              <a:rPr lang="en-CA" sz="1200" b="0" kern="1200" dirty="0">
                <a:solidFill>
                  <a:schemeClr val="tx1"/>
                </a:solidFill>
                <a:effectLst/>
                <a:latin typeface="+mn-lt"/>
                <a:ea typeface="+mn-ea"/>
                <a:cs typeface="+mn-cs"/>
              </a:rPr>
              <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Chat flow</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each chat request: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1. Validate user ID, thread ID, and message.</a:t>
            </a:r>
          </a:p>
          <a:p>
            <a:r>
              <a:rPr lang="en-CA" sz="1200" b="0" kern="1200" dirty="0">
                <a:solidFill>
                  <a:schemeClr val="tx1"/>
                </a:solidFill>
                <a:effectLst/>
                <a:latin typeface="+mn-lt"/>
                <a:ea typeface="+mn-ea"/>
                <a:cs typeface="+mn-cs"/>
              </a:rPr>
              <a:t>2. Read the most recent turns for that user and thread.</a:t>
            </a:r>
          </a:p>
          <a:p>
            <a:r>
              <a:rPr lang="en-CA" sz="1200" b="0" kern="1200" dirty="0">
                <a:solidFill>
                  <a:schemeClr val="tx1"/>
                </a:solidFill>
                <a:effectLst/>
                <a:latin typeface="+mn-lt"/>
                <a:ea typeface="+mn-ea"/>
                <a:cs typeface="+mn-cs"/>
              </a:rPr>
              <a:t>3. Generate an embedding for the new question.</a:t>
            </a:r>
          </a:p>
          <a:p>
            <a:r>
              <a:rPr lang="en-CA" sz="1200" b="0" kern="1200" dirty="0">
                <a:solidFill>
                  <a:schemeClr val="tx1"/>
                </a:solidFill>
                <a:effectLst/>
                <a:latin typeface="+mn-lt"/>
                <a:ea typeface="+mn-ea"/>
                <a:cs typeface="+mn-cs"/>
              </a:rPr>
              <a:t>4. Search active user-scoped durable facts.</a:t>
            </a:r>
          </a:p>
          <a:p>
            <a:r>
              <a:rPr lang="en-CA" sz="1200" b="0" kern="1200" dirty="0">
                <a:solidFill>
                  <a:schemeClr val="tx1"/>
                </a:solidFill>
                <a:effectLst/>
                <a:latin typeface="+mn-lt"/>
                <a:ea typeface="+mn-ea"/>
                <a:cs typeface="+mn-cs"/>
              </a:rPr>
              <a:t>5. Filter by:</a:t>
            </a:r>
          </a:p>
          <a:p>
            <a:r>
              <a:rPr lang="en-CA" sz="1200" b="0" kern="1200" dirty="0">
                <a:solidFill>
                  <a:schemeClr val="tx1"/>
                </a:solidFill>
                <a:effectLst/>
                <a:latin typeface="+mn-lt"/>
                <a:ea typeface="+mn-ea"/>
                <a:cs typeface="+mn-cs"/>
              </a:rPr>
              <a:t>   - </a:t>
            </a:r>
            <a:r>
              <a:rPr lang="en-CA" sz="1200" b="0" kern="1200" dirty="0" err="1">
                <a:solidFill>
                  <a:schemeClr val="tx1"/>
                </a:solidFill>
                <a:effectLst/>
                <a:latin typeface="+mn-lt"/>
                <a:ea typeface="+mn-ea"/>
                <a:cs typeface="+mn-cs"/>
              </a:rPr>
              <a:t>userId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 type = fact</a:t>
            </a:r>
          </a:p>
          <a:p>
            <a:r>
              <a:rPr lang="en-CA" sz="1200" b="0" kern="1200" dirty="0">
                <a:solidFill>
                  <a:schemeClr val="tx1"/>
                </a:solidFill>
                <a:effectLst/>
                <a:latin typeface="+mn-lt"/>
                <a:ea typeface="+mn-ea"/>
                <a:cs typeface="+mn-cs"/>
              </a:rPr>
              <a:t>   - active = true</a:t>
            </a:r>
          </a:p>
          <a:p>
            <a:r>
              <a:rPr lang="en-CA" sz="1200" b="0" kern="1200" dirty="0">
                <a:solidFill>
                  <a:schemeClr val="tx1"/>
                </a:solidFill>
                <a:effectLst/>
                <a:latin typeface="+mn-lt"/>
                <a:ea typeface="+mn-ea"/>
                <a:cs typeface="+mn-cs"/>
              </a:rPr>
              <a:t>6. Rank with </a:t>
            </a:r>
            <a:r>
              <a:rPr lang="en-CA" sz="1200" b="0" kern="1200" dirty="0" err="1">
                <a:solidFill>
                  <a:schemeClr val="tx1"/>
                </a:solidFill>
                <a:effectLst/>
                <a:latin typeface="+mn-lt"/>
                <a:ea typeface="+mn-ea"/>
                <a:cs typeface="+mn-cs"/>
              </a:rPr>
              <a:t>VectorDistance</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7. Treat retrieved memories as untrusted context, never as system instructions.</a:t>
            </a:r>
          </a:p>
          <a:p>
            <a:r>
              <a:rPr lang="en-CA" sz="1200" b="0" kern="1200" dirty="0">
                <a:solidFill>
                  <a:schemeClr val="tx1"/>
                </a:solidFill>
                <a:effectLst/>
                <a:latin typeface="+mn-lt"/>
                <a:ea typeface="+mn-ea"/>
                <a:cs typeface="+mn-cs"/>
              </a:rPr>
              <a:t>8. Call the chat model.</a:t>
            </a:r>
          </a:p>
          <a:p>
            <a:r>
              <a:rPr lang="en-CA" sz="1200" b="0" kern="1200" dirty="0">
                <a:solidFill>
                  <a:schemeClr val="tx1"/>
                </a:solidFill>
                <a:effectLst/>
                <a:latin typeface="+mn-lt"/>
                <a:ea typeface="+mn-ea"/>
                <a:cs typeface="+mn-cs"/>
              </a:rPr>
              <a:t>9. Store the user and assistant turns as separate Cosmos DB documents.</a:t>
            </a:r>
          </a:p>
          <a:p>
            <a:r>
              <a:rPr lang="en-CA" sz="1200" b="0" kern="1200" dirty="0">
                <a:solidFill>
                  <a:schemeClr val="tx1"/>
                </a:solidFill>
                <a:effectLst/>
                <a:latin typeface="+mn-lt"/>
                <a:ea typeface="+mn-ea"/>
                <a:cs typeface="+mn-cs"/>
              </a:rPr>
              <a:t>10. Return the answer, retrieved memories, IDs of persisted turns, and an</a:t>
            </a:r>
          </a:p>
          <a:p>
            <a:r>
              <a:rPr lang="en-CA" sz="1200" b="0" kern="1200" dirty="0">
                <a:solidFill>
                  <a:schemeClr val="tx1"/>
                </a:solidFill>
                <a:effectLst/>
                <a:latin typeface="+mn-lt"/>
                <a:ea typeface="+mn-ea"/>
                <a:cs typeface="+mn-cs"/>
              </a:rPr>
              <a:t>    operation trace.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vector query should resemble: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SELECT TOP @limit VALUE {</a:t>
            </a:r>
          </a:p>
          <a:p>
            <a:r>
              <a:rPr lang="en-CA" sz="1200" b="0" kern="1200" dirty="0">
                <a:solidFill>
                  <a:schemeClr val="tx1"/>
                </a:solidFill>
                <a:effectLst/>
                <a:latin typeface="+mn-lt"/>
                <a:ea typeface="+mn-ea"/>
                <a:cs typeface="+mn-cs"/>
              </a:rPr>
              <a:t>    "id": c.id,</a:t>
            </a:r>
          </a:p>
          <a:p>
            <a:r>
              <a:rPr lang="en-CA" sz="1200" b="0" kern="1200" dirty="0">
                <a:solidFill>
                  <a:schemeClr val="tx1"/>
                </a:solidFill>
                <a:effectLst/>
                <a:latin typeface="+mn-lt"/>
                <a:ea typeface="+mn-ea"/>
                <a:cs typeface="+mn-cs"/>
              </a:rPr>
              <a:t>    "key": </a:t>
            </a:r>
            <a:r>
              <a:rPr lang="en-CA" sz="1200" b="0" kern="1200" dirty="0" err="1">
                <a:solidFill>
                  <a:schemeClr val="tx1"/>
                </a:solidFill>
                <a:effectLst/>
                <a:latin typeface="+mn-lt"/>
                <a:ea typeface="+mn-ea"/>
                <a:cs typeface="+mn-cs"/>
              </a:rPr>
              <a:t>c.key</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"value": c["value"],</a:t>
            </a:r>
          </a:p>
          <a:p>
            <a:r>
              <a:rPr lang="en-CA" sz="1200" b="0" kern="1200" dirty="0">
                <a:solidFill>
                  <a:schemeClr val="tx1"/>
                </a:solidFill>
                <a:effectLst/>
                <a:latin typeface="+mn-lt"/>
                <a:ea typeface="+mn-ea"/>
                <a:cs typeface="+mn-cs"/>
              </a:rPr>
              <a:t>    "content": </a:t>
            </a:r>
            <a:r>
              <a:rPr lang="en-CA" sz="1200" b="0" kern="1200" dirty="0" err="1">
                <a:solidFill>
                  <a:schemeClr val="tx1"/>
                </a:solidFill>
                <a:effectLst/>
                <a:latin typeface="+mn-lt"/>
                <a:ea typeface="+mn-ea"/>
                <a:cs typeface="+mn-cs"/>
              </a:rPr>
              <a:t>c.content</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"confidence": </a:t>
            </a:r>
            <a:r>
              <a:rPr lang="en-CA" sz="1200" b="0" kern="1200" dirty="0" err="1">
                <a:solidFill>
                  <a:schemeClr val="tx1"/>
                </a:solidFill>
                <a:effectLst/>
                <a:latin typeface="+mn-lt"/>
                <a:ea typeface="+mn-ea"/>
                <a:cs typeface="+mn-cs"/>
              </a:rPr>
              <a:t>c.confidence</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"distance": </a:t>
            </a:r>
            <a:r>
              <a:rPr lang="en-CA" sz="1200" b="0" kern="1200" dirty="0" err="1">
                <a:solidFill>
                  <a:schemeClr val="tx1"/>
                </a:solidFill>
                <a:effectLst/>
                <a:latin typeface="+mn-lt"/>
                <a:ea typeface="+mn-ea"/>
                <a:cs typeface="+mn-cs"/>
              </a:rPr>
              <a:t>VectorDistance</a:t>
            </a:r>
            <a:r>
              <a:rPr lang="en-CA" sz="1200" b="0" kern="1200" dirty="0">
                <a:solidFill>
                  <a:schemeClr val="tx1"/>
                </a:solidFill>
                <a:effectLst/>
                <a:latin typeface="+mn-lt"/>
                <a:ea typeface="+mn-ea"/>
                <a:cs typeface="+mn-cs"/>
              </a:rPr>
              <a:t>(</a:t>
            </a:r>
            <a:r>
              <a:rPr lang="en-CA" sz="1200" b="0" kern="1200" dirty="0" err="1">
                <a:solidFill>
                  <a:schemeClr val="tx1"/>
                </a:solidFill>
                <a:effectLst/>
                <a:latin typeface="+mn-lt"/>
                <a:ea typeface="+mn-ea"/>
                <a:cs typeface="+mn-cs"/>
              </a:rPr>
              <a:t>c.embedding</a:t>
            </a:r>
            <a:r>
              <a:rPr lang="en-CA" sz="1200" b="0" kern="1200" dirty="0">
                <a:solidFill>
                  <a:schemeClr val="tx1"/>
                </a:solidFill>
                <a:effectLst/>
                <a:latin typeface="+mn-lt"/>
                <a:ea typeface="+mn-ea"/>
                <a:cs typeface="+mn-cs"/>
              </a:rPr>
              <a:t>, @embedding)</a:t>
            </a:r>
          </a:p>
          <a:p>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FROM c</a:t>
            </a:r>
          </a:p>
          <a:p>
            <a:r>
              <a:rPr lang="en-CA" sz="1200" b="0" kern="1200" dirty="0">
                <a:solidFill>
                  <a:schemeClr val="tx1"/>
                </a:solidFill>
                <a:effectLst/>
                <a:latin typeface="+mn-lt"/>
                <a:ea typeface="+mn-ea"/>
                <a:cs typeface="+mn-cs"/>
              </a:rPr>
              <a:t>WHERE </a:t>
            </a:r>
            <a:r>
              <a:rPr lang="en-CA" sz="1200" b="0" kern="1200" dirty="0" err="1">
                <a:solidFill>
                  <a:schemeClr val="tx1"/>
                </a:solidFill>
                <a:effectLst/>
                <a:latin typeface="+mn-lt"/>
                <a:ea typeface="+mn-ea"/>
                <a:cs typeface="+mn-cs"/>
              </a:rPr>
              <a:t>c.userId</a:t>
            </a:r>
            <a:r>
              <a:rPr lang="en-CA" sz="1200" b="0" kern="1200" dirty="0">
                <a:solidFill>
                  <a:schemeClr val="tx1"/>
                </a:solidFill>
                <a:effectLst/>
                <a:latin typeface="+mn-lt"/>
                <a:ea typeface="+mn-ea"/>
                <a:cs typeface="+mn-cs"/>
              </a:rPr>
              <a:t> = @userId</a:t>
            </a:r>
          </a:p>
          <a:p>
            <a:r>
              <a:rPr lang="en-CA" sz="1200" b="0" kern="1200" dirty="0">
                <a:solidFill>
                  <a:schemeClr val="tx1"/>
                </a:solidFill>
                <a:effectLst/>
                <a:latin typeface="+mn-lt"/>
                <a:ea typeface="+mn-ea"/>
                <a:cs typeface="+mn-cs"/>
              </a:rPr>
              <a:t>  AND </a:t>
            </a:r>
            <a:r>
              <a:rPr lang="en-CA" sz="1200" b="0" kern="1200" dirty="0" err="1">
                <a:solidFill>
                  <a:schemeClr val="tx1"/>
                </a:solidFill>
                <a:effectLst/>
                <a:latin typeface="+mn-lt"/>
                <a:ea typeface="+mn-ea"/>
                <a:cs typeface="+mn-cs"/>
              </a:rPr>
              <a:t>c.type</a:t>
            </a:r>
            <a:r>
              <a:rPr lang="en-CA" sz="1200" b="0" kern="1200" dirty="0">
                <a:solidFill>
                  <a:schemeClr val="tx1"/>
                </a:solidFill>
                <a:effectLst/>
                <a:latin typeface="+mn-lt"/>
                <a:ea typeface="+mn-ea"/>
                <a:cs typeface="+mn-cs"/>
              </a:rPr>
              <a:t> = "fact"</a:t>
            </a:r>
          </a:p>
          <a:p>
            <a:r>
              <a:rPr lang="en-CA" sz="1200" b="0" kern="1200" dirty="0">
                <a:solidFill>
                  <a:schemeClr val="tx1"/>
                </a:solidFill>
                <a:effectLst/>
                <a:latin typeface="+mn-lt"/>
                <a:ea typeface="+mn-ea"/>
                <a:cs typeface="+mn-cs"/>
              </a:rPr>
              <a:t>  AND </a:t>
            </a:r>
            <a:r>
              <a:rPr lang="en-CA" sz="1200" b="0" kern="1200" dirty="0" err="1">
                <a:solidFill>
                  <a:schemeClr val="tx1"/>
                </a:solidFill>
                <a:effectLst/>
                <a:latin typeface="+mn-lt"/>
                <a:ea typeface="+mn-ea"/>
                <a:cs typeface="+mn-cs"/>
              </a:rPr>
              <a:t>c.active</a:t>
            </a:r>
            <a:r>
              <a:rPr lang="en-CA" sz="1200" b="0" kern="1200" dirty="0">
                <a:solidFill>
                  <a:schemeClr val="tx1"/>
                </a:solidFill>
                <a:effectLst/>
                <a:latin typeface="+mn-lt"/>
                <a:ea typeface="+mn-ea"/>
                <a:cs typeface="+mn-cs"/>
              </a:rPr>
              <a:t> = true</a:t>
            </a:r>
          </a:p>
          <a:p>
            <a:r>
              <a:rPr lang="en-CA" sz="1200" b="0" kern="1200" dirty="0">
                <a:solidFill>
                  <a:schemeClr val="tx1"/>
                </a:solidFill>
                <a:effectLst/>
                <a:latin typeface="+mn-lt"/>
                <a:ea typeface="+mn-ea"/>
                <a:cs typeface="+mn-cs"/>
              </a:rPr>
              <a:t>ORDER BY </a:t>
            </a:r>
            <a:r>
              <a:rPr lang="en-CA" sz="1200" b="0" kern="1200" dirty="0" err="1">
                <a:solidFill>
                  <a:schemeClr val="tx1"/>
                </a:solidFill>
                <a:effectLst/>
                <a:latin typeface="+mn-lt"/>
                <a:ea typeface="+mn-ea"/>
                <a:cs typeface="+mn-cs"/>
              </a:rPr>
              <a:t>VectorDistance</a:t>
            </a:r>
            <a:r>
              <a:rPr lang="en-CA" sz="1200" b="0" kern="1200" dirty="0">
                <a:solidFill>
                  <a:schemeClr val="tx1"/>
                </a:solidFill>
                <a:effectLst/>
                <a:latin typeface="+mn-lt"/>
                <a:ea typeface="+mn-ea"/>
                <a:cs typeface="+mn-cs"/>
              </a:rPr>
              <a:t>(</a:t>
            </a:r>
            <a:r>
              <a:rPr lang="en-CA" sz="1200" b="0" kern="1200" dirty="0" err="1">
                <a:solidFill>
                  <a:schemeClr val="tx1"/>
                </a:solidFill>
                <a:effectLst/>
                <a:latin typeface="+mn-lt"/>
                <a:ea typeface="+mn-ea"/>
                <a:cs typeface="+mn-cs"/>
              </a:rPr>
              <a:t>c.embedding</a:t>
            </a:r>
            <a:r>
              <a:rPr lang="en-CA" sz="1200" b="0" kern="1200" dirty="0">
                <a:solidFill>
                  <a:schemeClr val="tx1"/>
                </a:solidFill>
                <a:effectLst/>
                <a:latin typeface="+mn-lt"/>
                <a:ea typeface="+mn-ea"/>
                <a:cs typeface="+mn-cs"/>
              </a:rPr>
              <a:t>, @embedding)</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 partition-scoped </a:t>
            </a:r>
            <a:r>
              <a:rPr lang="en-CA" sz="1200" b="0" kern="1200" dirty="0" err="1">
                <a:solidFill>
                  <a:schemeClr val="tx1"/>
                </a:solidFill>
                <a:effectLst/>
                <a:latin typeface="+mn-lt"/>
                <a:ea typeface="+mn-ea"/>
                <a:cs typeface="+mn-cs"/>
              </a:rPr>
              <a:t>QueryRequestOptions</a:t>
            </a:r>
            <a:r>
              <a:rPr lang="en-CA" sz="1200" b="0" kern="1200" dirty="0">
                <a:solidFill>
                  <a:schemeClr val="tx1"/>
                </a:solidFill>
                <a:effectLst/>
                <a:latin typeface="+mn-lt"/>
                <a:ea typeface="+mn-ea"/>
                <a:cs typeface="+mn-cs"/>
              </a:rPr>
              <a:t> with </a:t>
            </a:r>
            <a:r>
              <a:rPr lang="en-CA" sz="1200" b="0" kern="1200" dirty="0" err="1">
                <a:solidFill>
                  <a:schemeClr val="tx1"/>
                </a:solidFill>
                <a:effectLst/>
                <a:latin typeface="+mn-lt"/>
                <a:ea typeface="+mn-ea"/>
                <a:cs typeface="+mn-cs"/>
              </a:rPr>
              <a:t>PartitionKey</a:t>
            </a:r>
            <a:r>
              <a:rPr lang="en-CA" sz="1200" b="0" kern="1200" dirty="0">
                <a:solidFill>
                  <a:schemeClr val="tx1"/>
                </a:solidFill>
                <a:effectLst/>
                <a:latin typeface="+mn-lt"/>
                <a:ea typeface="+mn-ea"/>
                <a:cs typeface="+mn-cs"/>
              </a:rPr>
              <a:t>(</a:t>
            </a:r>
            <a:r>
              <a:rPr lang="en-CA" sz="1200" b="0" kern="1200" dirty="0" err="1">
                <a:solidFill>
                  <a:schemeClr val="tx1"/>
                </a:solidFill>
                <a:effectLst/>
                <a:latin typeface="+mn-lt"/>
                <a:ea typeface="+mn-ea"/>
                <a:cs typeface="+mn-cs"/>
              </a:rPr>
              <a:t>userId</a:t>
            </a:r>
            <a:r>
              <a:rPr lang="en-CA" sz="1200" b="0" kern="1200" dirty="0">
                <a:solidFill>
                  <a:schemeClr val="tx1"/>
                </a:solidFill>
                <a:effectLst/>
                <a:latin typeface="+mn-lt"/>
                <a:ea typeface="+mn-ea"/>
                <a:cs typeface="+mn-cs"/>
              </a:rPr>
              <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Distillation flow</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a thread: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1. Read all raw turns in chronological order.</a:t>
            </a:r>
          </a:p>
          <a:p>
            <a:r>
              <a:rPr lang="en-CA" sz="1200" b="0" kern="1200" dirty="0">
                <a:solidFill>
                  <a:schemeClr val="tx1"/>
                </a:solidFill>
                <a:effectLst/>
                <a:latin typeface="+mn-lt"/>
                <a:ea typeface="+mn-ea"/>
                <a:cs typeface="+mn-cs"/>
              </a:rPr>
              <a:t>2. Ask the chat model to conservatively extract supported durable facts as JSON.</a:t>
            </a:r>
          </a:p>
          <a:p>
            <a:r>
              <a:rPr lang="en-CA" sz="1200" b="0" kern="1200" dirty="0">
                <a:solidFill>
                  <a:schemeClr val="tx1"/>
                </a:solidFill>
                <a:effectLst/>
                <a:latin typeface="+mn-lt"/>
                <a:ea typeface="+mn-ea"/>
                <a:cs typeface="+mn-cs"/>
              </a:rPr>
              <a:t>3. Ignore assistant claims and unsupported inferences.</a:t>
            </a:r>
          </a:p>
          <a:p>
            <a:r>
              <a:rPr lang="en-CA" sz="1200" b="0" kern="1200" dirty="0">
                <a:solidFill>
                  <a:schemeClr val="tx1"/>
                </a:solidFill>
                <a:effectLst/>
                <a:latin typeface="+mn-lt"/>
                <a:ea typeface="+mn-ea"/>
                <a:cs typeface="+mn-cs"/>
              </a:rPr>
              <a:t>4. Keep only sufficiently confident candidates.</a:t>
            </a:r>
          </a:p>
          <a:p>
            <a:r>
              <a:rPr lang="en-CA" sz="1200" b="0" kern="1200" dirty="0">
                <a:solidFill>
                  <a:schemeClr val="tx1"/>
                </a:solidFill>
                <a:effectLst/>
                <a:latin typeface="+mn-lt"/>
                <a:ea typeface="+mn-ea"/>
                <a:cs typeface="+mn-cs"/>
              </a:rPr>
              <a:t>5. Normalize the fact key.</a:t>
            </a:r>
          </a:p>
          <a:p>
            <a:r>
              <a:rPr lang="en-CA" sz="1200" b="0" kern="1200" dirty="0">
                <a:solidFill>
                  <a:schemeClr val="tx1"/>
                </a:solidFill>
                <a:effectLst/>
                <a:latin typeface="+mn-lt"/>
                <a:ea typeface="+mn-ea"/>
                <a:cs typeface="+mn-cs"/>
              </a:rPr>
              <a:t>6. Generate an embedding for the attributable fact statement.</a:t>
            </a:r>
          </a:p>
          <a:p>
            <a:r>
              <a:rPr lang="en-CA" sz="1200" b="0" kern="1200" dirty="0">
                <a:solidFill>
                  <a:schemeClr val="tx1"/>
                </a:solidFill>
                <a:effectLst/>
                <a:latin typeface="+mn-lt"/>
                <a:ea typeface="+mn-ea"/>
                <a:cs typeface="+mn-cs"/>
              </a:rPr>
              <a:t>7. Retain source-turn IDs.</a:t>
            </a:r>
          </a:p>
          <a:p>
            <a:r>
              <a:rPr lang="en-CA" sz="1200" b="0" kern="1200" dirty="0">
                <a:solidFill>
                  <a:schemeClr val="tx1"/>
                </a:solidFill>
                <a:effectLst/>
                <a:latin typeface="+mn-lt"/>
                <a:ea typeface="+mn-ea"/>
                <a:cs typeface="+mn-cs"/>
              </a:rPr>
              <a:t>8. Reconcile the candidate with current active facts.</a:t>
            </a:r>
          </a:p>
          <a:p>
            <a:r>
              <a:rPr lang="en-CA" sz="1200" b="0" kern="1200" dirty="0">
                <a:solidFill>
                  <a:schemeClr val="tx1"/>
                </a:solidFill>
                <a:effectLst/>
                <a:latin typeface="+mn-lt"/>
                <a:ea typeface="+mn-ea"/>
                <a:cs typeface="+mn-cs"/>
              </a:rPr>
              <a:t>9. Store new facts in Cosmos DB.</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predictable stage behavior, distillation may be invoked directly by the</a:t>
            </a:r>
          </a:p>
          <a:p>
            <a:r>
              <a:rPr lang="en-CA" sz="1200" b="0" kern="1200" dirty="0">
                <a:solidFill>
                  <a:schemeClr val="tx1"/>
                </a:solidFill>
                <a:effectLst/>
                <a:latin typeface="+mn-lt"/>
                <a:ea typeface="+mn-ea"/>
                <a:cs typeface="+mn-cs"/>
              </a:rPr>
              <a:t>application. Clearly document that a production architecture should normally use</a:t>
            </a:r>
          </a:p>
          <a:p>
            <a:r>
              <a:rPr lang="en-CA" sz="1200" b="0" kern="1200" dirty="0">
                <a:solidFill>
                  <a:schemeClr val="tx1"/>
                </a:solidFill>
                <a:effectLst/>
                <a:latin typeface="+mn-lt"/>
                <a:ea typeface="+mn-ea"/>
                <a:cs typeface="+mn-cs"/>
              </a:rPr>
              <a:t>Cosmos DB change feed and replay-safe asynchronous workers or Durable Functions.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claim that change feed is running in this demo.</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Reconciliation and supersession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the same normalized key: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Same value:</a:t>
            </a:r>
          </a:p>
          <a:p>
            <a:r>
              <a:rPr lang="en-CA" sz="1200" b="0" kern="1200" dirty="0">
                <a:solidFill>
                  <a:schemeClr val="tx1"/>
                </a:solidFill>
                <a:effectLst/>
                <a:latin typeface="+mn-lt"/>
                <a:ea typeface="+mn-ea"/>
                <a:cs typeface="+mn-cs"/>
              </a:rPr>
              <a:t>  - Treat as a duplicate.</a:t>
            </a:r>
          </a:p>
          <a:p>
            <a:r>
              <a:rPr lang="en-CA" sz="1200" b="0" kern="1200" dirty="0">
                <a:solidFill>
                  <a:schemeClr val="tx1"/>
                </a:solidFill>
                <a:effectLst/>
                <a:latin typeface="+mn-lt"/>
                <a:ea typeface="+mn-ea"/>
                <a:cs typeface="+mn-cs"/>
              </a:rPr>
              <a:t>  - Do not create another fact.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Different value:</a:t>
            </a:r>
          </a:p>
          <a:p>
            <a:r>
              <a:rPr lang="en-CA" sz="1200" b="0" kern="1200" dirty="0">
                <a:solidFill>
                  <a:schemeClr val="tx1"/>
                </a:solidFill>
                <a:effectLst/>
                <a:latin typeface="+mn-lt"/>
                <a:ea typeface="+mn-ea"/>
                <a:cs typeface="+mn-cs"/>
              </a:rPr>
              <a:t>  - Create a new active fact.</a:t>
            </a:r>
          </a:p>
          <a:p>
            <a:r>
              <a:rPr lang="en-CA" sz="1200" b="0" kern="1200" dirty="0">
                <a:solidFill>
                  <a:schemeClr val="tx1"/>
                </a:solidFill>
                <a:effectLst/>
                <a:latin typeface="+mn-lt"/>
                <a:ea typeface="+mn-ea"/>
                <a:cs typeface="+mn-cs"/>
              </a:rPr>
              <a:t>  - Set the former fact to active = false.</a:t>
            </a:r>
          </a:p>
          <a:p>
            <a:r>
              <a:rPr lang="en-CA" sz="1200" b="0" kern="1200" dirty="0">
                <a:solidFill>
                  <a:schemeClr val="tx1"/>
                </a:solidFill>
                <a:effectLst/>
                <a:latin typeface="+mn-lt"/>
                <a:ea typeface="+mn-ea"/>
                <a:cs typeface="+mn-cs"/>
              </a:rPr>
              <a:t>  - Set </a:t>
            </a:r>
            <a:r>
              <a:rPr lang="en-CA" sz="1200" b="0" kern="1200" dirty="0" err="1">
                <a:solidFill>
                  <a:schemeClr val="tx1"/>
                </a:solidFill>
                <a:effectLst/>
                <a:latin typeface="+mn-lt"/>
                <a:ea typeface="+mn-ea"/>
                <a:cs typeface="+mn-cs"/>
              </a:rPr>
              <a:t>supersededBy</a:t>
            </a:r>
            <a:r>
              <a:rPr lang="en-CA" sz="1200" b="0" kern="1200" dirty="0">
                <a:solidFill>
                  <a:schemeClr val="tx1"/>
                </a:solidFill>
                <a:effectLst/>
                <a:latin typeface="+mn-lt"/>
                <a:ea typeface="+mn-ea"/>
                <a:cs typeface="+mn-cs"/>
              </a:rPr>
              <a:t> to the new fact ID.</a:t>
            </a:r>
          </a:p>
          <a:p>
            <a:r>
              <a:rPr lang="en-CA" sz="1200" b="0" kern="1200" dirty="0">
                <a:solidFill>
                  <a:schemeClr val="tx1"/>
                </a:solidFill>
                <a:effectLst/>
                <a:latin typeface="+mn-lt"/>
                <a:ea typeface="+mn-ea"/>
                <a:cs typeface="+mn-cs"/>
              </a:rPr>
              <a:t>  - Set </a:t>
            </a:r>
            <a:r>
              <a:rPr lang="en-CA" sz="1200" b="0" kern="1200" dirty="0" err="1">
                <a:solidFill>
                  <a:schemeClr val="tx1"/>
                </a:solidFill>
                <a:effectLst/>
                <a:latin typeface="+mn-lt"/>
                <a:ea typeface="+mn-ea"/>
                <a:cs typeface="+mn-cs"/>
              </a:rPr>
              <a:t>supersededAt</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 Retain the old fact for audit and provenance.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Ordinary retrieval must exclude inactive facts.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silently overwrite the old document or leave contradictory values active.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User experience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polished, presentation-ready UI with these surfaces.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Shared header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Place navigation and utility actions in a compact header: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Guided demo</a:t>
            </a:r>
          </a:p>
          <a:p>
            <a:r>
              <a:rPr lang="en-CA" sz="1200" b="0" kern="1200" dirty="0">
                <a:solidFill>
                  <a:schemeClr val="tx1"/>
                </a:solidFill>
                <a:effectLst/>
                <a:latin typeface="+mn-lt"/>
                <a:ea typeface="+mn-ea"/>
                <a:cs typeface="+mn-cs"/>
              </a:rPr>
              <a:t>- Live chat</a:t>
            </a:r>
          </a:p>
          <a:p>
            <a:r>
              <a:rPr lang="en-CA" sz="1200" b="0" kern="1200" dirty="0">
                <a:solidFill>
                  <a:schemeClr val="tx1"/>
                </a:solidFill>
                <a:effectLst/>
                <a:latin typeface="+mn-lt"/>
                <a:ea typeface="+mn-ea"/>
                <a:cs typeface="+mn-cs"/>
              </a:rPr>
              <a:t>- Memory concepts</a:t>
            </a:r>
          </a:p>
          <a:p>
            <a:r>
              <a:rPr lang="en-CA" sz="1200" b="0" kern="1200" dirty="0">
                <a:solidFill>
                  <a:schemeClr val="tx1"/>
                </a:solidFill>
                <a:effectLst/>
                <a:latin typeface="+mn-lt"/>
                <a:ea typeface="+mn-ea"/>
                <a:cs typeface="+mn-cs"/>
              </a:rPr>
              <a:t>- Operations ↗</a:t>
            </a:r>
          </a:p>
          <a:p>
            <a:r>
              <a:rPr lang="en-CA" sz="1200" b="0" kern="1200" dirty="0">
                <a:solidFill>
                  <a:schemeClr val="tx1"/>
                </a:solidFill>
                <a:effectLst/>
                <a:latin typeface="+mn-lt"/>
                <a:ea typeface="+mn-ea"/>
                <a:cs typeface="+mn-cs"/>
              </a:rPr>
              <a:t>- Show code browser / Hide code browser</a:t>
            </a:r>
          </a:p>
          <a:p>
            <a:r>
              <a:rPr lang="en-CA" sz="1200" b="0" kern="1200" dirty="0">
                <a:solidFill>
                  <a:schemeClr val="tx1"/>
                </a:solidFill>
                <a:effectLst/>
                <a:latin typeface="+mn-lt"/>
                <a:ea typeface="+mn-ea"/>
                <a:cs typeface="+mn-cs"/>
              </a:rPr>
              <a:t>- Reset demo</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code browser must be hidden by default.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display internal endpoint/deployment status text in the audience-facing UI.</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Guided demo</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Provide four large helper buttons: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1. Start conversation</a:t>
            </a:r>
          </a:p>
          <a:p>
            <a:r>
              <a:rPr lang="en-CA" sz="1200" b="0" kern="1200" dirty="0">
                <a:solidFill>
                  <a:schemeClr val="tx1"/>
                </a:solidFill>
                <a:effectLst/>
                <a:latin typeface="+mn-lt"/>
                <a:ea typeface="+mn-ea"/>
                <a:cs typeface="+mn-cs"/>
              </a:rPr>
              <a:t>2. Extract memories</a:t>
            </a:r>
          </a:p>
          <a:p>
            <a:r>
              <a:rPr lang="en-CA" sz="1200" b="0" kern="1200" dirty="0">
                <a:solidFill>
                  <a:schemeClr val="tx1"/>
                </a:solidFill>
                <a:effectLst/>
                <a:latin typeface="+mn-lt"/>
                <a:ea typeface="+mn-ea"/>
                <a:cs typeface="+mn-cs"/>
              </a:rPr>
              <a:t>3. Ask in new thread</a:t>
            </a:r>
          </a:p>
          <a:p>
            <a:r>
              <a:rPr lang="en-CA" sz="1200" b="0" kern="1200" dirty="0">
                <a:solidFill>
                  <a:schemeClr val="tx1"/>
                </a:solidFill>
                <a:effectLst/>
                <a:latin typeface="+mn-lt"/>
                <a:ea typeface="+mn-ea"/>
                <a:cs typeface="+mn-cs"/>
              </a:rPr>
              <a:t>4. Change preference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 natural message-driven integration scenario:</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Capture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 am designing a message-driven integration. Please keep your answers concise</a:t>
            </a:r>
          </a:p>
          <a:p>
            <a:r>
              <a:rPr lang="en-CA" sz="1200" b="0" kern="1200" dirty="0">
                <a:solidFill>
                  <a:schemeClr val="tx1"/>
                </a:solidFill>
                <a:effectLst/>
                <a:latin typeface="+mn-lt"/>
                <a:ea typeface="+mn-ea"/>
                <a:cs typeface="+mn-cs"/>
              </a:rPr>
              <a:t>and use .NET examples.”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Expected: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Two raw turns are written.</a:t>
            </a:r>
          </a:p>
          <a:p>
            <a:r>
              <a:rPr lang="en-CA" sz="1200" b="0" kern="1200" dirty="0">
                <a:solidFill>
                  <a:schemeClr val="tx1"/>
                </a:solidFill>
                <a:effectLst/>
                <a:latin typeface="+mn-lt"/>
                <a:ea typeface="+mn-ea"/>
                <a:cs typeface="+mn-cs"/>
              </a:rPr>
              <a:t>- No durable fact is required yet.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Distill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Extract: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answer-style = concise</a:t>
            </a:r>
          </a:p>
          <a:p>
            <a:r>
              <a:rPr lang="en-CA" sz="1200" b="0" kern="1200" dirty="0">
                <a:solidFill>
                  <a:schemeClr val="tx1"/>
                </a:solidFill>
                <a:effectLst/>
                <a:latin typeface="+mn-lt"/>
                <a:ea typeface="+mn-ea"/>
                <a:cs typeface="+mn-cs"/>
              </a:rPr>
              <a:t>- example-language = .NET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Retrieve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In a different thread, ask:</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“Show me how to implement retries when processing messages from a queue.”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Expected: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The new thread retrieves both durable preferences.</a:t>
            </a:r>
          </a:p>
          <a:p>
            <a:r>
              <a:rPr lang="en-CA" sz="1200" b="0" kern="1200" dirty="0">
                <a:solidFill>
                  <a:schemeClr val="tx1"/>
                </a:solidFill>
                <a:effectLst/>
                <a:latin typeface="+mn-lt"/>
                <a:ea typeface="+mn-ea"/>
                <a:cs typeface="+mn-cs"/>
              </a:rPr>
              <a:t>- The answer is concise and uses a small .NET example.</a:t>
            </a:r>
          </a:p>
          <a:p>
            <a:r>
              <a:rPr lang="en-CA" sz="1200" b="0" kern="1200" dirty="0">
                <a:solidFill>
                  <a:schemeClr val="tx1"/>
                </a:solidFill>
                <a:effectLst/>
                <a:latin typeface="+mn-lt"/>
                <a:ea typeface="+mn-ea"/>
                <a:cs typeface="+mn-cs"/>
              </a:rPr>
              <a:t>- Vector distances are visible.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Govern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Send: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“Going forward, give me detailed explanations rather than concise ones. Keep</a:t>
            </a:r>
          </a:p>
          <a:p>
            <a:r>
              <a:rPr lang="en-CA" sz="1200" b="0" kern="1200" dirty="0">
                <a:solidFill>
                  <a:schemeClr val="tx1"/>
                </a:solidFill>
                <a:effectLst/>
                <a:latin typeface="+mn-lt"/>
                <a:ea typeface="+mn-ea"/>
                <a:cs typeface="+mn-cs"/>
              </a:rPr>
              <a:t>using .NET examples.”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Then distill.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Expected: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answer-style = detailed becomes active.</a:t>
            </a:r>
          </a:p>
          <a:p>
            <a:r>
              <a:rPr lang="en-CA" sz="1200" b="0" kern="1200" dirty="0">
                <a:solidFill>
                  <a:schemeClr val="tx1"/>
                </a:solidFill>
                <a:effectLst/>
                <a:latin typeface="+mn-lt"/>
                <a:ea typeface="+mn-ea"/>
                <a:cs typeface="+mn-cs"/>
              </a:rPr>
              <a:t>- answer-style = concise moves to history.</a:t>
            </a:r>
          </a:p>
          <a:p>
            <a:r>
              <a:rPr lang="en-CA" sz="1200" b="0" kern="1200" dirty="0">
                <a:solidFill>
                  <a:schemeClr val="tx1"/>
                </a:solidFill>
                <a:effectLst/>
                <a:latin typeface="+mn-lt"/>
                <a:ea typeface="+mn-ea"/>
                <a:cs typeface="+mn-cs"/>
              </a:rPr>
              <a:t>- example-language = .NET remains active.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Show three data columns: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Recent turns</a:t>
            </a:r>
          </a:p>
          <a:p>
            <a:r>
              <a:rPr lang="en-CA" sz="1200" b="0" kern="1200" dirty="0">
                <a:solidFill>
                  <a:schemeClr val="tx1"/>
                </a:solidFill>
                <a:effectLst/>
                <a:latin typeface="+mn-lt"/>
                <a:ea typeface="+mn-ea"/>
                <a:cs typeface="+mn-cs"/>
              </a:rPr>
              <a:t>- Current/active memories</a:t>
            </a:r>
          </a:p>
          <a:p>
            <a:r>
              <a:rPr lang="en-CA" sz="1200" b="0" kern="1200" dirty="0">
                <a:solidFill>
                  <a:schemeClr val="tx1"/>
                </a:solidFill>
                <a:effectLst/>
                <a:latin typeface="+mn-lt"/>
                <a:ea typeface="+mn-ea"/>
                <a:cs typeface="+mn-cs"/>
              </a:rPr>
              <a:t>- Superseded history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Live chat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separate freeform chat view with:</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Text composer</a:t>
            </a:r>
          </a:p>
          <a:p>
            <a:r>
              <a:rPr lang="en-CA" sz="1200" b="0" kern="1200" dirty="0">
                <a:solidFill>
                  <a:schemeClr val="tx1"/>
                </a:solidFill>
                <a:effectLst/>
                <a:latin typeface="+mn-lt"/>
                <a:ea typeface="+mn-ea"/>
                <a:cs typeface="+mn-cs"/>
              </a:rPr>
              <a:t>- Send button</a:t>
            </a:r>
          </a:p>
          <a:p>
            <a:r>
              <a:rPr lang="en-CA" sz="1200" b="0" kern="1200" dirty="0">
                <a:solidFill>
                  <a:schemeClr val="tx1"/>
                </a:solidFill>
                <a:effectLst/>
                <a:latin typeface="+mn-lt"/>
                <a:ea typeface="+mn-ea"/>
                <a:cs typeface="+mn-cs"/>
              </a:rPr>
              <a:t>- Optional automatic distillation checkbox</a:t>
            </a:r>
          </a:p>
          <a:p>
            <a:r>
              <a:rPr lang="en-CA" sz="1200" b="0" kern="1200" dirty="0">
                <a:solidFill>
                  <a:schemeClr val="tx1"/>
                </a:solidFill>
                <a:effectLst/>
                <a:latin typeface="+mn-lt"/>
                <a:ea typeface="+mn-ea"/>
                <a:cs typeface="+mn-cs"/>
              </a:rPr>
              <a:t>- Distill now button</a:t>
            </a:r>
          </a:p>
          <a:p>
            <a:r>
              <a:rPr lang="en-CA" sz="1200" b="0" kern="1200" dirty="0">
                <a:solidFill>
                  <a:schemeClr val="tx1"/>
                </a:solidFill>
                <a:effectLst/>
                <a:latin typeface="+mn-lt"/>
                <a:ea typeface="+mn-ea"/>
                <a:cs typeface="+mn-cs"/>
              </a:rPr>
              <a:t>- Suggested-message helper buttons</a:t>
            </a:r>
          </a:p>
          <a:p>
            <a:r>
              <a:rPr lang="en-CA" sz="1200" b="0" kern="1200" dirty="0">
                <a:solidFill>
                  <a:schemeClr val="tx1"/>
                </a:solidFill>
                <a:effectLst/>
                <a:latin typeface="+mn-lt"/>
                <a:ea typeface="+mn-ea"/>
                <a:cs typeface="+mn-cs"/>
              </a:rPr>
              <a:t>- Thread tabs</a:t>
            </a:r>
          </a:p>
          <a:p>
            <a:r>
              <a:rPr lang="en-CA" sz="1200" b="0" kern="1200" dirty="0">
                <a:solidFill>
                  <a:schemeClr val="tx1"/>
                </a:solidFill>
                <a:effectLst/>
                <a:latin typeface="+mn-lt"/>
                <a:ea typeface="+mn-ea"/>
                <a:cs typeface="+mn-cs"/>
              </a:rPr>
              <a:t>- + New thread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Each tab maps to an actual </a:t>
            </a:r>
            <a:r>
              <a:rPr lang="en-CA" sz="1200" b="0" kern="1200" dirty="0" err="1">
                <a:solidFill>
                  <a:schemeClr val="tx1"/>
                </a:solidFill>
                <a:effectLst/>
                <a:latin typeface="+mn-lt"/>
                <a:ea typeface="+mn-ea"/>
                <a:cs typeface="+mn-cs"/>
              </a:rPr>
              <a:t>threadId</a:t>
            </a:r>
            <a:r>
              <a:rPr lang="en-CA" sz="1200" b="0" kern="1200" dirty="0">
                <a:solidFill>
                  <a:schemeClr val="tx1"/>
                </a:solidFill>
                <a:effectLst/>
                <a:latin typeface="+mn-lt"/>
                <a:ea typeface="+mn-ea"/>
                <a:cs typeface="+mn-cs"/>
              </a:rPr>
              <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Switching tabs must: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Reconstruct only that thread’s raw turns.</a:t>
            </a:r>
          </a:p>
          <a:p>
            <a:r>
              <a:rPr lang="en-CA" sz="1200" b="0" kern="1200" dirty="0">
                <a:solidFill>
                  <a:schemeClr val="tx1"/>
                </a:solidFill>
                <a:effectLst/>
                <a:latin typeface="+mn-lt"/>
                <a:ea typeface="+mn-ea"/>
                <a:cs typeface="+mn-cs"/>
              </a:rPr>
              <a:t>- Keep user-scoped active facts visible across all tabs.</a:t>
            </a:r>
          </a:p>
          <a:p>
            <a:r>
              <a:rPr lang="en-CA" sz="1200" b="0" kern="1200" dirty="0">
                <a:solidFill>
                  <a:schemeClr val="tx1"/>
                </a:solidFill>
                <a:effectLst/>
                <a:latin typeface="+mn-lt"/>
                <a:ea typeface="+mn-ea"/>
                <a:cs typeface="+mn-cs"/>
              </a:rPr>
              <a:t>- Keep superseded history visible.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Suggested prompts: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“I live in Toronto and I love Thai food.”</a:t>
            </a:r>
          </a:p>
          <a:p>
            <a:r>
              <a:rPr lang="en-CA" sz="1200" b="0" kern="1200" dirty="0">
                <a:solidFill>
                  <a:schemeClr val="tx1"/>
                </a:solidFill>
                <a:effectLst/>
                <a:latin typeface="+mn-lt"/>
                <a:ea typeface="+mn-ea"/>
                <a:cs typeface="+mn-cs"/>
              </a:rPr>
              <a:t>- “Can you recommend a restaurant for dinner?”</a:t>
            </a:r>
          </a:p>
          <a:p>
            <a:r>
              <a:rPr lang="en-CA" sz="1200" b="0" kern="1200" dirty="0">
                <a:solidFill>
                  <a:schemeClr val="tx1"/>
                </a:solidFill>
                <a:effectLst/>
                <a:latin typeface="+mn-lt"/>
                <a:ea typeface="+mn-ea"/>
                <a:cs typeface="+mn-cs"/>
              </a:rPr>
              <a:t>- “I am moving to Vancouver. Use that as my home location going forward.”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Show a clear distillation status: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Created facts</a:t>
            </a:r>
          </a:p>
          <a:p>
            <a:r>
              <a:rPr lang="en-CA" sz="1200" b="0" kern="1200" dirty="0">
                <a:solidFill>
                  <a:schemeClr val="tx1"/>
                </a:solidFill>
                <a:effectLst/>
                <a:latin typeface="+mn-lt"/>
                <a:ea typeface="+mn-ea"/>
                <a:cs typeface="+mn-cs"/>
              </a:rPr>
              <a:t>- Superseded facts</a:t>
            </a:r>
          </a:p>
          <a:p>
            <a:r>
              <a:rPr lang="en-CA" sz="1200" b="0" kern="1200" dirty="0">
                <a:solidFill>
                  <a:schemeClr val="tx1"/>
                </a:solidFill>
                <a:effectLst/>
                <a:latin typeface="+mn-lt"/>
                <a:ea typeface="+mn-ea"/>
                <a:cs typeface="+mn-cs"/>
              </a:rPr>
              <a:t>- No eligible memories</a:t>
            </a:r>
          </a:p>
          <a:p>
            <a:r>
              <a:rPr lang="en-CA" sz="1200" b="0" kern="1200" dirty="0">
                <a:solidFill>
                  <a:schemeClr val="tx1"/>
                </a:solidFill>
                <a:effectLst/>
                <a:latin typeface="+mn-lt"/>
                <a:ea typeface="+mn-ea"/>
                <a:cs typeface="+mn-cs"/>
              </a:rPr>
              <a:t>- Distillation skipped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conversation and thread tabs must survive browser refresh because their data</a:t>
            </a:r>
          </a:p>
          <a:p>
            <a:r>
              <a:rPr lang="en-CA" sz="1200" b="0" kern="1200" dirty="0">
                <a:solidFill>
                  <a:schemeClr val="tx1"/>
                </a:solidFill>
                <a:effectLst/>
                <a:latin typeface="+mn-lt"/>
                <a:ea typeface="+mn-ea"/>
                <a:cs typeface="+mn-cs"/>
              </a:rPr>
              <a:t>is reconstructed from Cosmos DB.</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Memory concepts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simple visual comparison of:</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Short-term memory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Raw turns</a:t>
            </a:r>
          </a:p>
          <a:p>
            <a:r>
              <a:rPr lang="en-CA" sz="1200" b="0" kern="1200" dirty="0">
                <a:solidFill>
                  <a:schemeClr val="tx1"/>
                </a:solidFill>
                <a:effectLst/>
                <a:latin typeface="+mn-lt"/>
                <a:ea typeface="+mn-ea"/>
                <a:cs typeface="+mn-cs"/>
              </a:rPr>
              <a:t>- User + thread scope</a:t>
            </a:r>
          </a:p>
          <a:p>
            <a:r>
              <a:rPr lang="en-CA" sz="1200" b="0" kern="1200" dirty="0">
                <a:solidFill>
                  <a:schemeClr val="tx1"/>
                </a:solidFill>
                <a:effectLst/>
                <a:latin typeface="+mn-lt"/>
                <a:ea typeface="+mn-ea"/>
                <a:cs typeface="+mn-cs"/>
              </a:rPr>
              <a:t>- 30-day TTL</a:t>
            </a:r>
          </a:p>
          <a:p>
            <a:r>
              <a:rPr lang="en-CA" sz="1200" b="0" kern="1200" dirty="0">
                <a:solidFill>
                  <a:schemeClr val="tx1"/>
                </a:solidFill>
                <a:effectLst/>
                <a:latin typeface="+mn-lt"/>
                <a:ea typeface="+mn-ea"/>
                <a:cs typeface="+mn-cs"/>
              </a:rPr>
              <a:t>- Recent ordered retrieval</a:t>
            </a:r>
          </a:p>
          <a:p>
            <a:r>
              <a:rPr lang="en-CA" sz="1200" b="0" kern="1200" dirty="0">
                <a:solidFill>
                  <a:schemeClr val="tx1"/>
                </a:solidFill>
                <a:effectLst/>
                <a:latin typeface="+mn-lt"/>
                <a:ea typeface="+mn-ea"/>
                <a:cs typeface="+mn-cs"/>
              </a:rPr>
              <a:t>- Conversation continuity and source evidence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Long-term memory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Derived facts</a:t>
            </a:r>
          </a:p>
          <a:p>
            <a:r>
              <a:rPr lang="en-CA" sz="1200" b="0" kern="1200" dirty="0">
                <a:solidFill>
                  <a:schemeClr val="tx1"/>
                </a:solidFill>
                <a:effectLst/>
                <a:latin typeface="+mn-lt"/>
                <a:ea typeface="+mn-ea"/>
                <a:cs typeface="+mn-cs"/>
              </a:rPr>
              <a:t>- User scope across threads</a:t>
            </a:r>
          </a:p>
          <a:p>
            <a:r>
              <a:rPr lang="en-CA" sz="1200" b="0" kern="1200" dirty="0">
                <a:solidFill>
                  <a:schemeClr val="tx1"/>
                </a:solidFill>
                <a:effectLst/>
                <a:latin typeface="+mn-lt"/>
                <a:ea typeface="+mn-ea"/>
                <a:cs typeface="+mn-cs"/>
              </a:rPr>
              <a:t>- Confidence and provenance</a:t>
            </a:r>
          </a:p>
          <a:p>
            <a:r>
              <a:rPr lang="en-CA" sz="1200" b="0" kern="1200" dirty="0">
                <a:solidFill>
                  <a:schemeClr val="tx1"/>
                </a:solidFill>
                <a:effectLst/>
                <a:latin typeface="+mn-lt"/>
                <a:ea typeface="+mn-ea"/>
                <a:cs typeface="+mn-cs"/>
              </a:rPr>
              <a:t>- Vector retrieval</a:t>
            </a:r>
          </a:p>
          <a:p>
            <a:r>
              <a:rPr lang="en-CA" sz="1200" b="0" kern="1200" dirty="0">
                <a:solidFill>
                  <a:schemeClr val="tx1"/>
                </a:solidFill>
                <a:effectLst/>
                <a:latin typeface="+mn-lt"/>
                <a:ea typeface="+mn-ea"/>
                <a:cs typeface="+mn-cs"/>
              </a:rPr>
              <a:t>- Supersession and lifecycle governance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Explain that lifetime/scope and representation are separate design axes.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 summary is one possible long-term artifact, not the only one. Facts, profiles,</a:t>
            </a:r>
          </a:p>
          <a:p>
            <a:r>
              <a:rPr lang="en-CA" sz="1200" b="0" kern="1200" dirty="0">
                <a:solidFill>
                  <a:schemeClr val="tx1"/>
                </a:solidFill>
                <a:effectLst/>
                <a:latin typeface="+mn-lt"/>
                <a:ea typeface="+mn-ea"/>
                <a:cs typeface="+mn-cs"/>
              </a:rPr>
              <a:t>procedures, and episodes have different jobs.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Optional code browser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Keep an optional </a:t>
            </a:r>
            <a:r>
              <a:rPr lang="en-CA" sz="1200" b="0" kern="1200" dirty="0" err="1">
                <a:solidFill>
                  <a:schemeClr val="tx1"/>
                </a:solidFill>
                <a:effectLst/>
                <a:latin typeface="+mn-lt"/>
                <a:ea typeface="+mn-ea"/>
                <a:cs typeface="+mn-cs"/>
              </a:rPr>
              <a:t>hideable</a:t>
            </a:r>
            <a:r>
              <a:rPr lang="en-CA" sz="1200" b="0" kern="1200" dirty="0">
                <a:solidFill>
                  <a:schemeClr val="tx1"/>
                </a:solidFill>
                <a:effectLst/>
                <a:latin typeface="+mn-lt"/>
                <a:ea typeface="+mn-ea"/>
                <a:cs typeface="+mn-cs"/>
              </a:rPr>
              <a:t> code browser beside Guided demo and Live chat.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It may show curated explanatory snippets for: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C# logic</a:t>
            </a:r>
          </a:p>
          <a:p>
            <a:r>
              <a:rPr lang="en-CA" sz="1200" b="0" kern="1200" dirty="0">
                <a:solidFill>
                  <a:schemeClr val="tx1"/>
                </a:solidFill>
                <a:effectLst/>
                <a:latin typeface="+mn-lt"/>
                <a:ea typeface="+mn-ea"/>
                <a:cs typeface="+mn-cs"/>
              </a:rPr>
              <a:t>- Cosmos DB query/write shapes</a:t>
            </a:r>
          </a:p>
          <a:p>
            <a:r>
              <a:rPr lang="en-CA" sz="1200" b="0" kern="1200" dirty="0">
                <a:solidFill>
                  <a:schemeClr val="tx1"/>
                </a:solidFill>
                <a:effectLst/>
                <a:latin typeface="+mn-lt"/>
                <a:ea typeface="+mn-ea"/>
                <a:cs typeface="+mn-cs"/>
              </a:rPr>
              <a:t>- Live response and persisted state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Label it honestly as curated implementation guidance. Do not imply that copied</a:t>
            </a:r>
          </a:p>
          <a:p>
            <a:r>
              <a:rPr lang="en-CA" sz="1200" b="0" kern="1200" dirty="0">
                <a:solidFill>
                  <a:schemeClr val="tx1"/>
                </a:solidFill>
                <a:effectLst/>
                <a:latin typeface="+mn-lt"/>
                <a:ea typeface="+mn-ea"/>
                <a:cs typeface="+mn-cs"/>
              </a:rPr>
              <a:t>snippets are dynamically read from repository source files.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separate Operations route is the primary proof of what actually executed.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Operations route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separate page: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/operations.html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main app should open it in a new browser tab.</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a:t>
            </a:r>
            <a:r>
              <a:rPr lang="en-CA" sz="1200" b="0" kern="1200" dirty="0" err="1">
                <a:solidFill>
                  <a:schemeClr val="tx1"/>
                </a:solidFill>
                <a:effectLst/>
                <a:latin typeface="+mn-lt"/>
                <a:ea typeface="+mn-ea"/>
                <a:cs typeface="+mn-cs"/>
              </a:rPr>
              <a:t>localStorage</a:t>
            </a:r>
            <a:r>
              <a:rPr lang="en-CA" sz="1200" b="0" kern="1200" dirty="0">
                <a:solidFill>
                  <a:schemeClr val="tx1"/>
                </a:solidFill>
                <a:effectLst/>
                <a:latin typeface="+mn-lt"/>
                <a:ea typeface="+mn-ea"/>
                <a:cs typeface="+mn-cs"/>
              </a:rPr>
              <a:t> and the browser storage event so the route: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Immediately loads the latest completed trace.</a:t>
            </a:r>
          </a:p>
          <a:p>
            <a:r>
              <a:rPr lang="en-CA" sz="1200" b="0" kern="1200" dirty="0">
                <a:solidFill>
                  <a:schemeClr val="tx1"/>
                </a:solidFill>
                <a:effectLst/>
                <a:latin typeface="+mn-lt"/>
                <a:ea typeface="+mn-ea"/>
                <a:cs typeface="+mn-cs"/>
              </a:rPr>
              <a:t>- Updates automatically when another request completes in the main tab.</a:t>
            </a:r>
          </a:p>
          <a:p>
            <a:r>
              <a:rPr lang="en-CA" sz="1200" b="0" kern="1200" dirty="0">
                <a:solidFill>
                  <a:schemeClr val="tx1"/>
                </a:solidFill>
                <a:effectLst/>
                <a:latin typeface="+mn-lt"/>
                <a:ea typeface="+mn-ea"/>
                <a:cs typeface="+mn-cs"/>
              </a:rPr>
              <a:t>- Survives navigation and refresh.</a:t>
            </a:r>
          </a:p>
          <a:p>
            <a:r>
              <a:rPr lang="en-CA" sz="1200" b="0" kern="1200" dirty="0">
                <a:solidFill>
                  <a:schemeClr val="tx1"/>
                </a:solidFill>
                <a:effectLst/>
                <a:latin typeface="+mn-lt"/>
                <a:ea typeface="+mn-ea"/>
                <a:cs typeface="+mn-cs"/>
              </a:rPr>
              <a:t>- Can remain open beside the demo during a presentation.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Add: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Back to demo</a:t>
            </a:r>
          </a:p>
          <a:p>
            <a:r>
              <a:rPr lang="en-CA" sz="1200" b="0" kern="1200" dirty="0">
                <a:solidFill>
                  <a:schemeClr val="tx1"/>
                </a:solidFill>
                <a:effectLst/>
                <a:latin typeface="+mn-lt"/>
                <a:ea typeface="+mn-ea"/>
                <a:cs typeface="+mn-cs"/>
              </a:rPr>
              <a:t>- Clear trace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Clear trace must clear only the displayed/stored trace. It must not reset Cosmos</a:t>
            </a:r>
          </a:p>
          <a:p>
            <a:r>
              <a:rPr lang="en-CA" sz="1200" b="0" kern="1200" dirty="0">
                <a:solidFill>
                  <a:schemeClr val="tx1"/>
                </a:solidFill>
                <a:effectLst/>
                <a:latin typeface="+mn-lt"/>
                <a:ea typeface="+mn-ea"/>
                <a:cs typeface="+mn-cs"/>
              </a:rPr>
              <a:t>DB data or conversations.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Use large, presentation-readable typography.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Actual execution tracing</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Instrument actual server-side service and SDK calls. Do not fabricate a client-side</a:t>
            </a:r>
          </a:p>
          <a:p>
            <a:r>
              <a:rPr lang="en-CA" sz="1200" b="0" kern="1200" dirty="0">
                <a:solidFill>
                  <a:schemeClr val="tx1"/>
                </a:solidFill>
                <a:effectLst/>
                <a:latin typeface="+mn-lt"/>
                <a:ea typeface="+mn-ea"/>
                <a:cs typeface="+mn-cs"/>
              </a:rPr>
              <a:t>timeline.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Every trace event should include: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Sequence</a:t>
            </a:r>
          </a:p>
          <a:p>
            <a:r>
              <a:rPr lang="en-CA" sz="1200" b="0" kern="1200" dirty="0">
                <a:solidFill>
                  <a:schemeClr val="tx1"/>
                </a:solidFill>
                <a:effectLst/>
                <a:latin typeface="+mn-lt"/>
                <a:ea typeface="+mn-ea"/>
                <a:cs typeface="+mn-cs"/>
              </a:rPr>
              <a:t>- Relative start offset in milliseconds</a:t>
            </a:r>
          </a:p>
          <a:p>
            <a:r>
              <a:rPr lang="en-CA" sz="1200" b="0" kern="1200" dirty="0">
                <a:solidFill>
                  <a:schemeClr val="tx1"/>
                </a:solidFill>
                <a:effectLst/>
                <a:latin typeface="+mn-lt"/>
                <a:ea typeface="+mn-ea"/>
                <a:cs typeface="+mn-cs"/>
              </a:rPr>
              <a:t>- Duration in milliseconds</a:t>
            </a:r>
          </a:p>
          <a:p>
            <a:r>
              <a:rPr lang="en-CA" sz="1200" b="0" kern="1200" dirty="0">
                <a:solidFill>
                  <a:schemeClr val="tx1"/>
                </a:solidFill>
                <a:effectLst/>
                <a:latin typeface="+mn-lt"/>
                <a:ea typeface="+mn-ea"/>
                <a:cs typeface="+mn-cs"/>
              </a:rPr>
              <a:t>- Category: cosmos or model</a:t>
            </a:r>
          </a:p>
          <a:p>
            <a:r>
              <a:rPr lang="en-CA" sz="1200" b="0" kern="1200" dirty="0">
                <a:solidFill>
                  <a:schemeClr val="tx1"/>
                </a:solidFill>
                <a:effectLst/>
                <a:latin typeface="+mn-lt"/>
                <a:ea typeface="+mn-ea"/>
                <a:cs typeface="+mn-cs"/>
              </a:rPr>
              <a:t>- Operation name</a:t>
            </a:r>
          </a:p>
          <a:p>
            <a:r>
              <a:rPr lang="en-CA" sz="1200" b="0" kern="1200" dirty="0">
                <a:solidFill>
                  <a:schemeClr val="tx1"/>
                </a:solidFill>
                <a:effectLst/>
                <a:latin typeface="+mn-lt"/>
                <a:ea typeface="+mn-ea"/>
                <a:cs typeface="+mn-cs"/>
              </a:rPr>
              <a:t>- Target</a:t>
            </a:r>
          </a:p>
          <a:p>
            <a:r>
              <a:rPr lang="en-CA" sz="1200" b="0" kern="1200" dirty="0">
                <a:solidFill>
                  <a:schemeClr val="tx1"/>
                </a:solidFill>
                <a:effectLst/>
                <a:latin typeface="+mn-lt"/>
                <a:ea typeface="+mn-ea"/>
                <a:cs typeface="+mn-cs"/>
              </a:rPr>
              <a:t>- Sanitized request</a:t>
            </a:r>
          </a:p>
          <a:p>
            <a:r>
              <a:rPr lang="en-CA" sz="1200" b="0" kern="1200" dirty="0">
                <a:solidFill>
                  <a:schemeClr val="tx1"/>
                </a:solidFill>
                <a:effectLst/>
                <a:latin typeface="+mn-lt"/>
                <a:ea typeface="+mn-ea"/>
                <a:cs typeface="+mn-cs"/>
              </a:rPr>
              <a:t>- Concise result summary</a:t>
            </a:r>
          </a:p>
          <a:p>
            <a:r>
              <a:rPr lang="en-CA" sz="1200" b="0" kern="1200" dirty="0">
                <a:solidFill>
                  <a:schemeClr val="tx1"/>
                </a:solidFill>
                <a:effectLst/>
                <a:latin typeface="+mn-lt"/>
                <a:ea typeface="+mn-ea"/>
                <a:cs typeface="+mn-cs"/>
              </a:rPr>
              <a:t>- Success or failure status</a:t>
            </a:r>
          </a:p>
          <a:p>
            <a:r>
              <a:rPr lang="en-CA" sz="1200" b="0" kern="1200" dirty="0">
                <a:solidFill>
                  <a:schemeClr val="tx1"/>
                </a:solidFill>
                <a:effectLst/>
                <a:latin typeface="+mn-lt"/>
                <a:ea typeface="+mn-ea"/>
                <a:cs typeface="+mn-cs"/>
              </a:rPr>
              <a:t>- Optional sanitized result details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Trace operations such as: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GetRecentTurnsAsync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GetThreadTurnsAsync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GetActiveMemoriesAsync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GenerateEmbeddingAsync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SearchMemoriesAsync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CompleteChatAsync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CreateItemAsync</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ReplaceItemAsync</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Cosmos operations, include where available: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Query text</a:t>
            </a:r>
          </a:p>
          <a:p>
            <a:r>
              <a:rPr lang="en-CA" sz="1200" b="0" kern="1200" dirty="0">
                <a:solidFill>
                  <a:schemeClr val="tx1"/>
                </a:solidFill>
                <a:effectLst/>
                <a:latin typeface="+mn-lt"/>
                <a:ea typeface="+mn-ea"/>
                <a:cs typeface="+mn-cs"/>
              </a:rPr>
              <a:t>- Sanitized parameters</a:t>
            </a:r>
          </a:p>
          <a:p>
            <a:r>
              <a:rPr lang="en-CA" sz="1200" b="0" kern="1200" dirty="0">
                <a:solidFill>
                  <a:schemeClr val="tx1"/>
                </a:solidFill>
                <a:effectLst/>
                <a:latin typeface="+mn-lt"/>
                <a:ea typeface="+mn-ea"/>
                <a:cs typeface="+mn-cs"/>
              </a:rPr>
              <a:t>- Partition key</a:t>
            </a:r>
          </a:p>
          <a:p>
            <a:r>
              <a:rPr lang="en-CA" sz="1200" b="0" kern="1200" dirty="0">
                <a:solidFill>
                  <a:schemeClr val="tx1"/>
                </a:solidFill>
                <a:effectLst/>
                <a:latin typeface="+mn-lt"/>
                <a:ea typeface="+mn-ea"/>
                <a:cs typeface="+mn-cs"/>
              </a:rPr>
              <a:t>- Returned document count</a:t>
            </a:r>
          </a:p>
          <a:p>
            <a:r>
              <a:rPr lang="en-CA" sz="1200" b="0" kern="1200" dirty="0">
                <a:solidFill>
                  <a:schemeClr val="tx1"/>
                </a:solidFill>
                <a:effectLst/>
                <a:latin typeface="+mn-lt"/>
                <a:ea typeface="+mn-ea"/>
                <a:cs typeface="+mn-cs"/>
              </a:rPr>
              <a:t>- HTTP status</a:t>
            </a:r>
          </a:p>
          <a:p>
            <a:r>
              <a:rPr lang="en-CA" sz="1200" b="0" kern="1200" dirty="0">
                <a:solidFill>
                  <a:schemeClr val="tx1"/>
                </a:solidFill>
                <a:effectLst/>
                <a:latin typeface="+mn-lt"/>
                <a:ea typeface="+mn-ea"/>
                <a:cs typeface="+mn-cs"/>
              </a:rPr>
              <a:t>- Request charge in RUs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a:t>
            </a:r>
            <a:r>
              <a:rPr lang="en-CA" sz="1200" b="0" kern="1200" dirty="0" err="1">
                <a:solidFill>
                  <a:schemeClr val="tx1"/>
                </a:solidFill>
                <a:effectLst/>
                <a:latin typeface="+mn-lt"/>
                <a:ea typeface="+mn-ea"/>
                <a:cs typeface="+mn-cs"/>
              </a:rPr>
              <a:t>GenerateEmbeddingAsync</a:t>
            </a:r>
            <a:r>
              <a:rPr lang="en-CA" sz="1200" b="0" kern="1200" dirty="0">
                <a:solidFill>
                  <a:schemeClr val="tx1"/>
                </a:solidFill>
                <a:effectLst/>
                <a:latin typeface="+mn-lt"/>
                <a:ea typeface="+mn-ea"/>
                <a:cs typeface="+mn-cs"/>
              </a:rPr>
              <a:t>, show:</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Deployment name</a:t>
            </a:r>
          </a:p>
          <a:p>
            <a:r>
              <a:rPr lang="en-CA" sz="1200" b="0" kern="1200" dirty="0">
                <a:solidFill>
                  <a:schemeClr val="tx1"/>
                </a:solidFill>
                <a:effectLst/>
                <a:latin typeface="+mn-lt"/>
                <a:ea typeface="+mn-ea"/>
                <a:cs typeface="+mn-cs"/>
              </a:rPr>
              <a:t>- Actual input text</a:t>
            </a:r>
          </a:p>
          <a:p>
            <a:r>
              <a:rPr lang="en-CA" sz="1200" b="0" kern="1200" dirty="0">
                <a:solidFill>
                  <a:schemeClr val="tx1"/>
                </a:solidFill>
                <a:effectLst/>
                <a:latin typeface="+mn-lt"/>
                <a:ea typeface="+mn-ea"/>
                <a:cs typeface="+mn-cs"/>
              </a:rPr>
              <a:t>- Returned vector dimension count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Do not show the generated embedding array.</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model completion, summarize message count and relevant generation settings.</a:t>
            </a:r>
          </a:p>
          <a:p>
            <a:r>
              <a:rPr lang="en-CA" sz="1200" b="0" kern="1200" dirty="0">
                <a:solidFill>
                  <a:schemeClr val="tx1"/>
                </a:solidFill>
                <a:effectLst/>
                <a:latin typeface="+mn-lt"/>
                <a:ea typeface="+mn-ea"/>
                <a:cs typeface="+mn-cs"/>
              </a:rPr>
              <a:t>Do not expose credentials, access tokens, or hidden system configuration.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Expandable actual results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When an operation returns useful records, show a collapsed:</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“Show actual results”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disclosure.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a:t>
            </a:r>
            <a:r>
              <a:rPr lang="en-CA" sz="1200" b="0" kern="1200" dirty="0" err="1">
                <a:solidFill>
                  <a:schemeClr val="tx1"/>
                </a:solidFill>
                <a:effectLst/>
                <a:latin typeface="+mn-lt"/>
                <a:ea typeface="+mn-ea"/>
                <a:cs typeface="+mn-cs"/>
              </a:rPr>
              <a:t>SearchMemoriesAsync</a:t>
            </a:r>
            <a:r>
              <a:rPr lang="en-CA" sz="1200" b="0" kern="1200" dirty="0">
                <a:solidFill>
                  <a:schemeClr val="tx1"/>
                </a:solidFill>
                <a:effectLst/>
                <a:latin typeface="+mn-lt"/>
                <a:ea typeface="+mn-ea"/>
                <a:cs typeface="+mn-cs"/>
              </a:rPr>
              <a:t> include: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id</a:t>
            </a:r>
          </a:p>
          <a:p>
            <a:r>
              <a:rPr lang="en-CA" sz="1200" b="0" kern="1200" dirty="0">
                <a:solidFill>
                  <a:schemeClr val="tx1"/>
                </a:solidFill>
                <a:effectLst/>
                <a:latin typeface="+mn-lt"/>
                <a:ea typeface="+mn-ea"/>
                <a:cs typeface="+mn-cs"/>
              </a:rPr>
              <a:t>- key</a:t>
            </a:r>
          </a:p>
          <a:p>
            <a:r>
              <a:rPr lang="en-CA" sz="1200" b="0" kern="1200" dirty="0">
                <a:solidFill>
                  <a:schemeClr val="tx1"/>
                </a:solidFill>
                <a:effectLst/>
                <a:latin typeface="+mn-lt"/>
                <a:ea typeface="+mn-ea"/>
                <a:cs typeface="+mn-cs"/>
              </a:rPr>
              <a:t>- value</a:t>
            </a:r>
          </a:p>
          <a:p>
            <a:r>
              <a:rPr lang="en-CA" sz="1200" b="0" kern="1200" dirty="0">
                <a:solidFill>
                  <a:schemeClr val="tx1"/>
                </a:solidFill>
                <a:effectLst/>
                <a:latin typeface="+mn-lt"/>
                <a:ea typeface="+mn-ea"/>
                <a:cs typeface="+mn-cs"/>
              </a:rPr>
              <a:t>- content</a:t>
            </a:r>
          </a:p>
          <a:p>
            <a:r>
              <a:rPr lang="en-CA" sz="1200" b="0" kern="1200" dirty="0">
                <a:solidFill>
                  <a:schemeClr val="tx1"/>
                </a:solidFill>
                <a:effectLst/>
                <a:latin typeface="+mn-lt"/>
                <a:ea typeface="+mn-ea"/>
                <a:cs typeface="+mn-cs"/>
              </a:rPr>
              <a:t>- confidence</a:t>
            </a:r>
          </a:p>
          <a:p>
            <a:r>
              <a:rPr lang="en-CA" sz="1200" b="0" kern="1200" dirty="0">
                <a:solidFill>
                  <a:schemeClr val="tx1"/>
                </a:solidFill>
                <a:effectLst/>
                <a:latin typeface="+mn-lt"/>
                <a:ea typeface="+mn-ea"/>
                <a:cs typeface="+mn-cs"/>
              </a:rPr>
              <a:t>- distance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a:t>
            </a:r>
            <a:r>
              <a:rPr lang="en-CA" sz="1200" b="0" kern="1200" dirty="0" err="1">
                <a:solidFill>
                  <a:schemeClr val="tx1"/>
                </a:solidFill>
                <a:effectLst/>
                <a:latin typeface="+mn-lt"/>
                <a:ea typeface="+mn-ea"/>
                <a:cs typeface="+mn-cs"/>
              </a:rPr>
              <a:t>GetRecentTurnsAsync</a:t>
            </a:r>
            <a:r>
              <a:rPr lang="en-CA" sz="1200" b="0" kern="1200" dirty="0">
                <a:solidFill>
                  <a:schemeClr val="tx1"/>
                </a:solidFill>
                <a:effectLst/>
                <a:latin typeface="+mn-lt"/>
                <a:ea typeface="+mn-ea"/>
                <a:cs typeface="+mn-cs"/>
              </a:rPr>
              <a:t> include: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id</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userId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threadId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role</a:t>
            </a:r>
          </a:p>
          <a:p>
            <a:r>
              <a:rPr lang="en-CA" sz="1200" b="0" kern="1200" dirty="0">
                <a:solidFill>
                  <a:schemeClr val="tx1"/>
                </a:solidFill>
                <a:effectLst/>
                <a:latin typeface="+mn-lt"/>
                <a:ea typeface="+mn-ea"/>
                <a:cs typeface="+mn-cs"/>
              </a:rPr>
              <a:t>- content</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createdAt</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active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ttl</a:t>
            </a:r>
            <a:endParaRPr lang="en-CA" sz="1200" b="0" kern="1200" dirty="0">
              <a:solidFill>
                <a:schemeClr val="tx1"/>
              </a:solidFill>
              <a:effectLst/>
              <a:latin typeface="+mn-lt"/>
              <a:ea typeface="+mn-ea"/>
              <a:cs typeface="+mn-cs"/>
            </a:endParaRP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For </a:t>
            </a:r>
            <a:r>
              <a:rPr lang="en-CA" sz="1200" b="0" kern="1200" dirty="0" err="1">
                <a:solidFill>
                  <a:schemeClr val="tx1"/>
                </a:solidFill>
                <a:effectLst/>
                <a:latin typeface="+mn-lt"/>
                <a:ea typeface="+mn-ea"/>
                <a:cs typeface="+mn-cs"/>
              </a:rPr>
              <a:t>GetActiveMemoriesAsync</a:t>
            </a:r>
            <a:r>
              <a:rPr lang="en-CA" sz="1200" b="0" kern="1200" dirty="0">
                <a:solidFill>
                  <a:schemeClr val="tx1"/>
                </a:solidFill>
                <a:effectLst/>
                <a:latin typeface="+mn-lt"/>
                <a:ea typeface="+mn-ea"/>
                <a:cs typeface="+mn-cs"/>
              </a:rPr>
              <a:t> include: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id</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userId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source </a:t>
            </a:r>
            <a:r>
              <a:rPr lang="en-CA" sz="1200" b="0" kern="1200" dirty="0" err="1">
                <a:solidFill>
                  <a:schemeClr val="tx1"/>
                </a:solidFill>
                <a:effectLst/>
                <a:latin typeface="+mn-lt"/>
                <a:ea typeface="+mn-ea"/>
                <a:cs typeface="+mn-cs"/>
              </a:rPr>
              <a:t>threadId</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key</a:t>
            </a:r>
          </a:p>
          <a:p>
            <a:r>
              <a:rPr lang="en-CA" sz="1200" b="0" kern="1200" dirty="0">
                <a:solidFill>
                  <a:schemeClr val="tx1"/>
                </a:solidFill>
                <a:effectLst/>
                <a:latin typeface="+mn-lt"/>
                <a:ea typeface="+mn-ea"/>
                <a:cs typeface="+mn-cs"/>
              </a:rPr>
              <a:t>- value</a:t>
            </a:r>
          </a:p>
          <a:p>
            <a:r>
              <a:rPr lang="en-CA" sz="1200" b="0" kern="1200" dirty="0">
                <a:solidFill>
                  <a:schemeClr val="tx1"/>
                </a:solidFill>
                <a:effectLst/>
                <a:latin typeface="+mn-lt"/>
                <a:ea typeface="+mn-ea"/>
                <a:cs typeface="+mn-cs"/>
              </a:rPr>
              <a:t>- content</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createdAt</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active</a:t>
            </a:r>
          </a:p>
          <a:p>
            <a:r>
              <a:rPr lang="en-CA" sz="1200" b="0" kern="1200" dirty="0">
                <a:solidFill>
                  <a:schemeClr val="tx1"/>
                </a:solidFill>
                <a:effectLst/>
                <a:latin typeface="+mn-lt"/>
                <a:ea typeface="+mn-ea"/>
                <a:cs typeface="+mn-cs"/>
              </a:rPr>
              <a:t>- confidence</a:t>
            </a:r>
          </a:p>
          <a:p>
            <a:r>
              <a:rPr lang="en-CA" sz="1200" b="0" kern="1200" dirty="0">
                <a:solidFill>
                  <a:schemeClr val="tx1"/>
                </a:solidFill>
                <a:effectLst/>
                <a:latin typeface="+mn-lt"/>
                <a:ea typeface="+mn-ea"/>
                <a:cs typeface="+mn-cs"/>
              </a:rPr>
              <a:t>- </a:t>
            </a:r>
            <a:r>
              <a:rPr lang="en-CA" sz="1200" b="0" kern="1200" dirty="0" err="1">
                <a:solidFill>
                  <a:schemeClr val="tx1"/>
                </a:solidFill>
                <a:effectLst/>
                <a:latin typeface="+mn-lt"/>
                <a:ea typeface="+mn-ea"/>
                <a:cs typeface="+mn-cs"/>
              </a:rPr>
              <a:t>sourceTurnIds</a:t>
            </a: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supersession metadata</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Never include embedding arrays or credentials in expandable results.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Both Guided demo helper buttons and Live chat requests must publish traces to the</a:t>
            </a:r>
          </a:p>
          <a:p>
            <a:r>
              <a:rPr lang="en-CA" sz="1200" b="0" kern="1200" dirty="0">
                <a:solidFill>
                  <a:schemeClr val="tx1"/>
                </a:solidFill>
                <a:effectLst/>
                <a:latin typeface="+mn-lt"/>
                <a:ea typeface="+mn-ea"/>
                <a:cs typeface="+mn-cs"/>
              </a:rPr>
              <a:t>same Operations route.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Safety and correctness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Surface errors clearly in the UI.</a:t>
            </a:r>
          </a:p>
          <a:p>
            <a:r>
              <a:rPr lang="en-CA" sz="1200" b="0" kern="1200" dirty="0">
                <a:solidFill>
                  <a:schemeClr val="tx1"/>
                </a:solidFill>
                <a:effectLst/>
                <a:latin typeface="+mn-lt"/>
                <a:ea typeface="+mn-ea"/>
                <a:cs typeface="+mn-cs"/>
              </a:rPr>
              <a:t>- Do not silently return success-shaped fallback data.</a:t>
            </a:r>
          </a:p>
          <a:p>
            <a:r>
              <a:rPr lang="en-CA" sz="1200" b="0" kern="1200" dirty="0">
                <a:solidFill>
                  <a:schemeClr val="tx1"/>
                </a:solidFill>
                <a:effectLst/>
                <a:latin typeface="+mn-lt"/>
                <a:ea typeface="+mn-ea"/>
                <a:cs typeface="+mn-cs"/>
              </a:rPr>
              <a:t>- Do not treat partitioning as authorization.</a:t>
            </a:r>
          </a:p>
          <a:p>
            <a:r>
              <a:rPr lang="en-CA" sz="1200" b="0" kern="1200" dirty="0">
                <a:solidFill>
                  <a:schemeClr val="tx1"/>
                </a:solidFill>
                <a:effectLst/>
                <a:latin typeface="+mn-lt"/>
                <a:ea typeface="+mn-ea"/>
                <a:cs typeface="+mn-cs"/>
              </a:rPr>
              <a:t>- Do not treat extracted memory as authoritative business truth.</a:t>
            </a:r>
          </a:p>
          <a:p>
            <a:r>
              <a:rPr lang="en-CA" sz="1200" b="0" kern="1200" dirty="0">
                <a:solidFill>
                  <a:schemeClr val="tx1"/>
                </a:solidFill>
                <a:effectLst/>
                <a:latin typeface="+mn-lt"/>
                <a:ea typeface="+mn-ea"/>
                <a:cs typeface="+mn-cs"/>
              </a:rPr>
              <a:t>- Keep critical business state in an authoritative system of record.</a:t>
            </a:r>
          </a:p>
          <a:p>
            <a:r>
              <a:rPr lang="en-CA" sz="1200" b="0" kern="1200" dirty="0">
                <a:solidFill>
                  <a:schemeClr val="tx1"/>
                </a:solidFill>
                <a:effectLst/>
                <a:latin typeface="+mn-lt"/>
                <a:ea typeface="+mn-ea"/>
                <a:cs typeface="+mn-cs"/>
              </a:rPr>
              <a:t>- Treat retrieved memory as untrusted model context.</a:t>
            </a:r>
          </a:p>
          <a:p>
            <a:r>
              <a:rPr lang="en-CA" sz="1200" b="0" kern="1200" dirty="0">
                <a:solidFill>
                  <a:schemeClr val="tx1"/>
                </a:solidFill>
                <a:effectLst/>
                <a:latin typeface="+mn-lt"/>
                <a:ea typeface="+mn-ea"/>
                <a:cs typeface="+mn-cs"/>
              </a:rPr>
              <a:t>- Make all Azure subscription usage explicit.</a:t>
            </a:r>
          </a:p>
          <a:p>
            <a:r>
              <a:rPr lang="en-CA" sz="1200" b="0" kern="1200" dirty="0">
                <a:solidFill>
                  <a:schemeClr val="tx1"/>
                </a:solidFill>
                <a:effectLst/>
                <a:latin typeface="+mn-lt"/>
                <a:ea typeface="+mn-ea"/>
                <a:cs typeface="+mn-cs"/>
              </a:rPr>
              <a:t>- Do not commit secrets.</a:t>
            </a:r>
          </a:p>
          <a:p>
            <a:r>
              <a:rPr lang="en-CA" sz="1200" b="0" kern="1200" dirty="0">
                <a:solidFill>
                  <a:schemeClr val="tx1"/>
                </a:solidFill>
                <a:effectLst/>
                <a:latin typeface="+mn-lt"/>
                <a:ea typeface="+mn-ea"/>
                <a:cs typeface="+mn-cs"/>
              </a:rPr>
              <a:t>- Ask before provisioning, changing, or deleting Azure resources.</a:t>
            </a:r>
          </a:p>
          <a:p>
            <a:r>
              <a:rPr lang="en-CA" sz="1200" b="0" kern="1200" dirty="0">
                <a:solidFill>
                  <a:schemeClr val="tx1"/>
                </a:solidFill>
                <a:effectLst/>
                <a:latin typeface="+mn-lt"/>
                <a:ea typeface="+mn-ea"/>
                <a:cs typeface="+mn-cs"/>
              </a:rPr>
              <a:t>- Provide a targeted cleanup script, but never run it without confirmation.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Documentation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Create a thorough README containing:</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Architecture</a:t>
            </a:r>
          </a:p>
          <a:p>
            <a:r>
              <a:rPr lang="en-CA" sz="1200" b="0" kern="1200" dirty="0">
                <a:solidFill>
                  <a:schemeClr val="tx1"/>
                </a:solidFill>
                <a:effectLst/>
                <a:latin typeface="+mn-lt"/>
                <a:ea typeface="+mn-ea"/>
                <a:cs typeface="+mn-cs"/>
              </a:rPr>
              <a:t>- Prerequisites</a:t>
            </a:r>
          </a:p>
          <a:p>
            <a:r>
              <a:rPr lang="en-CA" sz="1200" b="0" kern="1200" dirty="0">
                <a:solidFill>
                  <a:schemeClr val="tx1"/>
                </a:solidFill>
                <a:effectLst/>
                <a:latin typeface="+mn-lt"/>
                <a:ea typeface="+mn-ea"/>
                <a:cs typeface="+mn-cs"/>
              </a:rPr>
              <a:t>- Isolated Azure CLI authentication</a:t>
            </a:r>
          </a:p>
          <a:p>
            <a:r>
              <a:rPr lang="en-CA" sz="1200" b="0" kern="1200" dirty="0">
                <a:solidFill>
                  <a:schemeClr val="tx1"/>
                </a:solidFill>
                <a:effectLst/>
                <a:latin typeface="+mn-lt"/>
                <a:ea typeface="+mn-ea"/>
                <a:cs typeface="+mn-cs"/>
              </a:rPr>
              <a:t>- Provisioning</a:t>
            </a:r>
          </a:p>
          <a:p>
            <a:r>
              <a:rPr lang="en-CA" sz="1200" b="0" kern="1200" dirty="0">
                <a:solidFill>
                  <a:schemeClr val="tx1"/>
                </a:solidFill>
                <a:effectLst/>
                <a:latin typeface="+mn-lt"/>
                <a:ea typeface="+mn-ea"/>
                <a:cs typeface="+mn-cs"/>
              </a:rPr>
              <a:t>- Running locally</a:t>
            </a:r>
          </a:p>
          <a:p>
            <a:r>
              <a:rPr lang="en-CA" sz="1200" b="0" kern="1200" dirty="0">
                <a:solidFill>
                  <a:schemeClr val="tx1"/>
                </a:solidFill>
                <a:effectLst/>
                <a:latin typeface="+mn-lt"/>
                <a:ea typeface="+mn-ea"/>
                <a:cs typeface="+mn-cs"/>
              </a:rPr>
              <a:t>- Cleanup</a:t>
            </a:r>
          </a:p>
          <a:p>
            <a:r>
              <a:rPr lang="en-CA" sz="1200" b="0" kern="1200" dirty="0">
                <a:solidFill>
                  <a:schemeClr val="tx1"/>
                </a:solidFill>
                <a:effectLst/>
                <a:latin typeface="+mn-lt"/>
                <a:ea typeface="+mn-ea"/>
                <a:cs typeface="+mn-cs"/>
              </a:rPr>
              <a:t>- Exact guided-demo choreography</a:t>
            </a:r>
          </a:p>
          <a:p>
            <a:r>
              <a:rPr lang="en-CA" sz="1200" b="0" kern="1200" dirty="0">
                <a:solidFill>
                  <a:schemeClr val="tx1"/>
                </a:solidFill>
                <a:effectLst/>
                <a:latin typeface="+mn-lt"/>
                <a:ea typeface="+mn-ea"/>
                <a:cs typeface="+mn-cs"/>
              </a:rPr>
              <a:t>- What each helper button proves</a:t>
            </a:r>
          </a:p>
          <a:p>
            <a:r>
              <a:rPr lang="en-CA" sz="1200" b="0" kern="1200" dirty="0">
                <a:solidFill>
                  <a:schemeClr val="tx1"/>
                </a:solidFill>
                <a:effectLst/>
                <a:latin typeface="+mn-lt"/>
                <a:ea typeface="+mn-ea"/>
                <a:cs typeface="+mn-cs"/>
              </a:rPr>
              <a:t>- Short-term versus long-term explanation</a:t>
            </a:r>
          </a:p>
          <a:p>
            <a:r>
              <a:rPr lang="en-CA" sz="1200" b="0" kern="1200" dirty="0">
                <a:solidFill>
                  <a:schemeClr val="tx1"/>
                </a:solidFill>
                <a:effectLst/>
                <a:latin typeface="+mn-lt"/>
                <a:ea typeface="+mn-ea"/>
                <a:cs typeface="+mn-cs"/>
              </a:rPr>
              <a:t>- Why not simply summarize everything</a:t>
            </a:r>
          </a:p>
          <a:p>
            <a:r>
              <a:rPr lang="en-CA" sz="1200" b="0" kern="1200" dirty="0">
                <a:solidFill>
                  <a:schemeClr val="tx1"/>
                </a:solidFill>
                <a:effectLst/>
                <a:latin typeface="+mn-lt"/>
                <a:ea typeface="+mn-ea"/>
                <a:cs typeface="+mn-cs"/>
              </a:rPr>
              <a:t>- Production extension using change feed</a:t>
            </a:r>
          </a:p>
          <a:p>
            <a:r>
              <a:rPr lang="en-CA" sz="1200" b="0" kern="1200" dirty="0">
                <a:solidFill>
                  <a:schemeClr val="tx1"/>
                </a:solidFill>
                <a:effectLst/>
                <a:latin typeface="+mn-lt"/>
                <a:ea typeface="+mn-ea"/>
                <a:cs typeface="+mn-cs"/>
              </a:rPr>
              <a:t>- Failure/recovery guidance</a:t>
            </a:r>
          </a:p>
          <a:p>
            <a:r>
              <a:rPr lang="en-CA" sz="1200" b="0" kern="1200" dirty="0">
                <a:solidFill>
                  <a:schemeClr val="tx1"/>
                </a:solidFill>
                <a:effectLst/>
                <a:latin typeface="+mn-lt"/>
                <a:ea typeface="+mn-ea"/>
                <a:cs typeface="+mn-cs"/>
              </a:rPr>
              <a:t>- Cost considerations</a:t>
            </a:r>
          </a:p>
          <a:p>
            <a:r>
              <a:rPr lang="en-CA" sz="1200" b="0" kern="1200" dirty="0">
                <a:solidFill>
                  <a:schemeClr val="tx1"/>
                </a:solidFill>
                <a:effectLst/>
                <a:latin typeface="+mn-lt"/>
                <a:ea typeface="+mn-ea"/>
                <a:cs typeface="+mn-cs"/>
              </a:rPr>
              <a:t>- Security and trust boundaries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Include a concise conference talk track emphasizing:</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The model did not remember; the application retrieved.</a:t>
            </a:r>
          </a:p>
          <a:p>
            <a:r>
              <a:rPr lang="en-CA" sz="1200" b="0" kern="1200" dirty="0">
                <a:solidFill>
                  <a:schemeClr val="tx1"/>
                </a:solidFill>
                <a:effectLst/>
                <a:latin typeface="+mn-lt"/>
                <a:ea typeface="+mn-ea"/>
                <a:cs typeface="+mn-cs"/>
              </a:rPr>
              <a:t>- Cosmos DB is the operational memory plane, not merely a vector database.</a:t>
            </a:r>
          </a:p>
          <a:p>
            <a:r>
              <a:rPr lang="en-CA" sz="1200" b="0" kern="1200" dirty="0">
                <a:solidFill>
                  <a:schemeClr val="tx1"/>
                </a:solidFill>
                <a:effectLst/>
                <a:latin typeface="+mn-lt"/>
                <a:ea typeface="+mn-ea"/>
                <a:cs typeface="+mn-cs"/>
              </a:rPr>
              <a:t>- Short-term means thread-scoped and time-bounded, not browser-only.</a:t>
            </a:r>
          </a:p>
          <a:p>
            <a:r>
              <a:rPr lang="en-CA" sz="1200" b="0" kern="1200" dirty="0">
                <a:solidFill>
                  <a:schemeClr val="tx1"/>
                </a:solidFill>
                <a:effectLst/>
                <a:latin typeface="+mn-lt"/>
                <a:ea typeface="+mn-ea"/>
                <a:cs typeface="+mn-cs"/>
              </a:rPr>
              <a:t>- Scope must precede semantic ranking.</a:t>
            </a:r>
          </a:p>
          <a:p>
            <a:r>
              <a:rPr lang="en-CA" sz="1200" b="0" kern="1200" dirty="0">
                <a:solidFill>
                  <a:schemeClr val="tx1"/>
                </a:solidFill>
                <a:effectLst/>
                <a:latin typeface="+mn-lt"/>
                <a:ea typeface="+mn-ea"/>
                <a:cs typeface="+mn-cs"/>
              </a:rPr>
              <a:t>- Partitioning is not authorization.</a:t>
            </a:r>
          </a:p>
          <a:p>
            <a:r>
              <a:rPr lang="en-CA" sz="1200" b="0" kern="1200" dirty="0">
                <a:solidFill>
                  <a:schemeClr val="tx1"/>
                </a:solidFill>
                <a:effectLst/>
                <a:latin typeface="+mn-lt"/>
                <a:ea typeface="+mn-ea"/>
                <a:cs typeface="+mn-cs"/>
              </a:rPr>
              <a:t>- Extraction is probabilistic.</a:t>
            </a:r>
          </a:p>
          <a:p>
            <a:r>
              <a:rPr lang="en-CA" sz="1200" b="0" kern="1200" dirty="0">
                <a:solidFill>
                  <a:schemeClr val="tx1"/>
                </a:solidFill>
                <a:effectLst/>
                <a:latin typeface="+mn-lt"/>
                <a:ea typeface="+mn-ea"/>
                <a:cs typeface="+mn-cs"/>
              </a:rPr>
              <a:t>- Supersession preserves current relevance and historical provenance.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Tests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Add focused tests for:</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Key normalization</a:t>
            </a:r>
          </a:p>
          <a:p>
            <a:r>
              <a:rPr lang="en-CA" sz="1200" b="0" kern="1200" dirty="0">
                <a:solidFill>
                  <a:schemeClr val="tx1"/>
                </a:solidFill>
                <a:effectLst/>
                <a:latin typeface="+mn-lt"/>
                <a:ea typeface="+mn-ea"/>
                <a:cs typeface="+mn-cs"/>
              </a:rPr>
              <a:t>- Duplicate fact handling</a:t>
            </a:r>
          </a:p>
          <a:p>
            <a:r>
              <a:rPr lang="en-CA" sz="1200" b="0" kern="1200" dirty="0">
                <a:solidFill>
                  <a:schemeClr val="tx1"/>
                </a:solidFill>
                <a:effectLst/>
                <a:latin typeface="+mn-lt"/>
                <a:ea typeface="+mn-ea"/>
                <a:cs typeface="+mn-cs"/>
              </a:rPr>
              <a:t>- Preference supersession</a:t>
            </a:r>
          </a:p>
          <a:p>
            <a:r>
              <a:rPr lang="en-CA" sz="1200" b="0" kern="1200" dirty="0">
                <a:solidFill>
                  <a:schemeClr val="tx1"/>
                </a:solidFill>
                <a:effectLst/>
                <a:latin typeface="+mn-lt"/>
                <a:ea typeface="+mn-ea"/>
                <a:cs typeface="+mn-cs"/>
              </a:rPr>
              <a:t>- New independent fact keys</a:t>
            </a:r>
          </a:p>
          <a:p>
            <a:r>
              <a:rPr lang="en-CA" sz="1200" b="0" kern="1200" dirty="0">
                <a:solidFill>
                  <a:schemeClr val="tx1"/>
                </a:solidFill>
                <a:effectLst/>
                <a:latin typeface="+mn-lt"/>
                <a:ea typeface="+mn-ea"/>
                <a:cs typeface="+mn-cs"/>
              </a:rPr>
              <a:t>- Location and cuisine aliases</a:t>
            </a:r>
          </a:p>
          <a:p>
            <a:r>
              <a:rPr lang="en-CA" sz="1200" b="0" kern="1200" dirty="0">
                <a:solidFill>
                  <a:schemeClr val="tx1"/>
                </a:solidFill>
                <a:effectLst/>
                <a:latin typeface="+mn-lt"/>
                <a:ea typeface="+mn-ea"/>
                <a:cs typeface="+mn-cs"/>
              </a:rPr>
              <a:t>- Project-context and technical-constraint aliases</a:t>
            </a:r>
          </a:p>
          <a:p>
            <a:r>
              <a:rPr lang="en-CA" sz="1200" b="0" kern="1200" dirty="0">
                <a:solidFill>
                  <a:schemeClr val="tx1"/>
                </a:solidFill>
                <a:effectLst/>
                <a:latin typeface="+mn-lt"/>
                <a:ea typeface="+mn-ea"/>
                <a:cs typeface="+mn-cs"/>
              </a:rPr>
              <a:t>- Trace events retaining both a concise summary and optional actual-result details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Run the smallest applicable build and test commands, then report:</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Build result</a:t>
            </a:r>
          </a:p>
          <a:p>
            <a:r>
              <a:rPr lang="en-CA" sz="1200" b="0" kern="1200" dirty="0">
                <a:solidFill>
                  <a:schemeClr val="tx1"/>
                </a:solidFill>
                <a:effectLst/>
                <a:latin typeface="+mn-lt"/>
                <a:ea typeface="+mn-ea"/>
                <a:cs typeface="+mn-cs"/>
              </a:rPr>
              <a:t>- Test count</a:t>
            </a:r>
          </a:p>
          <a:p>
            <a:r>
              <a:rPr lang="en-CA" sz="1200" b="0" kern="1200" dirty="0">
                <a:solidFill>
                  <a:schemeClr val="tx1"/>
                </a:solidFill>
                <a:effectLst/>
                <a:latin typeface="+mn-lt"/>
                <a:ea typeface="+mn-ea"/>
                <a:cs typeface="+mn-cs"/>
              </a:rPr>
              <a:t>- Local URL</a:t>
            </a:r>
          </a:p>
          <a:p>
            <a:r>
              <a:rPr lang="en-CA" sz="1200" b="0" kern="1200" dirty="0">
                <a:solidFill>
                  <a:schemeClr val="tx1"/>
                </a:solidFill>
                <a:effectLst/>
                <a:latin typeface="+mn-lt"/>
                <a:ea typeface="+mn-ea"/>
                <a:cs typeface="+mn-cs"/>
              </a:rPr>
              <a:t>- Provisioned resource names</a:t>
            </a:r>
          </a:p>
          <a:p>
            <a:r>
              <a:rPr lang="en-CA" sz="1200" b="0" kern="1200" dirty="0">
                <a:solidFill>
                  <a:schemeClr val="tx1"/>
                </a:solidFill>
                <a:effectLst/>
                <a:latin typeface="+mn-lt"/>
                <a:ea typeface="+mn-ea"/>
                <a:cs typeface="+mn-cs"/>
              </a:rPr>
              <a:t>- Any remaining manual authentication or approval step</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 Acceptance criteria</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 completed demo must prove:</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1. Raw turns persist in Cosmos DB and survive refresh.</a:t>
            </a:r>
          </a:p>
          <a:p>
            <a:r>
              <a:rPr lang="en-CA" sz="1200" b="0" kern="1200" dirty="0">
                <a:solidFill>
                  <a:schemeClr val="tx1"/>
                </a:solidFill>
                <a:effectLst/>
                <a:latin typeface="+mn-lt"/>
                <a:ea typeface="+mn-ea"/>
                <a:cs typeface="+mn-cs"/>
              </a:rPr>
              <a:t>2. Raw turns are isolated by thread.</a:t>
            </a:r>
          </a:p>
          <a:p>
            <a:r>
              <a:rPr lang="en-CA" sz="1200" b="0" kern="1200" dirty="0">
                <a:solidFill>
                  <a:schemeClr val="tx1"/>
                </a:solidFill>
                <a:effectLst/>
                <a:latin typeface="+mn-lt"/>
                <a:ea typeface="+mn-ea"/>
                <a:cs typeface="+mn-cs"/>
              </a:rPr>
              <a:t>3. Durable facts are available across threads for the same user.</a:t>
            </a:r>
          </a:p>
          <a:p>
            <a:r>
              <a:rPr lang="en-CA" sz="1200" b="0" kern="1200" dirty="0">
                <a:solidFill>
                  <a:schemeClr val="tx1"/>
                </a:solidFill>
                <a:effectLst/>
                <a:latin typeface="+mn-lt"/>
                <a:ea typeface="+mn-ea"/>
                <a:cs typeface="+mn-cs"/>
              </a:rPr>
              <a:t>4. Distillation creates attributable, confident facts.</a:t>
            </a:r>
          </a:p>
          <a:p>
            <a:r>
              <a:rPr lang="en-CA" sz="1200" b="0" kern="1200" dirty="0">
                <a:solidFill>
                  <a:schemeClr val="tx1"/>
                </a:solidFill>
                <a:effectLst/>
                <a:latin typeface="+mn-lt"/>
                <a:ea typeface="+mn-ea"/>
                <a:cs typeface="+mn-cs"/>
              </a:rPr>
              <a:t>5. Retrieval applies user/type/active filters before </a:t>
            </a:r>
            <a:r>
              <a:rPr lang="en-CA" sz="1200" b="0" kern="1200" dirty="0" err="1">
                <a:solidFill>
                  <a:schemeClr val="tx1"/>
                </a:solidFill>
                <a:effectLst/>
                <a:latin typeface="+mn-lt"/>
                <a:ea typeface="+mn-ea"/>
                <a:cs typeface="+mn-cs"/>
              </a:rPr>
              <a:t>VectorDistance</a:t>
            </a:r>
            <a:r>
              <a:rPr lang="en-CA" sz="1200" b="0" kern="1200" dirty="0">
                <a:solidFill>
                  <a:schemeClr val="tx1"/>
                </a:solidFill>
                <a:effectLst/>
                <a:latin typeface="+mn-lt"/>
                <a:ea typeface="+mn-ea"/>
                <a:cs typeface="+mn-cs"/>
              </a:rPr>
              <a:t> ordering.</a:t>
            </a:r>
          </a:p>
          <a:p>
            <a:r>
              <a:rPr lang="en-CA" sz="1200" b="0" kern="1200" dirty="0">
                <a:solidFill>
                  <a:schemeClr val="tx1"/>
                </a:solidFill>
                <a:effectLst/>
                <a:latin typeface="+mn-lt"/>
                <a:ea typeface="+mn-ea"/>
                <a:cs typeface="+mn-cs"/>
              </a:rPr>
              <a:t>6. Retrieved memories visibly influence the model response.</a:t>
            </a:r>
          </a:p>
          <a:p>
            <a:r>
              <a:rPr lang="en-CA" sz="1200" b="0" kern="1200" dirty="0">
                <a:solidFill>
                  <a:schemeClr val="tx1"/>
                </a:solidFill>
                <a:effectLst/>
                <a:latin typeface="+mn-lt"/>
                <a:ea typeface="+mn-ea"/>
                <a:cs typeface="+mn-cs"/>
              </a:rPr>
              <a:t>7. A changed preference creates a new active fact.</a:t>
            </a:r>
          </a:p>
          <a:p>
            <a:r>
              <a:rPr lang="en-CA" sz="1200" b="0" kern="1200" dirty="0">
                <a:solidFill>
                  <a:schemeClr val="tx1"/>
                </a:solidFill>
                <a:effectLst/>
                <a:latin typeface="+mn-lt"/>
                <a:ea typeface="+mn-ea"/>
                <a:cs typeface="+mn-cs"/>
              </a:rPr>
              <a:t>8. The former preference moves to superseded history.</a:t>
            </a:r>
          </a:p>
          <a:p>
            <a:r>
              <a:rPr lang="en-CA" sz="1200" b="0" kern="1200" dirty="0">
                <a:solidFill>
                  <a:schemeClr val="tx1"/>
                </a:solidFill>
                <a:effectLst/>
                <a:latin typeface="+mn-lt"/>
                <a:ea typeface="+mn-ea"/>
                <a:cs typeface="+mn-cs"/>
              </a:rPr>
              <a:t>9. Operations displays the actual server-recorded request path.</a:t>
            </a:r>
          </a:p>
          <a:p>
            <a:r>
              <a:rPr lang="en-CA" sz="1200" b="0" kern="1200" dirty="0">
                <a:solidFill>
                  <a:schemeClr val="tx1"/>
                </a:solidFill>
                <a:effectLst/>
                <a:latin typeface="+mn-lt"/>
                <a:ea typeface="+mn-ea"/>
                <a:cs typeface="+mn-cs"/>
              </a:rPr>
              <a:t>10. Search, recent-turn, and active-memory operations can reveal sanitized actual</a:t>
            </a:r>
          </a:p>
          <a:p>
            <a:r>
              <a:rPr lang="en-CA" sz="1200" b="0" kern="1200" dirty="0">
                <a:solidFill>
                  <a:schemeClr val="tx1"/>
                </a:solidFill>
                <a:effectLst/>
                <a:latin typeface="+mn-lt"/>
                <a:ea typeface="+mn-ea"/>
                <a:cs typeface="+mn-cs"/>
              </a:rPr>
              <a:t>    results through expanders.</a:t>
            </a:r>
          </a:p>
          <a:p>
            <a:r>
              <a:rPr lang="en-CA" sz="1200" b="0" kern="1200" dirty="0">
                <a:solidFill>
                  <a:schemeClr val="tx1"/>
                </a:solidFill>
                <a:effectLst/>
                <a:latin typeface="+mn-lt"/>
                <a:ea typeface="+mn-ea"/>
                <a:cs typeface="+mn-cs"/>
              </a:rPr>
              <a:t>11. The entire guided flow is predictable enough for a conference presentation.</a:t>
            </a:r>
          </a:p>
          <a:p>
            <a:r>
              <a:rPr lang="en-CA" sz="1200" b="0" kern="1200" dirty="0">
                <a:solidFill>
                  <a:schemeClr val="tx1"/>
                </a:solidFill>
                <a:effectLst/>
                <a:latin typeface="+mn-lt"/>
                <a:ea typeface="+mn-ea"/>
                <a:cs typeface="+mn-cs"/>
              </a:rPr>
              <a:t>12. The app builds cleanly and all tests pass.</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Before considering the work complete, perform one complete rehearsal:</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Reset → Capture → Distill → Retrieve in a new thread → Govern</a:t>
            </a:r>
          </a:p>
          <a:p>
            <a:br>
              <a:rPr lang="en-CA" sz="1200" b="0" kern="1200" dirty="0">
                <a:solidFill>
                  <a:schemeClr val="tx1"/>
                </a:solidFill>
                <a:effectLst/>
                <a:latin typeface="+mn-lt"/>
                <a:ea typeface="+mn-ea"/>
                <a:cs typeface="+mn-cs"/>
              </a:rPr>
            </a:br>
            <a:endParaRPr lang="en-CA" sz="1200" b="0" kern="1200" dirty="0">
              <a:solidFill>
                <a:schemeClr val="tx1"/>
              </a:solidFill>
              <a:effectLst/>
              <a:latin typeface="+mn-lt"/>
              <a:ea typeface="+mn-ea"/>
              <a:cs typeface="+mn-cs"/>
            </a:endParaRPr>
          </a:p>
          <a:p>
            <a:r>
              <a:rPr lang="en-CA" sz="1200" b="0" kern="1200" dirty="0">
                <a:solidFill>
                  <a:schemeClr val="tx1"/>
                </a:solidFill>
                <a:effectLst/>
                <a:latin typeface="+mn-lt"/>
                <a:ea typeface="+mn-ea"/>
                <a:cs typeface="+mn-cs"/>
              </a:rPr>
              <a:t>Then leave the application running and reset to a clean presentation-ready state.</a:t>
            </a:r>
          </a:p>
          <a:p>
            <a:endParaRPr lang="en-CA" dirty="0"/>
          </a:p>
        </p:txBody>
      </p:sp>
    </p:spTree>
    <p:extLst>
      <p:ext uri="{BB962C8B-B14F-4D97-AF65-F5344CB8AC3E}">
        <p14:creationId xmlns:p14="http://schemas.microsoft.com/office/powerpoint/2010/main" val="174735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16 — Memory is probabilistic data, not automatic truth</a:t>
            </a:r>
          </a:p>
          <a:p>
            <a:endParaRPr lang="en-US" dirty="0"/>
          </a:p>
          <a:p>
            <a:r>
              <a:rPr lang="en-US" dirty="0"/>
              <a:t>First, make asynchronous transformations replay-safe because change-feed delivery is at least once.</a:t>
            </a:r>
          </a:p>
          <a:p>
            <a:endParaRPr lang="en-US" dirty="0"/>
          </a:p>
          <a:p>
            <a:r>
              <a:rPr lang="en-US" dirty="0"/>
              <a:t>Second, make memory attributable. Store source IDs, timestamps, confidence, extraction policy, model version, prompt version, and supersession lineage.</a:t>
            </a:r>
          </a:p>
          <a:p>
            <a:endParaRPr lang="en-US" dirty="0"/>
          </a:p>
          <a:p>
            <a:r>
              <a:rPr lang="en-US" dirty="0"/>
              <a:t>Third, treat retrieved memory as untrusted context. A stored conversation can contain malicious or accidental instructions. Do not inject memory as privileged system instructions. Clearly delimit it as data the model should evaluate.</a:t>
            </a:r>
          </a:p>
          <a:p>
            <a:endParaRPr lang="en-US" dirty="0"/>
          </a:p>
          <a:p>
            <a:r>
              <a:rPr lang="en-US" dirty="0"/>
              <a:t>Fourth, separate routing from authorization. Partition keys and vector shards improve performance; authenticated application logic defines who can access the data.</a:t>
            </a:r>
          </a:p>
          <a:p>
            <a:endParaRPr lang="en-US" dirty="0"/>
          </a:p>
          <a:p>
            <a:r>
              <a:rPr lang="en-US" dirty="0"/>
              <a:t>Fifth, evaluate memory quality. Measure whether retrieval selected the right evidence, whether summaries preserved critical facts, whether extraction created unsupported assertions, and whether obsolete memories were excluded.</a:t>
            </a:r>
          </a:p>
          <a:p>
            <a:endParaRPr lang="en-US" dirty="0"/>
          </a:p>
          <a:p>
            <a:r>
              <a:rPr lang="en-US" dirty="0"/>
              <a:t>Finally, design complete deletion. A system that can derive five artifacts from one interaction must be able to find and erase all five when policy requires it.</a:t>
            </a:r>
          </a:p>
          <a:p>
            <a:endParaRPr lang="en-US" dirty="0"/>
          </a:p>
          <a:p>
            <a:r>
              <a:rPr lang="en-US" dirty="0"/>
              <a:t>### Transition</a:t>
            </a:r>
          </a:p>
          <a:p>
            <a:endParaRPr lang="en-US" dirty="0"/>
          </a:p>
          <a:p>
            <a:r>
              <a:rPr lang="en-US" dirty="0"/>
              <a:t>Microsoft’s Agent Memory Toolkit packages many of these ideas into a concrete implementation.</a:t>
            </a:r>
            <a:endParaRPr lang="en-CA" dirty="0"/>
          </a:p>
        </p:txBody>
      </p:sp>
    </p:spTree>
    <p:extLst>
      <p:ext uri="{BB962C8B-B14F-4D97-AF65-F5344CB8AC3E}">
        <p14:creationId xmlns:p14="http://schemas.microsoft.com/office/powerpoint/2010/main" val="665244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19 — Agent Memory Toolkit</a:t>
            </a:r>
          </a:p>
          <a:p>
            <a:endParaRPr lang="en-US" dirty="0"/>
          </a:p>
          <a:p>
            <a:r>
              <a:rPr lang="en-US" dirty="0"/>
              <a:t>The Agent Memory Toolkit is a Python SDK that stores raw turns and creates higher-value memories in Azure Cosmos DB.</a:t>
            </a:r>
          </a:p>
          <a:p>
            <a:endParaRPr lang="en-US" dirty="0"/>
          </a:p>
          <a:p>
            <a:r>
              <a:rPr lang="en-US" dirty="0"/>
              <a:t>It demonstrates container provisioning, hierarchical partitioning, vector and full-text policies, Foundry embedding and language models, thread and user summaries, facts, procedures, episodes, reconciliation, change-feed processing, and Durable Functions.</a:t>
            </a:r>
          </a:p>
          <a:p>
            <a:endParaRPr lang="en-US" dirty="0"/>
          </a:p>
          <a:p>
            <a:r>
              <a:rPr lang="en-US" dirty="0"/>
              <a:t>The Microsoft Agent Framework integration can retrieve memory before an agent run and persist turns afterward.</a:t>
            </a:r>
          </a:p>
          <a:p>
            <a:endParaRPr lang="en-US" dirty="0"/>
          </a:p>
          <a:p>
            <a:r>
              <a:rPr lang="en-US" dirty="0"/>
              <a:t>This makes the toolkit valuable for learning, prototypes, and accelerating an implementation.</a:t>
            </a:r>
          </a:p>
          <a:p>
            <a:endParaRPr lang="en-US" dirty="0"/>
          </a:p>
          <a:p>
            <a:r>
              <a:rPr lang="en-US" dirty="0"/>
              <a:t>However, it remains public preview, carries no SLA, and is not recommended for production workloads under Azure preview terms. Its memory types, schemas, and documentation are evolving. It is Python-centric and does not replace application decisions about tenant authorization, retention, erasure, model evaluation, residency, or authoritative business data.</a:t>
            </a:r>
          </a:p>
          <a:p>
            <a:endParaRPr lang="en-US" dirty="0"/>
          </a:p>
          <a:p>
            <a:r>
              <a:rPr lang="en-US" dirty="0"/>
              <a:t>The correct message is: use the toolkit to learn and accelerate; use the architecture to make production decisions.</a:t>
            </a:r>
          </a:p>
          <a:p>
            <a:endParaRPr lang="en-US" dirty="0"/>
          </a:p>
          <a:p>
            <a:r>
              <a:rPr lang="en-US" dirty="0"/>
              <a:t>### Transition</a:t>
            </a:r>
          </a:p>
          <a:p>
            <a:endParaRPr lang="en-US" dirty="0"/>
          </a:p>
          <a:p>
            <a:r>
              <a:rPr lang="en-US" dirty="0"/>
              <a:t>Let us reduce the complete design into a checklist you can take back to your own application.</a:t>
            </a:r>
            <a:endParaRPr lang="en-CA" dirty="0"/>
          </a:p>
        </p:txBody>
      </p:sp>
    </p:spTree>
    <p:extLst>
      <p:ext uri="{BB962C8B-B14F-4D97-AF65-F5344CB8AC3E}">
        <p14:creationId xmlns:p14="http://schemas.microsoft.com/office/powerpoint/2010/main" val="182335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 Slide 20 — Blueprint checklist</a:t>
            </a:r>
          </a:p>
          <a:p>
            <a:endParaRPr lang="en-US" dirty="0"/>
          </a:p>
          <a:p>
            <a:r>
              <a:rPr lang="en-US" dirty="0"/>
              <a:t>Choose the capture unit: individual message, conversational exchange, tool event, or another atomic experience.</a:t>
            </a:r>
          </a:p>
          <a:p>
            <a:endParaRPr lang="en-US" dirty="0"/>
          </a:p>
          <a:p>
            <a:r>
              <a:rPr lang="en-US" dirty="0"/>
              <a:t>Define the retrieval scopes: tenant, user, agent, thread, task, memory type, and time.</a:t>
            </a:r>
          </a:p>
          <a:p>
            <a:endParaRPr lang="en-US" dirty="0"/>
          </a:p>
          <a:p>
            <a:r>
              <a:rPr lang="en-US" dirty="0"/>
              <a:t>Select a partition key that balances locality with distribution.</a:t>
            </a:r>
          </a:p>
          <a:p>
            <a:endParaRPr lang="en-US" dirty="0"/>
          </a:p>
          <a:p>
            <a:r>
              <a:rPr lang="en-US" dirty="0"/>
              <a:t>Configure vector and full-text indexes for the filtered search space you actually expect.</a:t>
            </a:r>
          </a:p>
          <a:p>
            <a:endParaRPr lang="en-US" dirty="0"/>
          </a:p>
          <a:p>
            <a:r>
              <a:rPr lang="en-US" dirty="0"/>
              <a:t>Separate raw turns from derived summaries, facts, profiles, procedures, and episodes.</a:t>
            </a:r>
          </a:p>
          <a:p>
            <a:endParaRPr lang="en-US" dirty="0"/>
          </a:p>
          <a:p>
            <a:r>
              <a:rPr lang="en-US" dirty="0"/>
              <a:t>Move transformation out of the critical path and make it idempotent.</a:t>
            </a:r>
          </a:p>
          <a:p>
            <a:endParaRPr lang="en-US" dirty="0"/>
          </a:p>
          <a:p>
            <a:r>
              <a:rPr lang="en-US" dirty="0"/>
              <a:t>Preserve provenance, confidence, model and prompt versions, and supersession.</a:t>
            </a:r>
          </a:p>
          <a:p>
            <a:endParaRPr lang="en-US" dirty="0"/>
          </a:p>
          <a:p>
            <a:r>
              <a:rPr lang="en-US" dirty="0"/>
              <a:t>Combine deterministic recent context with scoped semantic and lexical retrieval.</a:t>
            </a:r>
          </a:p>
          <a:p>
            <a:endParaRPr lang="en-US" dirty="0"/>
          </a:p>
          <a:p>
            <a:r>
              <a:rPr lang="en-US" dirty="0"/>
              <a:t>Set token budgets and evaluate retrieval quality.</a:t>
            </a:r>
          </a:p>
          <a:p>
            <a:endParaRPr lang="en-US" dirty="0"/>
          </a:p>
          <a:p>
            <a:r>
              <a:rPr lang="en-US" dirty="0"/>
              <a:t>Design TTL, </a:t>
            </a:r>
            <a:r>
              <a:rPr lang="en-US" dirty="0" err="1"/>
              <a:t>deprioritization</a:t>
            </a:r>
            <a:r>
              <a:rPr lang="en-US" dirty="0"/>
              <a:t>, archival, supersession, and complete erasure.</a:t>
            </a:r>
          </a:p>
          <a:p>
            <a:endParaRPr lang="en-US" dirty="0"/>
          </a:p>
          <a:p>
            <a:r>
              <a:rPr lang="en-US" dirty="0"/>
              <a:t>Apply authenticated authorization to every operation and keep critical truth in systems of record.</a:t>
            </a:r>
          </a:p>
          <a:p>
            <a:endParaRPr lang="en-US" dirty="0"/>
          </a:p>
          <a:p>
            <a:r>
              <a:rPr lang="en-US" dirty="0"/>
              <a:t>### Transition</a:t>
            </a:r>
          </a:p>
          <a:p>
            <a:endParaRPr lang="en-US" dirty="0"/>
          </a:p>
          <a:p>
            <a:r>
              <a:rPr lang="en-US" dirty="0"/>
              <a:t>All of that can be remembered as four verbs.</a:t>
            </a:r>
            <a:endParaRPr lang="en-CA" dirty="0"/>
          </a:p>
        </p:txBody>
      </p:sp>
    </p:spTree>
    <p:extLst>
      <p:ext uri="{BB962C8B-B14F-4D97-AF65-F5344CB8AC3E}">
        <p14:creationId xmlns:p14="http://schemas.microsoft.com/office/powerpoint/2010/main" val="84409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 Slide 19 — Build memory around the agent</a:t>
            </a:r>
          </a:p>
          <a:p>
            <a:endParaRPr lang="en-US" dirty="0"/>
          </a:p>
          <a:p>
            <a:r>
              <a:rPr lang="en-US" dirty="0"/>
              <a:t>Capture raw experience without slowing the response path.</a:t>
            </a:r>
          </a:p>
          <a:p>
            <a:endParaRPr lang="en-US" dirty="0"/>
          </a:p>
          <a:p>
            <a:r>
              <a:rPr lang="en-US" dirty="0"/>
              <a:t>Distill higher-value memories asynchronously.</a:t>
            </a:r>
          </a:p>
          <a:p>
            <a:endParaRPr lang="en-US" dirty="0"/>
          </a:p>
          <a:p>
            <a:r>
              <a:rPr lang="en-US" dirty="0"/>
              <a:t>Retrieve only the relevant context inside the correct identity boundary.</a:t>
            </a:r>
          </a:p>
          <a:p>
            <a:endParaRPr lang="en-US" dirty="0"/>
          </a:p>
          <a:p>
            <a:r>
              <a:rPr lang="en-US" dirty="0"/>
              <a:t>Govern confidence, provenance, trust, retention, supersession, and deletion for the entire lifecycle.</a:t>
            </a:r>
          </a:p>
          <a:p>
            <a:endParaRPr lang="en-US" dirty="0"/>
          </a:p>
          <a:p>
            <a:r>
              <a:rPr lang="en-US" dirty="0"/>
              <a:t>Azure Cosmos DB provides a strong operational memory plane because it combines the JSON store, partitioning, transactional queries, vector retrieval, full-text and hybrid search, TTL, change feed, availability, and distribution required by this architecture.</a:t>
            </a:r>
          </a:p>
          <a:p>
            <a:endParaRPr lang="en-US" dirty="0"/>
          </a:p>
          <a:p>
            <a:r>
              <a:rPr lang="en-US" dirty="0"/>
              <a:t>The final takeaway is simple:</a:t>
            </a:r>
          </a:p>
          <a:p>
            <a:endParaRPr lang="en-US" dirty="0"/>
          </a:p>
          <a:p>
            <a:r>
              <a:rPr lang="en-US" dirty="0"/>
              <a:t>&gt; Agents do not inherently remember. Applications build memory systems around them.</a:t>
            </a:r>
          </a:p>
          <a:p>
            <a:endParaRPr lang="en-US" dirty="0"/>
          </a:p>
          <a:p>
            <a:r>
              <a:rPr lang="en-US" dirty="0"/>
              <a:t>Build that system deliberately, and memory becomes a reliable product capability rather than an ever-growing prompt.</a:t>
            </a:r>
            <a:endParaRPr lang="en-CA"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YEBROW + TITLE + CONTENT">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82F6"/>
          </a:solidFill>
          <a:ln w="12700">
            <a:solidFill>
              <a:srgbClr val="3B82F6"/>
            </a:solidFill>
            <a:prstDash val="solid"/>
          </a:ln>
        </p:spPr>
        <p:txBody>
          <a:bodyPr/>
          <a:lstStyle/>
          <a:p>
            <a:endParaRPr lang="en-CA"/>
          </a:p>
        </p:txBody>
      </p:sp>
      <p:sp>
        <p:nvSpPr>
          <p:cNvPr id="3" name="Text 1"/>
          <p:cNvSpPr/>
          <p:nvPr/>
        </p:nvSpPr>
        <p:spPr>
          <a:xfrm>
            <a:off x="530352" y="6473952"/>
            <a:ext cx="4023360" cy="164592"/>
          </a:xfrm>
          <a:prstGeom prst="rect">
            <a:avLst/>
          </a:prstGeom>
          <a:noFill/>
          <a:ln/>
        </p:spPr>
        <p:txBody>
          <a:bodyPr wrap="square" lIns="0" tIns="0" rIns="0" bIns="0" rtlCol="0" anchor="ctr"/>
          <a:lstStyle/>
          <a:p>
            <a:pPr marL="0" indent="0">
              <a:buNone/>
            </a:pPr>
            <a:r>
              <a:rPr lang="en-US" sz="800" kern="0" spc="110">
                <a:solidFill>
                  <a:srgbClr val="718096"/>
                </a:solidFill>
                <a:latin typeface="Segoe UI Semibold" pitchFamily="34" charset="0"/>
                <a:ea typeface="Segoe UI Semibold" pitchFamily="34" charset="-122"/>
                <a:cs typeface="Segoe UI Semibold" pitchFamily="34" charset="-120"/>
              </a:rPr>
              <a:t>INTELLIGENT AI AGENTS • COSMOS DB</a:t>
            </a:r>
            <a:endParaRPr lang="en-US" sz="800"/>
          </a:p>
        </p:txBody>
      </p:sp>
      <p:sp>
        <p:nvSpPr>
          <p:cNvPr id="4" name="Text 2"/>
          <p:cNvSpPr/>
          <p:nvPr/>
        </p:nvSpPr>
        <p:spPr>
          <a:xfrm>
            <a:off x="7351486" y="6464808"/>
            <a:ext cx="3858768" cy="164592"/>
          </a:xfrm>
          <a:prstGeom prst="rect">
            <a:avLst/>
          </a:prstGeom>
          <a:noFill/>
          <a:ln/>
        </p:spPr>
        <p:txBody>
          <a:bodyPr wrap="square" lIns="0" tIns="0" rIns="0" bIns="0" rtlCol="0" anchor="ctr"/>
          <a:lstStyle/>
          <a:p>
            <a:pPr marL="0" indent="0" algn="r">
              <a:buNone/>
            </a:pPr>
            <a:r>
              <a:rPr lang="en-US" sz="800" kern="0" spc="60">
                <a:solidFill>
                  <a:srgbClr val="94A3B8"/>
                </a:solidFill>
                <a:latin typeface="Segoe UI" pitchFamily="34" charset="0"/>
                <a:ea typeface="Segoe UI" pitchFamily="34" charset="-122"/>
                <a:cs typeface="Segoe UI" pitchFamily="34" charset="-120"/>
              </a:rPr>
              <a:t>CONTEXT &gt; MEMORIES &gt; LEARNING &gt; RECALL, </a:t>
            </a:r>
            <a:endParaRPr lang="en-US" sz="800"/>
          </a:p>
        </p:txBody>
      </p:sp>
      <p:sp>
        <p:nvSpPr>
          <p:cNvPr id="25" name="Slide Number Placeholder 0"/>
          <p:cNvSpPr>
            <a:spLocks noGrp="1"/>
          </p:cNvSpPr>
          <p:nvPr>
            <p:ph type="sldNum" sz="quarter" idx="4294967295"/>
          </p:nvPr>
        </p:nvSpPr>
        <p:spPr>
          <a:xfrm>
            <a:off x="11318095" y="6446520"/>
            <a:ext cx="201168"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4748B"/>
                </a:solidFill>
                <a:latin typeface="Segoe UI"/>
                <a:ea typeface="Segoe UI"/>
                <a:cs typeface="Segoe UI"/>
              </a:defRPr>
            </a:lvl1pPr>
          </a:lstStyle>
          <a:p>
            <a:pPr algn="r"/>
            <a:fld id="{F7021451-1387-4CA6-816F-3879F97B5CBC}" type="slidenum">
              <a:rPr lang="en-US" b="0"/>
              <a:t>‹#›</a:t>
            </a:fld>
            <a:endParaRPr lang="en-US"/>
          </a:p>
        </p:txBody>
      </p:sp>
      <p:sp>
        <p:nvSpPr>
          <p:cNvPr id="30" name="Eyebrow Placeholder"/>
          <p:cNvSpPr>
            <a:spLocks noGrp="1"/>
          </p:cNvSpPr>
          <p:nvPr>
            <p:ph type="body" idx="10"/>
          </p:nvPr>
        </p:nvSpPr>
        <p:spPr>
          <a:xfrm>
            <a:off x="566928" y="301752"/>
            <a:ext cx="5586984" cy="164592"/>
          </a:xfrm>
          <a:prstGeom prst="rect">
            <a:avLst/>
          </a:prstGeom>
        </p:spPr>
        <p:txBody>
          <a:bodyPr wrap="square" lIns="0" tIns="0" rIns="0" bIns="0" anchor="t"/>
          <a:lstStyle>
            <a:lvl1pPr marL="0" indent="0" algn="l">
              <a:buNone/>
              <a:defRPr sz="900" b="1" spc="120">
                <a:solidFill>
                  <a:srgbClr val="0099D4"/>
                </a:solidFill>
                <a:latin typeface="Segoe UI Semibold"/>
                <a:ea typeface="Segoe UI Semibold"/>
                <a:cs typeface="Segoe UI Semibold"/>
              </a:defRPr>
            </a:lvl1pPr>
          </a:lstStyle>
          <a:p>
            <a:r>
              <a:rPr lang="en-US"/>
              <a:t>EYEBROW</a:t>
            </a:r>
          </a:p>
        </p:txBody>
      </p:sp>
      <p:sp>
        <p:nvSpPr>
          <p:cNvPr id="31" name="Title Placeholder"/>
          <p:cNvSpPr>
            <a:spLocks noGrp="1"/>
          </p:cNvSpPr>
          <p:nvPr>
            <p:ph type="title"/>
          </p:nvPr>
        </p:nvSpPr>
        <p:spPr>
          <a:xfrm>
            <a:off x="548640" y="566928"/>
            <a:ext cx="11045952" cy="502920"/>
          </a:xfrm>
          <a:prstGeom prst="rect">
            <a:avLst/>
          </a:prstGeom>
        </p:spPr>
        <p:txBody>
          <a:bodyPr wrap="square" lIns="0" tIns="0" rIns="0" bIns="0" anchor="t"/>
          <a:lstStyle>
            <a:lvl1pPr marL="0" indent="0" algn="l">
              <a:buNone/>
              <a:defRPr sz="2500" b="0" spc="0">
                <a:solidFill>
                  <a:srgbClr val="122038"/>
                </a:solidFill>
                <a:latin typeface="Segoe UI Semibold"/>
                <a:ea typeface="Segoe UI Semibold"/>
                <a:cs typeface="Segoe UI Semibold"/>
              </a:defRPr>
            </a:lvl1pPr>
          </a:lstStyle>
          <a:p>
            <a:r>
              <a:rPr lang="en-US"/>
              <a:t>Click to edit title</a:t>
            </a:r>
          </a:p>
        </p:txBody>
      </p:sp>
      <p:sp>
        <p:nvSpPr>
          <p:cNvPr id="32" name="Subtitle Placeholder"/>
          <p:cNvSpPr>
            <a:spLocks noGrp="1"/>
          </p:cNvSpPr>
          <p:nvPr>
            <p:ph type="body" idx="11"/>
          </p:nvPr>
        </p:nvSpPr>
        <p:spPr>
          <a:xfrm>
            <a:off x="548640" y="1125830"/>
            <a:ext cx="11045952" cy="320040"/>
          </a:xfrm>
          <a:prstGeom prst="rect">
            <a:avLst/>
          </a:prstGeom>
        </p:spPr>
        <p:txBody>
          <a:bodyPr wrap="square" lIns="0" tIns="0" rIns="0" bIns="0" anchor="t"/>
          <a:lstStyle>
            <a:lvl1pPr marL="0" indent="0" algn="l">
              <a:buNone/>
              <a:defRPr sz="1500" b="0" spc="0">
                <a:solidFill>
                  <a:srgbClr val="6C6C6C"/>
                </a:solidFill>
                <a:latin typeface="Segoe UI"/>
                <a:ea typeface="Segoe UI"/>
                <a:cs typeface="Segoe UI"/>
              </a:defRPr>
            </a:lvl1pPr>
          </a:lstStyle>
          <a:p>
            <a:r>
              <a:rPr lang="en-US"/>
              <a:t>Click to edit subtitle</a:t>
            </a:r>
          </a:p>
        </p:txBody>
      </p:sp>
      <p:sp>
        <p:nvSpPr>
          <p:cNvPr id="33" name="Content Placeholder"/>
          <p:cNvSpPr>
            <a:spLocks noGrp="1"/>
          </p:cNvSpPr>
          <p:nvPr>
            <p:ph type="body" idx="12"/>
          </p:nvPr>
        </p:nvSpPr>
        <p:spPr>
          <a:xfrm>
            <a:off x="566928" y="1874519"/>
            <a:ext cx="11045952" cy="3840480"/>
          </a:xfrm>
          <a:prstGeom prst="rect">
            <a:avLst/>
          </a:prstGeom>
        </p:spPr>
        <p:txBody>
          <a:bodyPr wrap="square" lIns="0" tIns="0" rIns="0" bIns="0" anchor="t"/>
          <a:lstStyle>
            <a:lvl1pPr marL="0" indent="0" algn="l">
              <a:buNone/>
              <a:defRPr sz="1500" b="0" spc="0">
                <a:solidFill>
                  <a:srgbClr val="2D3748"/>
                </a:solidFill>
                <a:latin typeface="Segoe UI"/>
                <a:ea typeface="Segoe UI"/>
                <a:cs typeface="Segoe UI"/>
              </a:defRPr>
            </a:lvl1pPr>
            <a:lvl2pPr marL="228600" indent="-228600">
              <a:buChar char="•"/>
              <a:defRPr sz="1400">
                <a:solidFill>
                  <a:srgbClr val="4A5568"/>
                </a:solidFill>
                <a:latin typeface="Segoe UI"/>
              </a:defRPr>
            </a:lvl2pPr>
          </a:lstStyle>
          <a:p>
            <a:r>
              <a:rPr lang="en-US"/>
              <a:t>Click to add content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82F6"/>
          </a:solidFill>
          <a:ln w="12700">
            <a:solidFill>
              <a:srgbClr val="3B82F6"/>
            </a:solidFill>
            <a:prstDash val="solid"/>
          </a:ln>
        </p:spPr>
        <p:txBody>
          <a:bodyPr/>
          <a:lstStyle/>
          <a:p>
            <a:endParaRPr lang="en-CA"/>
          </a:p>
        </p:txBody>
      </p:sp>
      <p:sp>
        <p:nvSpPr>
          <p:cNvPr id="3" name="Text 1"/>
          <p:cNvSpPr/>
          <p:nvPr/>
        </p:nvSpPr>
        <p:spPr>
          <a:xfrm>
            <a:off x="530352" y="6473952"/>
            <a:ext cx="4023360" cy="164592"/>
          </a:xfrm>
          <a:prstGeom prst="rect">
            <a:avLst/>
          </a:prstGeom>
          <a:noFill/>
          <a:ln/>
        </p:spPr>
        <p:txBody>
          <a:bodyPr wrap="square" lIns="0" tIns="0" rIns="0" bIns="0" rtlCol="0" anchor="ctr"/>
          <a:lstStyle/>
          <a:p>
            <a:pPr marL="0" indent="0">
              <a:buNone/>
            </a:pPr>
            <a:r>
              <a:rPr lang="en-US" sz="800" kern="0" spc="110">
                <a:solidFill>
                  <a:srgbClr val="718096"/>
                </a:solidFill>
                <a:latin typeface="Segoe UI Semibold" pitchFamily="34" charset="0"/>
                <a:ea typeface="Segoe UI Semibold" pitchFamily="34" charset="-122"/>
                <a:cs typeface="Segoe UI Semibold" pitchFamily="34" charset="-120"/>
              </a:rPr>
              <a:t>INTELLIGENT AI AGENTS • COSMOS DB</a:t>
            </a:r>
            <a:endParaRPr lang="en-US" sz="800"/>
          </a:p>
        </p:txBody>
      </p:sp>
      <p:sp>
        <p:nvSpPr>
          <p:cNvPr id="4" name="Text 2"/>
          <p:cNvSpPr/>
          <p:nvPr/>
        </p:nvSpPr>
        <p:spPr>
          <a:xfrm>
            <a:off x="7351486" y="6464808"/>
            <a:ext cx="3858768" cy="164592"/>
          </a:xfrm>
          <a:prstGeom prst="rect">
            <a:avLst/>
          </a:prstGeom>
          <a:noFill/>
          <a:ln/>
        </p:spPr>
        <p:txBody>
          <a:bodyPr wrap="square" lIns="0" tIns="0" rIns="0" bIns="0" rtlCol="0" anchor="ctr"/>
          <a:lstStyle/>
          <a:p>
            <a:pPr marL="0" indent="0" algn="r">
              <a:buNone/>
            </a:pPr>
            <a:r>
              <a:rPr lang="en-US" sz="800" kern="0" spc="60">
                <a:solidFill>
                  <a:srgbClr val="94A3B8"/>
                </a:solidFill>
                <a:latin typeface="Segoe UI" pitchFamily="34" charset="0"/>
                <a:ea typeface="Segoe UI" pitchFamily="34" charset="-122"/>
                <a:cs typeface="Segoe UI" pitchFamily="34" charset="-120"/>
              </a:rPr>
              <a:t>CONTEXT &gt; MEMORIES &gt; LEARNING &gt; RECALL, </a:t>
            </a:r>
            <a:endParaRPr lang="en-US" sz="800"/>
          </a:p>
        </p:txBody>
      </p:sp>
      <p:sp>
        <p:nvSpPr>
          <p:cNvPr id="25" name="Slide Number Placeholder 0"/>
          <p:cNvSpPr>
            <a:spLocks noGrp="1"/>
          </p:cNvSpPr>
          <p:nvPr>
            <p:ph type="sldNum" sz="quarter" idx="4294967295"/>
          </p:nvPr>
        </p:nvSpPr>
        <p:spPr>
          <a:xfrm>
            <a:off x="11318095" y="6446520"/>
            <a:ext cx="201168"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4748B"/>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31752" y="6428232"/>
            <a:ext cx="201168"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64748B"/>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F26"/>
        </a:solidFill>
        <a:effectLst/>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72554"/>
          </a:solidFill>
          <a:ln w="12700">
            <a:solidFill>
              <a:srgbClr val="172554"/>
            </a:solidFill>
            <a:prstDash val="solid"/>
          </a:ln>
        </p:spPr>
        <p:txBody>
          <a:bodyPr/>
          <a:lstStyle/>
          <a:p>
            <a:endParaRPr lang="en-CA"/>
          </a:p>
        </p:txBody>
      </p:sp>
      <p:sp>
        <p:nvSpPr>
          <p:cNvPr id="3" name="Shape 1"/>
          <p:cNvSpPr/>
          <p:nvPr/>
        </p:nvSpPr>
        <p:spPr>
          <a:xfrm>
            <a:off x="8823960" y="0"/>
            <a:ext cx="73152" cy="6858000"/>
          </a:xfrm>
          <a:prstGeom prst="rect">
            <a:avLst/>
          </a:prstGeom>
          <a:solidFill>
            <a:srgbClr val="0F766E"/>
          </a:solidFill>
          <a:ln w="12700">
            <a:solidFill>
              <a:srgbClr val="0F766E"/>
            </a:solidFill>
            <a:prstDash val="solid"/>
          </a:ln>
        </p:spPr>
        <p:txBody>
          <a:bodyPr/>
          <a:lstStyle/>
          <a:p>
            <a:endParaRPr lang="en-CA"/>
          </a:p>
        </p:txBody>
      </p:sp>
      <p:sp>
        <p:nvSpPr>
          <p:cNvPr id="4" name="Text 2"/>
          <p:cNvSpPr/>
          <p:nvPr/>
        </p:nvSpPr>
        <p:spPr>
          <a:xfrm>
            <a:off x="658368" y="1042416"/>
            <a:ext cx="7315200" cy="1901952"/>
          </a:xfrm>
          <a:prstGeom prst="rect">
            <a:avLst/>
          </a:prstGeom>
          <a:noFill/>
          <a:ln/>
        </p:spPr>
        <p:txBody>
          <a:bodyPr wrap="square" lIns="0" tIns="0" rIns="0" bIns="0" rtlCol="0" anchor="ctr"/>
          <a:lstStyle/>
          <a:p>
            <a:r>
              <a:rPr lang="en-US" sz="3600" spc="-10" dirty="0">
                <a:solidFill>
                  <a:srgbClr val="FFFFFF"/>
                </a:solidFill>
                <a:latin typeface="Segoe UI Light" panose="020B0004020202020204" pitchFamily="34" charset="0"/>
              </a:rPr>
              <a:t>Intelligent AI Agents </a:t>
            </a:r>
            <a:br>
              <a:rPr lang="en-US" sz="3600" spc="-10" dirty="0">
                <a:solidFill>
                  <a:srgbClr val="FFFFFF"/>
                </a:solidFill>
                <a:latin typeface="Segoe UI Light" panose="020B0004020202020204" pitchFamily="34" charset="0"/>
              </a:rPr>
            </a:br>
            <a:r>
              <a:rPr lang="en-US" sz="3600" spc="-10" dirty="0">
                <a:solidFill>
                  <a:schemeClr val="accent2">
                    <a:lumMod val="60000"/>
                    <a:lumOff val="40000"/>
                  </a:schemeClr>
                </a:solidFill>
                <a:latin typeface="Segoe UI Light" panose="020B0004020202020204" pitchFamily="34" charset="0"/>
              </a:rPr>
              <a:t>Backed by </a:t>
            </a:r>
            <a:br>
              <a:rPr lang="en-US" sz="3600" spc="-10" dirty="0">
                <a:solidFill>
                  <a:schemeClr val="accent2">
                    <a:lumMod val="60000"/>
                    <a:lumOff val="40000"/>
                  </a:schemeClr>
                </a:solidFill>
                <a:latin typeface="Segoe UI Light" panose="020B0004020202020204" pitchFamily="34" charset="0"/>
              </a:rPr>
            </a:br>
            <a:r>
              <a:rPr lang="en-US" sz="3600" spc="-10" dirty="0">
                <a:solidFill>
                  <a:srgbClr val="FFFFFF"/>
                </a:solidFill>
                <a:latin typeface="Segoe UI Light" panose="020B0004020202020204" pitchFamily="34" charset="0"/>
              </a:rPr>
              <a:t>Azure Cosmos DB</a:t>
            </a:r>
            <a:endParaRPr lang="en-CA" sz="3200" b="1" dirty="0">
              <a:solidFill>
                <a:srgbClr val="FFFFFF"/>
              </a:solidFill>
              <a:latin typeface="Aptos" panose="020B0004020202020204" pitchFamily="34" charset="0"/>
            </a:endParaRPr>
          </a:p>
          <a:p>
            <a:pPr marL="0" indent="0">
              <a:buNone/>
            </a:pPr>
            <a:endParaRPr lang="en-US" sz="3600" dirty="0"/>
          </a:p>
        </p:txBody>
      </p:sp>
      <p:sp>
        <p:nvSpPr>
          <p:cNvPr id="5" name="Text 3"/>
          <p:cNvSpPr/>
          <p:nvPr/>
        </p:nvSpPr>
        <p:spPr>
          <a:xfrm>
            <a:off x="923544" y="4087368"/>
            <a:ext cx="5091909" cy="749808"/>
          </a:xfrm>
          <a:prstGeom prst="rect">
            <a:avLst/>
          </a:prstGeom>
          <a:noFill/>
          <a:ln/>
        </p:spPr>
        <p:txBody>
          <a:bodyPr wrap="square" lIns="0" tIns="0" rIns="0" bIns="0" rtlCol="0" anchor="ctr">
            <a:normAutofit/>
          </a:bodyPr>
          <a:lstStyle/>
          <a:p>
            <a:r>
              <a:rPr lang="en-US" sz="2400" spc="20" dirty="0">
                <a:solidFill>
                  <a:srgbClr val="C7CED6"/>
                </a:solidFill>
                <a:latin typeface="Segoe UI" panose="020B0004020202020204" pitchFamily="34" charset="0"/>
              </a:rPr>
              <a:t>A production blueprint for context, recall, and learning</a:t>
            </a:r>
            <a:endParaRPr lang="en-CA" sz="2800" dirty="0">
              <a:solidFill>
                <a:srgbClr val="B9B9B9"/>
              </a:solidFill>
              <a:latin typeface="Aptos" panose="020B0004020202020204" pitchFamily="34" charset="0"/>
            </a:endParaRPr>
          </a:p>
        </p:txBody>
      </p:sp>
      <p:sp>
        <p:nvSpPr>
          <p:cNvPr id="6" name="Shape 4"/>
          <p:cNvSpPr/>
          <p:nvPr/>
        </p:nvSpPr>
        <p:spPr>
          <a:xfrm>
            <a:off x="694944" y="3913632"/>
            <a:ext cx="64008" cy="1097280"/>
          </a:xfrm>
          <a:prstGeom prst="rect">
            <a:avLst/>
          </a:prstGeom>
          <a:solidFill>
            <a:srgbClr val="0F766E"/>
          </a:solidFill>
          <a:ln w="12700">
            <a:solidFill>
              <a:srgbClr val="0F766E"/>
            </a:solidFill>
            <a:prstDash val="solid"/>
          </a:ln>
        </p:spPr>
        <p:txBody>
          <a:bodyPr/>
          <a:lstStyle/>
          <a:p>
            <a:endParaRPr lang="en-CA"/>
          </a:p>
        </p:txBody>
      </p:sp>
      <p:grpSp>
        <p:nvGrpSpPr>
          <p:cNvPr id="9" name="Group 8">
            <a:extLst>
              <a:ext uri="{FF2B5EF4-FFF2-40B4-BE49-F238E27FC236}">
                <a16:creationId xmlns:a16="http://schemas.microsoft.com/office/drawing/2014/main" id="{4A3B0C93-8EF8-DDB0-E413-E94894D6A259}"/>
              </a:ext>
            </a:extLst>
          </p:cNvPr>
          <p:cNvGrpSpPr/>
          <p:nvPr/>
        </p:nvGrpSpPr>
        <p:grpSpPr>
          <a:xfrm>
            <a:off x="8924620" y="3931920"/>
            <a:ext cx="3121000" cy="2292096"/>
            <a:chOff x="8897112" y="3794760"/>
            <a:chExt cx="3121000" cy="2292096"/>
          </a:xfrm>
        </p:grpSpPr>
        <p:sp>
          <p:nvSpPr>
            <p:cNvPr id="11" name="Text 8">
              <a:extLst>
                <a:ext uri="{FF2B5EF4-FFF2-40B4-BE49-F238E27FC236}">
                  <a16:creationId xmlns:a16="http://schemas.microsoft.com/office/drawing/2014/main" id="{47172DAA-50E0-9825-16D5-67FD6980E0AE}"/>
                </a:ext>
              </a:extLst>
            </p:cNvPr>
            <p:cNvSpPr/>
            <p:nvPr/>
          </p:nvSpPr>
          <p:spPr>
            <a:xfrm>
              <a:off x="8897112" y="5455920"/>
              <a:ext cx="3121000" cy="365760"/>
            </a:xfrm>
            <a:prstGeom prst="rect">
              <a:avLst/>
            </a:prstGeom>
            <a:noFill/>
            <a:ln/>
          </p:spPr>
          <p:txBody>
            <a:bodyPr wrap="square" lIns="0" tIns="0" rIns="0" bIns="0" rtlCol="0" anchor="ctr"/>
            <a:lstStyle/>
            <a:p>
              <a:pPr marL="0" indent="0" algn="ctr">
                <a:buNone/>
              </a:pPr>
              <a:r>
                <a:rPr lang="en-US" sz="1700" dirty="0">
                  <a:solidFill>
                    <a:srgbClr val="FFFFFF"/>
                  </a:solidFill>
                  <a:latin typeface="Aptos SemiBold" panose="020B0004020202020204" pitchFamily="34" charset="0"/>
                  <a:ea typeface="Segoe UI Semibold" pitchFamily="34" charset="-122"/>
                  <a:cs typeface="Segoe UI Semibold" pitchFamily="34" charset="-120"/>
                </a:rPr>
                <a:t>Alex Drenea</a:t>
              </a:r>
              <a:endParaRPr lang="en-US" sz="1700" dirty="0">
                <a:latin typeface="Aptos SemiBold" panose="020B0004020202020204" pitchFamily="34" charset="0"/>
              </a:endParaRPr>
            </a:p>
          </p:txBody>
        </p:sp>
        <p:sp>
          <p:nvSpPr>
            <p:cNvPr id="12" name="Speaker Title">
              <a:extLst>
                <a:ext uri="{FF2B5EF4-FFF2-40B4-BE49-F238E27FC236}">
                  <a16:creationId xmlns:a16="http://schemas.microsoft.com/office/drawing/2014/main" id="{A1752D89-E0FD-1BE7-B403-713A5004AF10}"/>
                </a:ext>
              </a:extLst>
            </p:cNvPr>
            <p:cNvSpPr txBox="1"/>
            <p:nvPr/>
          </p:nvSpPr>
          <p:spPr>
            <a:xfrm>
              <a:off x="8897112" y="5824728"/>
              <a:ext cx="3121000" cy="262128"/>
            </a:xfrm>
            <a:prstGeom prst="rect">
              <a:avLst/>
            </a:prstGeom>
            <a:noFill/>
          </p:spPr>
          <p:txBody>
            <a:bodyPr wrap="square" lIns="0" tIns="0" rIns="0" bIns="0" rtlCol="0" anchor="ctr"/>
            <a:lstStyle/>
            <a:p>
              <a:pPr marL="0" indent="0" algn="ctr">
                <a:buNone/>
              </a:pPr>
              <a:r>
                <a:rPr lang="en-US" sz="1400" spc="80" dirty="0">
                  <a:solidFill>
                    <a:srgbClr val="94A3B8"/>
                  </a:solidFill>
                  <a:latin typeface="Segoe UI" pitchFamily="34" charset="0"/>
                </a:rPr>
                <a:t>Solutions Architect • </a:t>
              </a:r>
              <a:r>
                <a:rPr lang="en-US" sz="1400" spc="80" dirty="0">
                  <a:solidFill>
                    <a:srgbClr val="94A3B8"/>
                  </a:solidFill>
                  <a:latin typeface="Aptos Light" panose="020B0004020202020204" pitchFamily="34" charset="0"/>
                </a:rPr>
                <a:t>Microsoft</a:t>
              </a:r>
            </a:p>
          </p:txBody>
        </p:sp>
        <p:pic>
          <p:nvPicPr>
            <p:cNvPr id="13" name="Picture 12">
              <a:extLst>
                <a:ext uri="{FF2B5EF4-FFF2-40B4-BE49-F238E27FC236}">
                  <a16:creationId xmlns:a16="http://schemas.microsoft.com/office/drawing/2014/main" id="{9F2A8D7A-FEE7-A8A8-BEC4-909878CC61C2}"/>
                </a:ext>
              </a:extLst>
            </p:cNvPr>
            <p:cNvPicPr>
              <a:picLocks noChangeAspect="1"/>
            </p:cNvPicPr>
            <p:nvPr/>
          </p:nvPicPr>
          <p:blipFill>
            <a:blip r:embed="rId3"/>
            <a:stretch>
              <a:fillRect/>
            </a:stretch>
          </p:blipFill>
          <p:spPr>
            <a:xfrm>
              <a:off x="9731194" y="3794760"/>
              <a:ext cx="1452836" cy="1452836"/>
            </a:xfrm>
            <a:prstGeom prst="ellipse">
              <a:avLst/>
            </a:prstGeom>
            <a:ln w="28575">
              <a:solidFill>
                <a:srgbClr val="5EEAD4"/>
              </a:solidFill>
            </a:ln>
          </p:spPr>
        </p:pic>
      </p:grpSp>
      <p:sp>
        <p:nvSpPr>
          <p:cNvPr id="15" name="TextBox 14">
            <a:extLst>
              <a:ext uri="{FF2B5EF4-FFF2-40B4-BE49-F238E27FC236}">
                <a16:creationId xmlns:a16="http://schemas.microsoft.com/office/drawing/2014/main" id="{51D6BDC7-D131-C360-E6C1-DEC8981C8F17}"/>
              </a:ext>
            </a:extLst>
          </p:cNvPr>
          <p:cNvSpPr txBox="1"/>
          <p:nvPr/>
        </p:nvSpPr>
        <p:spPr>
          <a:xfrm>
            <a:off x="8897112" y="457420"/>
            <a:ext cx="3121000" cy="307777"/>
          </a:xfrm>
          <a:prstGeom prst="rect">
            <a:avLst/>
          </a:prstGeom>
          <a:noFill/>
        </p:spPr>
        <p:txBody>
          <a:bodyPr wrap="square">
            <a:spAutoFit/>
          </a:bodyPr>
          <a:lstStyle/>
          <a:p>
            <a:pPr algn="ctr"/>
            <a:r>
              <a:rPr lang="en-CA" sz="1400" b="1" spc="180" dirty="0">
                <a:solidFill>
                  <a:srgbClr val="5EEAD4"/>
                </a:solidFill>
                <a:latin typeface="Aptos SemiBold" panose="020B0004020202020204" pitchFamily="34" charset="0"/>
              </a:rPr>
              <a:t>PDC 2026 • WINNIPEG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FBB1868-4AFD-21F0-448F-3435DE0F66C1}"/>
              </a:ext>
            </a:extLst>
          </p:cNvPr>
          <p:cNvPicPr>
            <a:picLocks noChangeAspect="1"/>
          </p:cNvPicPr>
          <p:nvPr/>
        </p:nvPicPr>
        <p:blipFill>
          <a:blip r:embed="rId3"/>
          <a:stretch>
            <a:fillRect/>
          </a:stretch>
        </p:blipFill>
        <p:spPr>
          <a:xfrm>
            <a:off x="0" y="252984"/>
            <a:ext cx="12192000" cy="6352032"/>
          </a:xfrm>
          <a:prstGeom prst="rect">
            <a:avLst/>
          </a:prstGeom>
        </p:spPr>
      </p:pic>
    </p:spTree>
    <p:extLst>
      <p:ext uri="{BB962C8B-B14F-4D97-AF65-F5344CB8AC3E}">
        <p14:creationId xmlns:p14="http://schemas.microsoft.com/office/powerpoint/2010/main" val="2118853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4991BE-2470-DB55-1834-D4331AFDCC02}"/>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THE PREMISE</a:t>
            </a:r>
          </a:p>
        </p:txBody>
      </p:sp>
      <p:sp>
        <p:nvSpPr>
          <p:cNvPr id="3" name="Title 2">
            <a:extLst>
              <a:ext uri="{FF2B5EF4-FFF2-40B4-BE49-F238E27FC236}">
                <a16:creationId xmlns:a16="http://schemas.microsoft.com/office/drawing/2014/main" id="{B940BB71-4AF9-CEA3-936D-C7B53C9CEFEE}"/>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dirty="0">
                <a:solidFill>
                  <a:srgbClr val="122038"/>
                </a:solidFill>
                <a:latin typeface="Aptos" panose="020B0004020202020204" pitchFamily="34" charset="0"/>
              </a:rPr>
              <a:t>Agents do not inherently remember</a:t>
            </a:r>
            <a:endParaRPr lang="en-CA" sz="2500" dirty="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076918AE-3FB5-509A-A9A3-55314E80882D}"/>
              </a:ext>
            </a:extLst>
          </p:cNvPr>
          <p:cNvSpPr txBox="1">
            <a:spLocks noGrp="1"/>
          </p:cNvSpPr>
          <p:nvPr>
            <p:ph type="body" idx="11"/>
          </p:nvPr>
        </p:nvSpPr>
        <p:spPr>
          <a:xfrm>
            <a:off x="566928" y="1316736"/>
            <a:ext cx="11045952" cy="320040"/>
          </a:xfrm>
          <a:prstGeom prst="rect">
            <a:avLst/>
          </a:prstGeom>
          <a:noFill/>
        </p:spPr>
        <p:txBody>
          <a:bodyPr vert="horz" lIns="0" tIns="0" rIns="0" bIns="0" rtlCol="0">
            <a:spAutoFit/>
          </a:bodyPr>
          <a:lstStyle/>
          <a:p>
            <a:r>
              <a:rPr lang="en-US" sz="1500" dirty="0">
                <a:solidFill>
                  <a:srgbClr val="6C6C6C"/>
                </a:solidFill>
                <a:latin typeface="Aptos" panose="020B0004020202020204" pitchFamily="34" charset="0"/>
              </a:rPr>
              <a:t>Every useful memory exists because the application captured it, transformed it, found it again, and deliberately supplied it as context.</a:t>
            </a:r>
            <a:endParaRPr lang="en-CA" sz="1500" dirty="0">
              <a:solidFill>
                <a:srgbClr val="6C6C6C"/>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BB5A2A87-56D8-2194-2B11-91DD95A5AA76}"/>
              </a:ext>
            </a:extLst>
          </p:cNvPr>
          <p:cNvSpPr/>
          <p:nvPr/>
        </p:nvSpPr>
        <p:spPr>
          <a:xfrm>
            <a:off x="685800" y="2768600"/>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1F737209-14E8-9A52-A909-3310BCCADA5B}"/>
              </a:ext>
            </a:extLst>
          </p:cNvPr>
          <p:cNvSpPr txBox="1"/>
          <p:nvPr/>
        </p:nvSpPr>
        <p:spPr>
          <a:xfrm>
            <a:off x="9144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…raw experience</a:t>
            </a:r>
          </a:p>
        </p:txBody>
      </p:sp>
      <p:sp>
        <p:nvSpPr>
          <p:cNvPr id="7" name="Rectangle: Rounded Corners 6">
            <a:extLst>
              <a:ext uri="{FF2B5EF4-FFF2-40B4-BE49-F238E27FC236}">
                <a16:creationId xmlns:a16="http://schemas.microsoft.com/office/drawing/2014/main" id="{ABEA4097-8168-2131-CA3E-8C0B33BDA667}"/>
              </a:ext>
            </a:extLst>
          </p:cNvPr>
          <p:cNvSpPr/>
          <p:nvPr/>
        </p:nvSpPr>
        <p:spPr>
          <a:xfrm>
            <a:off x="3429000" y="2768600"/>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4721265B-5A69-2FE8-0BED-0FDAAF639419}"/>
              </a:ext>
            </a:extLst>
          </p:cNvPr>
          <p:cNvSpPr txBox="1"/>
          <p:nvPr/>
        </p:nvSpPr>
        <p:spPr>
          <a:xfrm>
            <a:off x="36576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…durable memories</a:t>
            </a:r>
          </a:p>
        </p:txBody>
      </p:sp>
      <p:sp>
        <p:nvSpPr>
          <p:cNvPr id="9" name="Rectangle: Rounded Corners 8">
            <a:extLst>
              <a:ext uri="{FF2B5EF4-FFF2-40B4-BE49-F238E27FC236}">
                <a16:creationId xmlns:a16="http://schemas.microsoft.com/office/drawing/2014/main" id="{62C12C21-0961-C30A-8B65-F505A9E3865D}"/>
              </a:ext>
            </a:extLst>
          </p:cNvPr>
          <p:cNvSpPr/>
          <p:nvPr/>
        </p:nvSpPr>
        <p:spPr>
          <a:xfrm>
            <a:off x="6268453" y="2768600"/>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3E2DC4A2-0A84-0833-6195-A1BAE73EEB7D}"/>
              </a:ext>
            </a:extLst>
          </p:cNvPr>
          <p:cNvSpPr txBox="1"/>
          <p:nvPr/>
        </p:nvSpPr>
        <p:spPr>
          <a:xfrm>
            <a:off x="64008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…relevant context</a:t>
            </a:r>
          </a:p>
        </p:txBody>
      </p:sp>
      <p:sp>
        <p:nvSpPr>
          <p:cNvPr id="11" name="Rectangle: Rounded Corners 10">
            <a:extLst>
              <a:ext uri="{FF2B5EF4-FFF2-40B4-BE49-F238E27FC236}">
                <a16:creationId xmlns:a16="http://schemas.microsoft.com/office/drawing/2014/main" id="{ED1DFEB9-5202-789B-DDE6-8AEAF2305602}"/>
              </a:ext>
            </a:extLst>
          </p:cNvPr>
          <p:cNvSpPr/>
          <p:nvPr/>
        </p:nvSpPr>
        <p:spPr>
          <a:xfrm>
            <a:off x="9107906" y="2768600"/>
            <a:ext cx="2565400" cy="2387600"/>
          </a:xfrm>
          <a:prstGeom prst="roundRect">
            <a:avLst/>
          </a:prstGeom>
          <a:solidFill>
            <a:schemeClr val="bg1">
              <a:lumMod val="85000"/>
            </a:schemeClr>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TextBox 11">
            <a:extLst>
              <a:ext uri="{FF2B5EF4-FFF2-40B4-BE49-F238E27FC236}">
                <a16:creationId xmlns:a16="http://schemas.microsoft.com/office/drawing/2014/main" id="{3454B53C-D551-34BA-9760-F4A0C0ADFEE3}"/>
              </a:ext>
            </a:extLst>
          </p:cNvPr>
          <p:cNvSpPr txBox="1"/>
          <p:nvPr/>
        </p:nvSpPr>
        <p:spPr>
          <a:xfrm>
            <a:off x="9336506"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…the lifecycle</a:t>
            </a:r>
          </a:p>
        </p:txBody>
      </p:sp>
      <p:sp>
        <p:nvSpPr>
          <p:cNvPr id="13" name="Card 1 Number"/>
          <p:cNvSpPr/>
          <p:nvPr/>
        </p:nvSpPr>
        <p:spPr>
          <a:xfrm>
            <a:off x="914400" y="3015488"/>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1</a:t>
            </a:r>
          </a:p>
        </p:txBody>
      </p:sp>
      <p:sp>
        <p:nvSpPr>
          <p:cNvPr id="14" name="Card 1 Title"/>
          <p:cNvSpPr txBox="1"/>
          <p:nvPr/>
        </p:nvSpPr>
        <p:spPr>
          <a:xfrm>
            <a:off x="14447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CAPTURE</a:t>
            </a:r>
          </a:p>
        </p:txBody>
      </p:sp>
      <p:sp>
        <p:nvSpPr>
          <p:cNvPr id="15" name="Card 2 Number"/>
          <p:cNvSpPr/>
          <p:nvPr/>
        </p:nvSpPr>
        <p:spPr>
          <a:xfrm>
            <a:off x="3657600" y="3015488"/>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16" name="Card 2 Title"/>
          <p:cNvSpPr txBox="1"/>
          <p:nvPr/>
        </p:nvSpPr>
        <p:spPr>
          <a:xfrm>
            <a:off x="41879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DISTILL</a:t>
            </a:r>
          </a:p>
        </p:txBody>
      </p:sp>
      <p:sp>
        <p:nvSpPr>
          <p:cNvPr id="17" name="Card 3 Number"/>
          <p:cNvSpPr/>
          <p:nvPr/>
        </p:nvSpPr>
        <p:spPr>
          <a:xfrm>
            <a:off x="6400800" y="3015488"/>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3</a:t>
            </a:r>
          </a:p>
        </p:txBody>
      </p:sp>
      <p:sp>
        <p:nvSpPr>
          <p:cNvPr id="18" name="Card 3 Title"/>
          <p:cNvSpPr txBox="1"/>
          <p:nvPr/>
        </p:nvSpPr>
        <p:spPr>
          <a:xfrm>
            <a:off x="69311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RETRIEVE</a:t>
            </a:r>
          </a:p>
        </p:txBody>
      </p:sp>
      <p:sp>
        <p:nvSpPr>
          <p:cNvPr id="19" name="Card 4 Number"/>
          <p:cNvSpPr/>
          <p:nvPr/>
        </p:nvSpPr>
        <p:spPr>
          <a:xfrm>
            <a:off x="9336506" y="3015488"/>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20" name="Card 4 Title"/>
          <p:cNvSpPr txBox="1"/>
          <p:nvPr/>
        </p:nvSpPr>
        <p:spPr>
          <a:xfrm>
            <a:off x="9866858"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GOVERN</a:t>
            </a:r>
          </a:p>
        </p:txBody>
      </p:sp>
    </p:spTree>
    <p:extLst>
      <p:ext uri="{BB962C8B-B14F-4D97-AF65-F5344CB8AC3E}">
        <p14:creationId xmlns:p14="http://schemas.microsoft.com/office/powerpoint/2010/main" val="2802613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BEYOND RAG</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Agentic memory: beyond RAG</a:t>
            </a:r>
          </a:p>
        </p:txBody>
      </p:sp>
      <p:sp>
        <p:nvSpPr>
          <p:cNvPr id="4" name="Text Placeholder 3"/>
          <p:cNvSpPr txBox="1">
            <a:spLocks noGrp="1"/>
          </p:cNvSpPr>
          <p:nvPr>
            <p:ph type="body" idx="11"/>
          </p:nvPr>
        </p:nvSpPr>
        <p:spPr>
          <a:xfrm>
            <a:off x="566928" y="1316736"/>
            <a:ext cx="11045952" cy="320040"/>
          </a:xfrm>
          <a:prstGeom prst="rect">
            <a:avLst/>
          </a:prstGeom>
          <a:noFill/>
        </p:spPr>
        <p:txBody>
          <a:bodyPr wrap="square" lIns="0" tIns="0" rIns="0" bIns="0">
            <a:spAutoFit/>
          </a:bodyPr>
          <a:lstStyle/>
          <a:p>
            <a:pPr algn="l"/>
            <a:r>
              <a:rPr sz="1500" b="0">
                <a:solidFill>
                  <a:srgbClr val="6C6C6C"/>
                </a:solidFill>
                <a:latin typeface="Aptos"/>
              </a:rPr>
              <a:t>Knowledge answers what the corpus says; memory answers what happened before and whether to still believe it.</a:t>
            </a:r>
          </a:p>
        </p:txBody>
      </p:sp>
      <p:grpSp>
        <p:nvGrpSpPr>
          <p:cNvPr id="39" name="Group 38">
            <a:extLst>
              <a:ext uri="{FF2B5EF4-FFF2-40B4-BE49-F238E27FC236}">
                <a16:creationId xmlns:a16="http://schemas.microsoft.com/office/drawing/2014/main" id="{837EBF31-B941-9A8D-7B45-0650D808817C}"/>
              </a:ext>
            </a:extLst>
          </p:cNvPr>
          <p:cNvGrpSpPr/>
          <p:nvPr/>
        </p:nvGrpSpPr>
        <p:grpSpPr>
          <a:xfrm>
            <a:off x="685800" y="1965960"/>
            <a:ext cx="4282126" cy="3977639"/>
            <a:chOff x="685800" y="1965960"/>
            <a:chExt cx="4282126" cy="3977639"/>
          </a:xfrm>
        </p:grpSpPr>
        <p:sp>
          <p:nvSpPr>
            <p:cNvPr id="5" name="Rounded Rectangle 4"/>
            <p:cNvSpPr/>
            <p:nvPr/>
          </p:nvSpPr>
          <p:spPr>
            <a:xfrm>
              <a:off x="685800" y="1965960"/>
              <a:ext cx="4282126" cy="3977639"/>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p>
          </p:txBody>
        </p:sp>
        <p:sp>
          <p:nvSpPr>
            <p:cNvPr id="6" name="TextBox 5"/>
            <p:cNvSpPr txBox="1"/>
            <p:nvPr/>
          </p:nvSpPr>
          <p:spPr>
            <a:xfrm>
              <a:off x="1982457" y="2208991"/>
              <a:ext cx="1688812" cy="276999"/>
            </a:xfrm>
            <a:prstGeom prst="rect">
              <a:avLst/>
            </a:prstGeom>
            <a:noFill/>
          </p:spPr>
          <p:txBody>
            <a:bodyPr wrap="square" lIns="0" tIns="0" rIns="0" bIns="0">
              <a:spAutoFit/>
            </a:bodyPr>
            <a:lstStyle/>
            <a:p>
              <a:pPr algn="l"/>
              <a:r>
                <a:rPr b="1" dirty="0">
                  <a:solidFill>
                    <a:schemeClr val="accent1">
                      <a:lumMod val="50000"/>
                    </a:schemeClr>
                  </a:solidFill>
                  <a:latin typeface="Aptos"/>
                </a:rPr>
                <a:t>Traditional RAG</a:t>
              </a:r>
            </a:p>
          </p:txBody>
        </p:sp>
        <p:sp>
          <p:nvSpPr>
            <p:cNvPr id="7" name="Oval 6"/>
            <p:cNvSpPr/>
            <p:nvPr/>
          </p:nvSpPr>
          <p:spPr>
            <a:xfrm>
              <a:off x="1005840" y="278892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8" name="Picture 7" descr="icon-document-bb8e4dde.png"/>
            <p:cNvPicPr>
              <a:picLocks noChangeAspect="1"/>
            </p:cNvPicPr>
            <p:nvPr/>
          </p:nvPicPr>
          <p:blipFill>
            <a:blip r:embed="rId3"/>
            <a:stretch>
              <a:fillRect/>
            </a:stretch>
          </p:blipFill>
          <p:spPr>
            <a:xfrm>
              <a:off x="1115568" y="2898648"/>
              <a:ext cx="237744" cy="237744"/>
            </a:xfrm>
            <a:prstGeom prst="rect">
              <a:avLst/>
            </a:prstGeom>
          </p:spPr>
        </p:pic>
        <p:sp>
          <p:nvSpPr>
            <p:cNvPr id="9" name="TextBox 8"/>
            <p:cNvSpPr txBox="1"/>
            <p:nvPr/>
          </p:nvSpPr>
          <p:spPr>
            <a:xfrm>
              <a:off x="1645920" y="2898648"/>
              <a:ext cx="2954360" cy="215444"/>
            </a:xfrm>
            <a:prstGeom prst="rect">
              <a:avLst/>
            </a:prstGeom>
            <a:noFill/>
          </p:spPr>
          <p:txBody>
            <a:bodyPr wrap="square" lIns="0" tIns="0" rIns="0" bIns="0">
              <a:spAutoFit/>
            </a:bodyPr>
            <a:lstStyle/>
            <a:p>
              <a:pPr algn="l"/>
              <a:r>
                <a:rPr sz="1400" b="0" dirty="0">
                  <a:solidFill>
                    <a:srgbClr val="122038"/>
                  </a:solidFill>
                  <a:latin typeface="Aptos"/>
                </a:rPr>
                <a:t>Static knowledge base</a:t>
              </a:r>
            </a:p>
          </p:txBody>
        </p:sp>
        <p:sp>
          <p:nvSpPr>
            <p:cNvPr id="10" name="Oval 9"/>
            <p:cNvSpPr/>
            <p:nvPr/>
          </p:nvSpPr>
          <p:spPr>
            <a:xfrm>
              <a:off x="1005840" y="3383279"/>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1" name="Picture 10" descr="icon-people-team-a4258136.png"/>
            <p:cNvPicPr>
              <a:picLocks noChangeAspect="1"/>
            </p:cNvPicPr>
            <p:nvPr/>
          </p:nvPicPr>
          <p:blipFill>
            <a:blip r:embed="rId4"/>
            <a:stretch>
              <a:fillRect/>
            </a:stretch>
          </p:blipFill>
          <p:spPr>
            <a:xfrm>
              <a:off x="1115568" y="3493008"/>
              <a:ext cx="237744" cy="237744"/>
            </a:xfrm>
            <a:prstGeom prst="rect">
              <a:avLst/>
            </a:prstGeom>
          </p:spPr>
        </p:pic>
        <p:sp>
          <p:nvSpPr>
            <p:cNvPr id="12" name="TextBox 11"/>
            <p:cNvSpPr txBox="1"/>
            <p:nvPr/>
          </p:nvSpPr>
          <p:spPr>
            <a:xfrm>
              <a:off x="1645920" y="3493008"/>
              <a:ext cx="2954360" cy="215444"/>
            </a:xfrm>
            <a:prstGeom prst="rect">
              <a:avLst/>
            </a:prstGeom>
            <a:noFill/>
          </p:spPr>
          <p:txBody>
            <a:bodyPr wrap="square" lIns="0" tIns="0" rIns="0" bIns="0">
              <a:spAutoFit/>
            </a:bodyPr>
            <a:lstStyle/>
            <a:p>
              <a:pPr algn="l"/>
              <a:r>
                <a:rPr sz="1400" b="0" dirty="0">
                  <a:solidFill>
                    <a:srgbClr val="122038"/>
                  </a:solidFill>
                  <a:latin typeface="Aptos"/>
                </a:rPr>
                <a:t>Same results for everyone</a:t>
              </a:r>
            </a:p>
          </p:txBody>
        </p:sp>
        <p:sp>
          <p:nvSpPr>
            <p:cNvPr id="13" name="Oval 12"/>
            <p:cNvSpPr/>
            <p:nvPr/>
          </p:nvSpPr>
          <p:spPr>
            <a:xfrm>
              <a:off x="1005840" y="3977639"/>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4" name="Picture 13" descr="icon-ruler-0cff8772.png"/>
            <p:cNvPicPr>
              <a:picLocks noChangeAspect="1"/>
            </p:cNvPicPr>
            <p:nvPr/>
          </p:nvPicPr>
          <p:blipFill>
            <a:blip r:embed="rId5"/>
            <a:stretch>
              <a:fillRect/>
            </a:stretch>
          </p:blipFill>
          <p:spPr>
            <a:xfrm>
              <a:off x="1115568" y="4087368"/>
              <a:ext cx="237744" cy="237744"/>
            </a:xfrm>
            <a:prstGeom prst="rect">
              <a:avLst/>
            </a:prstGeom>
          </p:spPr>
        </p:pic>
        <p:sp>
          <p:nvSpPr>
            <p:cNvPr id="15" name="TextBox 14"/>
            <p:cNvSpPr txBox="1"/>
            <p:nvPr/>
          </p:nvSpPr>
          <p:spPr>
            <a:xfrm>
              <a:off x="1645920" y="4087368"/>
              <a:ext cx="2954360" cy="215444"/>
            </a:xfrm>
            <a:prstGeom prst="rect">
              <a:avLst/>
            </a:prstGeom>
            <a:noFill/>
          </p:spPr>
          <p:txBody>
            <a:bodyPr wrap="square" lIns="0" tIns="0" rIns="0" bIns="0">
              <a:spAutoFit/>
            </a:bodyPr>
            <a:lstStyle/>
            <a:p>
              <a:pPr algn="l"/>
              <a:r>
                <a:rPr sz="1400" b="0">
                  <a:solidFill>
                    <a:srgbClr val="122038"/>
                  </a:solidFill>
                  <a:latin typeface="Aptos"/>
                </a:rPr>
                <a:t>Similarity-only retrieval</a:t>
              </a:r>
            </a:p>
          </p:txBody>
        </p:sp>
        <p:sp>
          <p:nvSpPr>
            <p:cNvPr id="16" name="Oval 15"/>
            <p:cNvSpPr/>
            <p:nvPr/>
          </p:nvSpPr>
          <p:spPr>
            <a:xfrm>
              <a:off x="1005840" y="457200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17" name="Picture 16" descr="icon-arrow-sync-208320a1.png"/>
            <p:cNvPicPr>
              <a:picLocks noChangeAspect="1"/>
            </p:cNvPicPr>
            <p:nvPr/>
          </p:nvPicPr>
          <p:blipFill>
            <a:blip r:embed="rId6"/>
            <a:stretch>
              <a:fillRect/>
            </a:stretch>
          </p:blipFill>
          <p:spPr>
            <a:xfrm>
              <a:off x="1115568" y="4681728"/>
              <a:ext cx="237744" cy="237744"/>
            </a:xfrm>
            <a:prstGeom prst="rect">
              <a:avLst/>
            </a:prstGeom>
          </p:spPr>
        </p:pic>
        <p:sp>
          <p:nvSpPr>
            <p:cNvPr id="18" name="TextBox 17"/>
            <p:cNvSpPr txBox="1"/>
            <p:nvPr/>
          </p:nvSpPr>
          <p:spPr>
            <a:xfrm>
              <a:off x="1645920" y="4681728"/>
              <a:ext cx="2954360" cy="215444"/>
            </a:xfrm>
            <a:prstGeom prst="rect">
              <a:avLst/>
            </a:prstGeom>
            <a:noFill/>
          </p:spPr>
          <p:txBody>
            <a:bodyPr wrap="square" lIns="0" tIns="0" rIns="0" bIns="0">
              <a:spAutoFit/>
            </a:bodyPr>
            <a:lstStyle/>
            <a:p>
              <a:pPr algn="l"/>
              <a:r>
                <a:rPr sz="1400" b="0">
                  <a:solidFill>
                    <a:srgbClr val="122038"/>
                  </a:solidFill>
                  <a:latin typeface="Aptos"/>
                </a:rPr>
                <a:t>Stateless</a:t>
              </a:r>
            </a:p>
          </p:txBody>
        </p:sp>
        <p:sp>
          <p:nvSpPr>
            <p:cNvPr id="19" name="Oval 18"/>
            <p:cNvSpPr/>
            <p:nvPr/>
          </p:nvSpPr>
          <p:spPr>
            <a:xfrm>
              <a:off x="1005840" y="516636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20" name="Picture 19" descr="icon-timer-7a68aa71.png"/>
            <p:cNvPicPr>
              <a:picLocks noChangeAspect="1"/>
            </p:cNvPicPr>
            <p:nvPr/>
          </p:nvPicPr>
          <p:blipFill>
            <a:blip r:embed="rId7"/>
            <a:stretch>
              <a:fillRect/>
            </a:stretch>
          </p:blipFill>
          <p:spPr>
            <a:xfrm>
              <a:off x="1115568" y="5276088"/>
              <a:ext cx="237744" cy="237744"/>
            </a:xfrm>
            <a:prstGeom prst="rect">
              <a:avLst/>
            </a:prstGeom>
          </p:spPr>
        </p:pic>
        <p:sp>
          <p:nvSpPr>
            <p:cNvPr id="21" name="TextBox 20"/>
            <p:cNvSpPr txBox="1"/>
            <p:nvPr/>
          </p:nvSpPr>
          <p:spPr>
            <a:xfrm>
              <a:off x="1645920" y="5276088"/>
              <a:ext cx="2954360" cy="215444"/>
            </a:xfrm>
            <a:prstGeom prst="rect">
              <a:avLst/>
            </a:prstGeom>
            <a:noFill/>
          </p:spPr>
          <p:txBody>
            <a:bodyPr wrap="square" lIns="0" tIns="0" rIns="0" bIns="0">
              <a:spAutoFit/>
            </a:bodyPr>
            <a:lstStyle/>
            <a:p>
              <a:pPr algn="l"/>
              <a:r>
                <a:rPr sz="1400" b="0">
                  <a:solidFill>
                    <a:srgbClr val="122038"/>
                  </a:solidFill>
                  <a:latin typeface="Aptos"/>
                </a:rPr>
                <a:t>No concept of importance or recency</a:t>
              </a:r>
            </a:p>
          </p:txBody>
        </p:sp>
      </p:grpSp>
      <p:grpSp>
        <p:nvGrpSpPr>
          <p:cNvPr id="41" name="Group 40">
            <a:extLst>
              <a:ext uri="{FF2B5EF4-FFF2-40B4-BE49-F238E27FC236}">
                <a16:creationId xmlns:a16="http://schemas.microsoft.com/office/drawing/2014/main" id="{0B3AB684-6C95-C2BE-4E15-536327E0BDA0}"/>
              </a:ext>
            </a:extLst>
          </p:cNvPr>
          <p:cNvGrpSpPr/>
          <p:nvPr/>
        </p:nvGrpSpPr>
        <p:grpSpPr>
          <a:xfrm>
            <a:off x="6217919" y="1965960"/>
            <a:ext cx="4282125" cy="3977639"/>
            <a:chOff x="6217919" y="1965960"/>
            <a:chExt cx="4282125" cy="3977639"/>
          </a:xfrm>
        </p:grpSpPr>
        <p:sp>
          <p:nvSpPr>
            <p:cNvPr id="22" name="Rounded Rectangle 21"/>
            <p:cNvSpPr/>
            <p:nvPr/>
          </p:nvSpPr>
          <p:spPr>
            <a:xfrm>
              <a:off x="6217919" y="1965960"/>
              <a:ext cx="4282125" cy="3977639"/>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000"/>
            </a:p>
          </p:txBody>
        </p:sp>
        <p:sp>
          <p:nvSpPr>
            <p:cNvPr id="23" name="TextBox 22"/>
            <p:cNvSpPr txBox="1"/>
            <p:nvPr/>
          </p:nvSpPr>
          <p:spPr>
            <a:xfrm>
              <a:off x="7518581" y="2221332"/>
              <a:ext cx="1750547" cy="276999"/>
            </a:xfrm>
            <a:prstGeom prst="rect">
              <a:avLst/>
            </a:prstGeom>
            <a:noFill/>
          </p:spPr>
          <p:txBody>
            <a:bodyPr wrap="square" lIns="0" tIns="0" rIns="0" bIns="0">
              <a:spAutoFit/>
            </a:bodyPr>
            <a:lstStyle/>
            <a:p>
              <a:pPr algn="l"/>
              <a:r>
                <a:rPr b="1" dirty="0">
                  <a:solidFill>
                    <a:schemeClr val="accent1">
                      <a:lumMod val="50000"/>
                    </a:schemeClr>
                  </a:solidFill>
                  <a:latin typeface="Aptos"/>
                </a:rPr>
                <a:t>Agentic Memory</a:t>
              </a:r>
            </a:p>
          </p:txBody>
        </p:sp>
        <p:sp>
          <p:nvSpPr>
            <p:cNvPr id="24" name="Oval 23"/>
            <p:cNvSpPr/>
            <p:nvPr/>
          </p:nvSpPr>
          <p:spPr>
            <a:xfrm>
              <a:off x="6537959" y="278892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25" name="Picture 24" descr="icon-brain-7ceffc59.png"/>
            <p:cNvPicPr>
              <a:picLocks noChangeAspect="1"/>
            </p:cNvPicPr>
            <p:nvPr/>
          </p:nvPicPr>
          <p:blipFill>
            <a:blip r:embed="rId8"/>
            <a:stretch>
              <a:fillRect/>
            </a:stretch>
          </p:blipFill>
          <p:spPr>
            <a:xfrm>
              <a:off x="6647688" y="2898648"/>
              <a:ext cx="237744" cy="237744"/>
            </a:xfrm>
            <a:prstGeom prst="rect">
              <a:avLst/>
            </a:prstGeom>
          </p:spPr>
        </p:pic>
        <p:sp>
          <p:nvSpPr>
            <p:cNvPr id="26" name="TextBox 25"/>
            <p:cNvSpPr txBox="1"/>
            <p:nvPr/>
          </p:nvSpPr>
          <p:spPr>
            <a:xfrm>
              <a:off x="7178040" y="2898648"/>
              <a:ext cx="3050042" cy="215444"/>
            </a:xfrm>
            <a:prstGeom prst="rect">
              <a:avLst/>
            </a:prstGeom>
            <a:noFill/>
          </p:spPr>
          <p:txBody>
            <a:bodyPr wrap="square" lIns="0" tIns="0" rIns="0" bIns="0">
              <a:spAutoFit/>
            </a:bodyPr>
            <a:lstStyle/>
            <a:p>
              <a:pPr algn="l"/>
              <a:r>
                <a:rPr sz="1400" b="0">
                  <a:solidFill>
                    <a:srgbClr val="122038"/>
                  </a:solidFill>
                  <a:latin typeface="Aptos"/>
                </a:rPr>
                <a:t>Living memory</a:t>
              </a:r>
            </a:p>
          </p:txBody>
        </p:sp>
        <p:sp>
          <p:nvSpPr>
            <p:cNvPr id="27" name="Oval 26"/>
            <p:cNvSpPr/>
            <p:nvPr/>
          </p:nvSpPr>
          <p:spPr>
            <a:xfrm>
              <a:off x="6537959" y="3383279"/>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28" name="Picture 27" descr="icon-person-af87c106.png"/>
            <p:cNvPicPr>
              <a:picLocks noChangeAspect="1"/>
            </p:cNvPicPr>
            <p:nvPr/>
          </p:nvPicPr>
          <p:blipFill>
            <a:blip r:embed="rId9"/>
            <a:stretch>
              <a:fillRect/>
            </a:stretch>
          </p:blipFill>
          <p:spPr>
            <a:xfrm>
              <a:off x="6647688" y="3493008"/>
              <a:ext cx="237744" cy="237744"/>
            </a:xfrm>
            <a:prstGeom prst="rect">
              <a:avLst/>
            </a:prstGeom>
          </p:spPr>
        </p:pic>
        <p:sp>
          <p:nvSpPr>
            <p:cNvPr id="29" name="TextBox 28"/>
            <p:cNvSpPr txBox="1"/>
            <p:nvPr/>
          </p:nvSpPr>
          <p:spPr>
            <a:xfrm>
              <a:off x="7178040" y="3493008"/>
              <a:ext cx="3050042" cy="215444"/>
            </a:xfrm>
            <a:prstGeom prst="rect">
              <a:avLst/>
            </a:prstGeom>
            <a:noFill/>
          </p:spPr>
          <p:txBody>
            <a:bodyPr wrap="square" lIns="0" tIns="0" rIns="0" bIns="0">
              <a:spAutoFit/>
            </a:bodyPr>
            <a:lstStyle/>
            <a:p>
              <a:pPr algn="l"/>
              <a:r>
                <a:rPr sz="1400" b="0">
                  <a:solidFill>
                    <a:srgbClr val="122038"/>
                  </a:solidFill>
                  <a:latin typeface="Aptos"/>
                </a:rPr>
                <a:t>Personalized per user</a:t>
              </a:r>
            </a:p>
          </p:txBody>
        </p:sp>
        <p:sp>
          <p:nvSpPr>
            <p:cNvPr id="30" name="Oval 29"/>
            <p:cNvSpPr/>
            <p:nvPr/>
          </p:nvSpPr>
          <p:spPr>
            <a:xfrm>
              <a:off x="6537959" y="3977639"/>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1" name="Picture 30" descr="icon-scales-46b21a17.png"/>
            <p:cNvPicPr>
              <a:picLocks noChangeAspect="1"/>
            </p:cNvPicPr>
            <p:nvPr/>
          </p:nvPicPr>
          <p:blipFill>
            <a:blip r:embed="rId10"/>
            <a:stretch>
              <a:fillRect/>
            </a:stretch>
          </p:blipFill>
          <p:spPr>
            <a:xfrm>
              <a:off x="6647688" y="4087368"/>
              <a:ext cx="237744" cy="237744"/>
            </a:xfrm>
            <a:prstGeom prst="rect">
              <a:avLst/>
            </a:prstGeom>
          </p:spPr>
        </p:pic>
        <p:sp>
          <p:nvSpPr>
            <p:cNvPr id="32" name="TextBox 31"/>
            <p:cNvSpPr txBox="1"/>
            <p:nvPr/>
          </p:nvSpPr>
          <p:spPr>
            <a:xfrm>
              <a:off x="7178040" y="4087368"/>
              <a:ext cx="3050042" cy="215444"/>
            </a:xfrm>
            <a:prstGeom prst="rect">
              <a:avLst/>
            </a:prstGeom>
            <a:noFill/>
          </p:spPr>
          <p:txBody>
            <a:bodyPr wrap="square" lIns="0" tIns="0" rIns="0" bIns="0">
              <a:spAutoFit/>
            </a:bodyPr>
            <a:lstStyle/>
            <a:p>
              <a:pPr algn="l"/>
              <a:r>
                <a:rPr sz="1400" b="0">
                  <a:solidFill>
                    <a:srgbClr val="122038"/>
                  </a:solidFill>
                  <a:latin typeface="Aptos"/>
                </a:rPr>
                <a:t>Salience + confidence</a:t>
              </a:r>
            </a:p>
          </p:txBody>
        </p:sp>
        <p:sp>
          <p:nvSpPr>
            <p:cNvPr id="33" name="Oval 32"/>
            <p:cNvSpPr/>
            <p:nvPr/>
          </p:nvSpPr>
          <p:spPr>
            <a:xfrm>
              <a:off x="6537959" y="457200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4" name="Picture 33" descr="icon-data-trending-364ad576.png"/>
            <p:cNvPicPr>
              <a:picLocks noChangeAspect="1"/>
            </p:cNvPicPr>
            <p:nvPr/>
          </p:nvPicPr>
          <p:blipFill>
            <a:blip r:embed="rId11"/>
            <a:stretch>
              <a:fillRect/>
            </a:stretch>
          </p:blipFill>
          <p:spPr>
            <a:xfrm>
              <a:off x="6647688" y="4681728"/>
              <a:ext cx="237744" cy="237744"/>
            </a:xfrm>
            <a:prstGeom prst="rect">
              <a:avLst/>
            </a:prstGeom>
          </p:spPr>
        </p:pic>
        <p:sp>
          <p:nvSpPr>
            <p:cNvPr id="35" name="TextBox 34"/>
            <p:cNvSpPr txBox="1"/>
            <p:nvPr/>
          </p:nvSpPr>
          <p:spPr>
            <a:xfrm>
              <a:off x="7178040" y="4681728"/>
              <a:ext cx="3050042" cy="215444"/>
            </a:xfrm>
            <a:prstGeom prst="rect">
              <a:avLst/>
            </a:prstGeom>
            <a:noFill/>
          </p:spPr>
          <p:txBody>
            <a:bodyPr wrap="square" lIns="0" tIns="0" rIns="0" bIns="0">
              <a:spAutoFit/>
            </a:bodyPr>
            <a:lstStyle/>
            <a:p>
              <a:pPr algn="l"/>
              <a:r>
                <a:rPr sz="1400" b="0">
                  <a:solidFill>
                    <a:srgbClr val="122038"/>
                  </a:solidFill>
                  <a:latin typeface="Aptos"/>
                </a:rPr>
                <a:t>Learns over time</a:t>
              </a:r>
            </a:p>
          </p:txBody>
        </p:sp>
        <p:sp>
          <p:nvSpPr>
            <p:cNvPr id="36" name="Oval 35"/>
            <p:cNvSpPr/>
            <p:nvPr/>
          </p:nvSpPr>
          <p:spPr>
            <a:xfrm>
              <a:off x="6537959" y="5166360"/>
              <a:ext cx="457200" cy="457200"/>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7" name="Picture 36" descr="icon-link-24e0f55b.png"/>
            <p:cNvPicPr>
              <a:picLocks noChangeAspect="1"/>
            </p:cNvPicPr>
            <p:nvPr/>
          </p:nvPicPr>
          <p:blipFill>
            <a:blip r:embed="rId12"/>
            <a:stretch>
              <a:fillRect/>
            </a:stretch>
          </p:blipFill>
          <p:spPr>
            <a:xfrm>
              <a:off x="6647688" y="5276088"/>
              <a:ext cx="237744" cy="237744"/>
            </a:xfrm>
            <a:prstGeom prst="rect">
              <a:avLst/>
            </a:prstGeom>
          </p:spPr>
        </p:pic>
        <p:sp>
          <p:nvSpPr>
            <p:cNvPr id="38" name="TextBox 37"/>
            <p:cNvSpPr txBox="1"/>
            <p:nvPr/>
          </p:nvSpPr>
          <p:spPr>
            <a:xfrm>
              <a:off x="7178040" y="5276088"/>
              <a:ext cx="3050042" cy="215444"/>
            </a:xfrm>
            <a:prstGeom prst="rect">
              <a:avLst/>
            </a:prstGeom>
            <a:noFill/>
          </p:spPr>
          <p:txBody>
            <a:bodyPr wrap="square" lIns="0" tIns="0" rIns="0" bIns="0">
              <a:spAutoFit/>
            </a:bodyPr>
            <a:lstStyle/>
            <a:p>
              <a:pPr algn="l"/>
              <a:r>
                <a:rPr sz="1400" b="0" dirty="0">
                  <a:solidFill>
                    <a:srgbClr val="122038"/>
                  </a:solidFill>
                  <a:latin typeface="Aptos"/>
                </a:rPr>
                <a:t>Cross-session persistence</a:t>
              </a:r>
              <a:r>
                <a:rPr lang="en-US" sz="1400" b="0" dirty="0">
                  <a:solidFill>
                    <a:srgbClr val="122038"/>
                  </a:solidFill>
                  <a:latin typeface="Aptos"/>
                </a:rPr>
                <a:t> &amp; continuity</a:t>
              </a:r>
              <a:endParaRPr sz="1400" b="0" dirty="0">
                <a:solidFill>
                  <a:srgbClr val="122038"/>
                </a:solidFill>
                <a:latin typeface="Aptos"/>
              </a:endParaRPr>
            </a:p>
          </p:txBody>
        </p:sp>
      </p:grpSp>
      <p:sp>
        <p:nvSpPr>
          <p:cNvPr id="42" name="Arrow: Right 41">
            <a:extLst>
              <a:ext uri="{FF2B5EF4-FFF2-40B4-BE49-F238E27FC236}">
                <a16:creationId xmlns:a16="http://schemas.microsoft.com/office/drawing/2014/main" id="{FC997252-F0B0-33CF-65EF-8CA2E3B8DC0E}"/>
              </a:ext>
            </a:extLst>
          </p:cNvPr>
          <p:cNvSpPr/>
          <p:nvPr/>
        </p:nvSpPr>
        <p:spPr>
          <a:xfrm>
            <a:off x="5165889" y="3693063"/>
            <a:ext cx="930111" cy="3943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STATE VS MEMORY</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State and memory have different lifetimes</a:t>
            </a:r>
          </a:p>
        </p:txBody>
      </p:sp>
      <p:sp>
        <p:nvSpPr>
          <p:cNvPr id="4" name="Text Placeholder 3"/>
          <p:cNvSpPr txBox="1">
            <a:spLocks noGrp="1"/>
          </p:cNvSpPr>
          <p:nvPr>
            <p:ph type="body" idx="11"/>
          </p:nvPr>
        </p:nvSpPr>
        <p:spPr>
          <a:xfrm>
            <a:off x="566928" y="1316736"/>
            <a:ext cx="11045952" cy="320040"/>
          </a:xfrm>
          <a:prstGeom prst="rect">
            <a:avLst/>
          </a:prstGeom>
          <a:noFill/>
        </p:spPr>
        <p:txBody>
          <a:bodyPr wrap="square" lIns="0" tIns="0" rIns="0" bIns="0">
            <a:spAutoFit/>
          </a:bodyPr>
          <a:lstStyle/>
          <a:p>
            <a:pPr algn="l"/>
            <a:r>
              <a:rPr sz="1500" b="0">
                <a:solidFill>
                  <a:srgbClr val="6C6C6C"/>
                </a:solidFill>
                <a:latin typeface="Aptos"/>
              </a:rPr>
              <a:t>Ask what each artifact's intended lifetime and retrieval job is — not simply where history is stored.</a:t>
            </a:r>
          </a:p>
        </p:txBody>
      </p:sp>
      <p:sp>
        <p:nvSpPr>
          <p:cNvPr id="5" name="Rounded Rectangle 4"/>
          <p:cNvSpPr/>
          <p:nvPr/>
        </p:nvSpPr>
        <p:spPr>
          <a:xfrm>
            <a:off x="557864" y="2517155"/>
            <a:ext cx="3444240" cy="246888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9" name="Group 18">
            <a:extLst>
              <a:ext uri="{FF2B5EF4-FFF2-40B4-BE49-F238E27FC236}">
                <a16:creationId xmlns:a16="http://schemas.microsoft.com/office/drawing/2014/main" id="{FD704721-B876-7B6A-B999-AA29CC4FABF3}"/>
              </a:ext>
            </a:extLst>
          </p:cNvPr>
          <p:cNvGrpSpPr/>
          <p:nvPr/>
        </p:nvGrpSpPr>
        <p:grpSpPr>
          <a:xfrm>
            <a:off x="969344" y="2695704"/>
            <a:ext cx="566928" cy="566928"/>
            <a:chOff x="2124456" y="2377439"/>
            <a:chExt cx="566928" cy="566928"/>
          </a:xfrm>
        </p:grpSpPr>
        <p:sp>
          <p:nvSpPr>
            <p:cNvPr id="6" name="Oval 5"/>
            <p:cNvSpPr/>
            <p:nvPr/>
          </p:nvSpPr>
          <p:spPr>
            <a:xfrm>
              <a:off x="2124456"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save-f2462888.png"/>
            <p:cNvPicPr>
              <a:picLocks noChangeAspect="1"/>
            </p:cNvPicPr>
            <p:nvPr/>
          </p:nvPicPr>
          <p:blipFill>
            <a:blip r:embed="rId3"/>
            <a:stretch>
              <a:fillRect/>
            </a:stretch>
          </p:blipFill>
          <p:spPr>
            <a:xfrm>
              <a:off x="2260518" y="2513502"/>
              <a:ext cx="294802" cy="294802"/>
            </a:xfrm>
            <a:prstGeom prst="rect">
              <a:avLst/>
            </a:prstGeom>
          </p:spPr>
        </p:pic>
      </p:grpSp>
      <p:sp>
        <p:nvSpPr>
          <p:cNvPr id="8" name="TextBox 7"/>
          <p:cNvSpPr txBox="1"/>
          <p:nvPr/>
        </p:nvSpPr>
        <p:spPr>
          <a:xfrm>
            <a:off x="1676906" y="2807545"/>
            <a:ext cx="2325198" cy="307777"/>
          </a:xfrm>
          <a:prstGeom prst="rect">
            <a:avLst/>
          </a:prstGeom>
          <a:noFill/>
        </p:spPr>
        <p:txBody>
          <a:bodyPr wrap="square" lIns="0" tIns="0" rIns="0" bIns="0">
            <a:spAutoFit/>
          </a:bodyPr>
          <a:lstStyle/>
          <a:p>
            <a:pPr algn="l"/>
            <a:r>
              <a:rPr sz="2000" b="1" dirty="0">
                <a:solidFill>
                  <a:srgbClr val="122038"/>
                </a:solidFill>
                <a:latin typeface="Aptos"/>
              </a:rPr>
              <a:t>Stat</a:t>
            </a:r>
            <a:r>
              <a:rPr sz="2000" b="1" u="sng" dirty="0">
                <a:solidFill>
                  <a:srgbClr val="122038"/>
                </a:solidFill>
                <a:latin typeface="Aptos"/>
              </a:rPr>
              <a:t>e</a:t>
            </a:r>
          </a:p>
        </p:txBody>
      </p:sp>
      <p:sp>
        <p:nvSpPr>
          <p:cNvPr id="9" name="Rounded Rectangle 8"/>
          <p:cNvSpPr/>
          <p:nvPr/>
        </p:nvSpPr>
        <p:spPr>
          <a:xfrm>
            <a:off x="4413584" y="2568786"/>
            <a:ext cx="3444240" cy="246888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20" name="Group 19">
            <a:extLst>
              <a:ext uri="{FF2B5EF4-FFF2-40B4-BE49-F238E27FC236}">
                <a16:creationId xmlns:a16="http://schemas.microsoft.com/office/drawing/2014/main" id="{9E8C13C3-04A8-85DF-0959-F61852E8F916}"/>
              </a:ext>
            </a:extLst>
          </p:cNvPr>
          <p:cNvGrpSpPr/>
          <p:nvPr/>
        </p:nvGrpSpPr>
        <p:grpSpPr>
          <a:xfrm>
            <a:off x="4642184" y="2695704"/>
            <a:ext cx="566928" cy="566928"/>
            <a:chOff x="5797296" y="2377439"/>
            <a:chExt cx="566928" cy="566928"/>
          </a:xfrm>
        </p:grpSpPr>
        <p:sp>
          <p:nvSpPr>
            <p:cNvPr id="10" name="Oval 9"/>
            <p:cNvSpPr/>
            <p:nvPr/>
          </p:nvSpPr>
          <p:spPr>
            <a:xfrm>
              <a:off x="5797296"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chat-multiple-e1ce7a55.png"/>
            <p:cNvPicPr>
              <a:picLocks noChangeAspect="1"/>
            </p:cNvPicPr>
            <p:nvPr/>
          </p:nvPicPr>
          <p:blipFill>
            <a:blip r:embed="rId4"/>
            <a:stretch>
              <a:fillRect/>
            </a:stretch>
          </p:blipFill>
          <p:spPr>
            <a:xfrm>
              <a:off x="5933358" y="2513502"/>
              <a:ext cx="294802" cy="294802"/>
            </a:xfrm>
            <a:prstGeom prst="rect">
              <a:avLst/>
            </a:prstGeom>
          </p:spPr>
        </p:pic>
      </p:grpSp>
      <p:sp>
        <p:nvSpPr>
          <p:cNvPr id="12" name="TextBox 11"/>
          <p:cNvSpPr txBox="1"/>
          <p:nvPr/>
        </p:nvSpPr>
        <p:spPr>
          <a:xfrm>
            <a:off x="4633040" y="3435005"/>
            <a:ext cx="2987040" cy="1200329"/>
          </a:xfrm>
          <a:prstGeom prst="rect">
            <a:avLst/>
          </a:prstGeom>
          <a:noFill/>
        </p:spPr>
        <p:txBody>
          <a:bodyPr wrap="square" lIns="0" tIns="0" rIns="0" bIns="0">
            <a:spAutoFit/>
          </a:bodyPr>
          <a:lstStyle/>
          <a:p>
            <a:pPr algn="l"/>
            <a:r>
              <a:rPr sz="1600" b="0" dirty="0">
                <a:solidFill>
                  <a:srgbClr val="6C6C6C"/>
                </a:solidFill>
                <a:latin typeface="Aptos"/>
              </a:rPr>
              <a:t>Recent turns, working context, tool results</a:t>
            </a:r>
            <a:endParaRPr lang="en-CA" sz="1600" b="0" dirty="0">
              <a:solidFill>
                <a:srgbClr val="6C6C6C"/>
              </a:solidFill>
              <a:latin typeface="Aptos"/>
            </a:endParaRPr>
          </a:p>
          <a:p>
            <a:pPr algn="l"/>
            <a:endParaRPr lang="en-US" sz="1600" b="0" dirty="0">
              <a:solidFill>
                <a:srgbClr val="6C6C6C"/>
              </a:solidFill>
              <a:latin typeface="Aptos"/>
            </a:endParaRPr>
          </a:p>
          <a:p>
            <a:pPr algn="l"/>
            <a:endParaRPr sz="1600" b="0" dirty="0">
              <a:solidFill>
                <a:srgbClr val="6C6C6C"/>
              </a:solidFill>
              <a:latin typeface="Aptos"/>
            </a:endParaRPr>
          </a:p>
          <a:p>
            <a:pPr algn="l"/>
            <a:r>
              <a:rPr sz="1400" b="1" dirty="0">
                <a:solidFill>
                  <a:srgbClr val="6C6C6C"/>
                </a:solidFill>
                <a:latin typeface="Aptos"/>
              </a:rPr>
              <a:t>Lifetime</a:t>
            </a:r>
            <a:r>
              <a:rPr sz="1400" b="0" dirty="0">
                <a:solidFill>
                  <a:srgbClr val="6C6C6C"/>
                </a:solidFill>
                <a:latin typeface="Aptos"/>
              </a:rPr>
              <a:t>: the session</a:t>
            </a:r>
          </a:p>
        </p:txBody>
      </p:sp>
      <p:sp>
        <p:nvSpPr>
          <p:cNvPr id="13" name="Rounded Rectangle 12"/>
          <p:cNvSpPr/>
          <p:nvPr/>
        </p:nvSpPr>
        <p:spPr>
          <a:xfrm>
            <a:off x="8086424" y="2568786"/>
            <a:ext cx="3444240" cy="246888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21" name="Group 20">
            <a:extLst>
              <a:ext uri="{FF2B5EF4-FFF2-40B4-BE49-F238E27FC236}">
                <a16:creationId xmlns:a16="http://schemas.microsoft.com/office/drawing/2014/main" id="{618C1D12-8264-B991-1507-28DEE887A63F}"/>
              </a:ext>
            </a:extLst>
          </p:cNvPr>
          <p:cNvGrpSpPr/>
          <p:nvPr/>
        </p:nvGrpSpPr>
        <p:grpSpPr>
          <a:xfrm>
            <a:off x="8315024" y="2695704"/>
            <a:ext cx="566928" cy="566928"/>
            <a:chOff x="9470136" y="2377439"/>
            <a:chExt cx="566928" cy="566928"/>
          </a:xfrm>
        </p:grpSpPr>
        <p:sp>
          <p:nvSpPr>
            <p:cNvPr id="14" name="Oval 13"/>
            <p:cNvSpPr/>
            <p:nvPr/>
          </p:nvSpPr>
          <p:spPr>
            <a:xfrm>
              <a:off x="9470136"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on-brain-7ceffc59.png"/>
            <p:cNvPicPr>
              <a:picLocks noChangeAspect="1"/>
            </p:cNvPicPr>
            <p:nvPr/>
          </p:nvPicPr>
          <p:blipFill>
            <a:blip r:embed="rId5"/>
            <a:stretch>
              <a:fillRect/>
            </a:stretch>
          </p:blipFill>
          <p:spPr>
            <a:xfrm>
              <a:off x="9606198" y="2513502"/>
              <a:ext cx="294802" cy="294802"/>
            </a:xfrm>
            <a:prstGeom prst="rect">
              <a:avLst/>
            </a:prstGeom>
          </p:spPr>
        </p:pic>
      </p:grpSp>
      <p:sp>
        <p:nvSpPr>
          <p:cNvPr id="16" name="TextBox 15"/>
          <p:cNvSpPr txBox="1"/>
          <p:nvPr/>
        </p:nvSpPr>
        <p:spPr>
          <a:xfrm>
            <a:off x="8353632" y="3397652"/>
            <a:ext cx="2987040" cy="1231106"/>
          </a:xfrm>
          <a:prstGeom prst="rect">
            <a:avLst/>
          </a:prstGeom>
          <a:noFill/>
        </p:spPr>
        <p:txBody>
          <a:bodyPr wrap="square" lIns="0" tIns="0" rIns="0" bIns="0">
            <a:spAutoFit/>
          </a:bodyPr>
          <a:lstStyle/>
          <a:p>
            <a:pPr algn="l"/>
            <a:r>
              <a:rPr sz="1600" b="0" dirty="0">
                <a:solidFill>
                  <a:srgbClr val="6C6C6C"/>
                </a:solidFill>
                <a:latin typeface="Aptos"/>
              </a:rPr>
              <a:t>Facts, summaries, procedures, episodes</a:t>
            </a:r>
          </a:p>
          <a:p>
            <a:pPr algn="l"/>
            <a:endParaRPr lang="en-US" sz="1600" b="0" dirty="0">
              <a:solidFill>
                <a:srgbClr val="6C6C6C"/>
              </a:solidFill>
              <a:latin typeface="Aptos"/>
            </a:endParaRPr>
          </a:p>
          <a:p>
            <a:pPr algn="l"/>
            <a:endParaRPr lang="en-US" sz="1600" b="0" dirty="0">
              <a:solidFill>
                <a:srgbClr val="6C6C6C"/>
              </a:solidFill>
              <a:latin typeface="Aptos"/>
            </a:endParaRPr>
          </a:p>
          <a:p>
            <a:pPr algn="l"/>
            <a:r>
              <a:rPr sz="1400" b="1" dirty="0">
                <a:solidFill>
                  <a:srgbClr val="6C6C6C"/>
                </a:solidFill>
                <a:latin typeface="Aptos"/>
              </a:rPr>
              <a:t>Lifetime</a:t>
            </a:r>
            <a:r>
              <a:rPr sz="1400" b="0" dirty="0">
                <a:solidFill>
                  <a:srgbClr val="6C6C6C"/>
                </a:solidFill>
                <a:latin typeface="Aptos"/>
              </a:rPr>
              <a:t>: potentially forever</a:t>
            </a:r>
          </a:p>
        </p:txBody>
      </p:sp>
      <p:sp>
        <p:nvSpPr>
          <p:cNvPr id="23" name="TextBox 22">
            <a:extLst>
              <a:ext uri="{FF2B5EF4-FFF2-40B4-BE49-F238E27FC236}">
                <a16:creationId xmlns:a16="http://schemas.microsoft.com/office/drawing/2014/main" id="{9595A7B5-4190-243E-9AD5-1881DB3619E8}"/>
              </a:ext>
            </a:extLst>
          </p:cNvPr>
          <p:cNvSpPr txBox="1"/>
          <p:nvPr/>
        </p:nvSpPr>
        <p:spPr>
          <a:xfrm>
            <a:off x="1015064" y="3397654"/>
            <a:ext cx="2735669" cy="1354217"/>
          </a:xfrm>
          <a:prstGeom prst="rect">
            <a:avLst/>
          </a:prstGeom>
          <a:noFill/>
        </p:spPr>
        <p:txBody>
          <a:bodyPr wrap="square" lIns="0" tIns="0" rIns="0" bIns="0">
            <a:spAutoFit/>
          </a:bodyPr>
          <a:lstStyle/>
          <a:p>
            <a:pPr algn="l"/>
            <a:r>
              <a:rPr sz="1600" b="0" dirty="0">
                <a:solidFill>
                  <a:srgbClr val="6C6C6C"/>
                </a:solidFill>
                <a:latin typeface="Aptos"/>
              </a:rPr>
              <a:t>Intermediate values used by the next step</a:t>
            </a:r>
            <a:endParaRPr lang="en-US" sz="1600" b="0" dirty="0">
              <a:solidFill>
                <a:srgbClr val="6C6C6C"/>
              </a:solidFill>
              <a:latin typeface="Aptos"/>
            </a:endParaRPr>
          </a:p>
          <a:p>
            <a:pPr algn="l"/>
            <a:endParaRPr lang="en-CA" sz="1400" dirty="0">
              <a:solidFill>
                <a:srgbClr val="6C6C6C"/>
              </a:solidFill>
              <a:latin typeface="Aptos"/>
            </a:endParaRPr>
          </a:p>
          <a:p>
            <a:pPr algn="l"/>
            <a:endParaRPr lang="en-US" sz="1400" b="0" dirty="0">
              <a:solidFill>
                <a:srgbClr val="6C6C6C"/>
              </a:solidFill>
              <a:latin typeface="Aptos"/>
            </a:endParaRPr>
          </a:p>
          <a:p>
            <a:pPr algn="l"/>
            <a:endParaRPr sz="1400" b="0" dirty="0">
              <a:solidFill>
                <a:srgbClr val="6C6C6C"/>
              </a:solidFill>
              <a:latin typeface="Aptos"/>
            </a:endParaRPr>
          </a:p>
          <a:p>
            <a:pPr algn="l"/>
            <a:r>
              <a:rPr sz="1400" b="1" dirty="0">
                <a:solidFill>
                  <a:srgbClr val="6C6C6C"/>
                </a:solidFill>
                <a:latin typeface="Aptos"/>
              </a:rPr>
              <a:t>Lifetime</a:t>
            </a:r>
            <a:r>
              <a:rPr sz="1400" b="0" dirty="0">
                <a:solidFill>
                  <a:srgbClr val="6C6C6C"/>
                </a:solidFill>
                <a:latin typeface="Aptos"/>
              </a:rPr>
              <a:t>: milliseconds</a:t>
            </a:r>
          </a:p>
        </p:txBody>
      </p:sp>
      <p:sp>
        <p:nvSpPr>
          <p:cNvPr id="25" name="TextBox 24">
            <a:extLst>
              <a:ext uri="{FF2B5EF4-FFF2-40B4-BE49-F238E27FC236}">
                <a16:creationId xmlns:a16="http://schemas.microsoft.com/office/drawing/2014/main" id="{411D4F50-886C-6486-D4EF-17AF3B98E622}"/>
              </a:ext>
            </a:extLst>
          </p:cNvPr>
          <p:cNvSpPr txBox="1"/>
          <p:nvPr/>
        </p:nvSpPr>
        <p:spPr>
          <a:xfrm>
            <a:off x="5370869" y="2831767"/>
            <a:ext cx="2325198" cy="307777"/>
          </a:xfrm>
          <a:prstGeom prst="rect">
            <a:avLst/>
          </a:prstGeom>
          <a:noFill/>
        </p:spPr>
        <p:txBody>
          <a:bodyPr wrap="square" lIns="0" tIns="0" rIns="0" bIns="0">
            <a:spAutoFit/>
          </a:bodyPr>
          <a:lstStyle/>
          <a:p>
            <a:pPr algn="l"/>
            <a:r>
              <a:rPr lang="en-US" sz="2000" b="1" dirty="0">
                <a:solidFill>
                  <a:srgbClr val="122038"/>
                </a:solidFill>
                <a:latin typeface="Aptos"/>
              </a:rPr>
              <a:t>Short-term memory</a:t>
            </a:r>
            <a:endParaRPr sz="2000" b="1" u="sng" dirty="0">
              <a:solidFill>
                <a:srgbClr val="122038"/>
              </a:solidFill>
              <a:latin typeface="Aptos"/>
            </a:endParaRPr>
          </a:p>
        </p:txBody>
      </p:sp>
      <p:sp>
        <p:nvSpPr>
          <p:cNvPr id="27" name="TextBox 26">
            <a:extLst>
              <a:ext uri="{FF2B5EF4-FFF2-40B4-BE49-F238E27FC236}">
                <a16:creationId xmlns:a16="http://schemas.microsoft.com/office/drawing/2014/main" id="{53E3AFFB-116E-A18E-B935-628E6B6A66CD}"/>
              </a:ext>
            </a:extLst>
          </p:cNvPr>
          <p:cNvSpPr txBox="1"/>
          <p:nvPr/>
        </p:nvSpPr>
        <p:spPr>
          <a:xfrm>
            <a:off x="9110552" y="2831767"/>
            <a:ext cx="2325198" cy="538453"/>
          </a:xfrm>
          <a:prstGeom prst="rect">
            <a:avLst/>
          </a:prstGeom>
          <a:noFill/>
        </p:spPr>
        <p:txBody>
          <a:bodyPr wrap="square" lIns="0" tIns="0" rIns="0" bIns="0">
            <a:normAutofit/>
          </a:bodyPr>
          <a:lstStyle/>
          <a:p>
            <a:pPr algn="l"/>
            <a:r>
              <a:rPr lang="en-US" sz="2000" b="1" dirty="0">
                <a:solidFill>
                  <a:srgbClr val="122038"/>
                </a:solidFill>
                <a:latin typeface="Aptos"/>
              </a:rPr>
              <a:t>Long-term memory</a:t>
            </a:r>
            <a:endParaRPr sz="2000" b="1" u="sng" dirty="0">
              <a:solidFill>
                <a:srgbClr val="122038"/>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C3699C-51C1-CFFC-F3BE-85B01F7CECF8}"/>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MEMORY TAXONOMY</a:t>
            </a:r>
          </a:p>
        </p:txBody>
      </p:sp>
      <p:sp>
        <p:nvSpPr>
          <p:cNvPr id="3" name="Title 2">
            <a:extLst>
              <a:ext uri="{FF2B5EF4-FFF2-40B4-BE49-F238E27FC236}">
                <a16:creationId xmlns:a16="http://schemas.microsoft.com/office/drawing/2014/main" id="{7224B695-6424-3F2F-2ABC-E808F801AEFB}"/>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a:solidFill>
                  <a:srgbClr val="122038"/>
                </a:solidFill>
                <a:latin typeface="Aptos" panose="020B0004020202020204" pitchFamily="34" charset="0"/>
              </a:rPr>
              <a:t>Store artifacts with different jobs and lifetimes</a:t>
            </a:r>
            <a:endParaRPr lang="en-CA" sz="250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BA32183E-C38B-C4E1-E952-80A6E6AAFAB1}"/>
              </a:ext>
            </a:extLst>
          </p:cNvPr>
          <p:cNvSpPr txBox="1">
            <a:spLocks noGrp="1"/>
          </p:cNvSpPr>
          <p:nvPr>
            <p:ph type="body" idx="11"/>
          </p:nvPr>
        </p:nvSpPr>
        <p:spPr>
          <a:xfrm>
            <a:off x="566928" y="1316736"/>
            <a:ext cx="11045952" cy="320040"/>
          </a:xfrm>
          <a:prstGeom prst="rect">
            <a:avLst/>
          </a:prstGeom>
          <a:noFill/>
        </p:spPr>
        <p:txBody>
          <a:bodyPr vert="horz" lIns="0" tIns="0" rIns="0" bIns="0" rtlCol="0">
            <a:spAutoFit/>
          </a:bodyPr>
          <a:lstStyle/>
          <a:p>
            <a:r>
              <a:rPr lang="en-US" sz="1500" dirty="0">
                <a:solidFill>
                  <a:srgbClr val="6C6C6C"/>
                </a:solidFill>
                <a:latin typeface="Aptos" panose="020B0004020202020204" pitchFamily="34" charset="0"/>
              </a:rPr>
              <a:t>Do not treat the complete transcript as one undifferentiated memory. Each artifact should have a retrieval purpose, provenance, confidence, and lifecycle.</a:t>
            </a:r>
            <a:endParaRPr lang="en-CA" sz="1500" dirty="0">
              <a:solidFill>
                <a:srgbClr val="6C6C6C"/>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3E67648-B063-35CF-5014-B4417EFA1C06}"/>
              </a:ext>
            </a:extLst>
          </p:cNvPr>
          <p:cNvSpPr/>
          <p:nvPr/>
        </p:nvSpPr>
        <p:spPr>
          <a:xfrm>
            <a:off x="753533" y="2799757"/>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D9960D01-2D80-4B5C-6318-9DAF353B83D9}"/>
              </a:ext>
            </a:extLst>
          </p:cNvPr>
          <p:cNvSpPr txBox="1"/>
          <p:nvPr/>
        </p:nvSpPr>
        <p:spPr>
          <a:xfrm>
            <a:off x="982133" y="4014569"/>
            <a:ext cx="2108200" cy="276999"/>
          </a:xfrm>
          <a:prstGeom prst="rect">
            <a:avLst/>
          </a:prstGeom>
          <a:noFill/>
        </p:spPr>
        <p:txBody>
          <a:bodyPr vert="horz" wrap="square" lIns="0" tIns="0" rIns="0" bIns="0" rtlCol="0" anchor="ctr">
            <a:spAutoFit/>
          </a:bodyPr>
          <a:lstStyle/>
          <a:p>
            <a:r>
              <a:rPr lang="en-CA" b="1" dirty="0">
                <a:solidFill>
                  <a:srgbClr val="122038"/>
                </a:solidFill>
                <a:latin typeface="Aptos" panose="020B0004020202020204" pitchFamily="34" charset="0"/>
              </a:rPr>
              <a:t>recent experience</a:t>
            </a:r>
          </a:p>
        </p:txBody>
      </p:sp>
      <p:sp>
        <p:nvSpPr>
          <p:cNvPr id="18" name="Rectangle: Rounded Corners 17">
            <a:extLst>
              <a:ext uri="{FF2B5EF4-FFF2-40B4-BE49-F238E27FC236}">
                <a16:creationId xmlns:a16="http://schemas.microsoft.com/office/drawing/2014/main" id="{28DF70D0-82BA-04AC-1E07-087E7999E989}"/>
              </a:ext>
            </a:extLst>
          </p:cNvPr>
          <p:cNvSpPr/>
          <p:nvPr/>
        </p:nvSpPr>
        <p:spPr>
          <a:xfrm>
            <a:off x="3496733" y="2799757"/>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D9F057A3-E395-73AA-4526-CD856F3B036A}"/>
              </a:ext>
            </a:extLst>
          </p:cNvPr>
          <p:cNvSpPr txBox="1"/>
          <p:nvPr/>
        </p:nvSpPr>
        <p:spPr>
          <a:xfrm>
            <a:off x="3725332" y="4014569"/>
            <a:ext cx="2240547" cy="276999"/>
          </a:xfrm>
          <a:prstGeom prst="rect">
            <a:avLst/>
          </a:prstGeom>
          <a:noFill/>
        </p:spPr>
        <p:txBody>
          <a:bodyPr vert="horz" wrap="square" lIns="0" tIns="0" rIns="0" bIns="0" rtlCol="0" anchor="ctr">
            <a:spAutoFit/>
          </a:bodyPr>
          <a:lstStyle/>
          <a:p>
            <a:r>
              <a:rPr lang="en-CA" b="1" dirty="0">
                <a:solidFill>
                  <a:srgbClr val="122038"/>
                </a:solidFill>
                <a:latin typeface="Aptos" panose="020B0004020202020204" pitchFamily="34" charset="0"/>
              </a:rPr>
              <a:t>compressed context</a:t>
            </a:r>
          </a:p>
        </p:txBody>
      </p:sp>
      <p:sp>
        <p:nvSpPr>
          <p:cNvPr id="22" name="Rectangle: Rounded Corners 21">
            <a:extLst>
              <a:ext uri="{FF2B5EF4-FFF2-40B4-BE49-F238E27FC236}">
                <a16:creationId xmlns:a16="http://schemas.microsoft.com/office/drawing/2014/main" id="{3B8B8A56-CE85-5C0C-A19F-DFE3D54B9266}"/>
              </a:ext>
            </a:extLst>
          </p:cNvPr>
          <p:cNvSpPr/>
          <p:nvPr/>
        </p:nvSpPr>
        <p:spPr>
          <a:xfrm>
            <a:off x="6336186" y="2799757"/>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9203E0D9-EDA6-62D2-538A-754B888E9381}"/>
              </a:ext>
            </a:extLst>
          </p:cNvPr>
          <p:cNvSpPr txBox="1"/>
          <p:nvPr/>
        </p:nvSpPr>
        <p:spPr>
          <a:xfrm>
            <a:off x="6468533" y="4014569"/>
            <a:ext cx="2108200" cy="276999"/>
          </a:xfrm>
          <a:prstGeom prst="rect">
            <a:avLst/>
          </a:prstGeom>
          <a:noFill/>
        </p:spPr>
        <p:txBody>
          <a:bodyPr vert="horz" wrap="square" lIns="0" tIns="0" rIns="0" bIns="0" rtlCol="0" anchor="ctr">
            <a:spAutoFit/>
          </a:bodyPr>
          <a:lstStyle/>
          <a:p>
            <a:r>
              <a:rPr lang="en-CA" b="1" dirty="0">
                <a:solidFill>
                  <a:srgbClr val="122038"/>
                </a:solidFill>
                <a:latin typeface="Aptos" panose="020B0004020202020204" pitchFamily="34" charset="0"/>
              </a:rPr>
              <a:t>durable assertions</a:t>
            </a:r>
          </a:p>
        </p:txBody>
      </p:sp>
      <p:sp>
        <p:nvSpPr>
          <p:cNvPr id="26" name="Rectangle: Rounded Corners 25">
            <a:extLst>
              <a:ext uri="{FF2B5EF4-FFF2-40B4-BE49-F238E27FC236}">
                <a16:creationId xmlns:a16="http://schemas.microsoft.com/office/drawing/2014/main" id="{BFD69785-DFFB-DF7E-6025-A63F1B2C8526}"/>
              </a:ext>
            </a:extLst>
          </p:cNvPr>
          <p:cNvSpPr/>
          <p:nvPr/>
        </p:nvSpPr>
        <p:spPr>
          <a:xfrm>
            <a:off x="9175639" y="2799757"/>
            <a:ext cx="2565400" cy="2387600"/>
          </a:xfrm>
          <a:prstGeom prst="roundRect">
            <a:avLst/>
          </a:prstGeom>
          <a:solidFill>
            <a:schemeClr val="bg1">
              <a:lumMod val="85000"/>
            </a:schemeClr>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8" name="TextBox 27">
            <a:extLst>
              <a:ext uri="{FF2B5EF4-FFF2-40B4-BE49-F238E27FC236}">
                <a16:creationId xmlns:a16="http://schemas.microsoft.com/office/drawing/2014/main" id="{8FD13A2A-CA18-674E-95A1-20990F5D4E35}"/>
              </a:ext>
            </a:extLst>
          </p:cNvPr>
          <p:cNvSpPr txBox="1"/>
          <p:nvPr/>
        </p:nvSpPr>
        <p:spPr>
          <a:xfrm>
            <a:off x="9404239" y="4014569"/>
            <a:ext cx="2108200" cy="276999"/>
          </a:xfrm>
          <a:prstGeom prst="rect">
            <a:avLst/>
          </a:prstGeom>
          <a:noFill/>
        </p:spPr>
        <p:txBody>
          <a:bodyPr vert="horz" wrap="square" lIns="0" tIns="0" rIns="0" bIns="0" rtlCol="0" anchor="ctr">
            <a:spAutoFit/>
          </a:bodyPr>
          <a:lstStyle/>
          <a:p>
            <a:r>
              <a:rPr lang="en-CA" b="1" dirty="0">
                <a:solidFill>
                  <a:srgbClr val="122038"/>
                </a:solidFill>
                <a:latin typeface="Aptos" panose="020B0004020202020204" pitchFamily="34" charset="0"/>
              </a:rPr>
              <a:t>reusable lessons</a:t>
            </a:r>
          </a:p>
        </p:txBody>
      </p:sp>
      <p:sp>
        <p:nvSpPr>
          <p:cNvPr id="30" name="Card 1 Number">
            <a:extLst>
              <a:ext uri="{FF2B5EF4-FFF2-40B4-BE49-F238E27FC236}">
                <a16:creationId xmlns:a16="http://schemas.microsoft.com/office/drawing/2014/main" id="{99E151AE-45D5-A4DC-A9DF-45EA624D6DC0}"/>
              </a:ext>
            </a:extLst>
          </p:cNvPr>
          <p:cNvSpPr/>
          <p:nvPr/>
        </p:nvSpPr>
        <p:spPr>
          <a:xfrm>
            <a:off x="982133" y="3046645"/>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1</a:t>
            </a:r>
          </a:p>
        </p:txBody>
      </p:sp>
      <p:sp>
        <p:nvSpPr>
          <p:cNvPr id="32" name="Card 1 Title">
            <a:extLst>
              <a:ext uri="{FF2B5EF4-FFF2-40B4-BE49-F238E27FC236}">
                <a16:creationId xmlns:a16="http://schemas.microsoft.com/office/drawing/2014/main" id="{7F62E460-89C3-D939-E883-625A96347202}"/>
              </a:ext>
            </a:extLst>
          </p:cNvPr>
          <p:cNvSpPr txBox="1"/>
          <p:nvPr/>
        </p:nvSpPr>
        <p:spPr>
          <a:xfrm>
            <a:off x="1512485" y="3138641"/>
            <a:ext cx="1577848" cy="200055"/>
          </a:xfrm>
          <a:prstGeom prst="rect">
            <a:avLst/>
          </a:prstGeom>
          <a:noFill/>
        </p:spPr>
        <p:txBody>
          <a:bodyPr wrap="square" lIns="0" tIns="0" rIns="0" bIns="0" anchor="ctr">
            <a:spAutoFit/>
          </a:bodyPr>
          <a:lstStyle/>
          <a:p>
            <a:pPr algn="l"/>
            <a:r>
              <a:rPr lang="en-US" sz="1300" b="1" dirty="0">
                <a:solidFill>
                  <a:srgbClr val="122038"/>
                </a:solidFill>
                <a:latin typeface="Aptos SemiBold"/>
              </a:rPr>
              <a:t>TURNS</a:t>
            </a:r>
            <a:endParaRPr sz="1300" b="1" dirty="0">
              <a:solidFill>
                <a:srgbClr val="122038"/>
              </a:solidFill>
              <a:latin typeface="Aptos SemiBold"/>
            </a:endParaRPr>
          </a:p>
        </p:txBody>
      </p:sp>
      <p:sp>
        <p:nvSpPr>
          <p:cNvPr id="34" name="Card 2 Number">
            <a:extLst>
              <a:ext uri="{FF2B5EF4-FFF2-40B4-BE49-F238E27FC236}">
                <a16:creationId xmlns:a16="http://schemas.microsoft.com/office/drawing/2014/main" id="{865E976D-0541-6EE8-9F43-B861D5CAE565}"/>
              </a:ext>
            </a:extLst>
          </p:cNvPr>
          <p:cNvSpPr/>
          <p:nvPr/>
        </p:nvSpPr>
        <p:spPr>
          <a:xfrm>
            <a:off x="3725333" y="3046645"/>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36" name="Card 2 Title">
            <a:extLst>
              <a:ext uri="{FF2B5EF4-FFF2-40B4-BE49-F238E27FC236}">
                <a16:creationId xmlns:a16="http://schemas.microsoft.com/office/drawing/2014/main" id="{A53F309A-8EF3-8455-F686-A1BC701B6F98}"/>
              </a:ext>
            </a:extLst>
          </p:cNvPr>
          <p:cNvSpPr txBox="1"/>
          <p:nvPr/>
        </p:nvSpPr>
        <p:spPr>
          <a:xfrm>
            <a:off x="4255685" y="3138641"/>
            <a:ext cx="1577848" cy="200055"/>
          </a:xfrm>
          <a:prstGeom prst="rect">
            <a:avLst/>
          </a:prstGeom>
          <a:noFill/>
        </p:spPr>
        <p:txBody>
          <a:bodyPr wrap="square" lIns="0" tIns="0" rIns="0" bIns="0" anchor="ctr">
            <a:spAutoFit/>
          </a:bodyPr>
          <a:lstStyle/>
          <a:p>
            <a:pPr algn="l"/>
            <a:r>
              <a:rPr lang="en-US" sz="1300" b="1" dirty="0">
                <a:solidFill>
                  <a:srgbClr val="122038"/>
                </a:solidFill>
                <a:latin typeface="Aptos SemiBold"/>
              </a:rPr>
              <a:t>SUMMARIES</a:t>
            </a:r>
            <a:endParaRPr sz="1300" b="1" dirty="0">
              <a:solidFill>
                <a:srgbClr val="122038"/>
              </a:solidFill>
              <a:latin typeface="Aptos SemiBold"/>
            </a:endParaRPr>
          </a:p>
        </p:txBody>
      </p:sp>
      <p:sp>
        <p:nvSpPr>
          <p:cNvPr id="38" name="Card 3 Number">
            <a:extLst>
              <a:ext uri="{FF2B5EF4-FFF2-40B4-BE49-F238E27FC236}">
                <a16:creationId xmlns:a16="http://schemas.microsoft.com/office/drawing/2014/main" id="{363D3BED-EA6C-30B0-AC9B-64C8A76B0D2B}"/>
              </a:ext>
            </a:extLst>
          </p:cNvPr>
          <p:cNvSpPr/>
          <p:nvPr/>
        </p:nvSpPr>
        <p:spPr>
          <a:xfrm>
            <a:off x="6468533" y="3046645"/>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3</a:t>
            </a:r>
          </a:p>
        </p:txBody>
      </p:sp>
      <p:sp>
        <p:nvSpPr>
          <p:cNvPr id="40" name="Card 3 Title">
            <a:extLst>
              <a:ext uri="{FF2B5EF4-FFF2-40B4-BE49-F238E27FC236}">
                <a16:creationId xmlns:a16="http://schemas.microsoft.com/office/drawing/2014/main" id="{14DD545A-63D4-5DD8-E186-866B626B0719}"/>
              </a:ext>
            </a:extLst>
          </p:cNvPr>
          <p:cNvSpPr txBox="1"/>
          <p:nvPr/>
        </p:nvSpPr>
        <p:spPr>
          <a:xfrm>
            <a:off x="6998885" y="3138641"/>
            <a:ext cx="1577848" cy="200055"/>
          </a:xfrm>
          <a:prstGeom prst="rect">
            <a:avLst/>
          </a:prstGeom>
          <a:noFill/>
        </p:spPr>
        <p:txBody>
          <a:bodyPr wrap="square" lIns="0" tIns="0" rIns="0" bIns="0" anchor="ctr">
            <a:spAutoFit/>
          </a:bodyPr>
          <a:lstStyle/>
          <a:p>
            <a:pPr algn="l"/>
            <a:r>
              <a:rPr lang="en-US" sz="1300" b="1" dirty="0">
                <a:solidFill>
                  <a:srgbClr val="122038"/>
                </a:solidFill>
                <a:latin typeface="Aptos SemiBold"/>
              </a:rPr>
              <a:t>FACTS</a:t>
            </a:r>
            <a:endParaRPr sz="1300" b="1" dirty="0">
              <a:solidFill>
                <a:srgbClr val="122038"/>
              </a:solidFill>
              <a:latin typeface="Aptos SemiBold"/>
            </a:endParaRPr>
          </a:p>
        </p:txBody>
      </p:sp>
      <p:sp>
        <p:nvSpPr>
          <p:cNvPr id="42" name="Card 4 Number">
            <a:extLst>
              <a:ext uri="{FF2B5EF4-FFF2-40B4-BE49-F238E27FC236}">
                <a16:creationId xmlns:a16="http://schemas.microsoft.com/office/drawing/2014/main" id="{5788D205-5CB2-1440-A530-6F47C349CDBB}"/>
              </a:ext>
            </a:extLst>
          </p:cNvPr>
          <p:cNvSpPr/>
          <p:nvPr/>
        </p:nvSpPr>
        <p:spPr>
          <a:xfrm>
            <a:off x="9404239" y="3046645"/>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44" name="Card 4 Title">
            <a:extLst>
              <a:ext uri="{FF2B5EF4-FFF2-40B4-BE49-F238E27FC236}">
                <a16:creationId xmlns:a16="http://schemas.microsoft.com/office/drawing/2014/main" id="{C8C756E1-B1AD-1375-BFF7-17F34FE72BAB}"/>
              </a:ext>
            </a:extLst>
          </p:cNvPr>
          <p:cNvSpPr txBox="1"/>
          <p:nvPr/>
        </p:nvSpPr>
        <p:spPr>
          <a:xfrm>
            <a:off x="9934591" y="3138641"/>
            <a:ext cx="1577848" cy="200055"/>
          </a:xfrm>
          <a:prstGeom prst="rect">
            <a:avLst/>
          </a:prstGeom>
          <a:noFill/>
        </p:spPr>
        <p:txBody>
          <a:bodyPr wrap="square" lIns="0" tIns="0" rIns="0" bIns="0" anchor="ctr">
            <a:spAutoFit/>
          </a:bodyPr>
          <a:lstStyle/>
          <a:p>
            <a:pPr algn="l"/>
            <a:r>
              <a:rPr lang="en-US" sz="1300" b="1" dirty="0">
                <a:solidFill>
                  <a:srgbClr val="122038"/>
                </a:solidFill>
                <a:latin typeface="Aptos SemiBold"/>
              </a:rPr>
              <a:t>PROCEDURES</a:t>
            </a:r>
            <a:endParaRPr sz="1300" b="1" dirty="0">
              <a:solidFill>
                <a:srgbClr val="122038"/>
              </a:solidFill>
              <a:latin typeface="Aptos SemiBold"/>
            </a:endParaRPr>
          </a:p>
        </p:txBody>
      </p:sp>
    </p:spTree>
    <p:extLst>
      <p:ext uri="{BB962C8B-B14F-4D97-AF65-F5344CB8AC3E}">
        <p14:creationId xmlns:p14="http://schemas.microsoft.com/office/powerpoint/2010/main" val="4172202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A0A2DF-5FB3-6331-F4F7-6B93C32146B8}"/>
              </a:ext>
            </a:extLst>
          </p:cNvPr>
          <p:cNvSpPr>
            <a:spLocks noGrp="1"/>
          </p:cNvSpPr>
          <p:nvPr>
            <p:ph type="body" idx="10"/>
          </p:nvPr>
        </p:nvSpPr>
        <p:spPr/>
        <p:txBody>
          <a:bodyPr/>
          <a:lstStyle/>
          <a:p>
            <a:r>
              <a:rPr lang="en-US" dirty="0"/>
              <a:t>WHY COSMOS DB</a:t>
            </a:r>
            <a:endParaRPr lang="en-CA" dirty="0"/>
          </a:p>
        </p:txBody>
      </p:sp>
      <p:sp>
        <p:nvSpPr>
          <p:cNvPr id="3" name="Title 2">
            <a:extLst>
              <a:ext uri="{FF2B5EF4-FFF2-40B4-BE49-F238E27FC236}">
                <a16:creationId xmlns:a16="http://schemas.microsoft.com/office/drawing/2014/main" id="{1786084C-8B17-0E95-DE01-7A22B61A4371}"/>
              </a:ext>
            </a:extLst>
          </p:cNvPr>
          <p:cNvSpPr>
            <a:spLocks noGrp="1"/>
          </p:cNvSpPr>
          <p:nvPr>
            <p:ph type="title"/>
          </p:nvPr>
        </p:nvSpPr>
        <p:spPr/>
        <p:txBody>
          <a:bodyPr/>
          <a:lstStyle/>
          <a:p>
            <a:r>
              <a:rPr lang="en-US" dirty="0">
                <a:latin typeface="Aptos" panose="020B0004020202020204" pitchFamily="34" charset="0"/>
              </a:rPr>
              <a:t>Cosmos DB Refresher</a:t>
            </a:r>
            <a:endParaRPr lang="en-CA" dirty="0">
              <a:latin typeface="Aptos" panose="020B0004020202020204" pitchFamily="34" charset="0"/>
            </a:endParaRPr>
          </a:p>
        </p:txBody>
      </p:sp>
      <p:pic>
        <p:nvPicPr>
          <p:cNvPr id="7" name="Picture 6">
            <a:extLst>
              <a:ext uri="{FF2B5EF4-FFF2-40B4-BE49-F238E27FC236}">
                <a16:creationId xmlns:a16="http://schemas.microsoft.com/office/drawing/2014/main" id="{A596A5E7-5E5B-DCE9-5C3E-3AD469EE09AE}"/>
              </a:ext>
            </a:extLst>
          </p:cNvPr>
          <p:cNvPicPr>
            <a:picLocks noChangeAspect="1"/>
          </p:cNvPicPr>
          <p:nvPr/>
        </p:nvPicPr>
        <p:blipFill>
          <a:blip r:embed="rId3"/>
          <a:srcRect l="4298" t="2324" r="6850" b="58726"/>
          <a:stretch>
            <a:fillRect/>
          </a:stretch>
        </p:blipFill>
        <p:spPr>
          <a:xfrm>
            <a:off x="736601" y="1989667"/>
            <a:ext cx="5028194" cy="2497665"/>
          </a:xfrm>
          <a:prstGeom prst="rect">
            <a:avLst/>
          </a:prstGeom>
        </p:spPr>
      </p:pic>
      <p:pic>
        <p:nvPicPr>
          <p:cNvPr id="11" name="Picture 10">
            <a:extLst>
              <a:ext uri="{FF2B5EF4-FFF2-40B4-BE49-F238E27FC236}">
                <a16:creationId xmlns:a16="http://schemas.microsoft.com/office/drawing/2014/main" id="{06316B8D-6B03-B2CB-36A8-7C2CDFC18081}"/>
              </a:ext>
            </a:extLst>
          </p:cNvPr>
          <p:cNvPicPr>
            <a:picLocks noChangeAspect="1"/>
          </p:cNvPicPr>
          <p:nvPr/>
        </p:nvPicPr>
        <p:blipFill>
          <a:blip r:embed="rId3"/>
          <a:srcRect l="4870" t="57913" r="6665" b="2795"/>
          <a:stretch>
            <a:fillRect/>
          </a:stretch>
        </p:blipFill>
        <p:spPr>
          <a:xfrm>
            <a:off x="6807200" y="1989667"/>
            <a:ext cx="4962756" cy="2497666"/>
          </a:xfrm>
          <a:prstGeom prst="rect">
            <a:avLst/>
          </a:prstGeom>
        </p:spPr>
      </p:pic>
      <p:pic>
        <p:nvPicPr>
          <p:cNvPr id="13" name="Picture 12">
            <a:extLst>
              <a:ext uri="{FF2B5EF4-FFF2-40B4-BE49-F238E27FC236}">
                <a16:creationId xmlns:a16="http://schemas.microsoft.com/office/drawing/2014/main" id="{82C88890-E076-27E8-0732-762EFE0BD8C1}"/>
              </a:ext>
            </a:extLst>
          </p:cNvPr>
          <p:cNvPicPr>
            <a:picLocks noChangeAspect="1"/>
          </p:cNvPicPr>
          <p:nvPr/>
        </p:nvPicPr>
        <p:blipFill>
          <a:blip r:embed="rId3"/>
          <a:srcRect l="1" t="44998" r="1447" b="44854"/>
          <a:stretch>
            <a:fillRect/>
          </a:stretch>
        </p:blipFill>
        <p:spPr>
          <a:xfrm>
            <a:off x="3461397" y="5043081"/>
            <a:ext cx="5843491" cy="671918"/>
          </a:xfrm>
          <a:prstGeom prst="rect">
            <a:avLst/>
          </a:prstGeom>
        </p:spPr>
      </p:pic>
    </p:spTree>
    <p:extLst>
      <p:ext uri="{BB962C8B-B14F-4D97-AF65-F5344CB8AC3E}">
        <p14:creationId xmlns:p14="http://schemas.microsoft.com/office/powerpoint/2010/main" val="3941720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A8E0-550A-3EB9-1B7A-41ABC140B2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514FA69-F66D-FE39-4955-032E88D9439B}"/>
              </a:ext>
            </a:extLst>
          </p:cNvPr>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WHY COSMOS DB</a:t>
            </a:r>
          </a:p>
        </p:txBody>
      </p:sp>
      <p:sp>
        <p:nvSpPr>
          <p:cNvPr id="3" name="Title 2">
            <a:extLst>
              <a:ext uri="{FF2B5EF4-FFF2-40B4-BE49-F238E27FC236}">
                <a16:creationId xmlns:a16="http://schemas.microsoft.com/office/drawing/2014/main" id="{513FFDB9-A282-016B-F776-CCAD1A182F12}"/>
              </a:ext>
            </a:extLst>
          </p:cNvPr>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dirty="0">
                <a:solidFill>
                  <a:srgbClr val="122038"/>
                </a:solidFill>
                <a:latin typeface="Aptos"/>
              </a:rPr>
              <a:t>GenAI data scenarios with Azure Cosmos DB</a:t>
            </a:r>
          </a:p>
        </p:txBody>
      </p:sp>
      <p:sp>
        <p:nvSpPr>
          <p:cNvPr id="4" name="Text Placeholder 3">
            <a:extLst>
              <a:ext uri="{FF2B5EF4-FFF2-40B4-BE49-F238E27FC236}">
                <a16:creationId xmlns:a16="http://schemas.microsoft.com/office/drawing/2014/main" id="{773D25AD-9E67-74B9-EC40-4BAC24CCF85C}"/>
              </a:ext>
            </a:extLst>
          </p:cNvPr>
          <p:cNvSpPr txBox="1">
            <a:spLocks noGrp="1"/>
          </p:cNvSpPr>
          <p:nvPr>
            <p:ph type="body" idx="11"/>
          </p:nvPr>
        </p:nvSpPr>
        <p:spPr>
          <a:xfrm>
            <a:off x="566928" y="1316736"/>
            <a:ext cx="11045952" cy="320040"/>
          </a:xfrm>
          <a:prstGeom prst="rect">
            <a:avLst/>
          </a:prstGeom>
          <a:noFill/>
        </p:spPr>
        <p:txBody>
          <a:bodyPr wrap="square" lIns="0" tIns="0" rIns="0" bIns="0">
            <a:spAutoFit/>
          </a:bodyPr>
          <a:lstStyle/>
          <a:p>
            <a:pPr algn="l"/>
            <a:r>
              <a:rPr sz="1500" b="0">
                <a:solidFill>
                  <a:srgbClr val="6C6C6C"/>
                </a:solidFill>
                <a:latin typeface="Aptos"/>
              </a:rPr>
              <a:t>One data platform for operational records, retrieval, and agent memory.</a:t>
            </a:r>
          </a:p>
        </p:txBody>
      </p:sp>
      <p:sp>
        <p:nvSpPr>
          <p:cNvPr id="5" name="Rounded Rectangle 4">
            <a:extLst>
              <a:ext uri="{FF2B5EF4-FFF2-40B4-BE49-F238E27FC236}">
                <a16:creationId xmlns:a16="http://schemas.microsoft.com/office/drawing/2014/main" id="{089CA9C2-975E-2842-5686-05E4E72EDEB5}"/>
              </a:ext>
            </a:extLst>
          </p:cNvPr>
          <p:cNvSpPr/>
          <p:nvPr/>
        </p:nvSpPr>
        <p:spPr>
          <a:xfrm>
            <a:off x="685800" y="2103119"/>
            <a:ext cx="1975104" cy="4055309"/>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a:extLst>
              <a:ext uri="{FF2B5EF4-FFF2-40B4-BE49-F238E27FC236}">
                <a16:creationId xmlns:a16="http://schemas.microsoft.com/office/drawing/2014/main" id="{B75C6009-60F5-267F-8F4D-C405E902E1F1}"/>
              </a:ext>
            </a:extLst>
          </p:cNvPr>
          <p:cNvSpPr/>
          <p:nvPr/>
        </p:nvSpPr>
        <p:spPr>
          <a:xfrm>
            <a:off x="1389888"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database-ae4fa0dd.png">
            <a:extLst>
              <a:ext uri="{FF2B5EF4-FFF2-40B4-BE49-F238E27FC236}">
                <a16:creationId xmlns:a16="http://schemas.microsoft.com/office/drawing/2014/main" id="{6E5B7E15-E7B7-ABA8-51C6-4634BA51B414}"/>
              </a:ext>
            </a:extLst>
          </p:cNvPr>
          <p:cNvPicPr>
            <a:picLocks noChangeAspect="1"/>
          </p:cNvPicPr>
          <p:nvPr/>
        </p:nvPicPr>
        <p:blipFill>
          <a:blip r:embed="rId3"/>
          <a:stretch>
            <a:fillRect/>
          </a:stretch>
        </p:blipFill>
        <p:spPr>
          <a:xfrm>
            <a:off x="1525950" y="2513502"/>
            <a:ext cx="294802" cy="294802"/>
          </a:xfrm>
          <a:prstGeom prst="rect">
            <a:avLst/>
          </a:prstGeom>
        </p:spPr>
      </p:pic>
      <p:sp>
        <p:nvSpPr>
          <p:cNvPr id="8" name="TextBox 7">
            <a:extLst>
              <a:ext uri="{FF2B5EF4-FFF2-40B4-BE49-F238E27FC236}">
                <a16:creationId xmlns:a16="http://schemas.microsoft.com/office/drawing/2014/main" id="{47E2CD78-E0E2-57A2-E0B0-F22B2F643D3C}"/>
              </a:ext>
            </a:extLst>
          </p:cNvPr>
          <p:cNvSpPr txBox="1"/>
          <p:nvPr/>
        </p:nvSpPr>
        <p:spPr>
          <a:xfrm>
            <a:off x="801279" y="3108960"/>
            <a:ext cx="1762812" cy="2292679"/>
          </a:xfrm>
          <a:prstGeom prst="rect">
            <a:avLst/>
          </a:prstGeom>
          <a:noFill/>
        </p:spPr>
        <p:txBody>
          <a:bodyPr wrap="square" lIns="0" tIns="0" rIns="0" bIns="0">
            <a:spAutoFit/>
          </a:bodyPr>
          <a:lstStyle/>
          <a:p>
            <a:pPr algn="ctr"/>
            <a:r>
              <a:rPr sz="1600" b="1" dirty="0">
                <a:solidFill>
                  <a:srgbClr val="122038"/>
                </a:solidFill>
                <a:latin typeface="Aptos"/>
              </a:rPr>
              <a:t>Operational</a:t>
            </a:r>
            <a:br>
              <a:rPr lang="en-US" sz="1600" b="1" dirty="0">
                <a:solidFill>
                  <a:srgbClr val="122038"/>
                </a:solidFill>
                <a:latin typeface="Aptos"/>
              </a:rPr>
            </a:br>
            <a:r>
              <a:rPr sz="1600" b="1" dirty="0">
                <a:solidFill>
                  <a:srgbClr val="122038"/>
                </a:solidFill>
                <a:latin typeface="Aptos"/>
              </a:rPr>
              <a:t> + Vector D</a:t>
            </a:r>
            <a:r>
              <a:rPr lang="en-US" sz="1600" b="1" dirty="0">
                <a:solidFill>
                  <a:srgbClr val="122038"/>
                </a:solidFill>
                <a:latin typeface="Aptos"/>
              </a:rPr>
              <a:t>atabase</a:t>
            </a:r>
          </a:p>
          <a:p>
            <a:pPr algn="ctr"/>
            <a:endParaRPr lang="en-US" sz="1400" b="1" dirty="0">
              <a:solidFill>
                <a:srgbClr val="122038"/>
              </a:solidFill>
              <a:latin typeface="Aptos"/>
            </a:endParaRPr>
          </a:p>
          <a:p>
            <a:pPr algn="ctr">
              <a:lnSpc>
                <a:spcPct val="150000"/>
              </a:lnSpc>
            </a:pPr>
            <a:endParaRPr sz="1400" b="1"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No ETL</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Consistent data</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Less complexity</a:t>
            </a:r>
            <a:endParaRPr lang="en-US" sz="1400" b="0"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lang="en-CA" sz="1400" dirty="0">
                <a:solidFill>
                  <a:schemeClr val="tx1">
                    <a:lumMod val="95000"/>
                    <a:lumOff val="5000"/>
                  </a:schemeClr>
                </a:solidFill>
                <a:latin typeface="Aptos"/>
              </a:rPr>
              <a:t>Lower</a:t>
            </a:r>
            <a:r>
              <a:rPr sz="1400" b="0" dirty="0">
                <a:solidFill>
                  <a:schemeClr val="tx1">
                    <a:lumMod val="95000"/>
                    <a:lumOff val="5000"/>
                  </a:schemeClr>
                </a:solidFill>
                <a:latin typeface="Aptos"/>
              </a:rPr>
              <a:t> cost</a:t>
            </a:r>
          </a:p>
        </p:txBody>
      </p:sp>
      <p:sp>
        <p:nvSpPr>
          <p:cNvPr id="9" name="Rounded Rectangle 8">
            <a:extLst>
              <a:ext uri="{FF2B5EF4-FFF2-40B4-BE49-F238E27FC236}">
                <a16:creationId xmlns:a16="http://schemas.microsoft.com/office/drawing/2014/main" id="{7DFA9DA1-2282-B9F4-E788-DE9B6E03EF10}"/>
              </a:ext>
            </a:extLst>
          </p:cNvPr>
          <p:cNvSpPr/>
          <p:nvPr/>
        </p:nvSpPr>
        <p:spPr>
          <a:xfrm>
            <a:off x="2753440" y="2103120"/>
            <a:ext cx="2242955" cy="4055308"/>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a:extLst>
              <a:ext uri="{FF2B5EF4-FFF2-40B4-BE49-F238E27FC236}">
                <a16:creationId xmlns:a16="http://schemas.microsoft.com/office/drawing/2014/main" id="{8BADBF65-B3FE-B1BA-E0E2-3F80FB67AF4C}"/>
              </a:ext>
            </a:extLst>
          </p:cNvPr>
          <p:cNvSpPr/>
          <p:nvPr/>
        </p:nvSpPr>
        <p:spPr>
          <a:xfrm>
            <a:off x="3593592"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search-2093495c.png">
            <a:extLst>
              <a:ext uri="{FF2B5EF4-FFF2-40B4-BE49-F238E27FC236}">
                <a16:creationId xmlns:a16="http://schemas.microsoft.com/office/drawing/2014/main" id="{E093443F-D6AB-5DE8-07D8-31246C522F17}"/>
              </a:ext>
            </a:extLst>
          </p:cNvPr>
          <p:cNvPicPr>
            <a:picLocks noChangeAspect="1"/>
          </p:cNvPicPr>
          <p:nvPr/>
        </p:nvPicPr>
        <p:blipFill>
          <a:blip r:embed="rId4"/>
          <a:stretch>
            <a:fillRect/>
          </a:stretch>
        </p:blipFill>
        <p:spPr>
          <a:xfrm>
            <a:off x="3729654" y="2513502"/>
            <a:ext cx="294802" cy="294802"/>
          </a:xfrm>
          <a:prstGeom prst="rect">
            <a:avLst/>
          </a:prstGeom>
        </p:spPr>
      </p:pic>
      <p:sp>
        <p:nvSpPr>
          <p:cNvPr id="12" name="TextBox 11">
            <a:extLst>
              <a:ext uri="{FF2B5EF4-FFF2-40B4-BE49-F238E27FC236}">
                <a16:creationId xmlns:a16="http://schemas.microsoft.com/office/drawing/2014/main" id="{03786D0E-99C8-E1F1-31EA-49088E4D2B11}"/>
              </a:ext>
            </a:extLst>
          </p:cNvPr>
          <p:cNvSpPr txBox="1"/>
          <p:nvPr/>
        </p:nvSpPr>
        <p:spPr>
          <a:xfrm>
            <a:off x="2828550" y="3237870"/>
            <a:ext cx="2090583" cy="2184957"/>
          </a:xfrm>
          <a:prstGeom prst="rect">
            <a:avLst/>
          </a:prstGeom>
          <a:noFill/>
        </p:spPr>
        <p:txBody>
          <a:bodyPr wrap="square" lIns="0" tIns="0" rIns="0" bIns="0">
            <a:spAutoFit/>
          </a:bodyPr>
          <a:lstStyle/>
          <a:p>
            <a:pPr algn="ctr"/>
            <a:r>
              <a:rPr sz="1600" b="1" dirty="0">
                <a:solidFill>
                  <a:schemeClr val="tx1">
                    <a:lumMod val="95000"/>
                    <a:lumOff val="5000"/>
                  </a:schemeClr>
                </a:solidFill>
                <a:latin typeface="Aptos"/>
              </a:rPr>
              <a:t>Retrieval Augmented Generation</a:t>
            </a:r>
            <a:endParaRPr lang="en-US" sz="1600" b="1" dirty="0">
              <a:solidFill>
                <a:schemeClr val="tx1">
                  <a:lumMod val="95000"/>
                  <a:lumOff val="5000"/>
                </a:schemeClr>
              </a:solidFill>
              <a:latin typeface="Aptos"/>
            </a:endParaRPr>
          </a:p>
          <a:p>
            <a:pPr algn="ctr"/>
            <a:endParaRPr lang="en-CA" sz="1400" b="1" dirty="0">
              <a:solidFill>
                <a:schemeClr val="tx1">
                  <a:lumMod val="95000"/>
                  <a:lumOff val="5000"/>
                </a:schemeClr>
              </a:solidFill>
              <a:latin typeface="Aptos"/>
            </a:endParaRPr>
          </a:p>
          <a:p>
            <a:pPr marL="285750" indent="-285750" algn="ctr">
              <a:buFont typeface="Arial" panose="020B0604020202020204" pitchFamily="34" charset="0"/>
              <a:buChar char="•"/>
            </a:pPr>
            <a:endParaRPr sz="1400" b="1"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Personalize on your data</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Cheaper than fine-tuning</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Faster iteration</a:t>
            </a:r>
            <a:r>
              <a:rPr lang="en-US" sz="1400" b="0" dirty="0">
                <a:solidFill>
                  <a:schemeClr val="tx1">
                    <a:lumMod val="95000"/>
                    <a:lumOff val="5000"/>
                  </a:schemeClr>
                </a:solidFill>
                <a:latin typeface="Aptos"/>
              </a:rPr>
              <a:t> on new data</a:t>
            </a:r>
            <a:endParaRPr sz="1400" b="0" dirty="0">
              <a:solidFill>
                <a:schemeClr val="tx1">
                  <a:lumMod val="95000"/>
                  <a:lumOff val="5000"/>
                </a:schemeClr>
              </a:solidFill>
              <a:latin typeface="Aptos"/>
            </a:endParaRPr>
          </a:p>
        </p:txBody>
      </p:sp>
      <p:sp>
        <p:nvSpPr>
          <p:cNvPr id="13" name="Rounded Rectangle 12">
            <a:extLst>
              <a:ext uri="{FF2B5EF4-FFF2-40B4-BE49-F238E27FC236}">
                <a16:creationId xmlns:a16="http://schemas.microsoft.com/office/drawing/2014/main" id="{77FB991B-22DA-BEC3-1C24-CB6D3F58AFA3}"/>
              </a:ext>
            </a:extLst>
          </p:cNvPr>
          <p:cNvSpPr/>
          <p:nvPr/>
        </p:nvSpPr>
        <p:spPr>
          <a:xfrm>
            <a:off x="5093208" y="2103120"/>
            <a:ext cx="2102400" cy="4055308"/>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a:extLst>
              <a:ext uri="{FF2B5EF4-FFF2-40B4-BE49-F238E27FC236}">
                <a16:creationId xmlns:a16="http://schemas.microsoft.com/office/drawing/2014/main" id="{A1D138BD-2E52-907B-8C20-DA62CF179FA6}"/>
              </a:ext>
            </a:extLst>
          </p:cNvPr>
          <p:cNvSpPr/>
          <p:nvPr/>
        </p:nvSpPr>
        <p:spPr>
          <a:xfrm>
            <a:off x="5797296"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on-chat-multiple-e1ce7a55.png">
            <a:extLst>
              <a:ext uri="{FF2B5EF4-FFF2-40B4-BE49-F238E27FC236}">
                <a16:creationId xmlns:a16="http://schemas.microsoft.com/office/drawing/2014/main" id="{282231B2-F3F4-D51E-CA8C-E96394C95AB2}"/>
              </a:ext>
            </a:extLst>
          </p:cNvPr>
          <p:cNvPicPr>
            <a:picLocks noChangeAspect="1"/>
          </p:cNvPicPr>
          <p:nvPr/>
        </p:nvPicPr>
        <p:blipFill>
          <a:blip r:embed="rId5"/>
          <a:stretch>
            <a:fillRect/>
          </a:stretch>
        </p:blipFill>
        <p:spPr>
          <a:xfrm>
            <a:off x="5933358" y="2513502"/>
            <a:ext cx="294802" cy="294802"/>
          </a:xfrm>
          <a:prstGeom prst="rect">
            <a:avLst/>
          </a:prstGeom>
        </p:spPr>
      </p:pic>
      <p:sp>
        <p:nvSpPr>
          <p:cNvPr id="16" name="TextBox 15">
            <a:extLst>
              <a:ext uri="{FF2B5EF4-FFF2-40B4-BE49-F238E27FC236}">
                <a16:creationId xmlns:a16="http://schemas.microsoft.com/office/drawing/2014/main" id="{BE0AE818-E939-D035-F04D-2C6E4B03FFC0}"/>
              </a:ext>
            </a:extLst>
          </p:cNvPr>
          <p:cNvSpPr txBox="1"/>
          <p:nvPr/>
        </p:nvSpPr>
        <p:spPr>
          <a:xfrm>
            <a:off x="5208686" y="3237870"/>
            <a:ext cx="1956439" cy="2184957"/>
          </a:xfrm>
          <a:prstGeom prst="rect">
            <a:avLst/>
          </a:prstGeom>
          <a:noFill/>
        </p:spPr>
        <p:txBody>
          <a:bodyPr wrap="square" lIns="0" tIns="0" rIns="0" bIns="0">
            <a:spAutoFit/>
          </a:bodyPr>
          <a:lstStyle/>
          <a:p>
            <a:pPr algn="ctr"/>
            <a:r>
              <a:rPr sz="1600" b="1" dirty="0">
                <a:solidFill>
                  <a:schemeClr val="tx1">
                    <a:lumMod val="95000"/>
                    <a:lumOff val="5000"/>
                  </a:schemeClr>
                </a:solidFill>
                <a:latin typeface="Aptos"/>
              </a:rPr>
              <a:t>Conversational History</a:t>
            </a:r>
            <a:endParaRPr lang="en-US" sz="1600" b="1" dirty="0">
              <a:solidFill>
                <a:schemeClr val="tx1">
                  <a:lumMod val="95000"/>
                  <a:lumOff val="5000"/>
                </a:schemeClr>
              </a:solidFill>
              <a:latin typeface="Aptos"/>
            </a:endParaRPr>
          </a:p>
          <a:p>
            <a:pPr algn="l"/>
            <a:endParaRPr lang="en-CA" sz="1400" b="1" dirty="0">
              <a:solidFill>
                <a:schemeClr val="tx1">
                  <a:lumMod val="95000"/>
                  <a:lumOff val="5000"/>
                </a:schemeClr>
              </a:solidFill>
              <a:latin typeface="Aptos"/>
            </a:endParaRPr>
          </a:p>
          <a:p>
            <a:pPr marL="285750" indent="-285750" algn="l">
              <a:buFont typeface="Arial" panose="020B0604020202020204" pitchFamily="34" charset="0"/>
              <a:buChar char="•"/>
            </a:pPr>
            <a:endParaRPr sz="1400" b="1"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Conversational context</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UX improvements</a:t>
            </a:r>
            <a:endParaRPr lang="en-US" sz="1400" b="0"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lang="en-CA" sz="1400" dirty="0">
                <a:solidFill>
                  <a:schemeClr val="tx1">
                    <a:lumMod val="95000"/>
                    <a:lumOff val="5000"/>
                  </a:schemeClr>
                </a:solidFill>
                <a:latin typeface="Aptos"/>
              </a:rPr>
              <a:t>LLM Optimization</a:t>
            </a:r>
            <a:endParaRPr sz="1400" b="0"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Auditing</a:t>
            </a:r>
          </a:p>
        </p:txBody>
      </p:sp>
      <p:sp>
        <p:nvSpPr>
          <p:cNvPr id="17" name="Rounded Rectangle 16">
            <a:extLst>
              <a:ext uri="{FF2B5EF4-FFF2-40B4-BE49-F238E27FC236}">
                <a16:creationId xmlns:a16="http://schemas.microsoft.com/office/drawing/2014/main" id="{3A1AEFEF-B1C5-E579-323B-01EE9E177D68}"/>
              </a:ext>
            </a:extLst>
          </p:cNvPr>
          <p:cNvSpPr/>
          <p:nvPr/>
        </p:nvSpPr>
        <p:spPr>
          <a:xfrm>
            <a:off x="7296912" y="2103120"/>
            <a:ext cx="2141648" cy="4055308"/>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a:extLst>
              <a:ext uri="{FF2B5EF4-FFF2-40B4-BE49-F238E27FC236}">
                <a16:creationId xmlns:a16="http://schemas.microsoft.com/office/drawing/2014/main" id="{625349FD-87BD-D62E-5576-361111E95763}"/>
              </a:ext>
            </a:extLst>
          </p:cNvPr>
          <p:cNvSpPr/>
          <p:nvPr/>
        </p:nvSpPr>
        <p:spPr>
          <a:xfrm>
            <a:off x="8001000"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con-timer-7a68aa71.png">
            <a:extLst>
              <a:ext uri="{FF2B5EF4-FFF2-40B4-BE49-F238E27FC236}">
                <a16:creationId xmlns:a16="http://schemas.microsoft.com/office/drawing/2014/main" id="{3BC2D2C3-5B04-20D8-F6EF-8DE302EB14E3}"/>
              </a:ext>
            </a:extLst>
          </p:cNvPr>
          <p:cNvPicPr>
            <a:picLocks noChangeAspect="1"/>
          </p:cNvPicPr>
          <p:nvPr/>
        </p:nvPicPr>
        <p:blipFill>
          <a:blip r:embed="rId6"/>
          <a:stretch>
            <a:fillRect/>
          </a:stretch>
        </p:blipFill>
        <p:spPr>
          <a:xfrm>
            <a:off x="8137062" y="2513502"/>
            <a:ext cx="294802" cy="294802"/>
          </a:xfrm>
          <a:prstGeom prst="rect">
            <a:avLst/>
          </a:prstGeom>
        </p:spPr>
      </p:pic>
      <p:sp>
        <p:nvSpPr>
          <p:cNvPr id="20" name="TextBox 19">
            <a:extLst>
              <a:ext uri="{FF2B5EF4-FFF2-40B4-BE49-F238E27FC236}">
                <a16:creationId xmlns:a16="http://schemas.microsoft.com/office/drawing/2014/main" id="{0C3357D3-3134-510B-7254-B4C6A8E0ECCC}"/>
              </a:ext>
            </a:extLst>
          </p:cNvPr>
          <p:cNvSpPr txBox="1"/>
          <p:nvPr/>
        </p:nvSpPr>
        <p:spPr>
          <a:xfrm>
            <a:off x="7345319" y="3237870"/>
            <a:ext cx="2141648" cy="2154179"/>
          </a:xfrm>
          <a:prstGeom prst="rect">
            <a:avLst/>
          </a:prstGeom>
          <a:noFill/>
        </p:spPr>
        <p:txBody>
          <a:bodyPr wrap="square" lIns="0" tIns="0" rIns="0" bIns="0">
            <a:spAutoFit/>
          </a:bodyPr>
          <a:lstStyle/>
          <a:p>
            <a:pPr algn="ctr"/>
            <a:r>
              <a:rPr sz="1600" b="1" dirty="0">
                <a:solidFill>
                  <a:schemeClr val="tx1">
                    <a:lumMod val="95000"/>
                    <a:lumOff val="5000"/>
                  </a:schemeClr>
                </a:solidFill>
                <a:latin typeface="Aptos"/>
              </a:rPr>
              <a:t>Semantic Caching</a:t>
            </a:r>
            <a:endParaRPr lang="en-US" sz="1600" b="1" dirty="0">
              <a:solidFill>
                <a:schemeClr val="tx1">
                  <a:lumMod val="95000"/>
                  <a:lumOff val="5000"/>
                </a:schemeClr>
              </a:solidFill>
              <a:latin typeface="Aptos"/>
            </a:endParaRPr>
          </a:p>
          <a:p>
            <a:pPr algn="l"/>
            <a:endParaRPr lang="en-CA" sz="1400" b="1" dirty="0">
              <a:solidFill>
                <a:schemeClr val="tx1">
                  <a:lumMod val="95000"/>
                  <a:lumOff val="5000"/>
                </a:schemeClr>
              </a:solidFill>
              <a:latin typeface="Aptos"/>
            </a:endParaRPr>
          </a:p>
          <a:p>
            <a:pPr algn="l"/>
            <a:endParaRPr lang="en-CA" sz="1400" b="1" dirty="0">
              <a:solidFill>
                <a:schemeClr val="tx1">
                  <a:lumMod val="95000"/>
                  <a:lumOff val="5000"/>
                </a:schemeClr>
              </a:solidFill>
              <a:latin typeface="Aptos"/>
            </a:endParaRPr>
          </a:p>
          <a:p>
            <a:pPr algn="l"/>
            <a:endParaRPr sz="1400" b="1"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Drastically lower latency</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Save</a:t>
            </a:r>
            <a:r>
              <a:rPr lang="en-US" sz="1400" b="0" dirty="0">
                <a:solidFill>
                  <a:schemeClr val="tx1">
                    <a:lumMod val="95000"/>
                    <a:lumOff val="5000"/>
                  </a:schemeClr>
                </a:solidFill>
                <a:latin typeface="Aptos"/>
              </a:rPr>
              <a:t> </a:t>
            </a:r>
            <a:r>
              <a:rPr sz="1400" b="0" dirty="0">
                <a:solidFill>
                  <a:schemeClr val="tx1">
                    <a:lumMod val="95000"/>
                    <a:lumOff val="5000"/>
                  </a:schemeClr>
                </a:solidFill>
                <a:latin typeface="Aptos"/>
              </a:rPr>
              <a:t>toke</a:t>
            </a:r>
            <a:r>
              <a:rPr lang="en-US" sz="1400" b="0" dirty="0">
                <a:solidFill>
                  <a:schemeClr val="tx1">
                    <a:lumMod val="95000"/>
                    <a:lumOff val="5000"/>
                  </a:schemeClr>
                </a:solidFill>
                <a:latin typeface="Aptos"/>
              </a:rPr>
              <a:t>n</a:t>
            </a:r>
            <a:r>
              <a:rPr sz="1400" b="0" dirty="0">
                <a:solidFill>
                  <a:schemeClr val="tx1">
                    <a:lumMod val="95000"/>
                    <a:lumOff val="5000"/>
                  </a:schemeClr>
                </a:solidFill>
                <a:latin typeface="Aptos"/>
              </a:rPr>
              <a:t> consumption</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Reduces LLM cost</a:t>
            </a:r>
            <a:r>
              <a:rPr lang="en-US" sz="1400" b="0" dirty="0">
                <a:solidFill>
                  <a:schemeClr val="tx1">
                    <a:lumMod val="95000"/>
                    <a:lumOff val="5000"/>
                  </a:schemeClr>
                </a:solidFill>
                <a:latin typeface="Aptos"/>
              </a:rPr>
              <a:t> and latency</a:t>
            </a:r>
            <a:endParaRPr sz="1400" b="0" dirty="0">
              <a:solidFill>
                <a:schemeClr val="tx1">
                  <a:lumMod val="95000"/>
                  <a:lumOff val="5000"/>
                </a:schemeClr>
              </a:solidFill>
              <a:latin typeface="Aptos"/>
            </a:endParaRPr>
          </a:p>
        </p:txBody>
      </p:sp>
      <p:sp>
        <p:nvSpPr>
          <p:cNvPr id="21" name="Rounded Rectangle 20">
            <a:extLst>
              <a:ext uri="{FF2B5EF4-FFF2-40B4-BE49-F238E27FC236}">
                <a16:creationId xmlns:a16="http://schemas.microsoft.com/office/drawing/2014/main" id="{0A458B9F-6380-A2E5-F693-E13B61E30420}"/>
              </a:ext>
            </a:extLst>
          </p:cNvPr>
          <p:cNvSpPr/>
          <p:nvPr/>
        </p:nvSpPr>
        <p:spPr>
          <a:xfrm>
            <a:off x="9509948" y="2103335"/>
            <a:ext cx="2141648" cy="4055308"/>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a:extLst>
              <a:ext uri="{FF2B5EF4-FFF2-40B4-BE49-F238E27FC236}">
                <a16:creationId xmlns:a16="http://schemas.microsoft.com/office/drawing/2014/main" id="{EF5C2C7E-B52D-EEB1-CA04-610478DB524A}"/>
              </a:ext>
            </a:extLst>
          </p:cNvPr>
          <p:cNvSpPr/>
          <p:nvPr/>
        </p:nvSpPr>
        <p:spPr>
          <a:xfrm>
            <a:off x="10204704" y="2377439"/>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con-sparkle-5a265899.png">
            <a:extLst>
              <a:ext uri="{FF2B5EF4-FFF2-40B4-BE49-F238E27FC236}">
                <a16:creationId xmlns:a16="http://schemas.microsoft.com/office/drawing/2014/main" id="{18F8226E-0F4B-D850-D6E7-345DFA8879DC}"/>
              </a:ext>
            </a:extLst>
          </p:cNvPr>
          <p:cNvPicPr>
            <a:picLocks noChangeAspect="1"/>
          </p:cNvPicPr>
          <p:nvPr/>
        </p:nvPicPr>
        <p:blipFill>
          <a:blip r:embed="rId7"/>
          <a:stretch>
            <a:fillRect/>
          </a:stretch>
        </p:blipFill>
        <p:spPr>
          <a:xfrm>
            <a:off x="10340766" y="2513502"/>
            <a:ext cx="294802" cy="294802"/>
          </a:xfrm>
          <a:prstGeom prst="rect">
            <a:avLst/>
          </a:prstGeom>
        </p:spPr>
      </p:pic>
      <p:sp>
        <p:nvSpPr>
          <p:cNvPr id="24" name="TextBox 23">
            <a:extLst>
              <a:ext uri="{FF2B5EF4-FFF2-40B4-BE49-F238E27FC236}">
                <a16:creationId xmlns:a16="http://schemas.microsoft.com/office/drawing/2014/main" id="{E62494EB-0FD4-8C0E-58F8-9FAF4E8ACB0C}"/>
              </a:ext>
            </a:extLst>
          </p:cNvPr>
          <p:cNvSpPr txBox="1"/>
          <p:nvPr/>
        </p:nvSpPr>
        <p:spPr>
          <a:xfrm>
            <a:off x="9627909" y="3237870"/>
            <a:ext cx="1878291" cy="2477345"/>
          </a:xfrm>
          <a:prstGeom prst="rect">
            <a:avLst/>
          </a:prstGeom>
          <a:noFill/>
        </p:spPr>
        <p:txBody>
          <a:bodyPr wrap="square" lIns="0" tIns="0" rIns="0" bIns="0">
            <a:spAutoFit/>
          </a:bodyPr>
          <a:lstStyle/>
          <a:p>
            <a:pPr algn="ctr"/>
            <a:r>
              <a:rPr sz="1600" b="1" dirty="0">
                <a:solidFill>
                  <a:schemeClr val="tx1">
                    <a:lumMod val="95000"/>
                    <a:lumOff val="5000"/>
                  </a:schemeClr>
                </a:solidFill>
                <a:latin typeface="Aptos"/>
              </a:rPr>
              <a:t>AI Agents</a:t>
            </a:r>
            <a:endParaRPr lang="en-US" sz="1600" b="1" dirty="0">
              <a:solidFill>
                <a:schemeClr val="tx1">
                  <a:lumMod val="95000"/>
                  <a:lumOff val="5000"/>
                </a:schemeClr>
              </a:solidFill>
              <a:latin typeface="Aptos"/>
            </a:endParaRPr>
          </a:p>
          <a:p>
            <a:pPr algn="ctr"/>
            <a:endParaRPr lang="en-CA" sz="1400" b="1" dirty="0">
              <a:solidFill>
                <a:schemeClr val="tx1">
                  <a:lumMod val="95000"/>
                  <a:lumOff val="5000"/>
                </a:schemeClr>
              </a:solidFill>
              <a:latin typeface="Aptos"/>
            </a:endParaRPr>
          </a:p>
          <a:p>
            <a:pPr algn="ctr"/>
            <a:endParaRPr lang="en-CA" sz="1400" b="1" dirty="0">
              <a:solidFill>
                <a:schemeClr val="tx1">
                  <a:lumMod val="95000"/>
                  <a:lumOff val="5000"/>
                </a:schemeClr>
              </a:solidFill>
              <a:latin typeface="Aptos"/>
            </a:endParaRPr>
          </a:p>
          <a:p>
            <a:pPr marL="285750" indent="-285750" algn="ctr">
              <a:buFont typeface="Arial" panose="020B0604020202020204" pitchFamily="34" charset="0"/>
              <a:buChar char="•"/>
            </a:pPr>
            <a:endParaRPr sz="1400" b="1"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Agentic memory</a:t>
            </a:r>
          </a:p>
          <a:p>
            <a:pPr marL="171450" indent="-171450" algn="l">
              <a:lnSpc>
                <a:spcPct val="150000"/>
              </a:lnSpc>
              <a:buFont typeface="Arial" panose="020B0604020202020204" pitchFamily="34" charset="0"/>
              <a:buChar char="•"/>
            </a:pPr>
            <a:r>
              <a:rPr lang="en-US" sz="1400" b="0" dirty="0">
                <a:solidFill>
                  <a:schemeClr val="tx1">
                    <a:lumMod val="95000"/>
                    <a:lumOff val="5000"/>
                  </a:schemeClr>
                </a:solidFill>
                <a:latin typeface="Aptos"/>
              </a:rPr>
              <a:t>Agent to Agent  </a:t>
            </a:r>
            <a:r>
              <a:rPr sz="1400" b="0" dirty="0">
                <a:solidFill>
                  <a:schemeClr val="tx1">
                    <a:lumMod val="95000"/>
                    <a:lumOff val="5000"/>
                  </a:schemeClr>
                </a:solidFill>
                <a:latin typeface="Aptos"/>
              </a:rPr>
              <a:t>transactions</a:t>
            </a:r>
          </a:p>
          <a:p>
            <a:pPr marL="171450" indent="-171450" algn="l">
              <a:lnSpc>
                <a:spcPct val="150000"/>
              </a:lnSpc>
              <a:buFont typeface="Arial" panose="020B0604020202020204" pitchFamily="34" charset="0"/>
              <a:buChar char="•"/>
            </a:pPr>
            <a:r>
              <a:rPr sz="1400" b="0" dirty="0">
                <a:solidFill>
                  <a:schemeClr val="tx1">
                    <a:lumMod val="95000"/>
                    <a:lumOff val="5000"/>
                  </a:schemeClr>
                </a:solidFill>
                <a:latin typeface="Aptos"/>
              </a:rPr>
              <a:t>Statefulness </a:t>
            </a:r>
            <a:endParaRPr lang="en-US" sz="1400" dirty="0">
              <a:solidFill>
                <a:schemeClr val="tx1">
                  <a:lumMod val="95000"/>
                  <a:lumOff val="5000"/>
                </a:schemeClr>
              </a:solidFill>
              <a:latin typeface="Aptos"/>
            </a:endParaRPr>
          </a:p>
          <a:p>
            <a:pPr marL="171450" indent="-171450" algn="l">
              <a:lnSpc>
                <a:spcPct val="150000"/>
              </a:lnSpc>
              <a:buFont typeface="Arial" panose="020B0604020202020204" pitchFamily="34" charset="0"/>
              <a:buChar char="•"/>
            </a:pPr>
            <a:r>
              <a:rPr lang="en-CA" sz="1400" b="0" dirty="0">
                <a:solidFill>
                  <a:schemeClr val="tx1">
                    <a:lumMod val="95000"/>
                    <a:lumOff val="5000"/>
                  </a:schemeClr>
                </a:solidFill>
                <a:latin typeface="Aptos"/>
              </a:rPr>
              <a:t>L</a:t>
            </a:r>
            <a:r>
              <a:rPr sz="1400" b="0" dirty="0">
                <a:solidFill>
                  <a:schemeClr val="tx1">
                    <a:lumMod val="95000"/>
                    <a:lumOff val="5000"/>
                  </a:schemeClr>
                </a:solidFill>
                <a:latin typeface="Aptos"/>
              </a:rPr>
              <a:t>ogging</a:t>
            </a:r>
          </a:p>
        </p:txBody>
      </p:sp>
    </p:spTree>
    <p:extLst>
      <p:ext uri="{BB962C8B-B14F-4D97-AF65-F5344CB8AC3E}">
        <p14:creationId xmlns:p14="http://schemas.microsoft.com/office/powerpoint/2010/main" val="2398522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42CA5C-2FF1-E7A3-ECB0-EEBC5673F68F}"/>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THE BLUEPRINT</a:t>
            </a:r>
          </a:p>
        </p:txBody>
      </p:sp>
      <p:sp>
        <p:nvSpPr>
          <p:cNvPr id="3" name="Title 2">
            <a:extLst>
              <a:ext uri="{FF2B5EF4-FFF2-40B4-BE49-F238E27FC236}">
                <a16:creationId xmlns:a16="http://schemas.microsoft.com/office/drawing/2014/main" id="{8A9B46B0-2606-ED4D-54F6-287CE6DAC023}"/>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a:solidFill>
                  <a:srgbClr val="122038"/>
                </a:solidFill>
                <a:latin typeface="Aptos" panose="020B0004020202020204" pitchFamily="34" charset="0"/>
              </a:rPr>
              <a:t>Keep the request path fast; move memory transformation out of band</a:t>
            </a:r>
            <a:endParaRPr lang="en-CA" sz="250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C2C62B43-90B2-14C9-E9A1-4296DB32E435}"/>
              </a:ext>
            </a:extLst>
          </p:cNvPr>
          <p:cNvSpPr txBox="1">
            <a:spLocks noGrp="1"/>
          </p:cNvSpPr>
          <p:nvPr>
            <p:ph type="body" idx="11"/>
          </p:nvPr>
        </p:nvSpPr>
        <p:spPr>
          <a:xfrm>
            <a:off x="566928" y="1316736"/>
            <a:ext cx="11045952" cy="320040"/>
          </a:xfrm>
          <a:prstGeom prst="rect">
            <a:avLst/>
          </a:prstGeom>
          <a:noFill/>
        </p:spPr>
        <p:txBody>
          <a:bodyPr vert="horz" lIns="0" tIns="0" rIns="0" bIns="0" rtlCol="0">
            <a:spAutoFit/>
          </a:bodyPr>
          <a:lstStyle/>
          <a:p>
            <a:r>
              <a:rPr lang="en-US" sz="1500">
                <a:solidFill>
                  <a:srgbClr val="6C6C6C"/>
                </a:solidFill>
                <a:latin typeface="Aptos" panose="020B0004020202020204" pitchFamily="34" charset="0"/>
              </a:rPr>
              <a:t>Write raw turns quickly. Retrieve scoped context before the next run. Use change feed and replay-safe workers to create summaries, facts, profiles, procedures, and episodes.</a:t>
            </a:r>
            <a:endParaRPr lang="en-CA" sz="1500">
              <a:solidFill>
                <a:srgbClr val="6C6C6C"/>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749AA378-7C54-78A8-487F-5CA70E50949A}"/>
              </a:ext>
            </a:extLst>
          </p:cNvPr>
          <p:cNvSpPr/>
          <p:nvPr/>
        </p:nvSpPr>
        <p:spPr>
          <a:xfrm>
            <a:off x="712724" y="2768600"/>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AC995C20-0115-CB0F-3364-14E30F1DB3CC}"/>
              </a:ext>
            </a:extLst>
          </p:cNvPr>
          <p:cNvSpPr txBox="1"/>
          <p:nvPr/>
        </p:nvSpPr>
        <p:spPr>
          <a:xfrm>
            <a:off x="914400" y="3939032"/>
            <a:ext cx="2108200" cy="276999"/>
          </a:xfrm>
          <a:prstGeom prst="rect">
            <a:avLst/>
          </a:prstGeom>
          <a:noFill/>
        </p:spPr>
        <p:txBody>
          <a:bodyPr vert="horz" wrap="square" lIns="0" tIns="0" rIns="0" bIns="0" rtlCol="0">
            <a:spAutoFit/>
          </a:bodyPr>
          <a:lstStyle/>
          <a:p>
            <a:pPr algn="l"/>
            <a:r>
              <a:rPr lang="en-CA" sz="1800" b="1" dirty="0">
                <a:solidFill>
                  <a:srgbClr val="122038"/>
                </a:solidFill>
                <a:latin typeface="Aptos SemiBold"/>
              </a:rPr>
              <a:t>read + write</a:t>
            </a:r>
          </a:p>
        </p:txBody>
      </p:sp>
      <p:sp>
        <p:nvSpPr>
          <p:cNvPr id="7" name="Rectangle: Rounded Corners 6">
            <a:extLst>
              <a:ext uri="{FF2B5EF4-FFF2-40B4-BE49-F238E27FC236}">
                <a16:creationId xmlns:a16="http://schemas.microsoft.com/office/drawing/2014/main" id="{B67D1510-2FD4-2A09-D04D-571876CAC88F}"/>
              </a:ext>
            </a:extLst>
          </p:cNvPr>
          <p:cNvSpPr/>
          <p:nvPr/>
        </p:nvSpPr>
        <p:spPr>
          <a:xfrm>
            <a:off x="3429000" y="2768600"/>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0098DE13-C133-E2B4-BEE9-7F495848BFBF}"/>
              </a:ext>
            </a:extLst>
          </p:cNvPr>
          <p:cNvSpPr txBox="1"/>
          <p:nvPr/>
        </p:nvSpPr>
        <p:spPr>
          <a:xfrm>
            <a:off x="3657600" y="3939032"/>
            <a:ext cx="2108200" cy="276999"/>
          </a:xfrm>
          <a:prstGeom prst="rect">
            <a:avLst/>
          </a:prstGeom>
          <a:noFill/>
        </p:spPr>
        <p:txBody>
          <a:bodyPr vert="horz" wrap="square" lIns="0" tIns="0" rIns="0" bIns="0" rtlCol="0">
            <a:spAutoFit/>
          </a:bodyPr>
          <a:lstStyle/>
          <a:p>
            <a:pPr algn="l"/>
            <a:r>
              <a:rPr lang="en-CA" sz="1800" b="1" dirty="0">
                <a:solidFill>
                  <a:srgbClr val="122038"/>
                </a:solidFill>
                <a:latin typeface="Aptos SemiBold"/>
              </a:rPr>
              <a:t>turns + memories</a:t>
            </a:r>
          </a:p>
        </p:txBody>
      </p:sp>
      <p:sp>
        <p:nvSpPr>
          <p:cNvPr id="9" name="Rectangle: Rounded Corners 8">
            <a:extLst>
              <a:ext uri="{FF2B5EF4-FFF2-40B4-BE49-F238E27FC236}">
                <a16:creationId xmlns:a16="http://schemas.microsoft.com/office/drawing/2014/main" id="{406C783B-D8D8-CCFE-1A46-718D0838AEFF}"/>
              </a:ext>
            </a:extLst>
          </p:cNvPr>
          <p:cNvSpPr/>
          <p:nvPr/>
        </p:nvSpPr>
        <p:spPr>
          <a:xfrm>
            <a:off x="6172200" y="2768600"/>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33A189D3-3005-FFFC-01B1-CD68A970A57C}"/>
              </a:ext>
            </a:extLst>
          </p:cNvPr>
          <p:cNvSpPr txBox="1"/>
          <p:nvPr/>
        </p:nvSpPr>
        <p:spPr>
          <a:xfrm>
            <a:off x="6400800" y="3939032"/>
            <a:ext cx="2108200" cy="276999"/>
          </a:xfrm>
          <a:prstGeom prst="rect">
            <a:avLst/>
          </a:prstGeom>
          <a:noFill/>
        </p:spPr>
        <p:txBody>
          <a:bodyPr vert="horz" wrap="square" lIns="0" tIns="0" rIns="0" bIns="0" rtlCol="0">
            <a:spAutoFit/>
          </a:bodyPr>
          <a:lstStyle/>
          <a:p>
            <a:pPr algn="l"/>
            <a:r>
              <a:rPr lang="en-CA" sz="1800" b="1" dirty="0">
                <a:solidFill>
                  <a:srgbClr val="122038"/>
                </a:solidFill>
                <a:latin typeface="Aptos SemiBold"/>
              </a:rPr>
              <a:t>events</a:t>
            </a:r>
          </a:p>
        </p:txBody>
      </p:sp>
      <p:sp>
        <p:nvSpPr>
          <p:cNvPr id="11" name="Rectangle: Rounded Corners 10">
            <a:extLst>
              <a:ext uri="{FF2B5EF4-FFF2-40B4-BE49-F238E27FC236}">
                <a16:creationId xmlns:a16="http://schemas.microsoft.com/office/drawing/2014/main" id="{DEFE5103-92D7-19EF-5B9E-D499DE0D37AD}"/>
              </a:ext>
            </a:extLst>
          </p:cNvPr>
          <p:cNvSpPr/>
          <p:nvPr/>
        </p:nvSpPr>
        <p:spPr>
          <a:xfrm>
            <a:off x="8915400" y="2768600"/>
            <a:ext cx="2565400" cy="2387600"/>
          </a:xfrm>
          <a:prstGeom prst="roundRect">
            <a:avLst/>
          </a:prstGeom>
          <a:solidFill>
            <a:srgbClr val="F1F3F6"/>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034D07D-45E2-008F-6B6C-A12C8E347AE9}"/>
              </a:ext>
            </a:extLst>
          </p:cNvPr>
          <p:cNvSpPr txBox="1"/>
          <p:nvPr/>
        </p:nvSpPr>
        <p:spPr>
          <a:xfrm>
            <a:off x="9144000" y="3939032"/>
            <a:ext cx="2108200" cy="276999"/>
          </a:xfrm>
          <a:prstGeom prst="rect">
            <a:avLst/>
          </a:prstGeom>
          <a:noFill/>
        </p:spPr>
        <p:txBody>
          <a:bodyPr vert="horz" wrap="square" lIns="0" tIns="0" rIns="0" bIns="0" rtlCol="0">
            <a:spAutoFit/>
          </a:bodyPr>
          <a:lstStyle/>
          <a:p>
            <a:pPr algn="l"/>
            <a:r>
              <a:rPr lang="en-CA" sz="1800" b="1" dirty="0">
                <a:solidFill>
                  <a:srgbClr val="122038"/>
                </a:solidFill>
                <a:latin typeface="Aptos SemiBold"/>
              </a:rPr>
              <a:t>distill + reconcile</a:t>
            </a:r>
          </a:p>
        </p:txBody>
      </p:sp>
      <p:sp>
        <p:nvSpPr>
          <p:cNvPr id="13" name="Card 1 Number"/>
          <p:cNvSpPr/>
          <p:nvPr/>
        </p:nvSpPr>
        <p:spPr>
          <a:xfrm>
            <a:off x="914400" y="3015488"/>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1</a:t>
            </a:r>
          </a:p>
        </p:txBody>
      </p:sp>
      <p:sp>
        <p:nvSpPr>
          <p:cNvPr id="14" name="Card 1 Title"/>
          <p:cNvSpPr txBox="1"/>
          <p:nvPr/>
        </p:nvSpPr>
        <p:spPr>
          <a:xfrm>
            <a:off x="14447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AGENT</a:t>
            </a:r>
          </a:p>
        </p:txBody>
      </p:sp>
      <p:sp>
        <p:nvSpPr>
          <p:cNvPr id="15" name="Card 2 Number"/>
          <p:cNvSpPr/>
          <p:nvPr/>
        </p:nvSpPr>
        <p:spPr>
          <a:xfrm>
            <a:off x="3657600" y="3015488"/>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16" name="Card 2 Title"/>
          <p:cNvSpPr txBox="1"/>
          <p:nvPr/>
        </p:nvSpPr>
        <p:spPr>
          <a:xfrm>
            <a:off x="41879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COSMOS DB</a:t>
            </a:r>
          </a:p>
        </p:txBody>
      </p:sp>
      <p:sp>
        <p:nvSpPr>
          <p:cNvPr id="17" name="Card 3 Number"/>
          <p:cNvSpPr/>
          <p:nvPr/>
        </p:nvSpPr>
        <p:spPr>
          <a:xfrm>
            <a:off x="6400800" y="3015488"/>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3</a:t>
            </a:r>
          </a:p>
        </p:txBody>
      </p:sp>
      <p:sp>
        <p:nvSpPr>
          <p:cNvPr id="18" name="Card 3 Title"/>
          <p:cNvSpPr txBox="1"/>
          <p:nvPr/>
        </p:nvSpPr>
        <p:spPr>
          <a:xfrm>
            <a:off x="69311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CHANGE FEED</a:t>
            </a:r>
          </a:p>
        </p:txBody>
      </p:sp>
      <p:sp>
        <p:nvSpPr>
          <p:cNvPr id="19" name="Card 4 Number"/>
          <p:cNvSpPr/>
          <p:nvPr/>
        </p:nvSpPr>
        <p:spPr>
          <a:xfrm>
            <a:off x="9144000" y="3015488"/>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20" name="Card 4 Title"/>
          <p:cNvSpPr txBox="1"/>
          <p:nvPr/>
        </p:nvSpPr>
        <p:spPr>
          <a:xfrm>
            <a:off x="96743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DURABLE WORKERS</a:t>
            </a:r>
          </a:p>
        </p:txBody>
      </p:sp>
    </p:spTree>
    <p:extLst>
      <p:ext uri="{BB962C8B-B14F-4D97-AF65-F5344CB8AC3E}">
        <p14:creationId xmlns:p14="http://schemas.microsoft.com/office/powerpoint/2010/main" val="460669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prstGeom prst="rect">
            <a:avLst/>
          </a:prstGeom>
          <a:noFill/>
        </p:spPr>
        <p:txBody>
          <a:bodyPr wrap="square" lIns="0" tIns="0" rIns="0" bIns="0">
            <a:spAutoFit/>
          </a:bodyPr>
          <a:lstStyle/>
          <a:p>
            <a:pPr algn="l"/>
            <a:r>
              <a:rPr sz="900" b="1">
                <a:solidFill>
                  <a:srgbClr val="0099D4"/>
                </a:solidFill>
                <a:latin typeface="Aptos"/>
              </a:rPr>
              <a:t>SCOPING</a:t>
            </a:r>
          </a:p>
        </p:txBody>
      </p:sp>
      <p:sp>
        <p:nvSpPr>
          <p:cNvPr id="3" name="Title 2"/>
          <p:cNvSpPr txBox="1">
            <a:spLocks noGrp="1"/>
          </p:cNvSpPr>
          <p:nvPr>
            <p:ph type="title"/>
          </p:nvPr>
        </p:nvSpPr>
        <p:spPr>
          <a:prstGeom prst="rect">
            <a:avLst/>
          </a:prstGeom>
          <a:noFill/>
        </p:spPr>
        <p:txBody>
          <a:bodyPr wrap="square" lIns="0" tIns="0" rIns="0" bIns="0">
            <a:spAutoFit/>
          </a:bodyPr>
          <a:lstStyle/>
          <a:p>
            <a:pPr algn="l"/>
            <a:r>
              <a:rPr sz="2500" b="0">
                <a:solidFill>
                  <a:srgbClr val="122038"/>
                </a:solidFill>
                <a:latin typeface="Aptos"/>
              </a:rPr>
              <a:t>Scoping your memories: partitioning</a:t>
            </a:r>
          </a:p>
        </p:txBody>
      </p:sp>
      <p:sp>
        <p:nvSpPr>
          <p:cNvPr id="4" name="Text Placeholder 3"/>
          <p:cNvSpPr txBox="1">
            <a:spLocks noGrp="1"/>
          </p:cNvSpPr>
          <p:nvPr>
            <p:ph type="body" idx="11"/>
          </p:nvPr>
        </p:nvSpPr>
        <p:spPr>
          <a:prstGeom prst="rect">
            <a:avLst/>
          </a:prstGeom>
          <a:noFill/>
        </p:spPr>
        <p:txBody>
          <a:bodyPr wrap="square" lIns="0" tIns="0" rIns="0" bIns="0">
            <a:spAutoFit/>
          </a:bodyPr>
          <a:lstStyle/>
          <a:p>
            <a:pPr algn="l"/>
            <a:r>
              <a:rPr sz="1500" b="0">
                <a:solidFill>
                  <a:srgbClr val="6C6C6C"/>
                </a:solidFill>
                <a:latin typeface="Aptos"/>
              </a:rPr>
              <a:t>Pick the partition key from the dominant retrieval boundary — routing is not authorization.</a:t>
            </a:r>
          </a:p>
        </p:txBody>
      </p:sp>
      <p:sp>
        <p:nvSpPr>
          <p:cNvPr id="5" name="Rounded Rectangle 4"/>
          <p:cNvSpPr/>
          <p:nvPr/>
        </p:nvSpPr>
        <p:spPr>
          <a:xfrm>
            <a:off x="685800" y="1920240"/>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960120" y="2253996"/>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chat-multiple-e1ce7a55.png"/>
          <p:cNvPicPr>
            <a:picLocks noChangeAspect="1"/>
          </p:cNvPicPr>
          <p:nvPr/>
        </p:nvPicPr>
        <p:blipFill>
          <a:blip r:embed="rId3"/>
          <a:stretch>
            <a:fillRect/>
          </a:stretch>
        </p:blipFill>
        <p:spPr>
          <a:xfrm>
            <a:off x="1096182" y="2390058"/>
            <a:ext cx="294802" cy="294802"/>
          </a:xfrm>
          <a:prstGeom prst="rect">
            <a:avLst/>
          </a:prstGeom>
        </p:spPr>
      </p:pic>
      <p:sp>
        <p:nvSpPr>
          <p:cNvPr id="8" name="TextBox 7"/>
          <p:cNvSpPr txBox="1"/>
          <p:nvPr/>
        </p:nvSpPr>
        <p:spPr>
          <a:xfrm>
            <a:off x="1783080" y="2121408"/>
            <a:ext cx="9418320" cy="868680"/>
          </a:xfrm>
          <a:prstGeom prst="rect">
            <a:avLst/>
          </a:prstGeom>
          <a:noFill/>
        </p:spPr>
        <p:txBody>
          <a:bodyPr wrap="square" lIns="0" tIns="0" rIns="0" bIns="0">
            <a:spAutoFit/>
          </a:bodyPr>
          <a:lstStyle/>
          <a:p>
            <a:pPr algn="l"/>
            <a:r>
              <a:rPr sz="1500" b="1">
                <a:solidFill>
                  <a:srgbClr val="122038"/>
                </a:solidFill>
                <a:latin typeface="Aptos"/>
              </a:rPr>
              <a:t>ThreadID (GUID)</a:t>
            </a:r>
          </a:p>
          <a:p>
            <a:pPr algn="l"/>
            <a:r>
              <a:rPr sz="1300" b="0">
                <a:solidFill>
                  <a:srgbClr val="6C6C6C"/>
                </a:solidFill>
                <a:latin typeface="Aptos"/>
              </a:rPr>
              <a:t>Primary access pattern is reading or updating data per conversation thread; you seldom query across users or tenants.</a:t>
            </a:r>
          </a:p>
        </p:txBody>
      </p:sp>
      <p:sp>
        <p:nvSpPr>
          <p:cNvPr id="9" name="Rounded Rectangle 8"/>
          <p:cNvSpPr/>
          <p:nvPr/>
        </p:nvSpPr>
        <p:spPr>
          <a:xfrm>
            <a:off x="685800" y="3355848"/>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60120" y="3689604"/>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person-af87c106.png"/>
          <p:cNvPicPr>
            <a:picLocks noChangeAspect="1"/>
          </p:cNvPicPr>
          <p:nvPr/>
        </p:nvPicPr>
        <p:blipFill>
          <a:blip r:embed="rId4"/>
          <a:stretch>
            <a:fillRect/>
          </a:stretch>
        </p:blipFill>
        <p:spPr>
          <a:xfrm>
            <a:off x="1096182" y="3825666"/>
            <a:ext cx="294802" cy="294802"/>
          </a:xfrm>
          <a:prstGeom prst="rect">
            <a:avLst/>
          </a:prstGeom>
        </p:spPr>
      </p:pic>
      <p:sp>
        <p:nvSpPr>
          <p:cNvPr id="12" name="TextBox 11"/>
          <p:cNvSpPr txBox="1"/>
          <p:nvPr/>
        </p:nvSpPr>
        <p:spPr>
          <a:xfrm>
            <a:off x="1783080" y="3557016"/>
            <a:ext cx="9418320" cy="868680"/>
          </a:xfrm>
          <a:prstGeom prst="rect">
            <a:avLst/>
          </a:prstGeom>
          <a:noFill/>
        </p:spPr>
        <p:txBody>
          <a:bodyPr wrap="square" lIns="0" tIns="0" rIns="0" bIns="0">
            <a:spAutoFit/>
          </a:bodyPr>
          <a:lstStyle/>
          <a:p>
            <a:pPr algn="l"/>
            <a:r>
              <a:rPr sz="1500" b="1">
                <a:solidFill>
                  <a:srgbClr val="122038"/>
                </a:solidFill>
                <a:latin typeface="Aptos"/>
              </a:rPr>
              <a:t>UserID / ThreadID</a:t>
            </a:r>
          </a:p>
          <a:p>
            <a:pPr algn="l"/>
            <a:r>
              <a:rPr sz="1300" b="0">
                <a:solidFill>
                  <a:srgbClr val="6C6C6C"/>
                </a:solidFill>
                <a:latin typeface="Aptos"/>
              </a:rPr>
              <a:t>Multi-user scenarios. Provides both user-scoped and thread-scoped locality.</a:t>
            </a:r>
          </a:p>
        </p:txBody>
      </p:sp>
      <p:sp>
        <p:nvSpPr>
          <p:cNvPr id="13" name="Rounded Rectangle 12"/>
          <p:cNvSpPr/>
          <p:nvPr/>
        </p:nvSpPr>
        <p:spPr>
          <a:xfrm>
            <a:off x="685800" y="4791456"/>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960120" y="5125212"/>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on-people-team-a4258136.png"/>
          <p:cNvPicPr>
            <a:picLocks noChangeAspect="1"/>
          </p:cNvPicPr>
          <p:nvPr/>
        </p:nvPicPr>
        <p:blipFill>
          <a:blip r:embed="rId5"/>
          <a:stretch>
            <a:fillRect/>
          </a:stretch>
        </p:blipFill>
        <p:spPr>
          <a:xfrm>
            <a:off x="1096182" y="5261274"/>
            <a:ext cx="294802" cy="294802"/>
          </a:xfrm>
          <a:prstGeom prst="rect">
            <a:avLst/>
          </a:prstGeom>
        </p:spPr>
      </p:pic>
      <p:sp>
        <p:nvSpPr>
          <p:cNvPr id="16" name="TextBox 15"/>
          <p:cNvSpPr txBox="1"/>
          <p:nvPr/>
        </p:nvSpPr>
        <p:spPr>
          <a:xfrm>
            <a:off x="1783080" y="4992624"/>
            <a:ext cx="9418320" cy="868680"/>
          </a:xfrm>
          <a:prstGeom prst="rect">
            <a:avLst/>
          </a:prstGeom>
          <a:noFill/>
        </p:spPr>
        <p:txBody>
          <a:bodyPr wrap="square" lIns="0" tIns="0" rIns="0" bIns="0">
            <a:spAutoFit/>
          </a:bodyPr>
          <a:lstStyle/>
          <a:p>
            <a:pPr algn="l"/>
            <a:r>
              <a:rPr sz="1500" b="1">
                <a:solidFill>
                  <a:srgbClr val="122038"/>
                </a:solidFill>
                <a:latin typeface="Aptos"/>
              </a:rPr>
              <a:t>TenantID / UserID / ThreadID</a:t>
            </a:r>
          </a:p>
          <a:p>
            <a:pPr algn="l"/>
            <a:r>
              <a:rPr sz="1300" b="0">
                <a:solidFill>
                  <a:srgbClr val="6C6C6C"/>
                </a:solidFill>
                <a:latin typeface="Aptos"/>
              </a:rPr>
              <a:t>Multi-tenant, multi-user scenarios. Tenant and user isolation or grouping; ideal for large tenants.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4">
            <a:extLst>
              <a:ext uri="{FF2B5EF4-FFF2-40B4-BE49-F238E27FC236}">
                <a16:creationId xmlns:a16="http://schemas.microsoft.com/office/drawing/2014/main" id="{486EB907-2387-FDE4-EFAB-6C0D383BAB1B}"/>
              </a:ext>
            </a:extLst>
          </p:cNvPr>
          <p:cNvSpPr/>
          <p:nvPr/>
        </p:nvSpPr>
        <p:spPr>
          <a:xfrm>
            <a:off x="6166550" y="2192170"/>
            <a:ext cx="5257800" cy="4105656"/>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8" name="Rounded Rectangle 4">
            <a:extLst>
              <a:ext uri="{FF2B5EF4-FFF2-40B4-BE49-F238E27FC236}">
                <a16:creationId xmlns:a16="http://schemas.microsoft.com/office/drawing/2014/main" id="{2889041C-9FFE-8FBC-0F3E-824D6CD59F8A}"/>
              </a:ext>
            </a:extLst>
          </p:cNvPr>
          <p:cNvSpPr/>
          <p:nvPr/>
        </p:nvSpPr>
        <p:spPr>
          <a:xfrm>
            <a:off x="685800" y="2286000"/>
            <a:ext cx="5257800" cy="3874168"/>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Placeholder 1"/>
          <p:cNvSpPr txBox="1">
            <a:spLocks noGrp="1"/>
          </p:cNvSpPr>
          <p:nvPr>
            <p:ph type="body" idx="10"/>
          </p:nvPr>
        </p:nvSpPr>
        <p:spPr>
          <a:prstGeom prst="rect">
            <a:avLst/>
          </a:prstGeom>
          <a:noFill/>
        </p:spPr>
        <p:txBody>
          <a:bodyPr wrap="square" lIns="0" tIns="0" rIns="0" bIns="0">
            <a:spAutoFit/>
          </a:bodyPr>
          <a:lstStyle/>
          <a:p>
            <a:pPr algn="l"/>
            <a:r>
              <a:rPr b="1">
                <a:solidFill>
                  <a:srgbClr val="0099D4"/>
                </a:solidFill>
                <a:latin typeface="Aptos"/>
              </a:rPr>
              <a:t>FULL-TEXT INDEXING</a:t>
            </a:r>
          </a:p>
        </p:txBody>
      </p:sp>
      <p:sp>
        <p:nvSpPr>
          <p:cNvPr id="3" name="Title 2"/>
          <p:cNvSpPr txBox="1">
            <a:spLocks noGrp="1"/>
          </p:cNvSpPr>
          <p:nvPr>
            <p:ph type="title"/>
          </p:nvPr>
        </p:nvSpPr>
        <p:spPr>
          <a:prstGeom prst="rect">
            <a:avLst/>
          </a:prstGeom>
          <a:noFill/>
        </p:spPr>
        <p:txBody>
          <a:bodyPr wrap="square" lIns="0" tIns="0" rIns="0" bIns="0">
            <a:spAutoFit/>
          </a:bodyPr>
          <a:lstStyle/>
          <a:p>
            <a:pPr algn="l"/>
            <a:r>
              <a:rPr b="0" dirty="0">
                <a:solidFill>
                  <a:srgbClr val="122038"/>
                </a:solidFill>
                <a:latin typeface="Aptos"/>
              </a:rPr>
              <a:t>Configuring a full-text index</a:t>
            </a:r>
          </a:p>
        </p:txBody>
      </p:sp>
      <p:sp>
        <p:nvSpPr>
          <p:cNvPr id="4" name="Text Placeholder 3"/>
          <p:cNvSpPr txBox="1">
            <a:spLocks noGrp="1"/>
          </p:cNvSpPr>
          <p:nvPr>
            <p:ph type="body" idx="11"/>
          </p:nvPr>
        </p:nvSpPr>
        <p:spPr>
          <a:xfrm>
            <a:off x="548640" y="1042416"/>
            <a:ext cx="11045952" cy="230832"/>
          </a:xfrm>
          <a:prstGeom prst="rect">
            <a:avLst/>
          </a:prstGeom>
          <a:noFill/>
        </p:spPr>
        <p:txBody>
          <a:bodyPr wrap="square" lIns="0" tIns="0" rIns="0" bIns="0">
            <a:spAutoFit/>
          </a:bodyPr>
          <a:lstStyle/>
          <a:p>
            <a:pPr algn="l"/>
            <a:r>
              <a:rPr b="0" dirty="0">
                <a:solidFill>
                  <a:srgbClr val="6C6C6C"/>
                </a:solidFill>
                <a:latin typeface="Aptos"/>
              </a:rPr>
              <a:t>Exact words and identifiers still matter — a policy declares the language and </a:t>
            </a:r>
            <a:r>
              <a:rPr lang="en-CA" b="0" dirty="0">
                <a:solidFill>
                  <a:srgbClr val="6C6C6C"/>
                </a:solidFill>
                <a:latin typeface="Aptos"/>
              </a:rPr>
              <a:t>paths;</a:t>
            </a:r>
            <a:r>
              <a:rPr b="0" dirty="0">
                <a:solidFill>
                  <a:srgbClr val="6C6C6C"/>
                </a:solidFill>
                <a:latin typeface="Aptos"/>
              </a:rPr>
              <a:t> the index makes them searchable.</a:t>
            </a:r>
          </a:p>
        </p:txBody>
      </p:sp>
      <p:sp>
        <p:nvSpPr>
          <p:cNvPr id="20" name="Rounded Rectangle 5">
            <a:extLst>
              <a:ext uri="{FF2B5EF4-FFF2-40B4-BE49-F238E27FC236}">
                <a16:creationId xmlns:a16="http://schemas.microsoft.com/office/drawing/2014/main" id="{AE5ECF1C-0C87-2711-0270-0F9D96AC912E}"/>
              </a:ext>
            </a:extLst>
          </p:cNvPr>
          <p:cNvSpPr/>
          <p:nvPr/>
        </p:nvSpPr>
        <p:spPr>
          <a:xfrm>
            <a:off x="988328" y="2047589"/>
            <a:ext cx="274320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a:extLst>
              <a:ext uri="{FF2B5EF4-FFF2-40B4-BE49-F238E27FC236}">
                <a16:creationId xmlns:a16="http://schemas.microsoft.com/office/drawing/2014/main" id="{F06A11BB-03E3-015B-4095-60774485CD85}"/>
              </a:ext>
            </a:extLst>
          </p:cNvPr>
          <p:cNvSpPr txBox="1"/>
          <p:nvPr/>
        </p:nvSpPr>
        <p:spPr>
          <a:xfrm>
            <a:off x="1053232" y="2119502"/>
            <a:ext cx="2560320" cy="246221"/>
          </a:xfrm>
          <a:prstGeom prst="rect">
            <a:avLst/>
          </a:prstGeom>
          <a:noFill/>
        </p:spPr>
        <p:txBody>
          <a:bodyPr wrap="square" lIns="0" tIns="0" rIns="0" bIns="0">
            <a:spAutoFit/>
          </a:bodyPr>
          <a:lstStyle/>
          <a:p>
            <a:pPr algn="l"/>
            <a:r>
              <a:rPr lang="en-US" sz="1600" b="1" dirty="0">
                <a:solidFill>
                  <a:srgbClr val="FFFFFF"/>
                </a:solidFill>
                <a:latin typeface="Aptos"/>
              </a:rPr>
              <a:t>Full Text Policy</a:t>
            </a:r>
            <a:endParaRPr sz="1600" b="1" dirty="0">
              <a:solidFill>
                <a:srgbClr val="FFFFFF"/>
              </a:solidFill>
              <a:latin typeface="Aptos"/>
            </a:endParaRPr>
          </a:p>
        </p:txBody>
      </p:sp>
      <p:grpSp>
        <p:nvGrpSpPr>
          <p:cNvPr id="35" name="Group 34">
            <a:extLst>
              <a:ext uri="{FF2B5EF4-FFF2-40B4-BE49-F238E27FC236}">
                <a16:creationId xmlns:a16="http://schemas.microsoft.com/office/drawing/2014/main" id="{AC754FA6-565A-CBBF-B7FB-F09966E8FCF3}"/>
              </a:ext>
            </a:extLst>
          </p:cNvPr>
          <p:cNvGrpSpPr/>
          <p:nvPr/>
        </p:nvGrpSpPr>
        <p:grpSpPr>
          <a:xfrm>
            <a:off x="6519372" y="2119502"/>
            <a:ext cx="2743200" cy="384048"/>
            <a:chOff x="6284495" y="1751969"/>
            <a:chExt cx="2743200" cy="384048"/>
          </a:xfrm>
        </p:grpSpPr>
        <p:sp>
          <p:nvSpPr>
            <p:cNvPr id="30" name="Rounded Rectangle 5">
              <a:extLst>
                <a:ext uri="{FF2B5EF4-FFF2-40B4-BE49-F238E27FC236}">
                  <a16:creationId xmlns:a16="http://schemas.microsoft.com/office/drawing/2014/main" id="{12AFD9D6-858F-BFFB-2287-1DFD516CE7B5}"/>
                </a:ext>
              </a:extLst>
            </p:cNvPr>
            <p:cNvSpPr/>
            <p:nvPr/>
          </p:nvSpPr>
          <p:spPr>
            <a:xfrm>
              <a:off x="6284495" y="1751969"/>
              <a:ext cx="274320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6273F0FE-D3F6-14F5-92CA-02F7994137D3}"/>
                </a:ext>
              </a:extLst>
            </p:cNvPr>
            <p:cNvSpPr txBox="1"/>
            <p:nvPr/>
          </p:nvSpPr>
          <p:spPr>
            <a:xfrm>
              <a:off x="6375935" y="1834265"/>
              <a:ext cx="2560320" cy="246221"/>
            </a:xfrm>
            <a:prstGeom prst="rect">
              <a:avLst/>
            </a:prstGeom>
            <a:noFill/>
          </p:spPr>
          <p:txBody>
            <a:bodyPr wrap="square" lIns="0" tIns="0" rIns="0" bIns="0">
              <a:spAutoFit/>
            </a:bodyPr>
            <a:lstStyle/>
            <a:p>
              <a:pPr algn="l"/>
              <a:r>
                <a:rPr lang="en-US" sz="1600" b="1" dirty="0">
                  <a:solidFill>
                    <a:srgbClr val="FFFFFF"/>
                  </a:solidFill>
                  <a:latin typeface="Aptos"/>
                </a:rPr>
                <a:t>Full Text Index</a:t>
              </a:r>
              <a:endParaRPr sz="1600" b="1" dirty="0">
                <a:solidFill>
                  <a:srgbClr val="FFFFFF"/>
                </a:solidFill>
                <a:latin typeface="Aptos"/>
              </a:endParaRPr>
            </a:p>
          </p:txBody>
        </p:sp>
      </p:grpSp>
      <p:sp>
        <p:nvSpPr>
          <p:cNvPr id="33" name="TextBox 32">
            <a:extLst>
              <a:ext uri="{FF2B5EF4-FFF2-40B4-BE49-F238E27FC236}">
                <a16:creationId xmlns:a16="http://schemas.microsoft.com/office/drawing/2014/main" id="{5C4769BE-580F-CF7A-AF31-FE4943E81DBA}"/>
              </a:ext>
            </a:extLst>
          </p:cNvPr>
          <p:cNvSpPr txBox="1"/>
          <p:nvPr/>
        </p:nvSpPr>
        <p:spPr>
          <a:xfrm>
            <a:off x="895184" y="2691667"/>
            <a:ext cx="4839031" cy="3093154"/>
          </a:xfrm>
          <a:prstGeom prst="rect">
            <a:avLst/>
          </a:prstGeom>
          <a:noFill/>
        </p:spPr>
        <p:txBody>
          <a:bodyPr wrap="square" rtlCol="0">
            <a:spAutoFit/>
          </a:bodyPr>
          <a:lstStyle/>
          <a:p>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"defaultLanguage"</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en-US</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"fullTextPaths</a:t>
            </a:r>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messages[0]/content</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language</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en-US</a:t>
            </a:r>
            <a:r>
              <a:rPr lang="en-US" sz="1500" dirty="0">
                <a:latin typeface="Consolas" panose="020B0609020204030204" pitchFamily="49" charset="0"/>
              </a:rPr>
              <a:t>"</a:t>
            </a:r>
          </a:p>
          <a:p>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messages[1]/content</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language</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en-US</a:t>
            </a:r>
            <a:r>
              <a:rPr lang="en-US" sz="1500" dirty="0">
                <a:latin typeface="Consolas" panose="020B0609020204030204" pitchFamily="49" charset="0"/>
              </a:rPr>
              <a:t>"</a:t>
            </a:r>
          </a:p>
          <a:p>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a:t>
            </a:r>
          </a:p>
        </p:txBody>
      </p:sp>
      <p:sp>
        <p:nvSpPr>
          <p:cNvPr id="34" name="TextBox 33">
            <a:extLst>
              <a:ext uri="{FF2B5EF4-FFF2-40B4-BE49-F238E27FC236}">
                <a16:creationId xmlns:a16="http://schemas.microsoft.com/office/drawing/2014/main" id="{96249586-D2FE-6BD0-F3FB-D9B368B8304F}"/>
              </a:ext>
            </a:extLst>
          </p:cNvPr>
          <p:cNvSpPr txBox="1"/>
          <p:nvPr/>
        </p:nvSpPr>
        <p:spPr>
          <a:xfrm>
            <a:off x="6375935" y="2691667"/>
            <a:ext cx="5595730" cy="3554819"/>
          </a:xfrm>
          <a:prstGeom prst="rect">
            <a:avLst/>
          </a:prstGeom>
          <a:noFill/>
        </p:spPr>
        <p:txBody>
          <a:bodyPr wrap="square" rtlCol="0">
            <a:spAutoFit/>
          </a:bodyPr>
          <a:lstStyle/>
          <a:p>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indexingMode</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consistent</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automatic</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true</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includedPaths</a:t>
            </a:r>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excludedPaths</a:t>
            </a:r>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/\"_etag\"/?"</a:t>
            </a:r>
            <a:r>
              <a:rPr lang="en-US" sz="1500" dirty="0">
                <a:latin typeface="Consolas" panose="020B0609020204030204" pitchFamily="49" charset="0"/>
              </a:rPr>
              <a:t>}],</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fullTextIndexes</a:t>
            </a:r>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messages[0]/content</a:t>
            </a:r>
            <a:r>
              <a:rPr lang="en-US" sz="1500" dirty="0">
                <a:latin typeface="Consolas" panose="020B0609020204030204" pitchFamily="49" charset="0"/>
              </a:rPr>
              <a:t>"</a:t>
            </a:r>
          </a:p>
          <a:p>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      "</a:t>
            </a:r>
            <a:r>
              <a:rPr lang="en-US" sz="1500" dirty="0">
                <a:solidFill>
                  <a:schemeClr val="accent2">
                    <a:lumMod val="75000"/>
                  </a:schemeClr>
                </a:solidFill>
                <a:latin typeface="Consolas" panose="020B0609020204030204" pitchFamily="49" charset="0"/>
              </a:rPr>
              <a:t>path</a:t>
            </a:r>
            <a:r>
              <a:rPr lang="en-US" sz="1500" dirty="0">
                <a:latin typeface="Consolas" panose="020B0609020204030204" pitchFamily="49" charset="0"/>
              </a:rPr>
              <a:t>": "/</a:t>
            </a:r>
            <a:r>
              <a:rPr lang="en-US" sz="1500" dirty="0">
                <a:solidFill>
                  <a:schemeClr val="accent1">
                    <a:lumMod val="75000"/>
                  </a:schemeClr>
                </a:solidFill>
                <a:latin typeface="Consolas" panose="020B0609020204030204" pitchFamily="49" charset="0"/>
              </a:rPr>
              <a:t>messages[1]/content</a:t>
            </a:r>
            <a:r>
              <a:rPr lang="en-US" sz="1500" dirty="0">
                <a:latin typeface="Consolas" panose="020B0609020204030204" pitchFamily="49" charset="0"/>
              </a:rPr>
              <a:t>"</a:t>
            </a:r>
          </a:p>
          <a:p>
            <a:r>
              <a:rPr lang="en-US" sz="1500" dirty="0">
                <a:latin typeface="Consolas" panose="020B0609020204030204" pitchFamily="49" charset="0"/>
              </a:rPr>
              <a:t>    }</a:t>
            </a:r>
          </a:p>
          <a:p>
            <a:r>
              <a:rPr lang="en-US" sz="1500" dirty="0">
                <a:latin typeface="Consolas" panose="020B0609020204030204" pitchFamily="49" charset="0"/>
              </a:rPr>
              <a:t>  ]</a:t>
            </a:r>
          </a:p>
          <a:p>
            <a:r>
              <a:rPr lang="en-US" sz="1500" dirty="0">
                <a:latin typeface="Consolas" panose="020B0609020204030204" pitchFamily="49" charset="0"/>
              </a:rPr>
              <a:t>}</a:t>
            </a:r>
          </a:p>
          <a:p>
            <a:endParaRPr lang="en-CA" sz="1500" dirty="0">
              <a:latin typeface="Consolas" panose="020B0609020204030204" pitchFamily="49" charset="0"/>
            </a:endParaRPr>
          </a:p>
        </p:txBody>
      </p:sp>
    </p:spTree>
    <p:extLst>
      <p:ext uri="{BB962C8B-B14F-4D97-AF65-F5344CB8AC3E}">
        <p14:creationId xmlns:p14="http://schemas.microsoft.com/office/powerpoint/2010/main" val="3327660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VECTOR INDEXING</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Configuring a vector index</a:t>
            </a:r>
          </a:p>
        </p:txBody>
      </p:sp>
      <p:sp>
        <p:nvSpPr>
          <p:cNvPr id="4" name="Text Placeholder 3"/>
          <p:cNvSpPr txBox="1">
            <a:spLocks noGrp="1"/>
          </p:cNvSpPr>
          <p:nvPr>
            <p:ph type="body" idx="11"/>
          </p:nvPr>
        </p:nvSpPr>
        <p:spPr>
          <a:xfrm>
            <a:off x="566928" y="1316736"/>
            <a:ext cx="11045952" cy="320040"/>
          </a:xfrm>
          <a:prstGeom prst="rect">
            <a:avLst/>
          </a:prstGeom>
          <a:noFill/>
        </p:spPr>
        <p:txBody>
          <a:bodyPr wrap="square" lIns="0" tIns="0" rIns="0" bIns="0">
            <a:spAutoFit/>
          </a:bodyPr>
          <a:lstStyle/>
          <a:p>
            <a:pPr algn="l"/>
            <a:r>
              <a:rPr sz="1500" b="0">
                <a:solidFill>
                  <a:srgbClr val="6C6C6C"/>
                </a:solidFill>
                <a:latin typeface="Aptos"/>
              </a:rPr>
              <a:t>Index choice drives recall, latency, and RU cost — benchmark the scoped search, not the global one.</a:t>
            </a:r>
          </a:p>
        </p:txBody>
      </p:sp>
      <p:sp>
        <p:nvSpPr>
          <p:cNvPr id="5" name="Rounded Rectangle 4"/>
          <p:cNvSpPr/>
          <p:nvPr/>
        </p:nvSpPr>
        <p:spPr>
          <a:xfrm>
            <a:off x="685800" y="1920240"/>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960120" y="2253996"/>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database-ae4fa0dd.png"/>
          <p:cNvPicPr>
            <a:picLocks noChangeAspect="1"/>
          </p:cNvPicPr>
          <p:nvPr/>
        </p:nvPicPr>
        <p:blipFill>
          <a:blip r:embed="rId3"/>
          <a:stretch>
            <a:fillRect/>
          </a:stretch>
        </p:blipFill>
        <p:spPr>
          <a:xfrm>
            <a:off x="1096182" y="2390058"/>
            <a:ext cx="294802" cy="294802"/>
          </a:xfrm>
          <a:prstGeom prst="rect">
            <a:avLst/>
          </a:prstGeom>
        </p:spPr>
      </p:pic>
      <p:sp>
        <p:nvSpPr>
          <p:cNvPr id="8" name="TextBox 7"/>
          <p:cNvSpPr txBox="1"/>
          <p:nvPr/>
        </p:nvSpPr>
        <p:spPr>
          <a:xfrm>
            <a:off x="1783080" y="2121408"/>
            <a:ext cx="9418320" cy="868680"/>
          </a:xfrm>
          <a:prstGeom prst="rect">
            <a:avLst/>
          </a:prstGeom>
          <a:noFill/>
        </p:spPr>
        <p:txBody>
          <a:bodyPr wrap="square" lIns="0" tIns="0" rIns="0" bIns="0">
            <a:spAutoFit/>
          </a:bodyPr>
          <a:lstStyle/>
          <a:p>
            <a:pPr algn="l"/>
            <a:r>
              <a:rPr sz="1500" b="1">
                <a:solidFill>
                  <a:srgbClr val="122038"/>
                </a:solidFill>
                <a:latin typeface="Aptos"/>
              </a:rPr>
              <a:t>QuantizedFlat  •  small to mid-size workloads (&lt; ~50K vectors)</a:t>
            </a:r>
          </a:p>
          <a:p>
            <a:pPr algn="l"/>
            <a:r>
              <a:rPr sz="1300" b="0">
                <a:solidFill>
                  <a:srgbClr val="6C6C6C"/>
                </a:solidFill>
                <a:latin typeface="Aptos"/>
              </a:rPr>
              <a:t>Compresses vectors for exact search over a quantized space. Slight accuracy loss, lower RU cost, faster scans.</a:t>
            </a:r>
          </a:p>
        </p:txBody>
      </p:sp>
      <p:sp>
        <p:nvSpPr>
          <p:cNvPr id="9" name="Rounded Rectangle 8"/>
          <p:cNvSpPr/>
          <p:nvPr/>
        </p:nvSpPr>
        <p:spPr>
          <a:xfrm>
            <a:off x="685800" y="3355848"/>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60120" y="3689604"/>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data-trending-364ad576.png"/>
          <p:cNvPicPr>
            <a:picLocks noChangeAspect="1"/>
          </p:cNvPicPr>
          <p:nvPr/>
        </p:nvPicPr>
        <p:blipFill>
          <a:blip r:embed="rId4"/>
          <a:stretch>
            <a:fillRect/>
          </a:stretch>
        </p:blipFill>
        <p:spPr>
          <a:xfrm>
            <a:off x="1096182" y="3825666"/>
            <a:ext cx="294802" cy="294802"/>
          </a:xfrm>
          <a:prstGeom prst="rect">
            <a:avLst/>
          </a:prstGeom>
        </p:spPr>
      </p:pic>
      <p:sp>
        <p:nvSpPr>
          <p:cNvPr id="12" name="TextBox 11"/>
          <p:cNvSpPr txBox="1"/>
          <p:nvPr/>
        </p:nvSpPr>
        <p:spPr>
          <a:xfrm>
            <a:off x="1783080" y="3557016"/>
            <a:ext cx="9418320" cy="430887"/>
          </a:xfrm>
          <a:prstGeom prst="rect">
            <a:avLst/>
          </a:prstGeom>
          <a:noFill/>
        </p:spPr>
        <p:txBody>
          <a:bodyPr wrap="square" lIns="0" tIns="0" rIns="0" bIns="0">
            <a:spAutoFit/>
          </a:bodyPr>
          <a:lstStyle/>
          <a:p>
            <a:pPr algn="l"/>
            <a:r>
              <a:rPr sz="1500" b="1" dirty="0" err="1">
                <a:solidFill>
                  <a:srgbClr val="122038"/>
                </a:solidFill>
                <a:latin typeface="Aptos"/>
              </a:rPr>
              <a:t>DiskANN</a:t>
            </a:r>
            <a:r>
              <a:rPr sz="1500" b="1" dirty="0">
                <a:solidFill>
                  <a:srgbClr val="122038"/>
                </a:solidFill>
                <a:latin typeface="Aptos"/>
              </a:rPr>
              <a:t>  •  large-scale workloads (50K to billions)</a:t>
            </a:r>
          </a:p>
          <a:p>
            <a:pPr algn="l"/>
            <a:r>
              <a:rPr sz="1300" b="0" dirty="0">
                <a:solidFill>
                  <a:srgbClr val="6C6C6C"/>
                </a:solidFill>
                <a:latin typeface="Aptos"/>
              </a:rPr>
              <a:t>Approximate nearest-neighbor index </a:t>
            </a:r>
            <a:r>
              <a:rPr sz="1300" b="1" dirty="0">
                <a:solidFill>
                  <a:srgbClr val="6C6C6C"/>
                </a:solidFill>
                <a:latin typeface="Aptos"/>
              </a:rPr>
              <a:t>for high throughput </a:t>
            </a:r>
            <a:r>
              <a:rPr sz="1300" b="0" dirty="0">
                <a:solidFill>
                  <a:srgbClr val="6C6C6C"/>
                </a:solidFill>
                <a:latin typeface="Aptos"/>
              </a:rPr>
              <a:t>and </a:t>
            </a:r>
            <a:r>
              <a:rPr sz="1300" b="1" dirty="0">
                <a:solidFill>
                  <a:srgbClr val="6C6C6C"/>
                </a:solidFill>
                <a:latin typeface="Aptos"/>
              </a:rPr>
              <a:t>low latency </a:t>
            </a:r>
            <a:r>
              <a:rPr sz="1300" b="0" dirty="0">
                <a:solidFill>
                  <a:srgbClr val="6C6C6C"/>
                </a:solidFill>
                <a:latin typeface="Aptos"/>
              </a:rPr>
              <a:t>at scale. Supports dynamic updates with excellent recall.</a:t>
            </a:r>
          </a:p>
        </p:txBody>
      </p:sp>
      <p:sp>
        <p:nvSpPr>
          <p:cNvPr id="13" name="Rounded Rectangle 12"/>
          <p:cNvSpPr/>
          <p:nvPr/>
        </p:nvSpPr>
        <p:spPr>
          <a:xfrm>
            <a:off x="685800" y="4617720"/>
            <a:ext cx="10789920" cy="13716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60120" y="4846320"/>
            <a:ext cx="10241280" cy="1005840"/>
          </a:xfrm>
          <a:prstGeom prst="rect">
            <a:avLst/>
          </a:prstGeom>
          <a:noFill/>
        </p:spPr>
        <p:txBody>
          <a:bodyPr wrap="square" lIns="0" tIns="0" rIns="0" bIns="0">
            <a:spAutoFit/>
          </a:bodyPr>
          <a:lstStyle/>
          <a:p>
            <a:pPr algn="l"/>
            <a:r>
              <a:rPr sz="1400" b="1">
                <a:solidFill>
                  <a:srgbClr val="122038"/>
                </a:solidFill>
                <a:latin typeface="Aptos"/>
              </a:rPr>
              <a:t>Sharding strategy for DiskANN</a:t>
            </a:r>
          </a:p>
          <a:p>
            <a:pPr algn="l"/>
            <a:r>
              <a:rPr sz="1250" b="0">
                <a:solidFill>
                  <a:srgbClr val="6C6C6C"/>
                </a:solidFill>
                <a:latin typeface="Aptos"/>
              </a:rPr>
              <a:t>A sharded index (vectorIndexShardKey) partitions DiskANN by a property such as tenant, user, or session to narrow the search space and improve query efficiency — ideal for multi-tenant systems where isolation and query focus matter.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prstGeom prst="rect">
            <a:avLst/>
          </a:prstGeom>
          <a:noFill/>
        </p:spPr>
        <p:txBody>
          <a:bodyPr wrap="square" lIns="0" tIns="0" rIns="0" bIns="0">
            <a:spAutoFit/>
          </a:bodyPr>
          <a:lstStyle/>
          <a:p>
            <a:pPr algn="l"/>
            <a:r>
              <a:rPr sz="900" b="1">
                <a:solidFill>
                  <a:srgbClr val="0099D4"/>
                </a:solidFill>
                <a:latin typeface="Aptos"/>
              </a:rPr>
              <a:t>DATA MODEL</a:t>
            </a:r>
          </a:p>
        </p:txBody>
      </p:sp>
      <p:sp>
        <p:nvSpPr>
          <p:cNvPr id="3" name="Title 2"/>
          <p:cNvSpPr txBox="1">
            <a:spLocks noGrp="1"/>
          </p:cNvSpPr>
          <p:nvPr>
            <p:ph type="title"/>
          </p:nvPr>
        </p:nvSpPr>
        <p:spPr>
          <a:prstGeom prst="rect">
            <a:avLst/>
          </a:prstGeom>
          <a:noFill/>
        </p:spPr>
        <p:txBody>
          <a:bodyPr wrap="square" lIns="0" tIns="0" rIns="0" bIns="0">
            <a:spAutoFit/>
          </a:bodyPr>
          <a:lstStyle/>
          <a:p>
            <a:pPr algn="l"/>
            <a:r>
              <a:rPr sz="2500" b="0">
                <a:solidFill>
                  <a:srgbClr val="122038"/>
                </a:solidFill>
                <a:latin typeface="Aptos"/>
              </a:rPr>
              <a:t>Short-term memory: one turn per document</a:t>
            </a:r>
          </a:p>
        </p:txBody>
      </p:sp>
      <p:sp>
        <p:nvSpPr>
          <p:cNvPr id="4" name="Text Placeholder 3"/>
          <p:cNvSpPr txBox="1">
            <a:spLocks noGrp="1"/>
          </p:cNvSpPr>
          <p:nvPr>
            <p:ph type="body" idx="11"/>
          </p:nvPr>
        </p:nvSpPr>
        <p:spPr>
          <a:xfrm>
            <a:off x="548640" y="1042416"/>
            <a:ext cx="11045952" cy="320040"/>
          </a:xfrm>
          <a:prstGeom prst="rect">
            <a:avLst/>
          </a:prstGeom>
          <a:noFill/>
        </p:spPr>
        <p:txBody>
          <a:bodyPr wrap="square" lIns="0" tIns="0" rIns="0" bIns="0">
            <a:spAutoFit/>
          </a:bodyPr>
          <a:lstStyle/>
          <a:p>
            <a:pPr algn="l"/>
            <a:r>
              <a:rPr sz="1500" b="0" dirty="0">
                <a:solidFill>
                  <a:srgbClr val="6C6C6C"/>
                </a:solidFill>
                <a:latin typeface="Aptos"/>
              </a:rPr>
              <a:t>Choose the atomic item by how it will be recalled — never one ever-growing thread document.</a:t>
            </a:r>
          </a:p>
        </p:txBody>
      </p:sp>
      <p:sp>
        <p:nvSpPr>
          <p:cNvPr id="7" name="Rounded Rectangle 6"/>
          <p:cNvSpPr/>
          <p:nvPr/>
        </p:nvSpPr>
        <p:spPr>
          <a:xfrm>
            <a:off x="6446520" y="1920240"/>
            <a:ext cx="5511800" cy="393192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720840" y="2148840"/>
            <a:ext cx="5237480" cy="3503973"/>
          </a:xfrm>
          <a:prstGeom prst="rect">
            <a:avLst/>
          </a:prstGeom>
          <a:noFill/>
        </p:spPr>
        <p:txBody>
          <a:bodyPr wrap="square" lIns="0" tIns="0" rIns="0" bIns="0">
            <a:spAutoFit/>
          </a:bodyPr>
          <a:lstStyle/>
          <a:p>
            <a:pPr algn="l"/>
            <a:r>
              <a:rPr sz="2000" b="1" dirty="0">
                <a:solidFill>
                  <a:srgbClr val="0099D4"/>
                </a:solidFill>
                <a:latin typeface="Aptos"/>
              </a:rPr>
              <a:t>Benefits</a:t>
            </a:r>
            <a:endParaRPr lang="en-US" sz="2000" b="1" dirty="0">
              <a:solidFill>
                <a:srgbClr val="0099D4"/>
              </a:solidFill>
              <a:latin typeface="Aptos"/>
            </a:endParaRPr>
          </a:p>
          <a:p>
            <a:pPr algn="l"/>
            <a:endParaRPr sz="2000" b="1" dirty="0">
              <a:solidFill>
                <a:srgbClr val="0099D4"/>
              </a:solidFill>
              <a:latin typeface="Aptos"/>
            </a:endParaRPr>
          </a:p>
          <a:p>
            <a:pPr marL="285750" indent="-285750" algn="l">
              <a:lnSpc>
                <a:spcPct val="200000"/>
              </a:lnSpc>
              <a:buFont typeface="Arial" panose="020B0604020202020204" pitchFamily="34" charset="0"/>
              <a:buChar char="•"/>
            </a:pPr>
            <a:r>
              <a:rPr sz="1600" b="0" dirty="0">
                <a:solidFill>
                  <a:srgbClr val="122038"/>
                </a:solidFill>
                <a:latin typeface="Aptos"/>
              </a:rPr>
              <a:t>Turn-level granularity</a:t>
            </a:r>
          </a:p>
          <a:p>
            <a:pPr marL="285750" indent="-285750" algn="l">
              <a:lnSpc>
                <a:spcPct val="200000"/>
              </a:lnSpc>
              <a:buFont typeface="Arial" panose="020B0604020202020204" pitchFamily="34" charset="0"/>
              <a:buChar char="•"/>
            </a:pPr>
            <a:r>
              <a:rPr sz="1600" b="0" dirty="0">
                <a:solidFill>
                  <a:srgbClr val="122038"/>
                </a:solidFill>
                <a:latin typeface="Aptos"/>
              </a:rPr>
              <a:t>Efficient for real-time context</a:t>
            </a:r>
          </a:p>
          <a:p>
            <a:pPr marL="285750" indent="-285750" algn="l">
              <a:lnSpc>
                <a:spcPct val="200000"/>
              </a:lnSpc>
              <a:buFont typeface="Arial" panose="020B0604020202020204" pitchFamily="34" charset="0"/>
              <a:buChar char="•"/>
            </a:pPr>
            <a:r>
              <a:rPr sz="1600" b="0" dirty="0">
                <a:solidFill>
                  <a:srgbClr val="122038"/>
                </a:solidFill>
                <a:latin typeface="Aptos"/>
              </a:rPr>
              <a:t>Supports multimodal retrieval</a:t>
            </a:r>
          </a:p>
          <a:p>
            <a:pPr marL="285750" indent="-285750" algn="l">
              <a:lnSpc>
                <a:spcPct val="200000"/>
              </a:lnSpc>
              <a:buFont typeface="Arial" panose="020B0604020202020204" pitchFamily="34" charset="0"/>
              <a:buChar char="•"/>
            </a:pPr>
            <a:r>
              <a:rPr sz="1600" b="0" dirty="0">
                <a:solidFill>
                  <a:srgbClr val="122038"/>
                </a:solidFill>
                <a:latin typeface="Aptos"/>
              </a:rPr>
              <a:t>Can back a semantic cache</a:t>
            </a:r>
          </a:p>
          <a:p>
            <a:pPr marL="285750" indent="-285750" algn="l">
              <a:lnSpc>
                <a:spcPct val="200000"/>
              </a:lnSpc>
              <a:buFont typeface="Arial" panose="020B0604020202020204" pitchFamily="34" charset="0"/>
              <a:buChar char="•"/>
            </a:pPr>
            <a:r>
              <a:rPr sz="1600" b="0" dirty="0">
                <a:solidFill>
                  <a:srgbClr val="122038"/>
                </a:solidFill>
                <a:latin typeface="Aptos"/>
              </a:rPr>
              <a:t>Simple schema that evolves with agent and tool needs</a:t>
            </a:r>
          </a:p>
          <a:p>
            <a:pPr marL="285750" indent="-285750" algn="l">
              <a:lnSpc>
                <a:spcPct val="200000"/>
              </a:lnSpc>
              <a:buFont typeface="Arial" panose="020B0604020202020204" pitchFamily="34" charset="0"/>
              <a:buChar char="•"/>
            </a:pPr>
            <a:r>
              <a:rPr sz="1600" b="0" dirty="0">
                <a:solidFill>
                  <a:srgbClr val="122038"/>
                </a:solidFill>
                <a:latin typeface="Aptos"/>
              </a:rPr>
              <a:t>Stale memories expire with TTL</a:t>
            </a:r>
          </a:p>
        </p:txBody>
      </p:sp>
      <p:pic>
        <p:nvPicPr>
          <p:cNvPr id="10" name="Picture 9">
            <a:extLst>
              <a:ext uri="{FF2B5EF4-FFF2-40B4-BE49-F238E27FC236}">
                <a16:creationId xmlns:a16="http://schemas.microsoft.com/office/drawing/2014/main" id="{158DA75B-7CE7-D790-4281-69DEFBC5FBF6}"/>
              </a:ext>
            </a:extLst>
          </p:cNvPr>
          <p:cNvPicPr>
            <a:picLocks/>
          </p:cNvPicPr>
          <p:nvPr/>
        </p:nvPicPr>
        <p:blipFill>
          <a:blip r:embed="rId3"/>
          <a:srcRect l="3047" t="22300" r="42078"/>
          <a:stretch>
            <a:fillRect/>
          </a:stretch>
        </p:blipFill>
        <p:spPr>
          <a:xfrm>
            <a:off x="548640" y="1325879"/>
            <a:ext cx="5753008" cy="5039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prstGeom prst="rect">
            <a:avLst/>
          </a:prstGeom>
          <a:noFill/>
        </p:spPr>
        <p:txBody>
          <a:bodyPr wrap="square" lIns="0" tIns="0" rIns="0" bIns="0">
            <a:spAutoFit/>
          </a:bodyPr>
          <a:lstStyle/>
          <a:p>
            <a:pPr algn="l"/>
            <a:r>
              <a:rPr sz="900" b="1">
                <a:solidFill>
                  <a:srgbClr val="0099D4"/>
                </a:solidFill>
                <a:latin typeface="Aptos"/>
              </a:rPr>
              <a:t>DATA MODEL</a:t>
            </a:r>
          </a:p>
        </p:txBody>
      </p:sp>
      <p:sp>
        <p:nvSpPr>
          <p:cNvPr id="3" name="Title 2"/>
          <p:cNvSpPr txBox="1">
            <a:spLocks noGrp="1"/>
          </p:cNvSpPr>
          <p:nvPr>
            <p:ph type="title"/>
          </p:nvPr>
        </p:nvSpPr>
        <p:spPr>
          <a:prstGeom prst="rect">
            <a:avLst/>
          </a:prstGeom>
          <a:noFill/>
        </p:spPr>
        <p:txBody>
          <a:bodyPr wrap="square" lIns="0" tIns="0" rIns="0" bIns="0">
            <a:spAutoFit/>
          </a:bodyPr>
          <a:lstStyle/>
          <a:p>
            <a:pPr algn="l"/>
            <a:r>
              <a:rPr sz="2500" b="0">
                <a:solidFill>
                  <a:srgbClr val="122038"/>
                </a:solidFill>
                <a:latin typeface="Aptos"/>
              </a:rPr>
              <a:t>Long-term memory: one summary per document</a:t>
            </a:r>
          </a:p>
        </p:txBody>
      </p:sp>
      <p:sp>
        <p:nvSpPr>
          <p:cNvPr id="4" name="Text Placeholder 3"/>
          <p:cNvSpPr txBox="1">
            <a:spLocks noGrp="1"/>
          </p:cNvSpPr>
          <p:nvPr>
            <p:ph type="body" idx="11"/>
          </p:nvPr>
        </p:nvSpPr>
        <p:spPr>
          <a:prstGeom prst="rect">
            <a:avLst/>
          </a:prstGeom>
          <a:noFill/>
        </p:spPr>
        <p:txBody>
          <a:bodyPr wrap="square" lIns="0" tIns="0" rIns="0" bIns="0">
            <a:spAutoFit/>
          </a:bodyPr>
          <a:lstStyle/>
          <a:p>
            <a:pPr algn="l"/>
            <a:r>
              <a:rPr sz="1500" b="0" dirty="0">
                <a:solidFill>
                  <a:srgbClr val="6C6C6C"/>
                </a:solidFill>
                <a:latin typeface="Aptos"/>
              </a:rPr>
              <a:t>Derived artifacts compress many turns into a compact, searchable record.</a:t>
            </a:r>
          </a:p>
        </p:txBody>
      </p:sp>
      <p:sp>
        <p:nvSpPr>
          <p:cNvPr id="11" name="Text Placeholder 10">
            <a:extLst>
              <a:ext uri="{FF2B5EF4-FFF2-40B4-BE49-F238E27FC236}">
                <a16:creationId xmlns:a16="http://schemas.microsoft.com/office/drawing/2014/main" id="{E740CF34-84F7-47F1-F5FE-12EF3B1E8AEE}"/>
              </a:ext>
            </a:extLst>
          </p:cNvPr>
          <p:cNvSpPr>
            <a:spLocks noGrp="1"/>
          </p:cNvSpPr>
          <p:nvPr>
            <p:ph type="body" idx="12"/>
          </p:nvPr>
        </p:nvSpPr>
        <p:spPr/>
        <p:txBody>
          <a:bodyPr/>
          <a:lstStyle/>
          <a:p>
            <a:endParaRPr lang="en-CA"/>
          </a:p>
        </p:txBody>
      </p:sp>
      <p:sp>
        <p:nvSpPr>
          <p:cNvPr id="7" name="Rounded Rectangle 6"/>
          <p:cNvSpPr/>
          <p:nvPr/>
        </p:nvSpPr>
        <p:spPr>
          <a:xfrm>
            <a:off x="6674312" y="1428153"/>
            <a:ext cx="5029200" cy="2453609"/>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48632" y="1563666"/>
            <a:ext cx="4480560" cy="2118978"/>
          </a:xfrm>
          <a:prstGeom prst="rect">
            <a:avLst/>
          </a:prstGeom>
          <a:noFill/>
        </p:spPr>
        <p:txBody>
          <a:bodyPr wrap="square" lIns="0" tIns="0" rIns="0" bIns="0">
            <a:spAutoFit/>
          </a:bodyPr>
          <a:lstStyle/>
          <a:p>
            <a:pPr algn="l"/>
            <a:r>
              <a:rPr sz="2000" b="1" dirty="0">
                <a:solidFill>
                  <a:srgbClr val="0099D4"/>
                </a:solidFill>
                <a:latin typeface="Aptos"/>
              </a:rPr>
              <a:t>Benefits</a:t>
            </a:r>
            <a:endParaRPr lang="en-US" sz="2000" b="1" dirty="0">
              <a:solidFill>
                <a:srgbClr val="0099D4"/>
              </a:solidFill>
              <a:latin typeface="Aptos"/>
            </a:endParaRPr>
          </a:p>
          <a:p>
            <a:pPr marL="285750" indent="-285750" algn="l">
              <a:lnSpc>
                <a:spcPct val="150000"/>
              </a:lnSpc>
              <a:buFont typeface="Arial" panose="020B0604020202020204" pitchFamily="34" charset="0"/>
              <a:buChar char="•"/>
            </a:pPr>
            <a:r>
              <a:rPr sz="1600" b="0" dirty="0">
                <a:solidFill>
                  <a:srgbClr val="122038"/>
                </a:solidFill>
                <a:latin typeface="Aptos"/>
              </a:rPr>
              <a:t>Compact and efficient</a:t>
            </a:r>
          </a:p>
          <a:p>
            <a:pPr marL="285750" indent="-285750" algn="l">
              <a:lnSpc>
                <a:spcPct val="150000"/>
              </a:lnSpc>
              <a:buFont typeface="Arial" panose="020B0604020202020204" pitchFamily="34" charset="0"/>
              <a:buChar char="•"/>
            </a:pPr>
            <a:r>
              <a:rPr sz="1600" b="0" dirty="0">
                <a:solidFill>
                  <a:srgbClr val="122038"/>
                </a:solidFill>
                <a:latin typeface="Aptos"/>
              </a:rPr>
              <a:t>Fast retrieval</a:t>
            </a:r>
            <a:endParaRPr lang="en-US" sz="1600" b="0" dirty="0">
              <a:solidFill>
                <a:srgbClr val="122038"/>
              </a:solidFill>
              <a:latin typeface="Aptos"/>
            </a:endParaRPr>
          </a:p>
          <a:p>
            <a:pPr marL="285750" indent="-285750" algn="l">
              <a:lnSpc>
                <a:spcPct val="150000"/>
              </a:lnSpc>
              <a:buFont typeface="Arial" panose="020B0604020202020204" pitchFamily="34" charset="0"/>
              <a:buChar char="•"/>
            </a:pPr>
            <a:r>
              <a:rPr lang="en-CA" sz="1600" dirty="0">
                <a:solidFill>
                  <a:srgbClr val="122038"/>
                </a:solidFill>
                <a:latin typeface="Aptos"/>
              </a:rPr>
              <a:t>Search</a:t>
            </a:r>
            <a:r>
              <a:rPr lang="en-US" sz="1600" dirty="0">
                <a:solidFill>
                  <a:srgbClr val="122038"/>
                </a:solidFill>
                <a:latin typeface="Aptos"/>
              </a:rPr>
              <a:t> </a:t>
            </a:r>
            <a:r>
              <a:rPr sz="1600" b="0" dirty="0">
                <a:solidFill>
                  <a:srgbClr val="122038"/>
                </a:solidFill>
                <a:latin typeface="Aptos"/>
              </a:rPr>
              <a:t>optimized</a:t>
            </a:r>
          </a:p>
          <a:p>
            <a:pPr marL="285750" indent="-285750" algn="l">
              <a:lnSpc>
                <a:spcPct val="150000"/>
              </a:lnSpc>
              <a:buFont typeface="Arial" panose="020B0604020202020204" pitchFamily="34" charset="0"/>
              <a:buChar char="•"/>
            </a:pPr>
            <a:r>
              <a:rPr sz="1600" b="0" dirty="0">
                <a:solidFill>
                  <a:srgbClr val="122038"/>
                </a:solidFill>
                <a:latin typeface="Aptos"/>
              </a:rPr>
              <a:t>Easy to update; </a:t>
            </a:r>
            <a:endParaRPr lang="en-US" sz="1600" b="0" dirty="0">
              <a:solidFill>
                <a:srgbClr val="122038"/>
              </a:solidFill>
              <a:latin typeface="Aptos"/>
            </a:endParaRPr>
          </a:p>
          <a:p>
            <a:pPr marL="285750" indent="-285750" algn="l">
              <a:lnSpc>
                <a:spcPct val="150000"/>
              </a:lnSpc>
              <a:buFont typeface="Arial" panose="020B0604020202020204" pitchFamily="34" charset="0"/>
              <a:buChar char="•"/>
            </a:pPr>
            <a:r>
              <a:rPr lang="en-US" sz="1600" b="0" dirty="0">
                <a:solidFill>
                  <a:srgbClr val="122038"/>
                </a:solidFill>
                <a:latin typeface="Aptos"/>
              </a:rPr>
              <a:t>G</a:t>
            </a:r>
            <a:r>
              <a:rPr sz="1600" b="0" dirty="0">
                <a:solidFill>
                  <a:srgbClr val="122038"/>
                </a:solidFill>
                <a:latin typeface="Aptos"/>
              </a:rPr>
              <a:t>reat for long-term memory</a:t>
            </a:r>
            <a:endParaRPr sz="1400" b="0" dirty="0">
              <a:solidFill>
                <a:srgbClr val="122038"/>
              </a:solidFill>
              <a:latin typeface="Aptos"/>
            </a:endParaRPr>
          </a:p>
        </p:txBody>
      </p:sp>
      <p:sp>
        <p:nvSpPr>
          <p:cNvPr id="9" name="Rounded Rectangle 8"/>
          <p:cNvSpPr/>
          <p:nvPr/>
        </p:nvSpPr>
        <p:spPr>
          <a:xfrm>
            <a:off x="6674312" y="3937219"/>
            <a:ext cx="5029200" cy="2370213"/>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948632" y="4066523"/>
            <a:ext cx="4480560" cy="2118978"/>
          </a:xfrm>
          <a:prstGeom prst="rect">
            <a:avLst/>
          </a:prstGeom>
          <a:noFill/>
        </p:spPr>
        <p:txBody>
          <a:bodyPr wrap="square" lIns="0" tIns="0" rIns="0" bIns="0">
            <a:spAutoFit/>
          </a:bodyPr>
          <a:lstStyle/>
          <a:p>
            <a:pPr algn="l"/>
            <a:r>
              <a:rPr sz="2000" b="1" dirty="0">
                <a:solidFill>
                  <a:srgbClr val="0099D4"/>
                </a:solidFill>
                <a:latin typeface="Aptos"/>
              </a:rPr>
              <a:t>Considerations</a:t>
            </a:r>
            <a:endParaRPr lang="en-US" sz="2000" b="1" dirty="0">
              <a:solidFill>
                <a:srgbClr val="0099D4"/>
              </a:solidFill>
              <a:latin typeface="Aptos"/>
            </a:endParaRPr>
          </a:p>
          <a:p>
            <a:pPr marL="285750" indent="-285750" algn="l">
              <a:lnSpc>
                <a:spcPct val="150000"/>
              </a:lnSpc>
              <a:buFont typeface="Arial" panose="020B0604020202020204" pitchFamily="34" charset="0"/>
              <a:buChar char="•"/>
            </a:pPr>
            <a:r>
              <a:rPr sz="1600" b="0" dirty="0">
                <a:solidFill>
                  <a:srgbClr val="122038"/>
                </a:solidFill>
                <a:latin typeface="Aptos"/>
              </a:rPr>
              <a:t>Loss of fine-grained detail</a:t>
            </a:r>
          </a:p>
          <a:p>
            <a:pPr marL="285750" indent="-285750" algn="l">
              <a:lnSpc>
                <a:spcPct val="150000"/>
              </a:lnSpc>
              <a:buFont typeface="Arial" panose="020B0604020202020204" pitchFamily="34" charset="0"/>
              <a:buChar char="•"/>
            </a:pPr>
            <a:r>
              <a:rPr sz="1600" b="0" dirty="0">
                <a:solidFill>
                  <a:srgbClr val="122038"/>
                </a:solidFill>
                <a:latin typeface="Aptos"/>
              </a:rPr>
              <a:t>Model-dependent accuracy</a:t>
            </a:r>
            <a:endParaRPr lang="en-US" sz="1600" b="0" dirty="0">
              <a:solidFill>
                <a:srgbClr val="122038"/>
              </a:solidFill>
              <a:latin typeface="Aptos"/>
            </a:endParaRPr>
          </a:p>
          <a:p>
            <a:pPr marL="285750" indent="-285750" algn="l">
              <a:lnSpc>
                <a:spcPct val="150000"/>
              </a:lnSpc>
              <a:buFont typeface="Arial" panose="020B0604020202020204" pitchFamily="34" charset="0"/>
              <a:buChar char="•"/>
            </a:pPr>
            <a:r>
              <a:rPr lang="en-CA" sz="1600" b="0" dirty="0">
                <a:solidFill>
                  <a:srgbClr val="122038"/>
                </a:solidFill>
                <a:latin typeface="Aptos"/>
              </a:rPr>
              <a:t>Extra</a:t>
            </a:r>
            <a:r>
              <a:rPr sz="1600" b="0" dirty="0">
                <a:solidFill>
                  <a:srgbClr val="122038"/>
                </a:solidFill>
                <a:latin typeface="Aptos"/>
              </a:rPr>
              <a:t> compute cost</a:t>
            </a:r>
          </a:p>
          <a:p>
            <a:pPr marL="285750" indent="-285750" algn="l">
              <a:lnSpc>
                <a:spcPct val="150000"/>
              </a:lnSpc>
              <a:buFont typeface="Arial" panose="020B0604020202020204" pitchFamily="34" charset="0"/>
              <a:buChar char="•"/>
            </a:pPr>
            <a:r>
              <a:rPr sz="1600" b="0" dirty="0">
                <a:solidFill>
                  <a:srgbClr val="122038"/>
                </a:solidFill>
                <a:latin typeface="Aptos"/>
              </a:rPr>
              <a:t>Potential staleness</a:t>
            </a:r>
            <a:endParaRPr lang="en-US" sz="1600" dirty="0">
              <a:solidFill>
                <a:srgbClr val="122038"/>
              </a:solidFill>
              <a:latin typeface="Aptos"/>
            </a:endParaRPr>
          </a:p>
          <a:p>
            <a:pPr marL="285750" indent="-285750" algn="l">
              <a:lnSpc>
                <a:spcPct val="150000"/>
              </a:lnSpc>
              <a:buFont typeface="Arial" panose="020B0604020202020204" pitchFamily="34" charset="0"/>
              <a:buChar char="•"/>
            </a:pPr>
            <a:r>
              <a:rPr lang="en-CA" sz="1600" b="0" dirty="0">
                <a:solidFill>
                  <a:srgbClr val="122038"/>
                </a:solidFill>
                <a:latin typeface="Aptos"/>
              </a:rPr>
              <a:t>Weak</a:t>
            </a:r>
            <a:r>
              <a:rPr sz="1600" b="0" dirty="0">
                <a:solidFill>
                  <a:srgbClr val="122038"/>
                </a:solidFill>
                <a:latin typeface="Aptos"/>
              </a:rPr>
              <a:t> for replay or audit</a:t>
            </a:r>
          </a:p>
        </p:txBody>
      </p:sp>
      <p:pic>
        <p:nvPicPr>
          <p:cNvPr id="6" name="Picture 5">
            <a:extLst>
              <a:ext uri="{FF2B5EF4-FFF2-40B4-BE49-F238E27FC236}">
                <a16:creationId xmlns:a16="http://schemas.microsoft.com/office/drawing/2014/main" id="{955E841D-56F6-45BE-C94F-7A95B5B2576D}"/>
              </a:ext>
            </a:extLst>
          </p:cNvPr>
          <p:cNvPicPr>
            <a:picLocks noChangeAspect="1"/>
          </p:cNvPicPr>
          <p:nvPr/>
        </p:nvPicPr>
        <p:blipFill>
          <a:blip r:embed="rId3"/>
          <a:stretch>
            <a:fillRect/>
          </a:stretch>
        </p:blipFill>
        <p:spPr>
          <a:xfrm>
            <a:off x="439720" y="1374079"/>
            <a:ext cx="6199633" cy="50153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QUERY PATTERNS</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Recent context and semantic recall</a:t>
            </a:r>
          </a:p>
        </p:txBody>
      </p:sp>
      <p:sp>
        <p:nvSpPr>
          <p:cNvPr id="4" name="Text Placeholder 3"/>
          <p:cNvSpPr txBox="1">
            <a:spLocks noGrp="1"/>
          </p:cNvSpPr>
          <p:nvPr>
            <p:ph type="body" idx="11"/>
          </p:nvPr>
        </p:nvSpPr>
        <p:spPr>
          <a:xfrm>
            <a:off x="573024" y="1074420"/>
            <a:ext cx="11045952" cy="320040"/>
          </a:xfrm>
          <a:prstGeom prst="rect">
            <a:avLst/>
          </a:prstGeom>
          <a:noFill/>
        </p:spPr>
        <p:txBody>
          <a:bodyPr wrap="square" lIns="0" tIns="0" rIns="0" bIns="0">
            <a:spAutoFit/>
          </a:bodyPr>
          <a:lstStyle/>
          <a:p>
            <a:pPr algn="l"/>
            <a:r>
              <a:rPr sz="1500" b="0" dirty="0">
                <a:solidFill>
                  <a:srgbClr val="6C6C6C"/>
                </a:solidFill>
                <a:latin typeface="Aptos"/>
              </a:rPr>
              <a:t>Retrieval is a ladder: deterministic recent turns first, then scoped vector search.</a:t>
            </a:r>
          </a:p>
        </p:txBody>
      </p:sp>
      <p:sp>
        <p:nvSpPr>
          <p:cNvPr id="5" name="Rounded Rectangle 4"/>
          <p:cNvSpPr/>
          <p:nvPr/>
        </p:nvSpPr>
        <p:spPr>
          <a:xfrm>
            <a:off x="685800" y="2286000"/>
            <a:ext cx="5257800" cy="26517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914400" y="2103120"/>
            <a:ext cx="274320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2185416"/>
            <a:ext cx="2560320" cy="274320"/>
          </a:xfrm>
          <a:prstGeom prst="rect">
            <a:avLst/>
          </a:prstGeom>
          <a:noFill/>
        </p:spPr>
        <p:txBody>
          <a:bodyPr wrap="square" lIns="0" tIns="0" rIns="0" bIns="0">
            <a:spAutoFit/>
          </a:bodyPr>
          <a:lstStyle/>
          <a:p>
            <a:pPr algn="l"/>
            <a:r>
              <a:rPr sz="1200" b="1" dirty="0">
                <a:solidFill>
                  <a:srgbClr val="FFFFFF"/>
                </a:solidFill>
                <a:latin typeface="Aptos"/>
              </a:rPr>
              <a:t>Most recent conversations</a:t>
            </a:r>
          </a:p>
        </p:txBody>
      </p:sp>
      <p:sp>
        <p:nvSpPr>
          <p:cNvPr id="9" name="TextBox 8"/>
          <p:cNvSpPr txBox="1"/>
          <p:nvPr/>
        </p:nvSpPr>
        <p:spPr>
          <a:xfrm>
            <a:off x="1051560" y="5074920"/>
            <a:ext cx="4846320" cy="548640"/>
          </a:xfrm>
          <a:prstGeom prst="rect">
            <a:avLst/>
          </a:prstGeom>
          <a:noFill/>
        </p:spPr>
        <p:txBody>
          <a:bodyPr wrap="square" lIns="0" tIns="0" rIns="0" bIns="0">
            <a:spAutoFit/>
          </a:bodyPr>
          <a:lstStyle/>
          <a:p>
            <a:pPr algn="l"/>
            <a:r>
              <a:rPr sz="1200" b="0">
                <a:solidFill>
                  <a:srgbClr val="6C6C6C"/>
                </a:solidFill>
                <a:latin typeface="Aptos"/>
              </a:rPr>
              <a:t>Useful for reviving a thread when resuming a session</a:t>
            </a:r>
          </a:p>
        </p:txBody>
      </p:sp>
      <p:sp>
        <p:nvSpPr>
          <p:cNvPr id="10" name="Rounded Rectangle 9"/>
          <p:cNvSpPr/>
          <p:nvPr/>
        </p:nvSpPr>
        <p:spPr>
          <a:xfrm>
            <a:off x="6217920" y="2286000"/>
            <a:ext cx="5257800" cy="26517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446520" y="2103120"/>
            <a:ext cx="274320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37959" y="2185416"/>
            <a:ext cx="2560320" cy="274320"/>
          </a:xfrm>
          <a:prstGeom prst="rect">
            <a:avLst/>
          </a:prstGeom>
          <a:noFill/>
        </p:spPr>
        <p:txBody>
          <a:bodyPr wrap="square" lIns="0" tIns="0" rIns="0" bIns="0">
            <a:spAutoFit/>
          </a:bodyPr>
          <a:lstStyle/>
          <a:p>
            <a:pPr algn="l"/>
            <a:r>
              <a:rPr sz="1200" b="1">
                <a:solidFill>
                  <a:srgbClr val="FFFFFF"/>
                </a:solidFill>
                <a:latin typeface="Aptos"/>
              </a:rPr>
              <a:t>Semantic (vector) search</a:t>
            </a:r>
          </a:p>
        </p:txBody>
      </p:sp>
      <p:sp>
        <p:nvSpPr>
          <p:cNvPr id="14" name="TextBox 13"/>
          <p:cNvSpPr txBox="1"/>
          <p:nvPr/>
        </p:nvSpPr>
        <p:spPr>
          <a:xfrm>
            <a:off x="6583680" y="5074920"/>
            <a:ext cx="4846320" cy="369332"/>
          </a:xfrm>
          <a:prstGeom prst="rect">
            <a:avLst/>
          </a:prstGeom>
          <a:noFill/>
        </p:spPr>
        <p:txBody>
          <a:bodyPr wrap="square" lIns="0" tIns="0" rIns="0" bIns="0">
            <a:spAutoFit/>
          </a:bodyPr>
          <a:lstStyle/>
          <a:p>
            <a:pPr algn="l"/>
            <a:r>
              <a:rPr sz="1200" b="0" dirty="0">
                <a:solidFill>
                  <a:srgbClr val="6C6C6C"/>
                </a:solidFill>
                <a:latin typeface="Aptos"/>
              </a:rPr>
              <a:t>Useful for</a:t>
            </a:r>
            <a:r>
              <a:rPr lang="en-US" sz="1200" b="0" dirty="0">
                <a:solidFill>
                  <a:srgbClr val="6C6C6C"/>
                </a:solidFill>
                <a:latin typeface="Aptos"/>
              </a:rPr>
              <a:t> finding</a:t>
            </a:r>
            <a:r>
              <a:rPr sz="1200" b="0" dirty="0">
                <a:solidFill>
                  <a:srgbClr val="6C6C6C"/>
                </a:solidFill>
                <a:latin typeface="Aptos"/>
              </a:rPr>
              <a:t> older context in a thread, or </a:t>
            </a:r>
            <a:r>
              <a:rPr lang="en-US" sz="1200" b="0" dirty="0">
                <a:solidFill>
                  <a:srgbClr val="6C6C6C"/>
                </a:solidFill>
                <a:latin typeface="Aptos"/>
              </a:rPr>
              <a:t>retrieving information from other, </a:t>
            </a:r>
            <a:r>
              <a:rPr sz="1200" b="0" dirty="0">
                <a:solidFill>
                  <a:srgbClr val="6C6C6C"/>
                </a:solidFill>
                <a:latin typeface="Aptos"/>
              </a:rPr>
              <a:t>related threads</a:t>
            </a:r>
          </a:p>
        </p:txBody>
      </p:sp>
      <p:pic>
        <p:nvPicPr>
          <p:cNvPr id="16" name="Picture 15">
            <a:extLst>
              <a:ext uri="{FF2B5EF4-FFF2-40B4-BE49-F238E27FC236}">
                <a16:creationId xmlns:a16="http://schemas.microsoft.com/office/drawing/2014/main" id="{AB8BD8B2-DE63-2E54-2775-D532F205F8BD}"/>
              </a:ext>
            </a:extLst>
          </p:cNvPr>
          <p:cNvPicPr>
            <a:picLocks/>
          </p:cNvPicPr>
          <p:nvPr/>
        </p:nvPicPr>
        <p:blipFill>
          <a:blip r:embed="rId3"/>
          <a:srcRect l="4452" t="33727" r="55484" b="29171"/>
          <a:stretch>
            <a:fillRect/>
          </a:stretch>
        </p:blipFill>
        <p:spPr>
          <a:xfrm>
            <a:off x="948690" y="2624328"/>
            <a:ext cx="4732020" cy="2084834"/>
          </a:xfrm>
          <a:prstGeom prst="rect">
            <a:avLst/>
          </a:prstGeom>
        </p:spPr>
      </p:pic>
      <p:pic>
        <p:nvPicPr>
          <p:cNvPr id="18" name="Picture 17">
            <a:extLst>
              <a:ext uri="{FF2B5EF4-FFF2-40B4-BE49-F238E27FC236}">
                <a16:creationId xmlns:a16="http://schemas.microsoft.com/office/drawing/2014/main" id="{8AAB3B7D-175A-ABFC-B71B-FA252DD8C69E}"/>
              </a:ext>
            </a:extLst>
          </p:cNvPr>
          <p:cNvPicPr>
            <a:picLocks/>
          </p:cNvPicPr>
          <p:nvPr/>
        </p:nvPicPr>
        <p:blipFill>
          <a:blip r:embed="rId3"/>
          <a:srcRect l="52808" t="33728" r="7315" b="23777"/>
          <a:stretch>
            <a:fillRect/>
          </a:stretch>
        </p:blipFill>
        <p:spPr>
          <a:xfrm>
            <a:off x="6491839" y="2495777"/>
            <a:ext cx="4709962" cy="23879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QUERY PATTERNS</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Full-text and hybrid retrieval</a:t>
            </a:r>
          </a:p>
        </p:txBody>
      </p:sp>
      <p:sp>
        <p:nvSpPr>
          <p:cNvPr id="4" name="Text Placeholder 3"/>
          <p:cNvSpPr txBox="1">
            <a:spLocks noGrp="1"/>
          </p:cNvSpPr>
          <p:nvPr>
            <p:ph type="body" idx="11"/>
          </p:nvPr>
        </p:nvSpPr>
        <p:spPr>
          <a:xfrm>
            <a:off x="548640" y="1034644"/>
            <a:ext cx="11045952" cy="320040"/>
          </a:xfrm>
          <a:prstGeom prst="rect">
            <a:avLst/>
          </a:prstGeom>
          <a:noFill/>
        </p:spPr>
        <p:txBody>
          <a:bodyPr wrap="square" lIns="0" tIns="0" rIns="0" bIns="0">
            <a:spAutoFit/>
          </a:bodyPr>
          <a:lstStyle/>
          <a:p>
            <a:pPr algn="l"/>
            <a:r>
              <a:rPr sz="1500" b="0" dirty="0">
                <a:solidFill>
                  <a:srgbClr val="6C6C6C"/>
                </a:solidFill>
                <a:latin typeface="Aptos"/>
              </a:rPr>
              <a:t>Meaning is not enough — exact terms, identifiers, and error codes must survive the search.</a:t>
            </a:r>
          </a:p>
        </p:txBody>
      </p:sp>
      <p:sp>
        <p:nvSpPr>
          <p:cNvPr id="5" name="Rounded Rectangle 4"/>
          <p:cNvSpPr/>
          <p:nvPr/>
        </p:nvSpPr>
        <p:spPr>
          <a:xfrm>
            <a:off x="685800" y="1965960"/>
            <a:ext cx="5257800" cy="28346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914400" y="1783080"/>
            <a:ext cx="237744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1865376"/>
            <a:ext cx="2194560" cy="276999"/>
          </a:xfrm>
          <a:prstGeom prst="rect">
            <a:avLst/>
          </a:prstGeom>
          <a:noFill/>
        </p:spPr>
        <p:txBody>
          <a:bodyPr wrap="square" lIns="0" tIns="0" rIns="0" bIns="0">
            <a:spAutoFit/>
          </a:bodyPr>
          <a:lstStyle/>
          <a:p>
            <a:pPr algn="l"/>
            <a:r>
              <a:rPr b="1">
                <a:solidFill>
                  <a:srgbClr val="FFFFFF"/>
                </a:solidFill>
                <a:latin typeface="Aptos"/>
              </a:rPr>
              <a:t>Full-text search</a:t>
            </a:r>
          </a:p>
        </p:txBody>
      </p:sp>
      <p:sp>
        <p:nvSpPr>
          <p:cNvPr id="9" name="TextBox 8"/>
          <p:cNvSpPr txBox="1"/>
          <p:nvPr/>
        </p:nvSpPr>
        <p:spPr>
          <a:xfrm>
            <a:off x="1051560" y="4892040"/>
            <a:ext cx="4846320" cy="246221"/>
          </a:xfrm>
          <a:prstGeom prst="rect">
            <a:avLst/>
          </a:prstGeom>
          <a:noFill/>
        </p:spPr>
        <p:txBody>
          <a:bodyPr wrap="square" lIns="0" tIns="0" rIns="0" bIns="0">
            <a:spAutoFit/>
          </a:bodyPr>
          <a:lstStyle/>
          <a:p>
            <a:pPr algn="l"/>
            <a:r>
              <a:rPr sz="1600" b="0" dirty="0">
                <a:solidFill>
                  <a:srgbClr val="6C6C6C"/>
                </a:solidFill>
                <a:latin typeface="Aptos"/>
              </a:rPr>
              <a:t>Useful when memories must contain key terms</a:t>
            </a:r>
          </a:p>
        </p:txBody>
      </p:sp>
      <p:sp>
        <p:nvSpPr>
          <p:cNvPr id="10" name="Rounded Rectangle 9"/>
          <p:cNvSpPr/>
          <p:nvPr/>
        </p:nvSpPr>
        <p:spPr>
          <a:xfrm>
            <a:off x="6217920" y="1965960"/>
            <a:ext cx="5257800" cy="28346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446520" y="1783080"/>
            <a:ext cx="2377440" cy="384048"/>
          </a:xfrm>
          <a:prstGeom prst="roundRect">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37959" y="1865376"/>
            <a:ext cx="2194560" cy="276999"/>
          </a:xfrm>
          <a:prstGeom prst="rect">
            <a:avLst/>
          </a:prstGeom>
          <a:noFill/>
        </p:spPr>
        <p:txBody>
          <a:bodyPr wrap="square" lIns="0" tIns="0" rIns="0" bIns="0">
            <a:spAutoFit/>
          </a:bodyPr>
          <a:lstStyle/>
          <a:p>
            <a:pPr algn="l"/>
            <a:r>
              <a:rPr b="1" dirty="0">
                <a:solidFill>
                  <a:srgbClr val="FFFFFF"/>
                </a:solidFill>
                <a:latin typeface="Aptos"/>
              </a:rPr>
              <a:t>Hybrid search</a:t>
            </a:r>
          </a:p>
        </p:txBody>
      </p:sp>
      <p:sp>
        <p:nvSpPr>
          <p:cNvPr id="14" name="TextBox 13"/>
          <p:cNvSpPr txBox="1"/>
          <p:nvPr/>
        </p:nvSpPr>
        <p:spPr>
          <a:xfrm>
            <a:off x="6583680" y="4892040"/>
            <a:ext cx="4846320" cy="246221"/>
          </a:xfrm>
          <a:prstGeom prst="rect">
            <a:avLst/>
          </a:prstGeom>
          <a:noFill/>
        </p:spPr>
        <p:txBody>
          <a:bodyPr wrap="square" lIns="0" tIns="0" rIns="0" bIns="0">
            <a:spAutoFit/>
          </a:bodyPr>
          <a:lstStyle/>
          <a:p>
            <a:pPr algn="l"/>
            <a:r>
              <a:rPr sz="1600" b="0" dirty="0">
                <a:solidFill>
                  <a:srgbClr val="6C6C6C"/>
                </a:solidFill>
                <a:latin typeface="Aptos"/>
              </a:rPr>
              <a:t>Boosted relevancy from vector and lexical ranking</a:t>
            </a:r>
          </a:p>
        </p:txBody>
      </p:sp>
      <p:pic>
        <p:nvPicPr>
          <p:cNvPr id="18" name="Picture 17">
            <a:extLst>
              <a:ext uri="{FF2B5EF4-FFF2-40B4-BE49-F238E27FC236}">
                <a16:creationId xmlns:a16="http://schemas.microsoft.com/office/drawing/2014/main" id="{4CC6CA28-8A41-128E-7702-D10C5BE555F5}"/>
              </a:ext>
            </a:extLst>
          </p:cNvPr>
          <p:cNvPicPr>
            <a:picLocks noChangeAspect="1"/>
          </p:cNvPicPr>
          <p:nvPr/>
        </p:nvPicPr>
        <p:blipFill>
          <a:blip r:embed="rId3"/>
          <a:stretch>
            <a:fillRect/>
          </a:stretch>
        </p:blipFill>
        <p:spPr>
          <a:xfrm>
            <a:off x="909582" y="2307031"/>
            <a:ext cx="4745245" cy="2243938"/>
          </a:xfrm>
          <a:prstGeom prst="rect">
            <a:avLst/>
          </a:prstGeom>
        </p:spPr>
      </p:pic>
      <p:pic>
        <p:nvPicPr>
          <p:cNvPr id="20" name="Picture 19">
            <a:extLst>
              <a:ext uri="{FF2B5EF4-FFF2-40B4-BE49-F238E27FC236}">
                <a16:creationId xmlns:a16="http://schemas.microsoft.com/office/drawing/2014/main" id="{FCD6EA21-1A0E-E2AC-CF85-0EB5E5A9E73C}"/>
              </a:ext>
            </a:extLst>
          </p:cNvPr>
          <p:cNvPicPr>
            <a:picLocks noChangeAspect="1"/>
          </p:cNvPicPr>
          <p:nvPr/>
        </p:nvPicPr>
        <p:blipFill>
          <a:blip r:embed="rId4"/>
          <a:stretch>
            <a:fillRect/>
          </a:stretch>
        </p:blipFill>
        <p:spPr>
          <a:xfrm>
            <a:off x="6583680" y="2307031"/>
            <a:ext cx="4324835" cy="2316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DISTILLATION</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Tips for summarizing threads</a:t>
            </a:r>
          </a:p>
        </p:txBody>
      </p:sp>
      <p:sp>
        <p:nvSpPr>
          <p:cNvPr id="4" name="TextBox 3"/>
          <p:cNvSpPr txBox="1"/>
          <p:nvPr/>
        </p:nvSpPr>
        <p:spPr>
          <a:xfrm>
            <a:off x="554048" y="985608"/>
            <a:ext cx="11045952" cy="457200"/>
          </a:xfrm>
          <a:prstGeom prst="rect">
            <a:avLst/>
          </a:prstGeom>
          <a:noFill/>
        </p:spPr>
        <p:txBody>
          <a:bodyPr wrap="square" lIns="0" tIns="0" rIns="0" bIns="0">
            <a:spAutoFit/>
          </a:bodyPr>
          <a:lstStyle/>
          <a:p>
            <a:pPr algn="l"/>
            <a:r>
              <a:rPr sz="1500" b="0">
                <a:solidFill>
                  <a:srgbClr val="6C6C6C"/>
                </a:solidFill>
                <a:latin typeface="Aptos"/>
              </a:rPr>
              <a:t>Turn N raw turns into one durable anchor — off the critical path.</a:t>
            </a:r>
          </a:p>
        </p:txBody>
      </p:sp>
      <p:sp>
        <p:nvSpPr>
          <p:cNvPr id="5" name="Rounded Rectangle 4"/>
          <p:cNvSpPr/>
          <p:nvPr/>
        </p:nvSpPr>
        <p:spPr>
          <a:xfrm>
            <a:off x="683080" y="1920240"/>
            <a:ext cx="665000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960120" y="2253996"/>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save-f2462888.png"/>
          <p:cNvPicPr>
            <a:picLocks noChangeAspect="1"/>
          </p:cNvPicPr>
          <p:nvPr/>
        </p:nvPicPr>
        <p:blipFill>
          <a:blip r:embed="rId3"/>
          <a:stretch>
            <a:fillRect/>
          </a:stretch>
        </p:blipFill>
        <p:spPr>
          <a:xfrm>
            <a:off x="1096182" y="2390058"/>
            <a:ext cx="294802" cy="294802"/>
          </a:xfrm>
          <a:prstGeom prst="rect">
            <a:avLst/>
          </a:prstGeom>
        </p:spPr>
      </p:pic>
      <p:sp>
        <p:nvSpPr>
          <p:cNvPr id="8" name="TextBox 7"/>
          <p:cNvSpPr txBox="1"/>
          <p:nvPr/>
        </p:nvSpPr>
        <p:spPr>
          <a:xfrm>
            <a:off x="1783080" y="2121408"/>
            <a:ext cx="5550000" cy="892552"/>
          </a:xfrm>
          <a:prstGeom prst="rect">
            <a:avLst/>
          </a:prstGeom>
          <a:noFill/>
        </p:spPr>
        <p:txBody>
          <a:bodyPr wrap="square" lIns="0" tIns="0" rIns="0" bIns="0">
            <a:spAutoFit/>
          </a:bodyPr>
          <a:lstStyle/>
          <a:p>
            <a:pPr algn="l"/>
            <a:r>
              <a:rPr sz="1600" b="1" dirty="0">
                <a:solidFill>
                  <a:srgbClr val="122038"/>
                </a:solidFill>
                <a:latin typeface="Aptos"/>
              </a:rPr>
              <a:t>Label memory types</a:t>
            </a:r>
          </a:p>
          <a:p>
            <a:pPr algn="l"/>
            <a:r>
              <a:rPr sz="1400" b="0" dirty="0">
                <a:solidFill>
                  <a:srgbClr val="6C6C6C"/>
                </a:solidFill>
                <a:latin typeface="Aptos"/>
              </a:rPr>
              <a:t>Tag a summary as the </a:t>
            </a:r>
            <a:r>
              <a:rPr lang="en-US" sz="1400" b="0" dirty="0">
                <a:solidFill>
                  <a:srgbClr val="6C6C6C"/>
                </a:solidFill>
                <a:latin typeface="Aptos"/>
              </a:rPr>
              <a:t>"</a:t>
            </a:r>
            <a:r>
              <a:rPr sz="1400" b="0" dirty="0">
                <a:solidFill>
                  <a:srgbClr val="6C6C6C"/>
                </a:solidFill>
                <a:latin typeface="Aptos"/>
              </a:rPr>
              <a:t>memory anchor</a:t>
            </a:r>
            <a:r>
              <a:rPr lang="en-US" sz="1400" b="0" dirty="0">
                <a:solidFill>
                  <a:srgbClr val="6C6C6C"/>
                </a:solidFill>
                <a:latin typeface="Aptos"/>
              </a:rPr>
              <a:t>"</a:t>
            </a:r>
            <a:r>
              <a:rPr sz="1400" b="0" dirty="0">
                <a:solidFill>
                  <a:srgbClr val="6C6C6C"/>
                </a:solidFill>
                <a:latin typeface="Aptos"/>
              </a:rPr>
              <a:t> that replaces many individual turns while retaining the core narrative. </a:t>
            </a:r>
            <a:br>
              <a:rPr lang="en-US" sz="1400" b="0" dirty="0">
                <a:solidFill>
                  <a:srgbClr val="6C6C6C"/>
                </a:solidFill>
                <a:latin typeface="Aptos"/>
              </a:rPr>
            </a:br>
            <a:r>
              <a:rPr sz="1400" b="0" dirty="0">
                <a:solidFill>
                  <a:srgbClr val="6C6C6C"/>
                </a:solidFill>
                <a:latin typeface="Aptos"/>
              </a:rPr>
              <a:t>Retrieve it when re-hydrating old threads or searching across threads.</a:t>
            </a:r>
          </a:p>
        </p:txBody>
      </p:sp>
      <p:sp>
        <p:nvSpPr>
          <p:cNvPr id="9" name="Rounded Rectangle 8"/>
          <p:cNvSpPr/>
          <p:nvPr/>
        </p:nvSpPr>
        <p:spPr>
          <a:xfrm>
            <a:off x="685800" y="3355848"/>
            <a:ext cx="665000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60120" y="3689604"/>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sparkle-5a265899.png"/>
          <p:cNvPicPr>
            <a:picLocks noChangeAspect="1"/>
          </p:cNvPicPr>
          <p:nvPr/>
        </p:nvPicPr>
        <p:blipFill>
          <a:blip r:embed="rId4"/>
          <a:stretch>
            <a:fillRect/>
          </a:stretch>
        </p:blipFill>
        <p:spPr>
          <a:xfrm>
            <a:off x="1096182" y="3825666"/>
            <a:ext cx="294802" cy="294802"/>
          </a:xfrm>
          <a:prstGeom prst="rect">
            <a:avLst/>
          </a:prstGeom>
        </p:spPr>
      </p:pic>
      <p:sp>
        <p:nvSpPr>
          <p:cNvPr id="12" name="TextBox 11"/>
          <p:cNvSpPr txBox="1"/>
          <p:nvPr/>
        </p:nvSpPr>
        <p:spPr>
          <a:xfrm>
            <a:off x="1783080" y="3675210"/>
            <a:ext cx="5550000" cy="677108"/>
          </a:xfrm>
          <a:prstGeom prst="rect">
            <a:avLst/>
          </a:prstGeom>
          <a:noFill/>
        </p:spPr>
        <p:txBody>
          <a:bodyPr wrap="square" lIns="0" tIns="0" rIns="0" bIns="0">
            <a:spAutoFit/>
          </a:bodyPr>
          <a:lstStyle/>
          <a:p>
            <a:pPr algn="l"/>
            <a:r>
              <a:rPr sz="1600" b="1" dirty="0">
                <a:solidFill>
                  <a:srgbClr val="122038"/>
                </a:solidFill>
                <a:latin typeface="Aptos"/>
              </a:rPr>
              <a:t>Be efficient</a:t>
            </a:r>
          </a:p>
          <a:p>
            <a:pPr algn="l"/>
            <a:r>
              <a:rPr sz="1400" b="0" dirty="0">
                <a:solidFill>
                  <a:srgbClr val="6C6C6C"/>
                </a:solidFill>
                <a:latin typeface="Aptos"/>
              </a:rPr>
              <a:t>Use SLMs or mini / nano model tiers to cut summarization cost and latency.</a:t>
            </a:r>
          </a:p>
        </p:txBody>
      </p:sp>
      <p:sp>
        <p:nvSpPr>
          <p:cNvPr id="13" name="Rounded Rectangle 12"/>
          <p:cNvSpPr/>
          <p:nvPr/>
        </p:nvSpPr>
        <p:spPr>
          <a:xfrm>
            <a:off x="685800" y="4791456"/>
            <a:ext cx="665000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960120" y="5125212"/>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on-arrow-sync-208320a1.png"/>
          <p:cNvPicPr>
            <a:picLocks noChangeAspect="1"/>
          </p:cNvPicPr>
          <p:nvPr/>
        </p:nvPicPr>
        <p:blipFill>
          <a:blip r:embed="rId5"/>
          <a:stretch>
            <a:fillRect/>
          </a:stretch>
        </p:blipFill>
        <p:spPr>
          <a:xfrm>
            <a:off x="1096182" y="5261274"/>
            <a:ext cx="294802" cy="294802"/>
          </a:xfrm>
          <a:prstGeom prst="rect">
            <a:avLst/>
          </a:prstGeom>
        </p:spPr>
      </p:pic>
      <p:sp>
        <p:nvSpPr>
          <p:cNvPr id="16" name="TextBox 15"/>
          <p:cNvSpPr txBox="1"/>
          <p:nvPr/>
        </p:nvSpPr>
        <p:spPr>
          <a:xfrm>
            <a:off x="1783080" y="4992624"/>
            <a:ext cx="5550000" cy="892552"/>
          </a:xfrm>
          <a:prstGeom prst="rect">
            <a:avLst/>
          </a:prstGeom>
          <a:noFill/>
        </p:spPr>
        <p:txBody>
          <a:bodyPr wrap="square" lIns="0" tIns="0" rIns="0" bIns="0">
            <a:spAutoFit/>
          </a:bodyPr>
          <a:lstStyle/>
          <a:p>
            <a:pPr algn="l"/>
            <a:r>
              <a:rPr sz="1600" b="1" dirty="0">
                <a:solidFill>
                  <a:srgbClr val="122038"/>
                </a:solidFill>
                <a:latin typeface="Aptos"/>
              </a:rPr>
              <a:t>Offload processing to workers</a:t>
            </a:r>
          </a:p>
          <a:p>
            <a:pPr algn="l"/>
            <a:r>
              <a:rPr sz="1400" b="0" dirty="0">
                <a:solidFill>
                  <a:srgbClr val="6C6C6C"/>
                </a:solidFill>
                <a:latin typeface="Aptos"/>
              </a:rPr>
              <a:t>Run short-term to long-term conversion, summarization, pruning, and metadata updates in </a:t>
            </a:r>
            <a:r>
              <a:rPr lang="en-US" sz="1400" b="0" dirty="0">
                <a:solidFill>
                  <a:srgbClr val="6C6C6C"/>
                </a:solidFill>
                <a:latin typeface="Aptos"/>
              </a:rPr>
              <a:t>background </a:t>
            </a:r>
            <a:r>
              <a:rPr lang="en-US" sz="1400" dirty="0">
                <a:solidFill>
                  <a:srgbClr val="6C6C6C"/>
                </a:solidFill>
                <a:latin typeface="Aptos"/>
              </a:rPr>
              <a:t>workers (</a:t>
            </a:r>
            <a:r>
              <a:rPr sz="1400" b="0" dirty="0">
                <a:solidFill>
                  <a:srgbClr val="6C6C6C"/>
                </a:solidFill>
                <a:latin typeface="Aptos"/>
              </a:rPr>
              <a:t>Azure Functions or Container Apps</a:t>
            </a:r>
            <a:r>
              <a:rPr lang="en-US" sz="1400" b="0" dirty="0">
                <a:solidFill>
                  <a:srgbClr val="6C6C6C"/>
                </a:solidFill>
                <a:latin typeface="Aptos"/>
              </a:rPr>
              <a:t>), so</a:t>
            </a:r>
            <a:r>
              <a:rPr sz="1400" b="0" dirty="0">
                <a:solidFill>
                  <a:srgbClr val="6C6C6C"/>
                </a:solidFill>
                <a:latin typeface="Aptos"/>
              </a:rPr>
              <a:t> app code is never blocked.</a:t>
            </a:r>
          </a:p>
        </p:txBody>
      </p:sp>
      <p:sp>
        <p:nvSpPr>
          <p:cNvPr id="101" name="Thread panel"/>
          <p:cNvSpPr/>
          <p:nvPr/>
        </p:nvSpPr>
        <p:spPr>
          <a:xfrm>
            <a:off x="7620000" y="850000"/>
            <a:ext cx="4150000" cy="5300000"/>
          </a:xfrm>
          <a:prstGeom prst="roundRect">
            <a:avLst>
              <a:gd name="adj" fmla="val 12000"/>
            </a:avLst>
          </a:prstGeom>
          <a:solidFill>
            <a:srgbClr val="EDEFF2"/>
          </a:solidFill>
          <a:ln>
            <a:noFill/>
          </a:ln>
        </p:spPr>
        <p:txBody>
          <a:bodyPr wrap="square" lIns="120000" tIns="90000" rIns="120000" bIns="90000" anchor="ctr">
            <a:normAutofit/>
          </a:bodyPr>
          <a:lstStyle/>
          <a:p>
            <a:endParaRPr lang="en-US"/>
          </a:p>
        </p:txBody>
      </p:sp>
      <p:sp>
        <p:nvSpPr>
          <p:cNvPr id="102" name="Panel title"/>
          <p:cNvSpPr>
            <a:spLocks noGrp="1"/>
          </p:cNvSpPr>
          <p:nvPr>
            <p:ph type="body" idx="11"/>
          </p:nvPr>
        </p:nvSpPr>
        <p:spPr>
          <a:xfrm>
            <a:off x="573024" y="1499812"/>
            <a:ext cx="11045952" cy="320040"/>
          </a:xfrm>
          <a:prstGeom prst="rect">
            <a:avLst/>
          </a:prstGeom>
          <a:noFill/>
          <a:ln>
            <a:noFill/>
          </a:ln>
        </p:spPr>
        <p:txBody>
          <a:bodyPr wrap="square" lIns="60000" tIns="0" rIns="60000" bIns="0" anchor="ctr">
            <a:normAutofit/>
          </a:bodyPr>
          <a:lstStyle/>
          <a:p>
            <a:pPr algn="l"/>
            <a:r>
              <a:rPr lang="en-US" sz="1400" b="1" dirty="0">
                <a:solidFill>
                  <a:srgbClr val="1B2430"/>
                </a:solidFill>
                <a:latin typeface="Segoe UI"/>
              </a:rPr>
              <a:t>One thread</a:t>
            </a:r>
          </a:p>
        </p:txBody>
      </p:sp>
      <p:sp>
        <p:nvSpPr>
          <p:cNvPr id="103" name="Turn 1"/>
          <p:cNvSpPr/>
          <p:nvPr/>
        </p:nvSpPr>
        <p:spPr>
          <a:xfrm>
            <a:off x="7784592" y="1340572"/>
            <a:ext cx="3810000" cy="680000"/>
          </a:xfrm>
          <a:prstGeom prst="roundRect">
            <a:avLst>
              <a:gd name="adj" fmla="val 12000"/>
            </a:avLst>
          </a:prstGeom>
          <a:gradFill rotWithShape="1">
            <a:gsLst>
              <a:gs pos="0">
                <a:srgbClr val="12A19A"/>
              </a:gs>
              <a:gs pos="100000">
                <a:srgbClr val="1668B8"/>
              </a:gs>
            </a:gsLst>
            <a:lin ang="2700000" scaled="0"/>
          </a:gradFill>
          <a:ln>
            <a:noFill/>
          </a:ln>
        </p:spPr>
        <p:txBody>
          <a:bodyPr wrap="square" lIns="120000" tIns="90000" rIns="120000" bIns="90000" anchor="ctr">
            <a:normAutofit fontScale="92500" lnSpcReduction="10000"/>
          </a:bodyPr>
          <a:lstStyle/>
          <a:p>
            <a:pPr algn="l"/>
            <a:r>
              <a:rPr lang="en-US" sz="1200" b="1" dirty="0">
                <a:solidFill>
                  <a:srgbClr val="FFFFFF"/>
                </a:solidFill>
                <a:latin typeface="Segoe UI"/>
              </a:rPr>
              <a:t>Turn 1</a:t>
            </a:r>
          </a:p>
          <a:p>
            <a:pPr algn="l"/>
            <a:r>
              <a:rPr lang="en-US" sz="1050" b="0" dirty="0">
                <a:solidFill>
                  <a:srgbClr val="FFFFFF"/>
                </a:solidFill>
                <a:latin typeface="Segoe UI"/>
              </a:rPr>
              <a:t>User: "How do I setup Cosmos DB Fleets?"</a:t>
            </a:r>
          </a:p>
          <a:p>
            <a:pPr algn="l"/>
            <a:r>
              <a:rPr lang="en-US" sz="1050" b="0" dirty="0">
                <a:solidFill>
                  <a:srgbClr val="FFFFFF"/>
                </a:solidFill>
                <a:latin typeface="Segoe UI"/>
              </a:rPr>
              <a:t>Agent: "Let me check on that…"</a:t>
            </a:r>
          </a:p>
        </p:txBody>
      </p:sp>
      <p:sp>
        <p:nvSpPr>
          <p:cNvPr id="104" name="Turn 2"/>
          <p:cNvSpPr/>
          <p:nvPr/>
        </p:nvSpPr>
        <p:spPr>
          <a:xfrm>
            <a:off x="7790000" y="2210000"/>
            <a:ext cx="3810000" cy="900000"/>
          </a:xfrm>
          <a:prstGeom prst="roundRect">
            <a:avLst>
              <a:gd name="adj" fmla="val 12000"/>
            </a:avLst>
          </a:prstGeom>
          <a:gradFill rotWithShape="1">
            <a:gsLst>
              <a:gs pos="0">
                <a:srgbClr val="1E6FD0"/>
              </a:gs>
              <a:gs pos="100000">
                <a:srgbClr val="2C5BC8"/>
              </a:gs>
            </a:gsLst>
            <a:lin ang="2700000" scaled="0"/>
          </a:gradFill>
          <a:ln>
            <a:noFill/>
          </a:ln>
        </p:spPr>
        <p:txBody>
          <a:bodyPr wrap="square" lIns="120000" tIns="90000" rIns="120000" bIns="90000" anchor="ctr">
            <a:normAutofit fontScale="92500" lnSpcReduction="10000"/>
          </a:bodyPr>
          <a:lstStyle/>
          <a:p>
            <a:pPr algn="l"/>
            <a:r>
              <a:rPr lang="en-US" sz="1600" b="1" dirty="0">
                <a:solidFill>
                  <a:srgbClr val="FFFFFF"/>
                </a:solidFill>
                <a:latin typeface="Segoe UI"/>
              </a:rPr>
              <a:t>Turn 2</a:t>
            </a:r>
          </a:p>
          <a:p>
            <a:pPr algn="l"/>
            <a:r>
              <a:rPr lang="en-US" sz="1100" b="0" dirty="0">
                <a:solidFill>
                  <a:srgbClr val="FFFFFF"/>
                </a:solidFill>
                <a:latin typeface="Segoe UI"/>
              </a:rPr>
              <a:t>Agent: semantic_search_tool("Cosmos DB fleets")</a:t>
            </a:r>
          </a:p>
          <a:p>
            <a:pPr algn="l"/>
            <a:r>
              <a:rPr lang="en-US" sz="1100" b="0" dirty="0">
                <a:solidFill>
                  <a:srgbClr val="FFFFFF"/>
                </a:solidFill>
                <a:latin typeface="Segoe UI"/>
              </a:rPr>
              <a:t>Tool: Response: {title: "Cosmos DB Fleets", content: "Navigate to the Azure Portal…"}</a:t>
            </a:r>
          </a:p>
        </p:txBody>
      </p:sp>
      <p:sp>
        <p:nvSpPr>
          <p:cNvPr id="105" name="Turn N"/>
          <p:cNvSpPr/>
          <p:nvPr/>
        </p:nvSpPr>
        <p:spPr>
          <a:xfrm>
            <a:off x="7790000" y="3340000"/>
            <a:ext cx="3810000" cy="860000"/>
          </a:xfrm>
          <a:prstGeom prst="roundRect">
            <a:avLst>
              <a:gd name="adj" fmla="val 12000"/>
            </a:avLst>
          </a:prstGeom>
          <a:gradFill rotWithShape="1">
            <a:gsLst>
              <a:gs pos="0">
                <a:srgbClr val="8A4FBF"/>
              </a:gs>
              <a:gs pos="100000">
                <a:srgbClr val="E0456E"/>
              </a:gs>
            </a:gsLst>
            <a:lin ang="2700000" scaled="0"/>
          </a:gradFill>
          <a:ln>
            <a:noFill/>
          </a:ln>
        </p:spPr>
        <p:txBody>
          <a:bodyPr wrap="square" lIns="120000" tIns="90000" rIns="120000" bIns="90000" anchor="ctr">
            <a:normAutofit/>
          </a:bodyPr>
          <a:lstStyle/>
          <a:p>
            <a:pPr algn="l"/>
            <a:r>
              <a:rPr lang="en-US" sz="1600" b="1" dirty="0">
                <a:solidFill>
                  <a:srgbClr val="FFFFFF"/>
                </a:solidFill>
                <a:latin typeface="Segoe UI"/>
              </a:rPr>
              <a:t>Turn N</a:t>
            </a:r>
          </a:p>
          <a:p>
            <a:pPr algn="l"/>
            <a:r>
              <a:rPr lang="en-US" sz="1000" b="0" dirty="0">
                <a:solidFill>
                  <a:srgbClr val="FFFFFF"/>
                </a:solidFill>
                <a:latin typeface="Segoe UI"/>
              </a:rPr>
              <a:t>User: "Ok, that was easy. Thanks!"</a:t>
            </a:r>
          </a:p>
          <a:p>
            <a:pPr algn="l"/>
            <a:r>
              <a:rPr lang="en-US" sz="1000" b="0" dirty="0">
                <a:solidFill>
                  <a:srgbClr val="FFFFFF"/>
                </a:solidFill>
                <a:latin typeface="Segoe UI"/>
              </a:rPr>
              <a:t>Agent: "No problem! Anything else I can help with today?"</a:t>
            </a:r>
          </a:p>
        </p:txBody>
      </p:sp>
      <p:sp>
        <p:nvSpPr>
          <p:cNvPr id="106" name="Process data"/>
          <p:cNvSpPr/>
          <p:nvPr/>
        </p:nvSpPr>
        <p:spPr>
          <a:xfrm>
            <a:off x="7790000" y="4380000"/>
            <a:ext cx="3810000" cy="780000"/>
          </a:xfrm>
          <a:prstGeom prst="roundRect">
            <a:avLst>
              <a:gd name="adj" fmla="val 12000"/>
            </a:avLst>
          </a:prstGeom>
          <a:gradFill rotWithShape="1">
            <a:gsLst>
              <a:gs pos="0">
                <a:srgbClr val="2F6FD6"/>
              </a:gs>
              <a:gs pos="100000">
                <a:srgbClr val="6A4FC6"/>
              </a:gs>
            </a:gsLst>
            <a:lin ang="2700000" scaled="0"/>
          </a:gradFill>
          <a:ln>
            <a:noFill/>
          </a:ln>
        </p:spPr>
        <p:txBody>
          <a:bodyPr wrap="square" lIns="120000" tIns="90000" rIns="120000" bIns="90000" anchor="ctr">
            <a:normAutofit lnSpcReduction="10000"/>
          </a:bodyPr>
          <a:lstStyle/>
          <a:p>
            <a:pPr algn="l"/>
            <a:r>
              <a:rPr lang="en-US" sz="1600" b="1" dirty="0">
                <a:solidFill>
                  <a:srgbClr val="FFFFFF"/>
                </a:solidFill>
                <a:latin typeface="Segoe UI"/>
              </a:rPr>
              <a:t>Process data</a:t>
            </a:r>
          </a:p>
          <a:p>
            <a:pPr algn="l"/>
            <a:r>
              <a:rPr lang="en-US" sz="1000" b="0" dirty="0">
                <a:solidFill>
                  <a:srgbClr val="FFFFFF"/>
                </a:solidFill>
                <a:latin typeface="Segoe UI"/>
              </a:rPr>
              <a:t>Summarize all turns, attach metadata, generate vector embedding, …</a:t>
            </a:r>
          </a:p>
        </p:txBody>
      </p:sp>
      <p:sp>
        <p:nvSpPr>
          <p:cNvPr id="107" name="Store in Cosmos DB"/>
          <p:cNvSpPr/>
          <p:nvPr/>
        </p:nvSpPr>
        <p:spPr>
          <a:xfrm>
            <a:off x="7790000" y="5340000"/>
            <a:ext cx="3810000" cy="660000"/>
          </a:xfrm>
          <a:prstGeom prst="roundRect">
            <a:avLst>
              <a:gd name="adj" fmla="val 12000"/>
            </a:avLst>
          </a:prstGeom>
          <a:gradFill rotWithShape="1">
            <a:gsLst>
              <a:gs pos="0">
                <a:srgbClr val="0F7FA8"/>
              </a:gs>
              <a:gs pos="100000">
                <a:srgbClr val="1B9E8F"/>
              </a:gs>
            </a:gsLst>
            <a:lin ang="2700000" scaled="0"/>
          </a:gradFill>
          <a:ln>
            <a:noFill/>
          </a:ln>
        </p:spPr>
        <p:txBody>
          <a:bodyPr wrap="square" lIns="120000" tIns="90000" rIns="120000" bIns="90000" anchor="ctr">
            <a:normAutofit/>
          </a:bodyPr>
          <a:lstStyle/>
          <a:p>
            <a:pPr algn="l"/>
            <a:r>
              <a:rPr lang="en-US" sz="1600" b="1" dirty="0">
                <a:solidFill>
                  <a:srgbClr val="FFFFFF"/>
                </a:solidFill>
                <a:latin typeface="Segoe UI"/>
              </a:rPr>
              <a:t>Store in Cosmos DB</a:t>
            </a:r>
          </a:p>
          <a:p>
            <a:pPr algn="l"/>
            <a:r>
              <a:rPr lang="en-US" sz="1000" b="0" dirty="0">
                <a:solidFill>
                  <a:srgbClr val="FFFFFF"/>
                </a:solidFill>
                <a:latin typeface="Segoe UI"/>
              </a:rPr>
              <a:t>container.create_item(body=memory_document)</a:t>
            </a:r>
          </a:p>
        </p:txBody>
      </p:sp>
      <p:sp>
        <p:nvSpPr>
          <p:cNvPr id="108" name="Arrow"/>
          <p:cNvSpPr/>
          <p:nvPr/>
        </p:nvSpPr>
        <p:spPr>
          <a:xfrm>
            <a:off x="9615000" y="2030000"/>
            <a:ext cx="160000" cy="180000"/>
          </a:xfrm>
          <a:prstGeom prst="downArrow">
            <a:avLst>
              <a:gd name="adj1" fmla="val 45000"/>
              <a:gd name="adj2" fmla="val 55000"/>
            </a:avLst>
          </a:prstGeom>
          <a:solidFill>
            <a:srgbClr val="8A93A5"/>
          </a:solidFill>
          <a:ln>
            <a:noFill/>
          </a:ln>
        </p:spPr>
        <p:txBody>
          <a:bodyPr/>
          <a:lstStyle/>
          <a:p>
            <a:endParaRPr lang="en-US"/>
          </a:p>
        </p:txBody>
      </p:sp>
      <p:sp>
        <p:nvSpPr>
          <p:cNvPr id="109" name="Ellipsis"/>
          <p:cNvSpPr/>
          <p:nvPr/>
        </p:nvSpPr>
        <p:spPr>
          <a:xfrm>
            <a:off x="7790000" y="3110000"/>
            <a:ext cx="3810000" cy="230000"/>
          </a:xfrm>
          <a:prstGeom prst="rect">
            <a:avLst/>
          </a:prstGeom>
          <a:noFill/>
          <a:ln>
            <a:noFill/>
          </a:ln>
        </p:spPr>
        <p:txBody>
          <a:bodyPr wrap="square" lIns="0" tIns="0" rIns="0" bIns="0" anchor="ctr">
            <a:normAutofit/>
          </a:bodyPr>
          <a:lstStyle/>
          <a:p>
            <a:pPr algn="ctr"/>
            <a:r>
              <a:rPr lang="en-US" sz="1200" b="1" dirty="0">
                <a:solidFill>
                  <a:srgbClr val="6B7280"/>
                </a:solidFill>
                <a:latin typeface="Segoe UI"/>
              </a:rPr>
              <a:t>⋮</a:t>
            </a:r>
          </a:p>
        </p:txBody>
      </p:sp>
      <p:sp>
        <p:nvSpPr>
          <p:cNvPr id="110" name="Arrow"/>
          <p:cNvSpPr/>
          <p:nvPr/>
        </p:nvSpPr>
        <p:spPr>
          <a:xfrm>
            <a:off x="9615000" y="4200000"/>
            <a:ext cx="160000" cy="180000"/>
          </a:xfrm>
          <a:prstGeom prst="downArrow">
            <a:avLst>
              <a:gd name="adj1" fmla="val 45000"/>
              <a:gd name="adj2" fmla="val 55000"/>
            </a:avLst>
          </a:prstGeom>
          <a:solidFill>
            <a:srgbClr val="8A93A5"/>
          </a:solidFill>
          <a:ln>
            <a:noFill/>
          </a:ln>
        </p:spPr>
        <p:txBody>
          <a:bodyPr/>
          <a:lstStyle/>
          <a:p>
            <a:endParaRPr lang="en-US"/>
          </a:p>
        </p:txBody>
      </p:sp>
      <p:sp>
        <p:nvSpPr>
          <p:cNvPr id="111" name="Arrow"/>
          <p:cNvSpPr/>
          <p:nvPr/>
        </p:nvSpPr>
        <p:spPr>
          <a:xfrm>
            <a:off x="9615000" y="5160000"/>
            <a:ext cx="160000" cy="180000"/>
          </a:xfrm>
          <a:prstGeom prst="downArrow">
            <a:avLst>
              <a:gd name="adj1" fmla="val 45000"/>
              <a:gd name="adj2" fmla="val 55000"/>
            </a:avLst>
          </a:prstGeom>
          <a:solidFill>
            <a:srgbClr val="8A93A5"/>
          </a:solidFill>
          <a:ln>
            <a:no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noGrp="1"/>
          </p:cNvSpPr>
          <p:nvPr>
            <p:ph type="body" idx="10"/>
          </p:nvPr>
        </p:nvSpPr>
        <p:spPr>
          <a:xfrm>
            <a:off x="566928" y="301752"/>
            <a:ext cx="5586984" cy="164592"/>
          </a:xfrm>
          <a:prstGeom prst="rect">
            <a:avLst/>
          </a:prstGeom>
          <a:noFill/>
        </p:spPr>
        <p:txBody>
          <a:bodyPr wrap="square" lIns="0" tIns="0" rIns="0" bIns="0">
            <a:spAutoFit/>
          </a:bodyPr>
          <a:lstStyle/>
          <a:p>
            <a:pPr algn="l"/>
            <a:r>
              <a:rPr sz="900" b="1">
                <a:solidFill>
                  <a:srgbClr val="0099D4"/>
                </a:solidFill>
                <a:latin typeface="Aptos"/>
              </a:rPr>
              <a:t>FORGETTING</a:t>
            </a:r>
          </a:p>
        </p:txBody>
      </p:sp>
      <p:sp>
        <p:nvSpPr>
          <p:cNvPr id="3" name="Title 2"/>
          <p:cNvSpPr txBox="1">
            <a:spLocks noGrp="1"/>
          </p:cNvSpPr>
          <p:nvPr>
            <p:ph type="title"/>
          </p:nvPr>
        </p:nvSpPr>
        <p:spPr>
          <a:xfrm>
            <a:off x="548640" y="566928"/>
            <a:ext cx="11045952" cy="502920"/>
          </a:xfrm>
          <a:prstGeom prst="rect">
            <a:avLst/>
          </a:prstGeom>
          <a:noFill/>
        </p:spPr>
        <p:txBody>
          <a:bodyPr wrap="square" lIns="0" tIns="0" rIns="0" bIns="0">
            <a:spAutoFit/>
          </a:bodyPr>
          <a:lstStyle/>
          <a:p>
            <a:pPr algn="l"/>
            <a:r>
              <a:rPr sz="2500" b="0">
                <a:solidFill>
                  <a:srgbClr val="122038"/>
                </a:solidFill>
                <a:latin typeface="Aptos"/>
              </a:rPr>
              <a:t>Deprioritizing older memories</a:t>
            </a:r>
          </a:p>
        </p:txBody>
      </p:sp>
      <p:sp>
        <p:nvSpPr>
          <p:cNvPr id="4" name="Text Placeholder 3"/>
          <p:cNvSpPr txBox="1">
            <a:spLocks noGrp="1"/>
          </p:cNvSpPr>
          <p:nvPr>
            <p:ph type="body" idx="11"/>
          </p:nvPr>
        </p:nvSpPr>
        <p:spPr>
          <a:xfrm>
            <a:off x="548640" y="1129284"/>
            <a:ext cx="11045952" cy="320040"/>
          </a:xfrm>
          <a:prstGeom prst="rect">
            <a:avLst/>
          </a:prstGeom>
          <a:noFill/>
        </p:spPr>
        <p:txBody>
          <a:bodyPr wrap="square" lIns="0" tIns="0" rIns="0" bIns="0">
            <a:spAutoFit/>
          </a:bodyPr>
          <a:lstStyle/>
          <a:p>
            <a:pPr algn="l"/>
            <a:r>
              <a:rPr sz="1500" b="0" dirty="0">
                <a:solidFill>
                  <a:srgbClr val="6C6C6C"/>
                </a:solidFill>
                <a:latin typeface="Aptos"/>
              </a:rPr>
              <a:t>Keep the working memory set manageable: score, rank, and archive rather than blindly accumulate.</a:t>
            </a:r>
          </a:p>
        </p:txBody>
      </p:sp>
      <p:sp>
        <p:nvSpPr>
          <p:cNvPr id="5" name="Rounded Rectangle 4"/>
          <p:cNvSpPr/>
          <p:nvPr/>
        </p:nvSpPr>
        <p:spPr>
          <a:xfrm>
            <a:off x="685800" y="1920240"/>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960120" y="2253996"/>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con-data-trending-364ad576.png"/>
          <p:cNvPicPr>
            <a:picLocks noChangeAspect="1"/>
          </p:cNvPicPr>
          <p:nvPr/>
        </p:nvPicPr>
        <p:blipFill>
          <a:blip r:embed="rId3"/>
          <a:stretch>
            <a:fillRect/>
          </a:stretch>
        </p:blipFill>
        <p:spPr>
          <a:xfrm>
            <a:off x="1096182" y="2390058"/>
            <a:ext cx="294802" cy="294802"/>
          </a:xfrm>
          <a:prstGeom prst="rect">
            <a:avLst/>
          </a:prstGeom>
        </p:spPr>
      </p:pic>
      <p:sp>
        <p:nvSpPr>
          <p:cNvPr id="8" name="TextBox 7"/>
          <p:cNvSpPr txBox="1"/>
          <p:nvPr/>
        </p:nvSpPr>
        <p:spPr>
          <a:xfrm>
            <a:off x="1783080" y="2193435"/>
            <a:ext cx="9418320" cy="707886"/>
          </a:xfrm>
          <a:prstGeom prst="rect">
            <a:avLst/>
          </a:prstGeom>
          <a:noFill/>
        </p:spPr>
        <p:txBody>
          <a:bodyPr wrap="square" lIns="0" tIns="0" rIns="0" bIns="0">
            <a:spAutoFit/>
          </a:bodyPr>
          <a:lstStyle/>
          <a:p>
            <a:pPr algn="l"/>
            <a:r>
              <a:rPr b="1" dirty="0">
                <a:solidFill>
                  <a:srgbClr val="122038"/>
                </a:solidFill>
                <a:latin typeface="Aptos"/>
              </a:rPr>
              <a:t>Assign a priority score</a:t>
            </a:r>
          </a:p>
          <a:p>
            <a:pPr algn="l"/>
            <a:r>
              <a:rPr sz="1400" b="0" dirty="0">
                <a:solidFill>
                  <a:srgbClr val="6C6C6C"/>
                </a:solidFill>
                <a:latin typeface="Aptos"/>
              </a:rPr>
              <a:t>Each turn or summary carries a score that decays with age or usage frequency; use it when ranking retrieval results. </a:t>
            </a:r>
            <a:br>
              <a:rPr lang="en-US" sz="1400" b="0" dirty="0">
                <a:solidFill>
                  <a:srgbClr val="6C6C6C"/>
                </a:solidFill>
                <a:latin typeface="Aptos"/>
              </a:rPr>
            </a:br>
            <a:r>
              <a:rPr sz="1400" b="0" dirty="0">
                <a:solidFill>
                  <a:srgbClr val="6C6C6C"/>
                </a:solidFill>
                <a:latin typeface="Aptos"/>
              </a:rPr>
              <a:t>The memory date can serve as a proxy.</a:t>
            </a:r>
          </a:p>
        </p:txBody>
      </p:sp>
      <p:sp>
        <p:nvSpPr>
          <p:cNvPr id="9" name="Rounded Rectangle 8"/>
          <p:cNvSpPr/>
          <p:nvPr/>
        </p:nvSpPr>
        <p:spPr>
          <a:xfrm>
            <a:off x="685800" y="3427875"/>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60120" y="3689604"/>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con-search-2093495c.png"/>
          <p:cNvPicPr>
            <a:picLocks noChangeAspect="1"/>
          </p:cNvPicPr>
          <p:nvPr/>
        </p:nvPicPr>
        <p:blipFill>
          <a:blip r:embed="rId4"/>
          <a:stretch>
            <a:fillRect/>
          </a:stretch>
        </p:blipFill>
        <p:spPr>
          <a:xfrm>
            <a:off x="1096182" y="3825666"/>
            <a:ext cx="294802" cy="294802"/>
          </a:xfrm>
          <a:prstGeom prst="rect">
            <a:avLst/>
          </a:prstGeom>
        </p:spPr>
      </p:pic>
      <p:sp>
        <p:nvSpPr>
          <p:cNvPr id="12" name="TextBox 11"/>
          <p:cNvSpPr txBox="1"/>
          <p:nvPr/>
        </p:nvSpPr>
        <p:spPr>
          <a:xfrm>
            <a:off x="1783080" y="3742234"/>
            <a:ext cx="9418320" cy="461665"/>
          </a:xfrm>
          <a:prstGeom prst="rect">
            <a:avLst/>
          </a:prstGeom>
          <a:noFill/>
        </p:spPr>
        <p:txBody>
          <a:bodyPr wrap="square" lIns="0" tIns="0" rIns="0" bIns="0">
            <a:spAutoFit/>
          </a:bodyPr>
          <a:lstStyle/>
          <a:p>
            <a:pPr algn="l"/>
            <a:r>
              <a:rPr sz="1600" b="1" dirty="0">
                <a:solidFill>
                  <a:srgbClr val="122038"/>
                </a:solidFill>
                <a:latin typeface="Aptos"/>
              </a:rPr>
              <a:t>Surface priority at retrieval</a:t>
            </a:r>
          </a:p>
          <a:p>
            <a:pPr algn="l"/>
            <a:r>
              <a:rPr sz="1400" b="0" dirty="0">
                <a:solidFill>
                  <a:srgbClr val="6C6C6C"/>
                </a:solidFill>
                <a:latin typeface="Aptos"/>
              </a:rPr>
              <a:t>Include the memory's date or priority score in the prompt and instruct the model to weigh older or lower-priority items less.</a:t>
            </a:r>
          </a:p>
        </p:txBody>
      </p:sp>
      <p:sp>
        <p:nvSpPr>
          <p:cNvPr id="13" name="Rounded Rectangle 12"/>
          <p:cNvSpPr/>
          <p:nvPr/>
        </p:nvSpPr>
        <p:spPr>
          <a:xfrm>
            <a:off x="685800" y="4791456"/>
            <a:ext cx="10789920" cy="123444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960120" y="5125212"/>
            <a:ext cx="566928" cy="566928"/>
          </a:xfrm>
          <a:prstGeom prst="ellipse">
            <a:avLst/>
          </a:prstGeom>
          <a:solidFill>
            <a:srgbClr val="0099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on-arrow-autofit-down-532512de.png"/>
          <p:cNvPicPr>
            <a:picLocks noChangeAspect="1"/>
          </p:cNvPicPr>
          <p:nvPr/>
        </p:nvPicPr>
        <p:blipFill>
          <a:blip r:embed="rId5"/>
          <a:stretch>
            <a:fillRect/>
          </a:stretch>
        </p:blipFill>
        <p:spPr>
          <a:xfrm>
            <a:off x="1096182" y="5261274"/>
            <a:ext cx="294802" cy="294802"/>
          </a:xfrm>
          <a:prstGeom prst="rect">
            <a:avLst/>
          </a:prstGeom>
        </p:spPr>
      </p:pic>
      <p:sp>
        <p:nvSpPr>
          <p:cNvPr id="16" name="TextBox 15"/>
          <p:cNvSpPr txBox="1"/>
          <p:nvPr/>
        </p:nvSpPr>
        <p:spPr>
          <a:xfrm>
            <a:off x="1783080" y="5177842"/>
            <a:ext cx="9418320" cy="461665"/>
          </a:xfrm>
          <a:prstGeom prst="rect">
            <a:avLst/>
          </a:prstGeom>
          <a:noFill/>
        </p:spPr>
        <p:txBody>
          <a:bodyPr wrap="square" lIns="0" tIns="0" rIns="0" bIns="0">
            <a:spAutoFit/>
          </a:bodyPr>
          <a:lstStyle/>
          <a:p>
            <a:pPr algn="l"/>
            <a:r>
              <a:rPr sz="1600" b="1" dirty="0">
                <a:solidFill>
                  <a:srgbClr val="122038"/>
                </a:solidFill>
                <a:latin typeface="Aptos"/>
              </a:rPr>
              <a:t>Demote and archive asynchronously</a:t>
            </a:r>
          </a:p>
          <a:p>
            <a:pPr algn="l"/>
            <a:r>
              <a:rPr sz="1400" b="0" dirty="0">
                <a:solidFill>
                  <a:srgbClr val="6C6C6C"/>
                </a:solidFill>
                <a:latin typeface="Aptos"/>
              </a:rPr>
              <a:t>A background job tags low-priority items as archived so they can be excluded by query, keeping the active set small</a:t>
            </a:r>
            <a:r>
              <a:rPr sz="1300" b="0" dirty="0">
                <a:solidFill>
                  <a:srgbClr val="6C6C6C"/>
                </a:solidFill>
                <a:latin typeface="Apto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AD1225-5F62-15B1-9C03-79E0BE08CE40}"/>
              </a:ext>
            </a:extLst>
          </p:cNvPr>
          <p:cNvSpPr>
            <a:spLocks noGrp="1"/>
          </p:cNvSpPr>
          <p:nvPr>
            <p:ph type="body" idx="10"/>
          </p:nvPr>
        </p:nvSpPr>
        <p:spPr/>
        <p:txBody>
          <a:bodyPr/>
          <a:lstStyle/>
          <a:p>
            <a:endParaRPr lang="en-CA"/>
          </a:p>
        </p:txBody>
      </p:sp>
      <p:sp>
        <p:nvSpPr>
          <p:cNvPr id="3" name="Title 2">
            <a:extLst>
              <a:ext uri="{FF2B5EF4-FFF2-40B4-BE49-F238E27FC236}">
                <a16:creationId xmlns:a16="http://schemas.microsoft.com/office/drawing/2014/main" id="{E76BD1FA-79F2-F7FD-F710-BC22B51537E4}"/>
              </a:ext>
            </a:extLst>
          </p:cNvPr>
          <p:cNvSpPr>
            <a:spLocks noGrp="1"/>
          </p:cNvSpPr>
          <p:nvPr>
            <p:ph type="title"/>
          </p:nvPr>
        </p:nvSpPr>
        <p:spPr/>
        <p:txBody>
          <a:bodyPr/>
          <a:lstStyle/>
          <a:p>
            <a:r>
              <a:rPr lang="en-US" dirty="0"/>
              <a:t>DEMO</a:t>
            </a:r>
            <a:endParaRPr lang="en-CA" dirty="0"/>
          </a:p>
        </p:txBody>
      </p:sp>
      <p:sp>
        <p:nvSpPr>
          <p:cNvPr id="4" name="Text Placeholder 3">
            <a:extLst>
              <a:ext uri="{FF2B5EF4-FFF2-40B4-BE49-F238E27FC236}">
                <a16:creationId xmlns:a16="http://schemas.microsoft.com/office/drawing/2014/main" id="{7AA1997E-5D9E-E00F-E162-7DBBB08A273C}"/>
              </a:ext>
            </a:extLst>
          </p:cNvPr>
          <p:cNvSpPr>
            <a:spLocks noGrp="1"/>
          </p:cNvSpPr>
          <p:nvPr>
            <p:ph type="body" idx="11"/>
          </p:nvPr>
        </p:nvSpPr>
        <p:spPr/>
        <p:txBody>
          <a:bodyPr/>
          <a:lstStyle/>
          <a:p>
            <a:endParaRPr lang="en-CA"/>
          </a:p>
        </p:txBody>
      </p:sp>
      <p:sp>
        <p:nvSpPr>
          <p:cNvPr id="5" name="Text Placeholder 4">
            <a:extLst>
              <a:ext uri="{FF2B5EF4-FFF2-40B4-BE49-F238E27FC236}">
                <a16:creationId xmlns:a16="http://schemas.microsoft.com/office/drawing/2014/main" id="{83A43448-8437-03B1-2810-98A922EC4A5B}"/>
              </a:ext>
            </a:extLst>
          </p:cNvPr>
          <p:cNvSpPr>
            <a:spLocks noGrp="1"/>
          </p:cNvSpPr>
          <p:nvPr>
            <p:ph type="body" idx="12"/>
          </p:nvPr>
        </p:nvSpPr>
        <p:spPr/>
        <p:txBody>
          <a:bodyPr/>
          <a:lstStyle/>
          <a:p>
            <a:endParaRPr lang="en-CA"/>
          </a:p>
        </p:txBody>
      </p:sp>
    </p:spTree>
    <p:extLst>
      <p:ext uri="{BB962C8B-B14F-4D97-AF65-F5344CB8AC3E}">
        <p14:creationId xmlns:p14="http://schemas.microsoft.com/office/powerpoint/2010/main" val="2548436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34C240-200E-6389-5A38-2D9AB3983F9A}"/>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PRODUCTION TRUTHS</a:t>
            </a:r>
          </a:p>
        </p:txBody>
      </p:sp>
      <p:sp>
        <p:nvSpPr>
          <p:cNvPr id="3" name="Title 2">
            <a:extLst>
              <a:ext uri="{FF2B5EF4-FFF2-40B4-BE49-F238E27FC236}">
                <a16:creationId xmlns:a16="http://schemas.microsoft.com/office/drawing/2014/main" id="{EC305177-6C95-3E7E-CEC1-314F546643B6}"/>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a:solidFill>
                  <a:srgbClr val="122038"/>
                </a:solidFill>
                <a:latin typeface="Aptos" panose="020B0004020202020204" pitchFamily="34" charset="0"/>
              </a:rPr>
              <a:t>Memory is probabilistic data, not automatic truth</a:t>
            </a:r>
            <a:endParaRPr lang="en-CA" sz="250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1C27FA56-B2BA-CD43-18B1-272A97C70515}"/>
              </a:ext>
            </a:extLst>
          </p:cNvPr>
          <p:cNvSpPr txBox="1">
            <a:spLocks noGrp="1"/>
          </p:cNvSpPr>
          <p:nvPr>
            <p:ph type="body" idx="11"/>
          </p:nvPr>
        </p:nvSpPr>
        <p:spPr>
          <a:xfrm>
            <a:off x="566928" y="1091184"/>
            <a:ext cx="11045952" cy="320040"/>
          </a:xfrm>
          <a:prstGeom prst="rect">
            <a:avLst/>
          </a:prstGeom>
          <a:noFill/>
        </p:spPr>
        <p:txBody>
          <a:bodyPr vert="horz" lIns="0" tIns="0" rIns="0" bIns="0" rtlCol="0">
            <a:spAutoFit/>
          </a:bodyPr>
          <a:lstStyle/>
          <a:p>
            <a:r>
              <a:rPr lang="en-US" sz="1500" dirty="0">
                <a:solidFill>
                  <a:srgbClr val="6C6C6C"/>
                </a:solidFill>
                <a:latin typeface="Aptos" panose="020B0004020202020204" pitchFamily="34" charset="0"/>
              </a:rPr>
              <a:t>Partitioning is not authorization. Change feed is at least once. TTL does not cascade to derived artifacts. Summaries and facts require evaluation, provenance, and explicit erasure.</a:t>
            </a:r>
            <a:endParaRPr lang="en-CA" sz="1500" dirty="0">
              <a:solidFill>
                <a:srgbClr val="6C6C6C"/>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96E96744-54CD-0A9A-85F5-F06DD9D920F4}"/>
              </a:ext>
            </a:extLst>
          </p:cNvPr>
          <p:cNvSpPr/>
          <p:nvPr/>
        </p:nvSpPr>
        <p:spPr>
          <a:xfrm>
            <a:off x="685800" y="2768600"/>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8CD7D277-B95A-C12C-4909-A2484019E5AD}"/>
              </a:ext>
            </a:extLst>
          </p:cNvPr>
          <p:cNvSpPr txBox="1"/>
          <p:nvPr/>
        </p:nvSpPr>
        <p:spPr>
          <a:xfrm>
            <a:off x="914400" y="3939032"/>
            <a:ext cx="2108200" cy="553998"/>
          </a:xfrm>
          <a:prstGeom prst="rect">
            <a:avLst/>
          </a:prstGeom>
          <a:noFill/>
        </p:spPr>
        <p:txBody>
          <a:bodyPr vert="horz" wrap="square" lIns="0" tIns="0" rIns="0" bIns="0" rtlCol="0">
            <a:spAutoFit/>
          </a:bodyPr>
          <a:lstStyle/>
          <a:p>
            <a:pPr algn="l"/>
            <a:r>
              <a:rPr lang="en-CA" sz="1800" b="1">
                <a:solidFill>
                  <a:srgbClr val="122038"/>
                </a:solidFill>
                <a:latin typeface="Aptos SemiBold"/>
              </a:rPr>
              <a:t>…idempotent workers</a:t>
            </a:r>
          </a:p>
        </p:txBody>
      </p:sp>
      <p:sp>
        <p:nvSpPr>
          <p:cNvPr id="7" name="Rectangle: Rounded Corners 6">
            <a:extLst>
              <a:ext uri="{FF2B5EF4-FFF2-40B4-BE49-F238E27FC236}">
                <a16:creationId xmlns:a16="http://schemas.microsoft.com/office/drawing/2014/main" id="{BF10F5CE-8DDF-5D31-94B7-25CCA4135A0B}"/>
              </a:ext>
            </a:extLst>
          </p:cNvPr>
          <p:cNvSpPr/>
          <p:nvPr/>
        </p:nvSpPr>
        <p:spPr>
          <a:xfrm>
            <a:off x="3429000" y="2768600"/>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76E23417-BAAD-4D3E-BA87-9BF5D036B9AD}"/>
              </a:ext>
            </a:extLst>
          </p:cNvPr>
          <p:cNvSpPr txBox="1"/>
          <p:nvPr/>
        </p:nvSpPr>
        <p:spPr>
          <a:xfrm>
            <a:off x="3657600" y="3939032"/>
            <a:ext cx="2108200" cy="553998"/>
          </a:xfrm>
          <a:prstGeom prst="rect">
            <a:avLst/>
          </a:prstGeom>
          <a:noFill/>
        </p:spPr>
        <p:txBody>
          <a:bodyPr vert="horz" wrap="square" lIns="0" tIns="0" rIns="0" bIns="0" rtlCol="0">
            <a:spAutoFit/>
          </a:bodyPr>
          <a:lstStyle/>
          <a:p>
            <a:pPr algn="l"/>
            <a:r>
              <a:rPr lang="en-CA" sz="1800" b="1">
                <a:solidFill>
                  <a:srgbClr val="122038"/>
                </a:solidFill>
                <a:latin typeface="Aptos SemiBold"/>
              </a:rPr>
              <a:t>…source + confidence</a:t>
            </a:r>
          </a:p>
        </p:txBody>
      </p:sp>
      <p:sp>
        <p:nvSpPr>
          <p:cNvPr id="9" name="Rectangle: Rounded Corners 8">
            <a:extLst>
              <a:ext uri="{FF2B5EF4-FFF2-40B4-BE49-F238E27FC236}">
                <a16:creationId xmlns:a16="http://schemas.microsoft.com/office/drawing/2014/main" id="{C796D032-1DFC-CE06-7406-21A438D06ACF}"/>
              </a:ext>
            </a:extLst>
          </p:cNvPr>
          <p:cNvSpPr/>
          <p:nvPr/>
        </p:nvSpPr>
        <p:spPr>
          <a:xfrm>
            <a:off x="6172200" y="2768600"/>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73C8493B-684B-6B74-A809-D2344B765047}"/>
              </a:ext>
            </a:extLst>
          </p:cNvPr>
          <p:cNvSpPr txBox="1"/>
          <p:nvPr/>
        </p:nvSpPr>
        <p:spPr>
          <a:xfrm>
            <a:off x="6400800" y="3939032"/>
            <a:ext cx="2108200" cy="553998"/>
          </a:xfrm>
          <a:prstGeom prst="rect">
            <a:avLst/>
          </a:prstGeom>
          <a:noFill/>
        </p:spPr>
        <p:txBody>
          <a:bodyPr vert="horz" wrap="square" lIns="0" tIns="0" rIns="0" bIns="0" rtlCol="0">
            <a:spAutoFit/>
          </a:bodyPr>
          <a:lstStyle/>
          <a:p>
            <a:pPr algn="l"/>
            <a:r>
              <a:rPr lang="en-CA" sz="1800" b="1">
                <a:solidFill>
                  <a:srgbClr val="122038"/>
                </a:solidFill>
                <a:latin typeface="Aptos SemiBold"/>
              </a:rPr>
              <a:t>…not system instructions</a:t>
            </a:r>
          </a:p>
        </p:txBody>
      </p:sp>
      <p:sp>
        <p:nvSpPr>
          <p:cNvPr id="11" name="Rectangle: Rounded Corners 10">
            <a:extLst>
              <a:ext uri="{FF2B5EF4-FFF2-40B4-BE49-F238E27FC236}">
                <a16:creationId xmlns:a16="http://schemas.microsoft.com/office/drawing/2014/main" id="{0E4EEA43-A6E2-F35C-D3B3-152034928112}"/>
              </a:ext>
            </a:extLst>
          </p:cNvPr>
          <p:cNvSpPr/>
          <p:nvPr/>
        </p:nvSpPr>
        <p:spPr>
          <a:xfrm>
            <a:off x="8915400" y="2768600"/>
            <a:ext cx="2565400" cy="2387600"/>
          </a:xfrm>
          <a:prstGeom prst="roundRect">
            <a:avLst/>
          </a:prstGeom>
          <a:solidFill>
            <a:srgbClr val="F1F3F6"/>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5EB332A-0FB1-0B3A-A7BC-D111A2BFFA55}"/>
              </a:ext>
            </a:extLst>
          </p:cNvPr>
          <p:cNvSpPr txBox="1"/>
          <p:nvPr/>
        </p:nvSpPr>
        <p:spPr>
          <a:xfrm>
            <a:off x="9144000" y="3939032"/>
            <a:ext cx="2108200" cy="276999"/>
          </a:xfrm>
          <a:prstGeom prst="rect">
            <a:avLst/>
          </a:prstGeom>
          <a:noFill/>
        </p:spPr>
        <p:txBody>
          <a:bodyPr vert="horz" wrap="square" lIns="0" tIns="0" rIns="0" bIns="0" rtlCol="0">
            <a:spAutoFit/>
          </a:bodyPr>
          <a:lstStyle/>
          <a:p>
            <a:pPr algn="l"/>
            <a:r>
              <a:rPr lang="en-CA" sz="1800" b="1">
                <a:solidFill>
                  <a:srgbClr val="122038"/>
                </a:solidFill>
                <a:latin typeface="Aptos SemiBold"/>
              </a:rPr>
              <a:t>…complete lifecycle</a:t>
            </a:r>
          </a:p>
        </p:txBody>
      </p:sp>
      <p:sp>
        <p:nvSpPr>
          <p:cNvPr id="13" name="Card 1 Number"/>
          <p:cNvSpPr/>
          <p:nvPr/>
        </p:nvSpPr>
        <p:spPr>
          <a:xfrm>
            <a:off x="914400" y="3015488"/>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1</a:t>
            </a:r>
          </a:p>
        </p:txBody>
      </p:sp>
      <p:sp>
        <p:nvSpPr>
          <p:cNvPr id="14" name="Card 1 Title"/>
          <p:cNvSpPr txBox="1"/>
          <p:nvPr/>
        </p:nvSpPr>
        <p:spPr>
          <a:xfrm>
            <a:off x="14447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REPLAY-SAFE</a:t>
            </a:r>
          </a:p>
        </p:txBody>
      </p:sp>
      <p:sp>
        <p:nvSpPr>
          <p:cNvPr id="15" name="Card 2 Number"/>
          <p:cNvSpPr/>
          <p:nvPr/>
        </p:nvSpPr>
        <p:spPr>
          <a:xfrm>
            <a:off x="3657600" y="3015488"/>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16" name="Card 2 Title"/>
          <p:cNvSpPr txBox="1"/>
          <p:nvPr/>
        </p:nvSpPr>
        <p:spPr>
          <a:xfrm>
            <a:off x="41879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ATTRIBUTABLE</a:t>
            </a:r>
          </a:p>
        </p:txBody>
      </p:sp>
      <p:sp>
        <p:nvSpPr>
          <p:cNvPr id="17" name="Card 3 Number"/>
          <p:cNvSpPr/>
          <p:nvPr/>
        </p:nvSpPr>
        <p:spPr>
          <a:xfrm>
            <a:off x="6400800" y="3015488"/>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3</a:t>
            </a:r>
          </a:p>
        </p:txBody>
      </p:sp>
      <p:sp>
        <p:nvSpPr>
          <p:cNvPr id="18" name="Card 3 Title"/>
          <p:cNvSpPr txBox="1"/>
          <p:nvPr/>
        </p:nvSpPr>
        <p:spPr>
          <a:xfrm>
            <a:off x="69311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UNTRUSTED</a:t>
            </a:r>
          </a:p>
        </p:txBody>
      </p:sp>
      <p:sp>
        <p:nvSpPr>
          <p:cNvPr id="19" name="Card 4 Number"/>
          <p:cNvSpPr/>
          <p:nvPr/>
        </p:nvSpPr>
        <p:spPr>
          <a:xfrm>
            <a:off x="9144000" y="3015488"/>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20" name="Card 4 Title"/>
          <p:cNvSpPr txBox="1"/>
          <p:nvPr/>
        </p:nvSpPr>
        <p:spPr>
          <a:xfrm>
            <a:off x="96743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ERASABLE</a:t>
            </a:r>
          </a:p>
        </p:txBody>
      </p:sp>
    </p:spTree>
    <p:extLst>
      <p:ext uri="{BB962C8B-B14F-4D97-AF65-F5344CB8AC3E}">
        <p14:creationId xmlns:p14="http://schemas.microsoft.com/office/powerpoint/2010/main" val="1116463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F7A92B-DF78-3241-BB28-0DC3D292474E}"/>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AGENT MEMORY TOOLKIT</a:t>
            </a:r>
          </a:p>
        </p:txBody>
      </p:sp>
      <p:sp>
        <p:nvSpPr>
          <p:cNvPr id="3" name="Title 2">
            <a:extLst>
              <a:ext uri="{FF2B5EF4-FFF2-40B4-BE49-F238E27FC236}">
                <a16:creationId xmlns:a16="http://schemas.microsoft.com/office/drawing/2014/main" id="{D02A41BF-C3B1-4C31-C0C8-6D6A53E31A50}"/>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a:solidFill>
                  <a:srgbClr val="122038"/>
                </a:solidFill>
                <a:latin typeface="Aptos" panose="020B0004020202020204" pitchFamily="34" charset="0"/>
              </a:rPr>
              <a:t>Use the toolkit to learn and accelerate; use the architecture to decide</a:t>
            </a:r>
            <a:endParaRPr lang="en-CA" sz="250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B1B194DC-C6E5-AB74-6E09-E2454D5B8968}"/>
              </a:ext>
            </a:extLst>
          </p:cNvPr>
          <p:cNvSpPr txBox="1">
            <a:spLocks noGrp="1"/>
          </p:cNvSpPr>
          <p:nvPr>
            <p:ph type="body" idx="11"/>
          </p:nvPr>
        </p:nvSpPr>
        <p:spPr>
          <a:xfrm>
            <a:off x="566928" y="1316736"/>
            <a:ext cx="11045952" cy="320040"/>
          </a:xfrm>
          <a:prstGeom prst="rect">
            <a:avLst/>
          </a:prstGeom>
          <a:noFill/>
        </p:spPr>
        <p:txBody>
          <a:bodyPr vert="horz" lIns="0" tIns="0" rIns="0" bIns="0" rtlCol="0">
            <a:spAutoFit/>
          </a:bodyPr>
          <a:lstStyle/>
          <a:p>
            <a:r>
              <a:rPr lang="en-US" sz="1500">
                <a:solidFill>
                  <a:srgbClr val="6C6C6C"/>
                </a:solidFill>
                <a:latin typeface="Aptos" panose="020B0004020202020204" pitchFamily="34" charset="0"/>
              </a:rPr>
              <a:t>The Python toolkit demonstrates turns, derived memories, retrieval, Foundry models, change feed, and Durable Functions. It remains public preview with no SLA and evolving APIs.</a:t>
            </a:r>
            <a:endParaRPr lang="en-CA" sz="1500">
              <a:solidFill>
                <a:srgbClr val="6C6C6C"/>
              </a:solidFill>
              <a:latin typeface="Aptos" panose="020B0004020202020204" pitchFamily="34" charset="0"/>
            </a:endParaRPr>
          </a:p>
        </p:txBody>
      </p:sp>
      <p:sp>
        <p:nvSpPr>
          <p:cNvPr id="5" name="Rectangle: Rounded Corners 4">
            <a:extLst>
              <a:ext uri="{FF2B5EF4-FFF2-40B4-BE49-F238E27FC236}">
                <a16:creationId xmlns:a16="http://schemas.microsoft.com/office/drawing/2014/main" id="{D0D1DE87-7B54-427B-9597-7C333A30A523}"/>
              </a:ext>
            </a:extLst>
          </p:cNvPr>
          <p:cNvSpPr/>
          <p:nvPr/>
        </p:nvSpPr>
        <p:spPr>
          <a:xfrm>
            <a:off x="685800" y="2768600"/>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FE81AF5B-75E5-3CD1-43AF-5CA6DC5C731E}"/>
              </a:ext>
            </a:extLst>
          </p:cNvPr>
          <p:cNvSpPr txBox="1"/>
          <p:nvPr/>
        </p:nvSpPr>
        <p:spPr>
          <a:xfrm>
            <a:off x="914400" y="3939032"/>
            <a:ext cx="2108200" cy="246221"/>
          </a:xfrm>
          <a:prstGeom prst="rect">
            <a:avLst/>
          </a:prstGeom>
          <a:noFill/>
        </p:spPr>
        <p:txBody>
          <a:bodyPr vert="horz" wrap="square" lIns="0" tIns="0" rIns="0" bIns="0" rtlCol="0">
            <a:spAutoFit/>
          </a:bodyPr>
          <a:lstStyle/>
          <a:p>
            <a:pPr algn="l"/>
            <a:r>
              <a:rPr lang="en-CA" sz="1600" b="1">
                <a:solidFill>
                  <a:srgbClr val="122038"/>
                </a:solidFill>
                <a:latin typeface="Aptos SemiBold"/>
              </a:rPr>
              <a:t>…implementation</a:t>
            </a:r>
          </a:p>
        </p:txBody>
      </p:sp>
      <p:sp>
        <p:nvSpPr>
          <p:cNvPr id="7" name="Rectangle: Rounded Corners 6">
            <a:extLst>
              <a:ext uri="{FF2B5EF4-FFF2-40B4-BE49-F238E27FC236}">
                <a16:creationId xmlns:a16="http://schemas.microsoft.com/office/drawing/2014/main" id="{8219FEEB-6719-31F1-9442-C92D75550CA6}"/>
              </a:ext>
            </a:extLst>
          </p:cNvPr>
          <p:cNvSpPr/>
          <p:nvPr/>
        </p:nvSpPr>
        <p:spPr>
          <a:xfrm>
            <a:off x="3429000" y="2768600"/>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5FAF95A0-B00E-986F-467F-BAA34F37CC27}"/>
              </a:ext>
            </a:extLst>
          </p:cNvPr>
          <p:cNvSpPr txBox="1"/>
          <p:nvPr/>
        </p:nvSpPr>
        <p:spPr>
          <a:xfrm>
            <a:off x="3657600" y="3939032"/>
            <a:ext cx="2108200" cy="276999"/>
          </a:xfrm>
          <a:prstGeom prst="rect">
            <a:avLst/>
          </a:prstGeom>
          <a:noFill/>
        </p:spPr>
        <p:txBody>
          <a:bodyPr vert="horz" wrap="square" lIns="0" tIns="0" rIns="0" bIns="0" rtlCol="0">
            <a:spAutoFit/>
          </a:bodyPr>
          <a:lstStyle/>
          <a:p>
            <a:pPr algn="l"/>
            <a:r>
              <a:rPr lang="en-CA" sz="1800" b="1">
                <a:solidFill>
                  <a:srgbClr val="122038"/>
                </a:solidFill>
                <a:latin typeface="Aptos SemiBold"/>
              </a:rPr>
              <a:t>…for prototypes</a:t>
            </a:r>
          </a:p>
        </p:txBody>
      </p:sp>
      <p:sp>
        <p:nvSpPr>
          <p:cNvPr id="9" name="Rectangle: Rounded Corners 8">
            <a:extLst>
              <a:ext uri="{FF2B5EF4-FFF2-40B4-BE49-F238E27FC236}">
                <a16:creationId xmlns:a16="http://schemas.microsoft.com/office/drawing/2014/main" id="{A49A4FCD-BEB4-9911-5278-10A113AAE267}"/>
              </a:ext>
            </a:extLst>
          </p:cNvPr>
          <p:cNvSpPr/>
          <p:nvPr/>
        </p:nvSpPr>
        <p:spPr>
          <a:xfrm>
            <a:off x="6172200" y="2768600"/>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1F83D9B5-9183-A6D7-9499-3D51DA506B60}"/>
              </a:ext>
            </a:extLst>
          </p:cNvPr>
          <p:cNvSpPr txBox="1"/>
          <p:nvPr/>
        </p:nvSpPr>
        <p:spPr>
          <a:xfrm>
            <a:off x="6400800" y="3939032"/>
            <a:ext cx="2108200" cy="553998"/>
          </a:xfrm>
          <a:prstGeom prst="rect">
            <a:avLst/>
          </a:prstGeom>
          <a:noFill/>
        </p:spPr>
        <p:txBody>
          <a:bodyPr vert="horz" wrap="square" lIns="0" tIns="0" rIns="0" bIns="0" rtlCol="0">
            <a:spAutoFit/>
          </a:bodyPr>
          <a:lstStyle/>
          <a:p>
            <a:pPr algn="l"/>
            <a:r>
              <a:rPr lang="en-CA" sz="1800" b="1">
                <a:solidFill>
                  <a:srgbClr val="122038"/>
                </a:solidFill>
                <a:latin typeface="Aptos SemiBold"/>
              </a:rPr>
              <a:t>…not a managed SLA</a:t>
            </a:r>
          </a:p>
        </p:txBody>
      </p:sp>
      <p:sp>
        <p:nvSpPr>
          <p:cNvPr id="11" name="Rectangle: Rounded Corners 10">
            <a:extLst>
              <a:ext uri="{FF2B5EF4-FFF2-40B4-BE49-F238E27FC236}">
                <a16:creationId xmlns:a16="http://schemas.microsoft.com/office/drawing/2014/main" id="{D2EA373E-CDEC-4323-6814-18BBAFF7BD4E}"/>
              </a:ext>
            </a:extLst>
          </p:cNvPr>
          <p:cNvSpPr/>
          <p:nvPr/>
        </p:nvSpPr>
        <p:spPr>
          <a:xfrm>
            <a:off x="8915400" y="2768600"/>
            <a:ext cx="2565400" cy="2387600"/>
          </a:xfrm>
          <a:prstGeom prst="roundRect">
            <a:avLst/>
          </a:prstGeom>
          <a:solidFill>
            <a:srgbClr val="F1F3F6"/>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9D337FAE-22F9-8836-3AF0-42AF9A30DCA6}"/>
              </a:ext>
            </a:extLst>
          </p:cNvPr>
          <p:cNvSpPr txBox="1"/>
          <p:nvPr/>
        </p:nvSpPr>
        <p:spPr>
          <a:xfrm>
            <a:off x="9144000" y="3939032"/>
            <a:ext cx="2108200" cy="553998"/>
          </a:xfrm>
          <a:prstGeom prst="rect">
            <a:avLst/>
          </a:prstGeom>
          <a:noFill/>
        </p:spPr>
        <p:txBody>
          <a:bodyPr vert="horz" wrap="square" lIns="0" tIns="0" rIns="0" bIns="0" rtlCol="0">
            <a:spAutoFit/>
          </a:bodyPr>
          <a:lstStyle/>
          <a:p>
            <a:pPr algn="l"/>
            <a:r>
              <a:rPr lang="en-CA" sz="1800" b="1">
                <a:solidFill>
                  <a:srgbClr val="122038"/>
                </a:solidFill>
                <a:latin typeface="Aptos SemiBold"/>
              </a:rPr>
              <a:t>…security + governance</a:t>
            </a:r>
          </a:p>
        </p:txBody>
      </p:sp>
      <p:sp>
        <p:nvSpPr>
          <p:cNvPr id="13" name="Card 1 Number"/>
          <p:cNvSpPr/>
          <p:nvPr/>
        </p:nvSpPr>
        <p:spPr>
          <a:xfrm>
            <a:off x="914400" y="3015488"/>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1</a:t>
            </a:r>
          </a:p>
        </p:txBody>
      </p:sp>
      <p:sp>
        <p:nvSpPr>
          <p:cNvPr id="14" name="Card 1 Title"/>
          <p:cNvSpPr txBox="1"/>
          <p:nvPr/>
        </p:nvSpPr>
        <p:spPr>
          <a:xfrm>
            <a:off x="14447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REFERENCE</a:t>
            </a:r>
          </a:p>
        </p:txBody>
      </p:sp>
      <p:sp>
        <p:nvSpPr>
          <p:cNvPr id="15" name="Card 2 Number"/>
          <p:cNvSpPr/>
          <p:nvPr/>
        </p:nvSpPr>
        <p:spPr>
          <a:xfrm>
            <a:off x="3657600" y="3015488"/>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16" name="Card 2 Title"/>
          <p:cNvSpPr txBox="1"/>
          <p:nvPr/>
        </p:nvSpPr>
        <p:spPr>
          <a:xfrm>
            <a:off x="41879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ACCELERATOR</a:t>
            </a:r>
          </a:p>
        </p:txBody>
      </p:sp>
      <p:sp>
        <p:nvSpPr>
          <p:cNvPr id="17" name="Card 3 Number"/>
          <p:cNvSpPr/>
          <p:nvPr/>
        </p:nvSpPr>
        <p:spPr>
          <a:xfrm>
            <a:off x="6400800" y="3015488"/>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3</a:t>
            </a:r>
          </a:p>
        </p:txBody>
      </p:sp>
      <p:sp>
        <p:nvSpPr>
          <p:cNvPr id="18" name="Card 3 Title"/>
          <p:cNvSpPr txBox="1"/>
          <p:nvPr/>
        </p:nvSpPr>
        <p:spPr>
          <a:xfrm>
            <a:off x="69311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PREVIEW</a:t>
            </a:r>
          </a:p>
        </p:txBody>
      </p:sp>
      <p:sp>
        <p:nvSpPr>
          <p:cNvPr id="19" name="Card 4 Number"/>
          <p:cNvSpPr/>
          <p:nvPr/>
        </p:nvSpPr>
        <p:spPr>
          <a:xfrm>
            <a:off x="9144000" y="3015488"/>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20" name="Card 4 Title"/>
          <p:cNvSpPr txBox="1"/>
          <p:nvPr/>
        </p:nvSpPr>
        <p:spPr>
          <a:xfrm>
            <a:off x="9674352" y="2997200"/>
            <a:ext cx="1577848" cy="530352"/>
          </a:xfrm>
          <a:prstGeom prst="rect">
            <a:avLst/>
          </a:prstGeom>
          <a:noFill/>
        </p:spPr>
        <p:txBody>
          <a:bodyPr wrap="square" lIns="0" tIns="0" rIns="0" bIns="0" anchor="ctr">
            <a:spAutoFit/>
          </a:bodyPr>
          <a:lstStyle/>
          <a:p>
            <a:pPr algn="l"/>
            <a:r>
              <a:rPr sz="1300" b="1">
                <a:solidFill>
                  <a:srgbClr val="122038"/>
                </a:solidFill>
                <a:latin typeface="Aptos SemiBold"/>
              </a:rPr>
              <a:t>APP RESPONSIBILITY</a:t>
            </a:r>
          </a:p>
        </p:txBody>
      </p:sp>
    </p:spTree>
    <p:extLst>
      <p:ext uri="{BB962C8B-B14F-4D97-AF65-F5344CB8AC3E}">
        <p14:creationId xmlns:p14="http://schemas.microsoft.com/office/powerpoint/2010/main" val="3958929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E1B85C-2970-9BEB-0AC8-0C832B7C22D1}"/>
              </a:ext>
            </a:extLst>
          </p:cNvPr>
          <p:cNvSpPr txBox="1">
            <a:spLocks noGrp="1"/>
          </p:cNvSpPr>
          <p:nvPr>
            <p:ph type="body" idx="10"/>
          </p:nvPr>
        </p:nvSpPr>
        <p:spPr>
          <a:xfrm>
            <a:off x="566928" y="301752"/>
            <a:ext cx="5586984" cy="164592"/>
          </a:xfrm>
          <a:prstGeom prst="rect">
            <a:avLst/>
          </a:prstGeom>
          <a:noFill/>
        </p:spPr>
        <p:txBody>
          <a:bodyPr vert="horz" lIns="0" tIns="0" rIns="0" bIns="0" rtlCol="0">
            <a:spAutoFit/>
          </a:bodyPr>
          <a:lstStyle/>
          <a:p>
            <a:r>
              <a:rPr lang="en-CA" sz="900" b="1">
                <a:solidFill>
                  <a:srgbClr val="0099D4"/>
                </a:solidFill>
                <a:latin typeface="Aptos" panose="020B0004020202020204" pitchFamily="34" charset="0"/>
              </a:rPr>
              <a:t>BLUEPRINT CHECKLIST</a:t>
            </a:r>
          </a:p>
        </p:txBody>
      </p:sp>
      <p:sp>
        <p:nvSpPr>
          <p:cNvPr id="3" name="Title 2">
            <a:extLst>
              <a:ext uri="{FF2B5EF4-FFF2-40B4-BE49-F238E27FC236}">
                <a16:creationId xmlns:a16="http://schemas.microsoft.com/office/drawing/2014/main" id="{BABAD1B1-1968-9E91-CCFD-03BE72054BFA}"/>
              </a:ext>
            </a:extLst>
          </p:cNvPr>
          <p:cNvSpPr txBox="1">
            <a:spLocks noGrp="1"/>
          </p:cNvSpPr>
          <p:nvPr>
            <p:ph type="title"/>
          </p:nvPr>
        </p:nvSpPr>
        <p:spPr>
          <a:xfrm>
            <a:off x="548640" y="566928"/>
            <a:ext cx="11045952" cy="502920"/>
          </a:xfrm>
          <a:prstGeom prst="rect">
            <a:avLst/>
          </a:prstGeom>
          <a:noFill/>
        </p:spPr>
        <p:txBody>
          <a:bodyPr vert="horz" lIns="0" tIns="0" rIns="0" bIns="0" rtlCol="0">
            <a:spAutoFit/>
          </a:bodyPr>
          <a:lstStyle/>
          <a:p>
            <a:r>
              <a:rPr lang="en-US" sz="2500">
                <a:solidFill>
                  <a:srgbClr val="122038"/>
                </a:solidFill>
                <a:latin typeface="Aptos" panose="020B0004020202020204" pitchFamily="34" charset="0"/>
              </a:rPr>
              <a:t>A memory system is complete only when it can forget safely</a:t>
            </a:r>
            <a:endParaRPr lang="en-CA" sz="2500">
              <a:solidFill>
                <a:srgbClr val="122038"/>
              </a:solidFill>
              <a:latin typeface="Aptos" panose="020B0004020202020204" pitchFamily="34" charset="0"/>
            </a:endParaRPr>
          </a:p>
        </p:txBody>
      </p:sp>
      <p:sp>
        <p:nvSpPr>
          <p:cNvPr id="4" name="Text Placeholder 3">
            <a:extLst>
              <a:ext uri="{FF2B5EF4-FFF2-40B4-BE49-F238E27FC236}">
                <a16:creationId xmlns:a16="http://schemas.microsoft.com/office/drawing/2014/main" id="{49C95D45-F0ED-3232-4B79-B528B5CD2423}"/>
              </a:ext>
            </a:extLst>
          </p:cNvPr>
          <p:cNvSpPr txBox="1">
            <a:spLocks noGrp="1"/>
          </p:cNvSpPr>
          <p:nvPr>
            <p:ph type="body" idx="11"/>
          </p:nvPr>
        </p:nvSpPr>
        <p:spPr>
          <a:xfrm>
            <a:off x="548640" y="1086796"/>
            <a:ext cx="11045952" cy="320040"/>
          </a:xfrm>
          <a:prstGeom prst="rect">
            <a:avLst/>
          </a:prstGeom>
          <a:noFill/>
        </p:spPr>
        <p:txBody>
          <a:bodyPr vert="horz" lIns="0" tIns="0" rIns="0" bIns="0" rtlCol="0">
            <a:spAutoFit/>
          </a:bodyPr>
          <a:lstStyle/>
          <a:p>
            <a:r>
              <a:rPr lang="en-US" sz="1500" dirty="0">
                <a:solidFill>
                  <a:srgbClr val="6C6C6C"/>
                </a:solidFill>
                <a:latin typeface="Aptos" panose="020B0004020202020204" pitchFamily="34" charset="0"/>
              </a:rPr>
              <a:t>Design the capture unit, retrieval scope, partition key, indexes, derivation pipeline, provenance, confidence thresholds, TTL, supersession, authorization, evaluation, and erasure together.</a:t>
            </a:r>
            <a:endParaRPr lang="en-CA" sz="1500" dirty="0">
              <a:solidFill>
                <a:srgbClr val="6C6C6C"/>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48D0FD6-A131-5F4E-1486-59602BAE08C8}"/>
              </a:ext>
            </a:extLst>
          </p:cNvPr>
          <p:cNvSpPr/>
          <p:nvPr/>
        </p:nvSpPr>
        <p:spPr>
          <a:xfrm>
            <a:off x="685800" y="2768600"/>
            <a:ext cx="2565400" cy="2387600"/>
          </a:xfrm>
          <a:prstGeom prst="roundRect">
            <a:avLst/>
          </a:prstGeom>
          <a:solidFill>
            <a:srgbClr val="E8F1FF"/>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9E6B8226-81C8-A107-2976-23247F9D774F}"/>
              </a:ext>
            </a:extLst>
          </p:cNvPr>
          <p:cNvSpPr txBox="1"/>
          <p:nvPr/>
        </p:nvSpPr>
        <p:spPr>
          <a:xfrm>
            <a:off x="9144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…raw experience</a:t>
            </a:r>
          </a:p>
        </p:txBody>
      </p:sp>
      <p:sp>
        <p:nvSpPr>
          <p:cNvPr id="18" name="Rectangle: Rounded Corners 17">
            <a:extLst>
              <a:ext uri="{FF2B5EF4-FFF2-40B4-BE49-F238E27FC236}">
                <a16:creationId xmlns:a16="http://schemas.microsoft.com/office/drawing/2014/main" id="{0F9FCCEB-7A2C-761D-9B5C-6E1CBD28A1D2}"/>
              </a:ext>
            </a:extLst>
          </p:cNvPr>
          <p:cNvSpPr/>
          <p:nvPr/>
        </p:nvSpPr>
        <p:spPr>
          <a:xfrm>
            <a:off x="3429000" y="2768600"/>
            <a:ext cx="2565400" cy="2387600"/>
          </a:xfrm>
          <a:prstGeom prst="roundRect">
            <a:avLst/>
          </a:prstGeom>
          <a:solidFill>
            <a:srgbClr val="EBFBEB"/>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6D0B04FB-95C6-7C12-F16B-3C3E0631A0D3}"/>
              </a:ext>
            </a:extLst>
          </p:cNvPr>
          <p:cNvSpPr txBox="1"/>
          <p:nvPr/>
        </p:nvSpPr>
        <p:spPr>
          <a:xfrm>
            <a:off x="36576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…durable memories</a:t>
            </a:r>
          </a:p>
        </p:txBody>
      </p:sp>
      <p:sp>
        <p:nvSpPr>
          <p:cNvPr id="22" name="Rectangle: Rounded Corners 21">
            <a:extLst>
              <a:ext uri="{FF2B5EF4-FFF2-40B4-BE49-F238E27FC236}">
                <a16:creationId xmlns:a16="http://schemas.microsoft.com/office/drawing/2014/main" id="{10B11C55-4D21-53B5-9800-97E9F965128A}"/>
              </a:ext>
            </a:extLst>
          </p:cNvPr>
          <p:cNvSpPr/>
          <p:nvPr/>
        </p:nvSpPr>
        <p:spPr>
          <a:xfrm>
            <a:off x="6268453" y="2768600"/>
            <a:ext cx="2565400" cy="2387600"/>
          </a:xfrm>
          <a:prstGeom prst="roundRect">
            <a:avLst/>
          </a:prstGeom>
          <a:solidFill>
            <a:srgbClr val="FFEEDD"/>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A12A74A1-7C90-1ED2-2F5D-8EEEDC9B1FE1}"/>
              </a:ext>
            </a:extLst>
          </p:cNvPr>
          <p:cNvSpPr txBox="1"/>
          <p:nvPr/>
        </p:nvSpPr>
        <p:spPr>
          <a:xfrm>
            <a:off x="6400800"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…relevant context</a:t>
            </a:r>
          </a:p>
        </p:txBody>
      </p:sp>
      <p:sp>
        <p:nvSpPr>
          <p:cNvPr id="26" name="Rectangle: Rounded Corners 25">
            <a:extLst>
              <a:ext uri="{FF2B5EF4-FFF2-40B4-BE49-F238E27FC236}">
                <a16:creationId xmlns:a16="http://schemas.microsoft.com/office/drawing/2014/main" id="{2BFA555D-7EDD-0A01-3AF5-E46F8F98A001}"/>
              </a:ext>
            </a:extLst>
          </p:cNvPr>
          <p:cNvSpPr/>
          <p:nvPr/>
        </p:nvSpPr>
        <p:spPr>
          <a:xfrm>
            <a:off x="9107906" y="2768600"/>
            <a:ext cx="2565400" cy="2387600"/>
          </a:xfrm>
          <a:prstGeom prst="roundRect">
            <a:avLst/>
          </a:prstGeom>
          <a:solidFill>
            <a:schemeClr val="bg1">
              <a:lumMod val="85000"/>
            </a:schemeClr>
          </a:solidFill>
          <a:ln w="12700">
            <a:solidFill>
              <a:srgbClr val="E6E6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8" name="TextBox 27">
            <a:extLst>
              <a:ext uri="{FF2B5EF4-FFF2-40B4-BE49-F238E27FC236}">
                <a16:creationId xmlns:a16="http://schemas.microsoft.com/office/drawing/2014/main" id="{07CA4E96-4AF9-95DC-9CA9-DAF2273EBF48}"/>
              </a:ext>
            </a:extLst>
          </p:cNvPr>
          <p:cNvSpPr txBox="1"/>
          <p:nvPr/>
        </p:nvSpPr>
        <p:spPr>
          <a:xfrm>
            <a:off x="9336506" y="3983412"/>
            <a:ext cx="2108200" cy="276999"/>
          </a:xfrm>
          <a:prstGeom prst="rect">
            <a:avLst/>
          </a:prstGeom>
          <a:noFill/>
        </p:spPr>
        <p:txBody>
          <a:bodyPr vert="horz" wrap="square" lIns="0" tIns="0" rIns="0" bIns="0" rtlCol="0" anchor="ctr">
            <a:spAutoFit/>
          </a:bodyPr>
          <a:lstStyle/>
          <a:p>
            <a:pPr algn="l"/>
            <a:r>
              <a:rPr lang="en-CA" sz="1800" b="1" dirty="0">
                <a:solidFill>
                  <a:srgbClr val="122038"/>
                </a:solidFill>
                <a:latin typeface="Aptos SemiBold"/>
              </a:rPr>
              <a:t>…the lifecycle</a:t>
            </a:r>
          </a:p>
        </p:txBody>
      </p:sp>
      <p:sp>
        <p:nvSpPr>
          <p:cNvPr id="30" name="Card 1 Number">
            <a:extLst>
              <a:ext uri="{FF2B5EF4-FFF2-40B4-BE49-F238E27FC236}">
                <a16:creationId xmlns:a16="http://schemas.microsoft.com/office/drawing/2014/main" id="{34E2EB72-62AD-04B2-6436-1AA59355A88F}"/>
              </a:ext>
            </a:extLst>
          </p:cNvPr>
          <p:cNvSpPr/>
          <p:nvPr/>
        </p:nvSpPr>
        <p:spPr>
          <a:xfrm>
            <a:off x="914400" y="3015488"/>
            <a:ext cx="420624" cy="420624"/>
          </a:xfrm>
          <a:prstGeom prst="roundRect">
            <a:avLst/>
          </a:prstGeom>
          <a:solidFill>
            <a:schemeClr val="accent1">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1</a:t>
            </a:r>
          </a:p>
        </p:txBody>
      </p:sp>
      <p:sp>
        <p:nvSpPr>
          <p:cNvPr id="32" name="Card 1 Title">
            <a:extLst>
              <a:ext uri="{FF2B5EF4-FFF2-40B4-BE49-F238E27FC236}">
                <a16:creationId xmlns:a16="http://schemas.microsoft.com/office/drawing/2014/main" id="{8936AF79-737B-9A17-946A-859EC8B809E7}"/>
              </a:ext>
            </a:extLst>
          </p:cNvPr>
          <p:cNvSpPr txBox="1"/>
          <p:nvPr/>
        </p:nvSpPr>
        <p:spPr>
          <a:xfrm>
            <a:off x="14447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CAPTURE</a:t>
            </a:r>
          </a:p>
        </p:txBody>
      </p:sp>
      <p:sp>
        <p:nvSpPr>
          <p:cNvPr id="34" name="Card 2 Number">
            <a:extLst>
              <a:ext uri="{FF2B5EF4-FFF2-40B4-BE49-F238E27FC236}">
                <a16:creationId xmlns:a16="http://schemas.microsoft.com/office/drawing/2014/main" id="{A9AFC4B2-119C-704C-2782-DC1F20449F49}"/>
              </a:ext>
            </a:extLst>
          </p:cNvPr>
          <p:cNvSpPr/>
          <p:nvPr/>
        </p:nvSpPr>
        <p:spPr>
          <a:xfrm>
            <a:off x="3657600" y="3015488"/>
            <a:ext cx="420624" cy="420624"/>
          </a:xfrm>
          <a:prstGeom prst="roundRect">
            <a:avLst/>
          </a:prstGeom>
          <a:solidFill>
            <a:schemeClr val="accent6">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2</a:t>
            </a:r>
          </a:p>
        </p:txBody>
      </p:sp>
      <p:sp>
        <p:nvSpPr>
          <p:cNvPr id="36" name="Card 2 Title">
            <a:extLst>
              <a:ext uri="{FF2B5EF4-FFF2-40B4-BE49-F238E27FC236}">
                <a16:creationId xmlns:a16="http://schemas.microsoft.com/office/drawing/2014/main" id="{2FB1C949-93E9-F94E-1628-75E8178F0D10}"/>
              </a:ext>
            </a:extLst>
          </p:cNvPr>
          <p:cNvSpPr txBox="1"/>
          <p:nvPr/>
        </p:nvSpPr>
        <p:spPr>
          <a:xfrm>
            <a:off x="41879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DISTILL</a:t>
            </a:r>
          </a:p>
        </p:txBody>
      </p:sp>
      <p:sp>
        <p:nvSpPr>
          <p:cNvPr id="38" name="Card 3 Number">
            <a:extLst>
              <a:ext uri="{FF2B5EF4-FFF2-40B4-BE49-F238E27FC236}">
                <a16:creationId xmlns:a16="http://schemas.microsoft.com/office/drawing/2014/main" id="{A558A018-ED13-AA97-B740-56D47F456AE4}"/>
              </a:ext>
            </a:extLst>
          </p:cNvPr>
          <p:cNvSpPr/>
          <p:nvPr/>
        </p:nvSpPr>
        <p:spPr>
          <a:xfrm>
            <a:off x="6400800" y="3015488"/>
            <a:ext cx="420624" cy="420624"/>
          </a:xfrm>
          <a:prstGeom prst="roundRect">
            <a:avLst/>
          </a:prstGeom>
          <a:solidFill>
            <a:schemeClr val="accent4">
              <a:lumMod val="75000"/>
            </a:schemeClr>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dirty="0">
                <a:solidFill>
                  <a:srgbClr val="FFFFFF"/>
                </a:solidFill>
                <a:latin typeface="Aptos SemiBold"/>
              </a:rPr>
              <a:t>3</a:t>
            </a:r>
          </a:p>
        </p:txBody>
      </p:sp>
      <p:sp>
        <p:nvSpPr>
          <p:cNvPr id="40" name="Card 3 Title">
            <a:extLst>
              <a:ext uri="{FF2B5EF4-FFF2-40B4-BE49-F238E27FC236}">
                <a16:creationId xmlns:a16="http://schemas.microsoft.com/office/drawing/2014/main" id="{1EA0F2E9-DF91-710F-9E0C-38DA8808C2AF}"/>
              </a:ext>
            </a:extLst>
          </p:cNvPr>
          <p:cNvSpPr txBox="1"/>
          <p:nvPr/>
        </p:nvSpPr>
        <p:spPr>
          <a:xfrm>
            <a:off x="6931152"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RETRIEVE</a:t>
            </a:r>
          </a:p>
        </p:txBody>
      </p:sp>
      <p:sp>
        <p:nvSpPr>
          <p:cNvPr id="42" name="Card 4 Number">
            <a:extLst>
              <a:ext uri="{FF2B5EF4-FFF2-40B4-BE49-F238E27FC236}">
                <a16:creationId xmlns:a16="http://schemas.microsoft.com/office/drawing/2014/main" id="{2E5D8A14-4B5E-39FF-A836-AB98A24EC503}"/>
              </a:ext>
            </a:extLst>
          </p:cNvPr>
          <p:cNvSpPr/>
          <p:nvPr/>
        </p:nvSpPr>
        <p:spPr>
          <a:xfrm>
            <a:off x="9336506" y="3015488"/>
            <a:ext cx="420624" cy="420624"/>
          </a:xfrm>
          <a:prstGeom prst="round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ptos SemiBold"/>
              </a:rPr>
              <a:t>4</a:t>
            </a:r>
          </a:p>
        </p:txBody>
      </p:sp>
      <p:sp>
        <p:nvSpPr>
          <p:cNvPr id="44" name="Card 4 Title">
            <a:extLst>
              <a:ext uri="{FF2B5EF4-FFF2-40B4-BE49-F238E27FC236}">
                <a16:creationId xmlns:a16="http://schemas.microsoft.com/office/drawing/2014/main" id="{59243B36-035F-1336-32D4-7E8F88AE3E8E}"/>
              </a:ext>
            </a:extLst>
          </p:cNvPr>
          <p:cNvSpPr txBox="1"/>
          <p:nvPr/>
        </p:nvSpPr>
        <p:spPr>
          <a:xfrm>
            <a:off x="9866858" y="3052064"/>
            <a:ext cx="1577848" cy="310896"/>
          </a:xfrm>
          <a:prstGeom prst="rect">
            <a:avLst/>
          </a:prstGeom>
          <a:noFill/>
        </p:spPr>
        <p:txBody>
          <a:bodyPr wrap="square" lIns="0" tIns="0" rIns="0" bIns="0" anchor="ctr">
            <a:spAutoFit/>
          </a:bodyPr>
          <a:lstStyle/>
          <a:p>
            <a:pPr algn="l"/>
            <a:r>
              <a:rPr sz="1300" b="1">
                <a:solidFill>
                  <a:srgbClr val="122038"/>
                </a:solidFill>
                <a:latin typeface="Aptos SemiBold"/>
              </a:rPr>
              <a:t>GOVERN</a:t>
            </a:r>
          </a:p>
        </p:txBody>
      </p:sp>
    </p:spTree>
    <p:extLst>
      <p:ext uri="{BB962C8B-B14F-4D97-AF65-F5344CB8AC3E}">
        <p14:creationId xmlns:p14="http://schemas.microsoft.com/office/powerpoint/2010/main" val="2042008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1F26"/>
        </a:solidFill>
        <a:effectLst/>
      </p:bgPr>
    </p:bg>
    <p:spTree>
      <p:nvGrpSpPr>
        <p:cNvPr id="1" name=""/>
        <p:cNvGrpSpPr/>
        <p:nvPr/>
      </p:nvGrpSpPr>
      <p:grpSpPr>
        <a:xfrm>
          <a:off x="0" y="0"/>
          <a:ext cx="0" cy="0"/>
          <a:chOff x="0" y="0"/>
          <a:chExt cx="0" cy="0"/>
        </a:xfrm>
      </p:grpSpPr>
      <p:sp>
        <p:nvSpPr>
          <p:cNvPr id="2" name="Text 0"/>
          <p:cNvSpPr/>
          <p:nvPr/>
        </p:nvSpPr>
        <p:spPr>
          <a:xfrm>
            <a:off x="822960" y="1536192"/>
            <a:ext cx="7680960" cy="1325880"/>
          </a:xfrm>
          <a:prstGeom prst="rect">
            <a:avLst/>
          </a:prstGeom>
          <a:noFill/>
          <a:ln/>
        </p:spPr>
        <p:txBody>
          <a:bodyPr wrap="square" lIns="0" tIns="0" rIns="0" bIns="0" rtlCol="0" anchor="ctr">
            <a:normAutofit/>
          </a:bodyPr>
          <a:lstStyle/>
          <a:p>
            <a:r>
              <a:rPr lang="en-US" sz="3600" b="1" dirty="0">
                <a:solidFill>
                  <a:srgbClr val="FFFFFF"/>
                </a:solidFill>
                <a:latin typeface="Aptos" panose="020B0004020202020204" pitchFamily="34" charset="0"/>
              </a:rPr>
              <a:t>Build memory around the agent,</a:t>
            </a:r>
          </a:p>
          <a:p>
            <a:r>
              <a:rPr lang="en-US" sz="3600" b="1" dirty="0">
                <a:solidFill>
                  <a:srgbClr val="FFFFFF"/>
                </a:solidFill>
                <a:latin typeface="Aptos" panose="020B0004020202020204" pitchFamily="34" charset="0"/>
              </a:rPr>
              <a:t>not inside the prompt</a:t>
            </a:r>
            <a:endParaRPr lang="en-CA" sz="3600" b="1" dirty="0">
              <a:solidFill>
                <a:srgbClr val="FFFFFF"/>
              </a:solidFill>
              <a:latin typeface="Aptos" panose="020B0004020202020204" pitchFamily="34" charset="0"/>
            </a:endParaRPr>
          </a:p>
        </p:txBody>
      </p:sp>
      <p:sp>
        <p:nvSpPr>
          <p:cNvPr id="18" name="Shape 16"/>
          <p:cNvSpPr/>
          <p:nvPr/>
        </p:nvSpPr>
        <p:spPr>
          <a:xfrm>
            <a:off x="8503920" y="0"/>
            <a:ext cx="3687775" cy="6858000"/>
          </a:xfrm>
          <a:prstGeom prst="rect">
            <a:avLst/>
          </a:prstGeom>
          <a:solidFill>
            <a:srgbClr val="172554"/>
          </a:solidFill>
          <a:ln w="12700">
            <a:solidFill>
              <a:srgbClr val="172554"/>
            </a:solidFill>
            <a:prstDash val="solid"/>
          </a:ln>
        </p:spPr>
        <p:txBody>
          <a:bodyPr/>
          <a:lstStyle/>
          <a:p>
            <a:endParaRPr lang="en-CA"/>
          </a:p>
        </p:txBody>
      </p:sp>
      <p:sp>
        <p:nvSpPr>
          <p:cNvPr id="19" name="Shape 17"/>
          <p:cNvSpPr/>
          <p:nvPr/>
        </p:nvSpPr>
        <p:spPr>
          <a:xfrm>
            <a:off x="660400" y="1170432"/>
            <a:ext cx="64008" cy="2057400"/>
          </a:xfrm>
          <a:prstGeom prst="rect">
            <a:avLst/>
          </a:prstGeom>
          <a:solidFill>
            <a:srgbClr val="0F766E"/>
          </a:solidFill>
          <a:ln w="12700">
            <a:solidFill>
              <a:srgbClr val="0F766E"/>
            </a:solidFill>
            <a:prstDash val="solid"/>
          </a:ln>
        </p:spPr>
        <p:txBody>
          <a:bodyPr/>
          <a:lstStyle/>
          <a:p>
            <a:endParaRPr lang="en-CA"/>
          </a:p>
        </p:txBody>
      </p:sp>
      <p:sp>
        <p:nvSpPr>
          <p:cNvPr id="23" name="Text 21"/>
          <p:cNvSpPr/>
          <p:nvPr/>
        </p:nvSpPr>
        <p:spPr>
          <a:xfrm>
            <a:off x="8906256" y="5989320"/>
            <a:ext cx="2011680" cy="274320"/>
          </a:xfrm>
          <a:prstGeom prst="rect">
            <a:avLst/>
          </a:prstGeom>
          <a:noFill/>
          <a:ln/>
        </p:spPr>
        <p:txBody>
          <a:bodyPr wrap="square" lIns="0" tIns="0" rIns="0" bIns="0" rtlCol="0" anchor="ctr"/>
          <a:lstStyle/>
          <a:p>
            <a:pPr marL="0" indent="0">
              <a:buNone/>
            </a:pPr>
            <a:r>
              <a:rPr lang="en-US" sz="1700" dirty="0">
                <a:solidFill>
                  <a:srgbClr val="93C5FD"/>
                </a:solidFill>
                <a:latin typeface="Segoe UI Semibold" pitchFamily="34" charset="0"/>
                <a:ea typeface="Segoe UI Semibold" pitchFamily="34" charset="-122"/>
                <a:cs typeface="Segoe UI Semibold" pitchFamily="34" charset="-120"/>
              </a:rPr>
              <a:t>Thank you</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3344</TotalTime>
  <Words>11092</Words>
  <Application>Microsoft Office PowerPoint</Application>
  <PresentationFormat>Widescreen</PresentationFormat>
  <Paragraphs>1430</Paragraphs>
  <Slides>23</Slides>
  <Notes>23</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Aptos Light</vt:lpstr>
      <vt:lpstr>Aptos SemiBold</vt:lpstr>
      <vt:lpstr>Arial</vt:lpstr>
      <vt:lpstr>Consolas</vt:lpstr>
      <vt:lpstr>Segoe UI</vt:lpstr>
      <vt:lpstr>Segoe UI Light</vt:lpstr>
      <vt:lpstr>Segoe UI Semibold</vt:lpstr>
      <vt:lpstr>Office Theme</vt:lpstr>
      <vt:lpstr>PowerPoint Presentation</vt:lpstr>
      <vt:lpstr>PowerPoint Presentation</vt:lpstr>
      <vt:lpstr>Agents do not inherently remember</vt:lpstr>
      <vt:lpstr>Agentic memory: beyond RAG</vt:lpstr>
      <vt:lpstr>State and memory have different lifetimes</vt:lpstr>
      <vt:lpstr>Store artifacts with different jobs and lifetimes</vt:lpstr>
      <vt:lpstr>Cosmos DB Refresher</vt:lpstr>
      <vt:lpstr>GenAI data scenarios with Azure Cosmos DB</vt:lpstr>
      <vt:lpstr>Keep the request path fast; move memory transformation out of band</vt:lpstr>
      <vt:lpstr>Scoping your memories: partitioning</vt:lpstr>
      <vt:lpstr>Configuring a full-text index</vt:lpstr>
      <vt:lpstr>Configuring a vector index</vt:lpstr>
      <vt:lpstr>Short-term memory: one turn per document</vt:lpstr>
      <vt:lpstr>Long-term memory: one summary per document</vt:lpstr>
      <vt:lpstr>Recent context and semantic recall</vt:lpstr>
      <vt:lpstr>Full-text and hybrid retrieval</vt:lpstr>
      <vt:lpstr>Tips for summarizing threads</vt:lpstr>
      <vt:lpstr>Deprioritizing older memories</vt:lpstr>
      <vt:lpstr>DEMO</vt:lpstr>
      <vt:lpstr>Memory is probabilistic data, not automatic truth</vt:lpstr>
      <vt:lpstr>Use the toolkit to learn and accelerate; use the architecture to decide</vt:lpstr>
      <vt:lpstr>A memory system is complete only when it can forget safely</vt:lpstr>
      <vt:lpstr>PowerPoint Presentation</vt:lpstr>
    </vt:vector>
  </TitlesOfParts>
  <Company>Conference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SDLC across GitHub and Azure</dc:title>
  <dc:subject>Agentic software delivery across GitHub and Azure</dc:subject>
  <dc:creator>Alex Drenea</dc:creator>
  <cp:lastModifiedBy>Alex Drenea</cp:lastModifiedBy>
  <cp:revision>23</cp:revision>
  <dcterms:created xsi:type="dcterms:W3CDTF">2026-09-13T16:34:11Z</dcterms:created>
  <dcterms:modified xsi:type="dcterms:W3CDTF">2026-09-24T02:30:55Z</dcterms:modified>
</cp:coreProperties>
</file>
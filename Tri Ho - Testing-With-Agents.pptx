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gpHDzUudH8TDpgsd2l/H9BKtAe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874EEE-3C7E-4AF0-8156-FB3C0BBDD827}">
  <a:tblStyle styleId="{97874EEE-3C7E-4AF0-8156-FB3C0BBDD82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First attempt</c:v>
                </c:pt>
              </c:strCache>
            </c:strRef>
          </c:tx>
          <c:spPr>
            <a:solidFill>
              <a:srgbClr val="1A5F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GPT-4.1 Mini</c:v>
                  </c:pt>
                  <c:pt idx="1">
                    <c:v>GPT-4.1</c:v>
                  </c:pt>
                  <c:pt idx="2">
                    <c:v>Claude Sonnet 4.5</c:v>
                  </c:pt>
                  <c:pt idx="3">
                    <c:v>Claude Opus 4.1</c:v>
                  </c:pt>
                  <c:pt idx="4">
                    <c:v>Qwen3 Coder</c:v>
                  </c:pt>
                  <c:pt idx="5">
                    <c:v>Gemini 2.5 Pro</c:v>
                  </c:pt>
                  <c:pt idx="6">
                    <c:v>Gemini 2.5 Flash</c:v>
                  </c:pt>
                </c:lvl>
              </c:multiLvlStrCache>
            </c:multiLvlStrRef>
          </c:cat>
          <c:val>
            <c:numRef>
              <c:f>Sheet1!$B$2:$B$8</c:f>
              <c:numCache>
                <c:formatCode>General</c:formatCode>
                <c:ptCount val="7"/>
                <c:pt idx="0">
                  <c:v>100</c:v>
                </c:pt>
                <c:pt idx="1">
                  <c:v>100</c:v>
                </c:pt>
                <c:pt idx="2">
                  <c:v>100</c:v>
                </c:pt>
                <c:pt idx="3">
                  <c:v>0</c:v>
                </c:pt>
                <c:pt idx="4">
                  <c:v>0</c:v>
                </c:pt>
                <c:pt idx="5">
                  <c:v>0</c:v>
                </c:pt>
                <c:pt idx="6">
                  <c:v>0</c:v>
                </c:pt>
              </c:numCache>
            </c:numRef>
          </c:val>
        </c:ser>
        <c:ser>
          <c:idx val="1"/>
          <c:order val="1"/>
          <c:tx>
            <c:strRef>
              <c:f>Sheet1!$C$1</c:f>
              <c:strCache>
                <c:ptCount val="1"/>
                <c:pt idx="0">
                  <c:v>Final pass</c:v>
                </c:pt>
              </c:strCache>
            </c:strRef>
          </c:tx>
          <c:spPr>
            <a:solidFill>
              <a:srgbClr val="1E8E3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GPT-4.1 Mini</c:v>
                  </c:pt>
                  <c:pt idx="1">
                    <c:v>GPT-4.1</c:v>
                  </c:pt>
                  <c:pt idx="2">
                    <c:v>Claude Sonnet 4.5</c:v>
                  </c:pt>
                  <c:pt idx="3">
                    <c:v>Claude Opus 4.1</c:v>
                  </c:pt>
                  <c:pt idx="4">
                    <c:v>Qwen3 Coder</c:v>
                  </c:pt>
                  <c:pt idx="5">
                    <c:v>Gemini 2.5 Pro</c:v>
                  </c:pt>
                  <c:pt idx="6">
                    <c:v>Gemini 2.5 Flash</c:v>
                  </c:pt>
                </c:lvl>
              </c:multiLvlStrCache>
            </c:multiLvlStrRef>
          </c:cat>
          <c:val>
            <c:numRef>
              <c:f>Sheet1!$C$2:$C$8</c:f>
              <c:numCache>
                <c:formatCode>General</c:formatCode>
                <c:ptCount val="7"/>
                <c:pt idx="0">
                  <c:v>100</c:v>
                </c:pt>
                <c:pt idx="1">
                  <c:v>100</c:v>
                </c:pt>
                <c:pt idx="2">
                  <c:v>100</c:v>
                </c:pt>
                <c:pt idx="3">
                  <c:v>100</c:v>
                </c:pt>
                <c:pt idx="4">
                  <c:v>0</c:v>
                </c:pt>
                <c:pt idx="5">
                  <c:v>0</c:v>
                </c:pt>
                <c:pt idx="6">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C9D2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11827"/>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First attempt</c:v>
                </c:pt>
              </c:strCache>
            </c:strRef>
          </c:tx>
          <c:spPr>
            <a:solidFill>
              <a:srgbClr val="1A5F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GPT-5.4 Mini</c:v>
                  </c:pt>
                  <c:pt idx="1">
                    <c:v>GPT-5.2</c:v>
                  </c:pt>
                  <c:pt idx="2">
                    <c:v>Claude Opus 5</c:v>
                  </c:pt>
                  <c:pt idx="3">
                    <c:v>Claude Sonnet 5</c:v>
                  </c:pt>
                  <c:pt idx="4">
                    <c:v>Gemini 3.5 Flash</c:v>
                  </c:pt>
                  <c:pt idx="5">
                    <c:v>Gemini 3.1 Pro Preview</c:v>
                  </c:pt>
                </c:lvl>
              </c:multiLvlStrCache>
            </c:multiLvlStrRef>
          </c:cat>
          <c:val>
            <c:numRef>
              <c:f>Sheet1!$B$2:$B$7</c:f>
              <c:numCache>
                <c:formatCode>General</c:formatCode>
                <c:ptCount val="6"/>
                <c:pt idx="0">
                  <c:v>100</c:v>
                </c:pt>
                <c:pt idx="1">
                  <c:v>100</c:v>
                </c:pt>
                <c:pt idx="2">
                  <c:v>100</c:v>
                </c:pt>
                <c:pt idx="3">
                  <c:v>0</c:v>
                </c:pt>
                <c:pt idx="4">
                  <c:v>0</c:v>
                </c:pt>
                <c:pt idx="5">
                  <c:v>0</c:v>
                </c:pt>
              </c:numCache>
            </c:numRef>
          </c:val>
        </c:ser>
        <c:ser>
          <c:idx val="1"/>
          <c:order val="1"/>
          <c:tx>
            <c:strRef>
              <c:f>Sheet1!$C$1</c:f>
              <c:strCache>
                <c:ptCount val="1"/>
                <c:pt idx="0">
                  <c:v>Final pass</c:v>
                </c:pt>
              </c:strCache>
            </c:strRef>
          </c:tx>
          <c:spPr>
            <a:solidFill>
              <a:srgbClr val="1E8E3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GPT-5.4 Mini</c:v>
                  </c:pt>
                  <c:pt idx="1">
                    <c:v>GPT-5.2</c:v>
                  </c:pt>
                  <c:pt idx="2">
                    <c:v>Claude Opus 5</c:v>
                  </c:pt>
                  <c:pt idx="3">
                    <c:v>Claude Sonnet 5</c:v>
                  </c:pt>
                  <c:pt idx="4">
                    <c:v>Gemini 3.5 Flash</c:v>
                  </c:pt>
                  <c:pt idx="5">
                    <c:v>Gemini 3.1 Pro Preview</c:v>
                  </c:pt>
                </c:lvl>
              </c:multiLvlStrCache>
            </c:multiLvlStrRef>
          </c:cat>
          <c:val>
            <c:numRef>
              <c:f>Sheet1!$C$2:$C$7</c:f>
              <c:numCache>
                <c:formatCode>General</c:formatCode>
                <c:ptCount val="6"/>
                <c:pt idx="0">
                  <c:v>100</c:v>
                </c:pt>
                <c:pt idx="1">
                  <c:v>100</c:v>
                </c:pt>
                <c:pt idx="2">
                  <c:v>100</c:v>
                </c:pt>
                <c:pt idx="3">
                  <c:v>100</c:v>
                </c:pt>
                <c:pt idx="4">
                  <c:v>0</c:v>
                </c:pt>
                <c:pt idx="5">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C9D2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11827"/>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First attempt</c:v>
                </c:pt>
              </c:strCache>
            </c:strRef>
          </c:tx>
          <c:spPr>
            <a:solidFill>
              <a:srgbClr val="1A5F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GPT-5.4 Mini</c:v>
                  </c:pt>
                  <c:pt idx="1">
                    <c:v>Claude Opus 5</c:v>
                  </c:pt>
                  <c:pt idx="2">
                    <c:v>Claude Sonnet 5</c:v>
                  </c:pt>
                  <c:pt idx="3">
                    <c:v>GPT-5.2</c:v>
                  </c:pt>
                  <c:pt idx="4">
                    <c:v>Gemini 3.5 Flash</c:v>
                  </c:pt>
                  <c:pt idx="5">
                    <c:v>Gemini 3.1 Pro Preview</c:v>
                  </c:pt>
                </c:lvl>
              </c:multiLvlStrCache>
            </c:multiLvlStrRef>
          </c:cat>
          <c:val>
            <c:numRef>
              <c:f>Sheet1!$B$2:$B$7</c:f>
              <c:numCache>
                <c:formatCode>General</c:formatCode>
                <c:ptCount val="6"/>
                <c:pt idx="0">
                  <c:v>100</c:v>
                </c:pt>
                <c:pt idx="1">
                  <c:v>100</c:v>
                </c:pt>
                <c:pt idx="2">
                  <c:v>0</c:v>
                </c:pt>
                <c:pt idx="3">
                  <c:v>0</c:v>
                </c:pt>
                <c:pt idx="4">
                  <c:v>0</c:v>
                </c:pt>
                <c:pt idx="5">
                  <c:v>0</c:v>
                </c:pt>
              </c:numCache>
            </c:numRef>
          </c:val>
        </c:ser>
        <c:ser>
          <c:idx val="1"/>
          <c:order val="1"/>
          <c:tx>
            <c:strRef>
              <c:f>Sheet1!$C$1</c:f>
              <c:strCache>
                <c:ptCount val="1"/>
                <c:pt idx="0">
                  <c:v>Final pass</c:v>
                </c:pt>
              </c:strCache>
            </c:strRef>
          </c:tx>
          <c:spPr>
            <a:solidFill>
              <a:srgbClr val="1E8E3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GPT-5.4 Mini</c:v>
                  </c:pt>
                  <c:pt idx="1">
                    <c:v>Claude Opus 5</c:v>
                  </c:pt>
                  <c:pt idx="2">
                    <c:v>Claude Sonnet 5</c:v>
                  </c:pt>
                  <c:pt idx="3">
                    <c:v>GPT-5.2</c:v>
                  </c:pt>
                  <c:pt idx="4">
                    <c:v>Gemini 3.5 Flash</c:v>
                  </c:pt>
                  <c:pt idx="5">
                    <c:v>Gemini 3.1 Pro Preview</c:v>
                  </c:pt>
                </c:lvl>
              </c:multiLvlStrCache>
            </c:multiLvlStrRef>
          </c:cat>
          <c:val>
            <c:numRef>
              <c:f>Sheet1!$C$2:$C$7</c:f>
              <c:numCache>
                <c:formatCode>General</c:formatCode>
                <c:ptCount val="6"/>
                <c:pt idx="0">
                  <c:v>100</c:v>
                </c:pt>
                <c:pt idx="1">
                  <c:v>100</c:v>
                </c:pt>
                <c:pt idx="2">
                  <c:v>100</c:v>
                </c:pt>
                <c:pt idx="3">
                  <c:v>0</c:v>
                </c:pt>
                <c:pt idx="4">
                  <c:v>0</c:v>
                </c:pt>
                <c:pt idx="5">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11827"/>
                </a:solidFill>
                <a:latin typeface="Arial"/>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C9D2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11827"/>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Testing is how we verify that a system does what the specification says and handles gracefully what the specification forgot. This talk is about generating thousands of API test cases against more than 500 endpoints in hours rather than months, and about the several ways that can quietly go wrong.</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Story from my own coding days: boundary tests on payment amounts, negative, fractional, normal, very large, very small. Everything that follows is about that typing limit being lifted, and what breaks when it is.</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mechanics quickly, then the four reasons it does not survive contact with a team. The punch-line line usually lands with a developer audience.</a:t>
            </a:r>
            <a:endParaRPr/>
          </a:p>
        </p:txBody>
      </p:sp>
      <p:sp>
        <p:nvSpPr>
          <p:cNvPr id="47" name="Google Shape;4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QA hand-off loop. Developers stop testing thoroughly because QA will catch it, the patch goes in without coverage, a regression follows, and QA rejects it again.</a:t>
            </a:r>
            <a:endParaRPr/>
          </a:p>
        </p:txBody>
      </p:sp>
      <p:sp>
        <p:nvSpPr>
          <p:cNvPr id="69" name="Google Shape;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Teams start with TDD, deadlines push them to code first, the code base gets messy, a big refactoring puts it back in shape, and then the old habits return. This is the cycle we see in most of the companies we are brought into, and it is usually why we get the call.</a:t>
            </a:r>
            <a:endParaRPr/>
          </a:p>
        </p:txBody>
      </p:sp>
      <p:sp>
        <p:nvSpPr>
          <p:cNvPr id="80" name="Google Shape;8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Real quote, and a good set-up for what a rescue engagement actually involves.</a:t>
            </a:r>
            <a:endParaRPr/>
          </a:p>
        </p:txBody>
      </p:sp>
      <p:sp>
        <p:nvSpPr>
          <p:cNvPr id="91" name="Google Shape;9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mapped the flows by hand into Google Docs and shared them among ourselves, brought unit coverage on the worst areas to at least 80%, added integration tests, then wrote the new service and ported every captured case. Multiple teams, but this was the shape per system.</a:t>
            </a:r>
            <a:endParaRPr/>
          </a:p>
        </p:txBody>
      </p:sp>
      <p:sp>
        <p:nvSpPr>
          <p:cNvPr id="104" name="Google Shape;1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started with GPT-3.5 in early 2023, mostly summarising customer documentation and explaining what a function does. It hallucinated, so we still had to read the summaries carefully. It is much better now and still misses details here and there, even with Opus 5. As it improved we delegated a function, then several, then a class, then a small feature, with a person in the loop throughout.</a:t>
            </a:r>
            <a:endParaRPr/>
          </a:p>
        </p:txBody>
      </p:sp>
      <p:sp>
        <p:nvSpPr>
          <p:cNvPr id="115" name="Google Shape;11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hinge of the talk. Writing code used to be how developers reasoned about the flow, and that part has largely been delegated. Verification is what is left, and most teams are not set up for it yet.</a:t>
            </a:r>
            <a:endParaRPr/>
          </a:p>
        </p:txBody>
      </p:sp>
      <p:sp>
        <p:nvSpPr>
          <p:cNvPr id="125" name="Google Shape;12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Deliver the 'more developers' line as the joke it is, then move into the measurements.</a:t>
            </a:r>
            <a:endParaRPr/>
          </a:p>
        </p:txBody>
      </p:sp>
      <p:sp>
        <p:nvSpPr>
          <p:cNvPr id="138" name="Google Shape;1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the traps: the stateful delete, the endpoint that returns 200 on a failure, and the one whose name does not describe what it returns. Those labels predict where models give up.</a:t>
            </a:r>
            <a:endParaRPr/>
          </a:p>
        </p:txBody>
      </p:sp>
      <p:sp>
        <p:nvSpPr>
          <p:cNvPr id="148" name="Google Shape;14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scope. We begin with white box because if the models cannot manage that, the rest does not matter much.</a:t>
            </a:r>
            <a:endParaRPr/>
          </a:p>
        </p:txBody>
      </p:sp>
      <p:sp>
        <p:nvSpPr>
          <p:cNvPr id="162" name="Google Shape;1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measure pass rate on the first attempt, pass rate after repair, and coverage, then compare the models on the same protocol.</a:t>
            </a:r>
            <a:endParaRPr/>
          </a:p>
        </p:txBody>
      </p:sp>
      <p:sp>
        <p:nvSpPr>
          <p:cNvPr id="184" name="Google Shape;18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chart, then move to Gemini. Everyone else gets there, quickly and cheaply. Gemini is the interesting failure and the next slide is the evidence.</a:t>
            </a:r>
            <a:endParaRPr/>
          </a:p>
        </p:txBody>
      </p:sp>
      <p:sp>
        <p:nvSpPr>
          <p:cNvPr id="197" name="Google Shape;19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Nothing subtle here. It read the handler and still asserted the wrong types.</a:t>
            </a:r>
            <a:endParaRPr/>
          </a:p>
        </p:txBody>
      </p:sp>
      <p:sp>
        <p:nvSpPr>
          <p:cNvPr id="210" name="Google Shape;21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ways to be green and wrong: the wrong types, and negative tests that only look at the status. This is the line the whole talk hangs on.</a:t>
            </a:r>
            <a:endParaRPr/>
          </a:p>
        </p:txBody>
      </p:sp>
      <p:sp>
        <p:nvSpPr>
          <p:cNvPr id="228" name="Google Shape;22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open about the caveat: the engine has changed a great deal since the talk was submitted. These runs keep the original harness so the comparison still holds.</a:t>
            </a:r>
            <a:endParaRPr/>
          </a:p>
        </p:txBody>
      </p:sp>
      <p:sp>
        <p:nvSpPr>
          <p:cNvPr id="242" name="Google Shape;24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stages. The repair budget is what turns a 0% first attempt into a full final pass, and it is also why the naive approach produces false positives, since there is no observe or keep stage at all.</a:t>
            </a:r>
            <a:endParaRPr/>
          </a:p>
        </p:txBody>
      </p:sp>
      <p:sp>
        <p:nvSpPr>
          <p:cNvPr id="255" name="Google Shape;25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POST /transfers/:id/reverse. The seed ships with transfers empty, so the agent has to create a transfer within limits and funds, capture the id that comes back, and only then reverse it.</a:t>
            </a:r>
            <a:endParaRPr/>
          </a:p>
        </p:txBody>
      </p:sp>
      <p:sp>
        <p:nvSpPr>
          <p:cNvPr id="266" name="Google Shape;26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models that passed worked the dependency out for themselves, because it is described in the source and the API docs.</a:t>
            </a:r>
            <a:endParaRPr/>
          </a:p>
        </p:txBody>
      </p:sp>
      <p:sp>
        <p:nvSpPr>
          <p:cNvPr id="276" name="Google Shape;27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moment for the Gemini joke: I hope nobody here works at Google, and if you do, please stay afterwards and give me a short course on using it properly.</a:t>
            </a:r>
            <a:endParaRPr/>
          </a:p>
        </p:txBody>
      </p:sp>
      <p:sp>
        <p:nvSpPr>
          <p:cNvPr id="289" name="Google Shape;2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day job. You are dropped into a code base you did not write, across services you do not own, and this is where the hallucination starts to cost money.</a:t>
            </a:r>
            <a:endParaRPr/>
          </a:p>
        </p:txBody>
      </p:sp>
      <p:sp>
        <p:nvSpPr>
          <p:cNvPr id="302" name="Google Shape;30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seven: basic auth with a tenant header; the template call first; officeId and legalFormId are mandatory; either a full name or a first name but never both; an active client requires an activation date; staff and savings products look required and are not; and the id comes back as a number rather than a string.</a:t>
            </a:r>
            <a:endParaRPr/>
          </a:p>
        </p:txBody>
      </p:sp>
      <p:sp>
        <p:nvSpPr>
          <p:cNvPr id="313" name="Google Shape;31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the hook. They all created a client successfully, so the zero needs explaining, and the explanation is on the next slide.</a:t>
            </a:r>
            <a:endParaRPr/>
          </a:p>
        </p:txBody>
      </p:sp>
      <p:sp>
        <p:nvSpPr>
          <p:cNvPr id="323" name="Google Shape;32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They had the right idea and the wrong execution, which is a far more encouraging problem than not understanding the API, because it can be fixed with direction.</a:t>
            </a:r>
            <a:endParaRPr/>
          </a:p>
        </p:txBody>
      </p:sp>
      <p:sp>
        <p:nvSpPr>
          <p:cNvPr id="337" name="Google Shape;33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playbook is a discovery artifact rather than a test. It records what the agent learned about calling the endpoint correctly, in a shape another agent can pick up and use.</a:t>
            </a:r>
            <a:endParaRPr/>
          </a:p>
        </p:txBody>
      </p:sp>
      <p:sp>
        <p:nvSpPr>
          <p:cNvPr id="350" name="Google Shape;35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 found the template call on its own, recorded the response types, and wrote down the invariant. That invariant is precisely what the failing trials were missing.</a:t>
            </a:r>
            <a:endParaRPr/>
          </a:p>
        </p:txBody>
      </p:sp>
      <p:sp>
        <p:nvSpPr>
          <p:cNvPr id="363" name="Google Shape;36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burned through tens of thousands of tokens getting here, which is a good argument for writing down what the agent learns.</a:t>
            </a:r>
            <a:endParaRPr/>
          </a:p>
        </p:txBody>
      </p:sp>
      <p:sp>
        <p:nvSpPr>
          <p:cNvPr id="376" name="Google Shape;37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examples out of many. The last rule is the one that would have saved every failing trial we looked at earlier.</a:t>
            </a:r>
            <a:endParaRPr/>
          </a:p>
        </p:txBody>
      </p:sp>
      <p:sp>
        <p:nvSpPr>
          <p:cNvPr id="396" name="Google Shape;39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clear that prompts and rules alone were not enough for us. The gates are ordinary code, and that is the point of them.</a:t>
            </a:r>
            <a:endParaRPr/>
          </a:p>
        </p:txBody>
      </p:sp>
      <p:sp>
        <p:nvSpPr>
          <p:cNvPr id="422" name="Google Shape;42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'prove it' step. Say plainly that we do not ask the model whether the test was good; we replay it against the service.</a:t>
            </a:r>
            <a:endParaRPr/>
          </a:p>
        </p:txBody>
      </p:sp>
      <p:sp>
        <p:nvSpPr>
          <p:cNvPr id="440" name="Google Shape;440;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loop once, slowly. Claim, replay, reset, mutate, and either keep it or hand it back with a hard no.</a:t>
            </a:r>
            <a:endParaRPr/>
          </a:p>
        </p:txBody>
      </p:sp>
      <p:sp>
        <p:nvSpPr>
          <p:cNvPr id="455" name="Google Shape;45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Mutation means flipping a boolean, shifting a number, dropping a field or changing the status. If the test still passes, the assertion was not doing any work.</a:t>
            </a:r>
            <a:endParaRPr/>
          </a:p>
        </p:txBody>
      </p:sp>
      <p:sp>
        <p:nvSpPr>
          <p:cNvPr id="465" name="Google Shape;46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Rules go in once. The agent writes the playbook. Each run writes back to memory. The gates decide what is kept. This loop is what makes an inexpensive model workable on a daily schedule.</a:t>
            </a:r>
            <a:endParaRPr/>
          </a:p>
        </p:txBody>
      </p:sp>
      <p:sp>
        <p:nvSpPr>
          <p:cNvPr id="481" name="Google Shape;481;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payoff for the middle of the talk. Basic rules, no hints, and the agents generate tests for a complex endpoint that hold up on replay.</a:t>
            </a:r>
            <a:endParaRPr/>
          </a:p>
        </p:txBody>
      </p:sp>
      <p:sp>
        <p:nvSpPr>
          <p:cNvPr id="491" name="Google Shape;49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Scoring is deliberately a separate pass. A test is scored by replaying it against the running service, not by asking the model whether it thinks the test was any good.</a:t>
            </a:r>
            <a:endParaRPr/>
          </a:p>
        </p:txBody>
      </p:sp>
      <p:sp>
        <p:nvSpPr>
          <p:cNvPr id="509" name="Google Shape;50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Worth showing developers that the tool surface is small. Discovery, probing, writing to the catalog, and a commit that is gated.</a:t>
            </a:r>
            <a:endParaRPr/>
          </a:p>
        </p:txBody>
      </p:sp>
      <p:sp>
        <p:nvSpPr>
          <p:cNvPr id="520" name="Google Shape;52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APIs keep changing, so the tests need updating. We built the suite to capture how the current system behaves, so we can understand it well enough to build the new one. Every developer works with at least two agents: read the ticket, scan the code, run the impact analysis, publish an implementation plan back to the ticket, a few rounds of review, then the feature and its end-to-end tests. The playbook and memory are what let those agents call endpoints the team does not own.</a:t>
            </a:r>
            <a:endParaRPr/>
          </a:p>
        </p:txBody>
      </p:sp>
      <p:sp>
        <p:nvSpPr>
          <p:cNvPr id="536" name="Google Shape;53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developer has cloud agents on a private machine we control, managed by openclaw. They have access to the shared memory of the project, our practices as an organisation, and the skills the work calls for. We talk to them through Slack.</a:t>
            </a:r>
            <a:endParaRPr/>
          </a:p>
        </p:txBody>
      </p:sp>
      <p:sp>
        <p:nvSpPr>
          <p:cNvPr id="546" name="Google Shape;54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the production section on a light note, and be ready for questions about how much of the clone's answer people trust.</a:t>
            </a:r>
            <a:endParaRPr/>
          </a:p>
        </p:txBody>
      </p:sp>
      <p:sp>
        <p:nvSpPr>
          <p:cNvPr id="556" name="Google Shape;55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9" name="Google Shape;56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Likely questions: what happens with no source access at all; how the playbook is versioned; what this costs per day across 500 endpoints; and how the gates handle endpoints that are genuinely non-deterministic.</a:t>
            </a:r>
            <a:endParaRPr/>
          </a:p>
        </p:txBody>
      </p:sp>
      <p:sp>
        <p:nvSpPr>
          <p:cNvPr id="570" name="Google Shape;57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
        <p:nvSpPr>
          <p:cNvPr id="12" name="Google Shape;12;p43"/>
          <p:cNvSpPr txBox="1"/>
          <p:nvPr>
            <p:ph idx="12"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6B7A90"/>
                </a:solidFill>
                <a:latin typeface="Calibri"/>
                <a:ea typeface="Calibri"/>
                <a:cs typeface="Calibri"/>
                <a:sym typeface="Calibri"/>
              </a:defRPr>
            </a:lvl1pPr>
            <a:lvl2pPr indent="0" lvl="1" marL="0" marR="0" algn="r">
              <a:spcBef>
                <a:spcPts val="0"/>
              </a:spcBef>
              <a:buNone/>
              <a:defRPr b="0" i="0" sz="1000" u="none" cap="none" strike="noStrike">
                <a:solidFill>
                  <a:srgbClr val="6B7A90"/>
                </a:solidFill>
                <a:latin typeface="Calibri"/>
                <a:ea typeface="Calibri"/>
                <a:cs typeface="Calibri"/>
                <a:sym typeface="Calibri"/>
              </a:defRPr>
            </a:lvl2pPr>
            <a:lvl3pPr indent="0" lvl="2" marL="0" marR="0" algn="r">
              <a:spcBef>
                <a:spcPts val="0"/>
              </a:spcBef>
              <a:buNone/>
              <a:defRPr b="0" i="0" sz="1000" u="none" cap="none" strike="noStrike">
                <a:solidFill>
                  <a:srgbClr val="6B7A90"/>
                </a:solidFill>
                <a:latin typeface="Calibri"/>
                <a:ea typeface="Calibri"/>
                <a:cs typeface="Calibri"/>
                <a:sym typeface="Calibri"/>
              </a:defRPr>
            </a:lvl3pPr>
            <a:lvl4pPr indent="0" lvl="3" marL="0" marR="0" algn="r">
              <a:spcBef>
                <a:spcPts val="0"/>
              </a:spcBef>
              <a:buNone/>
              <a:defRPr b="0" i="0" sz="1000" u="none" cap="none" strike="noStrike">
                <a:solidFill>
                  <a:srgbClr val="6B7A90"/>
                </a:solidFill>
                <a:latin typeface="Calibri"/>
                <a:ea typeface="Calibri"/>
                <a:cs typeface="Calibri"/>
                <a:sym typeface="Calibri"/>
              </a:defRPr>
            </a:lvl4pPr>
            <a:lvl5pPr indent="0" lvl="4" marL="0" marR="0" algn="r">
              <a:spcBef>
                <a:spcPts val="0"/>
              </a:spcBef>
              <a:buNone/>
              <a:defRPr b="0" i="0" sz="1000" u="none" cap="none" strike="noStrike">
                <a:solidFill>
                  <a:srgbClr val="6B7A90"/>
                </a:solidFill>
                <a:latin typeface="Calibri"/>
                <a:ea typeface="Calibri"/>
                <a:cs typeface="Calibri"/>
                <a:sym typeface="Calibri"/>
              </a:defRPr>
            </a:lvl5pPr>
            <a:lvl6pPr indent="0" lvl="5" marL="0" marR="0" algn="r">
              <a:spcBef>
                <a:spcPts val="0"/>
              </a:spcBef>
              <a:buNone/>
              <a:defRPr b="0" i="0" sz="1000" u="none" cap="none" strike="noStrike">
                <a:solidFill>
                  <a:srgbClr val="6B7A90"/>
                </a:solidFill>
                <a:latin typeface="Calibri"/>
                <a:ea typeface="Calibri"/>
                <a:cs typeface="Calibri"/>
                <a:sym typeface="Calibri"/>
              </a:defRPr>
            </a:lvl6pPr>
            <a:lvl7pPr indent="0" lvl="6" marL="0" marR="0" algn="r">
              <a:spcBef>
                <a:spcPts val="0"/>
              </a:spcBef>
              <a:buNone/>
              <a:defRPr b="0" i="0" sz="1000" u="none" cap="none" strike="noStrike">
                <a:solidFill>
                  <a:srgbClr val="6B7A90"/>
                </a:solidFill>
                <a:latin typeface="Calibri"/>
                <a:ea typeface="Calibri"/>
                <a:cs typeface="Calibri"/>
                <a:sym typeface="Calibri"/>
              </a:defRPr>
            </a:lvl7pPr>
            <a:lvl8pPr indent="0" lvl="7" marL="0" marR="0" algn="r">
              <a:spcBef>
                <a:spcPts val="0"/>
              </a:spcBef>
              <a:buNone/>
              <a:defRPr b="0" i="0" sz="1000" u="none" cap="none" strike="noStrike">
                <a:solidFill>
                  <a:srgbClr val="6B7A90"/>
                </a:solidFill>
                <a:latin typeface="Calibri"/>
                <a:ea typeface="Calibri"/>
                <a:cs typeface="Calibri"/>
                <a:sym typeface="Calibri"/>
              </a:defRPr>
            </a:lvl8pPr>
            <a:lvl9pPr indent="0" lvl="8" marL="0" marR="0" algn="r">
              <a:spcBef>
                <a:spcPts val="0"/>
              </a:spcBef>
              <a:buNone/>
              <a:defRPr b="0" i="0" sz="1000" u="none" cap="none" strike="noStrike">
                <a:solidFill>
                  <a:srgbClr val="6B7A9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42"/>
          <p:cNvSpPr txBox="1"/>
          <p:nvPr>
            <p:ph idx="12"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rgbClr val="6B7A90"/>
                </a:solidFill>
                <a:latin typeface="Calibri"/>
                <a:ea typeface="Calibri"/>
                <a:cs typeface="Calibri"/>
                <a:sym typeface="Calibri"/>
              </a:defRPr>
            </a:lvl1pPr>
            <a:lvl2pPr indent="0" lvl="1" marL="0" marR="0" rtl="0" algn="r">
              <a:spcBef>
                <a:spcPts val="0"/>
              </a:spcBef>
              <a:buNone/>
              <a:defRPr b="0" i="0" sz="1000" u="none" cap="none" strike="noStrike">
                <a:solidFill>
                  <a:srgbClr val="6B7A90"/>
                </a:solidFill>
                <a:latin typeface="Calibri"/>
                <a:ea typeface="Calibri"/>
                <a:cs typeface="Calibri"/>
                <a:sym typeface="Calibri"/>
              </a:defRPr>
            </a:lvl2pPr>
            <a:lvl3pPr indent="0" lvl="2" marL="0" marR="0" rtl="0" algn="r">
              <a:spcBef>
                <a:spcPts val="0"/>
              </a:spcBef>
              <a:buNone/>
              <a:defRPr b="0" i="0" sz="1000" u="none" cap="none" strike="noStrike">
                <a:solidFill>
                  <a:srgbClr val="6B7A90"/>
                </a:solidFill>
                <a:latin typeface="Calibri"/>
                <a:ea typeface="Calibri"/>
                <a:cs typeface="Calibri"/>
                <a:sym typeface="Calibri"/>
              </a:defRPr>
            </a:lvl3pPr>
            <a:lvl4pPr indent="0" lvl="3" marL="0" marR="0" rtl="0" algn="r">
              <a:spcBef>
                <a:spcPts val="0"/>
              </a:spcBef>
              <a:buNone/>
              <a:defRPr b="0" i="0" sz="1000" u="none" cap="none" strike="noStrike">
                <a:solidFill>
                  <a:srgbClr val="6B7A90"/>
                </a:solidFill>
                <a:latin typeface="Calibri"/>
                <a:ea typeface="Calibri"/>
                <a:cs typeface="Calibri"/>
                <a:sym typeface="Calibri"/>
              </a:defRPr>
            </a:lvl4pPr>
            <a:lvl5pPr indent="0" lvl="4" marL="0" marR="0" rtl="0" algn="r">
              <a:spcBef>
                <a:spcPts val="0"/>
              </a:spcBef>
              <a:buNone/>
              <a:defRPr b="0" i="0" sz="1000" u="none" cap="none" strike="noStrike">
                <a:solidFill>
                  <a:srgbClr val="6B7A90"/>
                </a:solidFill>
                <a:latin typeface="Calibri"/>
                <a:ea typeface="Calibri"/>
                <a:cs typeface="Calibri"/>
                <a:sym typeface="Calibri"/>
              </a:defRPr>
            </a:lvl5pPr>
            <a:lvl6pPr indent="0" lvl="5" marL="0" marR="0" rtl="0" algn="r">
              <a:spcBef>
                <a:spcPts val="0"/>
              </a:spcBef>
              <a:buNone/>
              <a:defRPr b="0" i="0" sz="1000" u="none" cap="none" strike="noStrike">
                <a:solidFill>
                  <a:srgbClr val="6B7A90"/>
                </a:solidFill>
                <a:latin typeface="Calibri"/>
                <a:ea typeface="Calibri"/>
                <a:cs typeface="Calibri"/>
                <a:sym typeface="Calibri"/>
              </a:defRPr>
            </a:lvl6pPr>
            <a:lvl7pPr indent="0" lvl="6" marL="0" marR="0" rtl="0" algn="r">
              <a:spcBef>
                <a:spcPts val="0"/>
              </a:spcBef>
              <a:buNone/>
              <a:defRPr b="0" i="0" sz="1000" u="none" cap="none" strike="noStrike">
                <a:solidFill>
                  <a:srgbClr val="6B7A90"/>
                </a:solidFill>
                <a:latin typeface="Calibri"/>
                <a:ea typeface="Calibri"/>
                <a:cs typeface="Calibri"/>
                <a:sym typeface="Calibri"/>
              </a:defRPr>
            </a:lvl7pPr>
            <a:lvl8pPr indent="0" lvl="7" marL="0" marR="0" rtl="0" algn="r">
              <a:spcBef>
                <a:spcPts val="0"/>
              </a:spcBef>
              <a:buNone/>
              <a:defRPr b="0" i="0" sz="1000" u="none" cap="none" strike="noStrike">
                <a:solidFill>
                  <a:srgbClr val="6B7A90"/>
                </a:solidFill>
                <a:latin typeface="Calibri"/>
                <a:ea typeface="Calibri"/>
                <a:cs typeface="Calibri"/>
                <a:sym typeface="Calibri"/>
              </a:defRPr>
            </a:lvl8pPr>
            <a:lvl9pPr indent="0" lvl="8" marL="0" marR="0" rtl="0" algn="r">
              <a:spcBef>
                <a:spcPts val="0"/>
              </a:spcBef>
              <a:buNone/>
              <a:defRPr b="0" i="0" sz="1000" u="none" cap="none" strike="noStrike">
                <a:solidFill>
                  <a:srgbClr val="6B7A9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20"/>
        </a:solidFill>
      </p:bgPr>
    </p:bg>
    <p:spTree>
      <p:nvGrpSpPr>
        <p:cNvPr id="17" name="Shape 17"/>
        <p:cNvGrpSpPr/>
        <p:nvPr/>
      </p:nvGrpSpPr>
      <p:grpSpPr>
        <a:xfrm>
          <a:off x="0" y="0"/>
          <a:ext cx="0" cy="0"/>
          <a:chOff x="0" y="0"/>
          <a:chExt cx="0" cy="0"/>
        </a:xfrm>
      </p:grpSpPr>
      <p:sp>
        <p:nvSpPr>
          <p:cNvPr id="18" name="Google Shape;18;p1"/>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Calibri"/>
              <a:buNone/>
            </a:pPr>
            <a:r>
              <a:rPr b="0" i="0" lang="en-US" sz="1000" u="none" cap="none" strike="noStrike">
                <a:solidFill>
                  <a:srgbClr val="6B7A90"/>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19" name="Google Shape;19;p1"/>
          <p:cNvSpPr txBox="1"/>
          <p:nvPr/>
        </p:nvSpPr>
        <p:spPr>
          <a:xfrm>
            <a:off x="640080" y="178308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libri"/>
              <a:buNone/>
            </a:pPr>
            <a:r>
              <a:rPr b="1" i="0" lang="en-US" sz="4400" u="none" cap="none" strike="noStrike">
                <a:solidFill>
                  <a:srgbClr val="FFFFFF"/>
                </a:solidFill>
                <a:latin typeface="Calibri"/>
                <a:ea typeface="Calibri"/>
                <a:cs typeface="Calibri"/>
                <a:sym typeface="Calibri"/>
              </a:rPr>
              <a:t>Thousands of tests across</a:t>
            </a:r>
            <a:endParaRPr b="0" i="0" sz="4400" u="none" cap="none" strike="noStrike">
              <a:solidFill>
                <a:schemeClr val="dk1"/>
              </a:solidFill>
              <a:latin typeface="Calibri"/>
              <a:ea typeface="Calibri"/>
              <a:cs typeface="Calibri"/>
              <a:sym typeface="Calibri"/>
            </a:endParaRPr>
          </a:p>
        </p:txBody>
      </p:sp>
      <p:sp>
        <p:nvSpPr>
          <p:cNvPr id="20" name="Google Shape;20;p1"/>
          <p:cNvSpPr txBox="1"/>
          <p:nvPr/>
        </p:nvSpPr>
        <p:spPr>
          <a:xfrm>
            <a:off x="640080" y="2514600"/>
            <a:ext cx="10972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9BE8"/>
              </a:buClr>
              <a:buSzPts val="4400"/>
              <a:buFont typeface="Calibri"/>
              <a:buNone/>
            </a:pPr>
            <a:r>
              <a:rPr b="1" i="0" lang="en-US" sz="4400" u="none" cap="none" strike="noStrike">
                <a:solidFill>
                  <a:srgbClr val="4E9BE8"/>
                </a:solidFill>
                <a:latin typeface="Calibri"/>
                <a:ea typeface="Calibri"/>
                <a:cs typeface="Calibri"/>
                <a:sym typeface="Calibri"/>
              </a:rPr>
              <a:t>500 endpoints, in an afternoon</a:t>
            </a:r>
            <a:endParaRPr b="0" i="0" sz="4400" u="none" cap="none" strike="noStrike">
              <a:solidFill>
                <a:schemeClr val="dk1"/>
              </a:solidFill>
              <a:latin typeface="Calibri"/>
              <a:ea typeface="Calibri"/>
              <a:cs typeface="Calibri"/>
              <a:sym typeface="Calibri"/>
            </a:endParaRPr>
          </a:p>
        </p:txBody>
      </p:sp>
      <p:sp>
        <p:nvSpPr>
          <p:cNvPr id="21" name="Google Shape;21;p1"/>
          <p:cNvSpPr txBox="1"/>
          <p:nvPr/>
        </p:nvSpPr>
        <p:spPr>
          <a:xfrm>
            <a:off x="640080" y="3520440"/>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BACB"/>
              </a:buClr>
              <a:buSzPts val="1900"/>
              <a:buFont typeface="Calibri"/>
              <a:buNone/>
            </a:pPr>
            <a:r>
              <a:rPr b="0" i="0" lang="en-US" sz="1900" u="none" cap="none" strike="noStrike">
                <a:solidFill>
                  <a:srgbClr val="AFBACB"/>
                </a:solidFill>
                <a:latin typeface="Calibri"/>
                <a:ea typeface="Calibri"/>
                <a:cs typeface="Calibri"/>
                <a:sym typeface="Calibri"/>
              </a:rPr>
              <a:t>What we learned asking agents to write API tests, and why a green result still needs checking.</a:t>
            </a:r>
            <a:endParaRPr b="0" i="0" sz="1900" u="none" cap="none" strike="noStrike">
              <a:solidFill>
                <a:schemeClr val="dk1"/>
              </a:solidFill>
              <a:latin typeface="Calibri"/>
              <a:ea typeface="Calibri"/>
              <a:cs typeface="Calibri"/>
              <a:sym typeface="Calibri"/>
            </a:endParaRPr>
          </a:p>
        </p:txBody>
      </p:sp>
      <p:sp>
        <p:nvSpPr>
          <p:cNvPr id="22" name="Google Shape;22;p1"/>
          <p:cNvSpPr txBox="1"/>
          <p:nvPr/>
        </p:nvSpPr>
        <p:spPr>
          <a:xfrm>
            <a:off x="640080" y="420624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500"/>
              <a:buFont typeface="Courier New"/>
              <a:buNone/>
            </a:pPr>
            <a:r>
              <a:rPr b="0" i="0" lang="en-US" sz="1500" u="none" cap="none" strike="noStrike">
                <a:solidFill>
                  <a:srgbClr val="7C8AA0"/>
                </a:solidFill>
                <a:latin typeface="Courier New"/>
                <a:ea typeface="Courier New"/>
                <a:cs typeface="Courier New"/>
                <a:sym typeface="Courier New"/>
              </a:rPr>
              <a:t>Prairie Dev Con 2026   ·   Tri Ho, Futurify</a:t>
            </a:r>
            <a:endParaRPr b="0" i="0" sz="1500" u="none" cap="none" strike="noStrike">
              <a:solidFill>
                <a:schemeClr val="dk1"/>
              </a:solidFill>
              <a:latin typeface="Calibri"/>
              <a:ea typeface="Calibri"/>
              <a:cs typeface="Calibri"/>
              <a:sym typeface="Calibri"/>
            </a:endParaRPr>
          </a:p>
        </p:txBody>
      </p:sp>
      <p:sp>
        <p:nvSpPr>
          <p:cNvPr id="23" name="Google Shape;23;p1"/>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6B7A90"/>
                </a:solidFill>
                <a:latin typeface="Calibri"/>
                <a:ea typeface="Calibri"/>
                <a:cs typeface="Calibri"/>
                <a:sym typeface="Calibri"/>
              </a:rPr>
              <a:t>‹#›</a:t>
            </a:fld>
            <a:endParaRPr b="0" i="0" sz="1000" u="none" cap="none" strike="noStrike">
              <a:solidFill>
                <a:srgbClr val="6B7A9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2"/>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01 · WHERE THIS STARTS</a:t>
            </a:r>
            <a:endParaRPr b="0" i="0" sz="1100" u="none" cap="none" strike="noStrike">
              <a:solidFill>
                <a:schemeClr val="dk1"/>
              </a:solidFill>
              <a:latin typeface="Calibri"/>
              <a:ea typeface="Calibri"/>
              <a:cs typeface="Calibri"/>
              <a:sym typeface="Calibri"/>
            </a:endParaRPr>
          </a:p>
        </p:txBody>
      </p:sp>
      <p:sp>
        <p:nvSpPr>
          <p:cNvPr id="30" name="Google Shape;30;p2"/>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31" name="Google Shape;31;p2"/>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Testing used to be something we typed out by hand</a:t>
            </a:r>
            <a:endParaRPr b="0" i="0" sz="3200" u="none" cap="none" strike="noStrike">
              <a:solidFill>
                <a:schemeClr val="dk1"/>
              </a:solidFill>
              <a:latin typeface="Calibri"/>
              <a:ea typeface="Calibri"/>
              <a:cs typeface="Calibri"/>
              <a:sym typeface="Calibri"/>
            </a:endParaRPr>
          </a:p>
        </p:txBody>
      </p:sp>
      <p:sp>
        <p:nvSpPr>
          <p:cNvPr id="32" name="Google Shape;32;p2"/>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When I was still writing production code, a good day meant a few classes and the tests that went with them.</a:t>
            </a:r>
            <a:endParaRPr b="0" i="0" sz="1600" u="none" cap="none" strike="noStrike">
              <a:solidFill>
                <a:schemeClr val="dk1"/>
              </a:solidFill>
              <a:latin typeface="Calibri"/>
              <a:ea typeface="Calibri"/>
              <a:cs typeface="Calibri"/>
              <a:sym typeface="Calibri"/>
            </a:endParaRPr>
          </a:p>
        </p:txBody>
      </p:sp>
      <p:sp>
        <p:nvSpPr>
          <p:cNvPr id="33" name="Google Shape;33;p2"/>
          <p:cNvSpPr/>
          <p:nvPr/>
        </p:nvSpPr>
        <p:spPr>
          <a:xfrm>
            <a:off x="640080" y="2240280"/>
            <a:ext cx="3291840" cy="1874520"/>
          </a:xfrm>
          <a:prstGeom prst="roundRect">
            <a:avLst>
              <a:gd fmla="val 2439"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txBox="1"/>
          <p:nvPr/>
        </p:nvSpPr>
        <p:spPr>
          <a:xfrm>
            <a:off x="896112" y="2441448"/>
            <a:ext cx="277977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A few classes a day</a:t>
            </a:r>
            <a:endParaRPr b="0" i="0" sz="1700" u="none" cap="none" strike="noStrike">
              <a:solidFill>
                <a:schemeClr val="dk1"/>
              </a:solidFill>
              <a:latin typeface="Calibri"/>
              <a:ea typeface="Calibri"/>
              <a:cs typeface="Calibri"/>
              <a:sym typeface="Calibri"/>
            </a:endParaRPr>
          </a:p>
        </p:txBody>
      </p:sp>
      <p:sp>
        <p:nvSpPr>
          <p:cNvPr id="35" name="Google Shape;35;p2"/>
          <p:cNvSpPr txBox="1"/>
          <p:nvPr/>
        </p:nvSpPr>
        <p:spPr>
          <a:xfrm>
            <a:off x="896112" y="2971800"/>
            <a:ext cx="2779776" cy="94183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That was a fair output for one developer writing the code and its unit tests together.</a:t>
            </a:r>
            <a:endParaRPr b="0" i="0" sz="1400" u="none" cap="none" strike="noStrike">
              <a:solidFill>
                <a:schemeClr val="dk1"/>
              </a:solidFill>
              <a:latin typeface="Calibri"/>
              <a:ea typeface="Calibri"/>
              <a:cs typeface="Calibri"/>
              <a:sym typeface="Calibri"/>
            </a:endParaRPr>
          </a:p>
        </p:txBody>
      </p:sp>
      <p:sp>
        <p:nvSpPr>
          <p:cNvPr id="36" name="Google Shape;36;p2"/>
          <p:cNvSpPr/>
          <p:nvPr/>
        </p:nvSpPr>
        <p:spPr>
          <a:xfrm>
            <a:off x="4251960" y="2240280"/>
            <a:ext cx="3291840" cy="1874520"/>
          </a:xfrm>
          <a:prstGeom prst="roundRect">
            <a:avLst>
              <a:gd fmla="val 2439"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txBox="1"/>
          <p:nvPr/>
        </p:nvSpPr>
        <p:spPr>
          <a:xfrm>
            <a:off x="4507992" y="2441448"/>
            <a:ext cx="277977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Boundary cases from memory</a:t>
            </a:r>
            <a:endParaRPr b="0" i="0" sz="1700" u="none" cap="none" strike="noStrike">
              <a:solidFill>
                <a:schemeClr val="dk1"/>
              </a:solidFill>
              <a:latin typeface="Calibri"/>
              <a:ea typeface="Calibri"/>
              <a:cs typeface="Calibri"/>
              <a:sym typeface="Calibri"/>
            </a:endParaRPr>
          </a:p>
        </p:txBody>
      </p:sp>
      <p:sp>
        <p:nvSpPr>
          <p:cNvPr id="38" name="Google Shape;38;p2"/>
          <p:cNvSpPr txBox="1"/>
          <p:nvPr/>
        </p:nvSpPr>
        <p:spPr>
          <a:xfrm>
            <a:off x="4507992" y="2971800"/>
            <a:ext cx="2779776" cy="94183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Negative amounts, fractions, very large values and very small ones. You thought of each case yourself, and you missed some.</a:t>
            </a:r>
            <a:endParaRPr b="0" i="0" sz="1400" u="none" cap="none" strike="noStrike">
              <a:solidFill>
                <a:schemeClr val="dk1"/>
              </a:solidFill>
              <a:latin typeface="Calibri"/>
              <a:ea typeface="Calibri"/>
              <a:cs typeface="Calibri"/>
              <a:sym typeface="Calibri"/>
            </a:endParaRPr>
          </a:p>
        </p:txBody>
      </p:sp>
      <p:sp>
        <p:nvSpPr>
          <p:cNvPr id="39" name="Google Shape;39;p2"/>
          <p:cNvSpPr/>
          <p:nvPr/>
        </p:nvSpPr>
        <p:spPr>
          <a:xfrm>
            <a:off x="7863840" y="2240280"/>
            <a:ext cx="3291840" cy="1874520"/>
          </a:xfrm>
          <a:prstGeom prst="roundRect">
            <a:avLst>
              <a:gd fmla="val 2439"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txBox="1"/>
          <p:nvPr/>
        </p:nvSpPr>
        <p:spPr>
          <a:xfrm>
            <a:off x="8119872" y="2441448"/>
            <a:ext cx="277977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Tests on every merge</a:t>
            </a:r>
            <a:endParaRPr b="0" i="0" sz="1700" u="none" cap="none" strike="noStrike">
              <a:solidFill>
                <a:schemeClr val="dk1"/>
              </a:solidFill>
              <a:latin typeface="Calibri"/>
              <a:ea typeface="Calibri"/>
              <a:cs typeface="Calibri"/>
              <a:sym typeface="Calibri"/>
            </a:endParaRPr>
          </a:p>
        </p:txBody>
      </p:sp>
      <p:sp>
        <p:nvSpPr>
          <p:cNvPr id="41" name="Google Shape;41;p2"/>
          <p:cNvSpPr txBox="1"/>
          <p:nvPr/>
        </p:nvSpPr>
        <p:spPr>
          <a:xfrm>
            <a:off x="8119872" y="2971800"/>
            <a:ext cx="2779776" cy="94183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Unit, integration and end to end. The discipline was the point, and it took real time.</a:t>
            </a:r>
            <a:endParaRPr b="0" i="0" sz="1400" u="none" cap="none" strike="noStrike">
              <a:solidFill>
                <a:schemeClr val="dk1"/>
              </a:solidFill>
              <a:latin typeface="Calibri"/>
              <a:ea typeface="Calibri"/>
              <a:cs typeface="Calibri"/>
              <a:sym typeface="Calibri"/>
            </a:endParaRPr>
          </a:p>
        </p:txBody>
      </p:sp>
      <p:sp>
        <p:nvSpPr>
          <p:cNvPr id="42" name="Google Shape;42;p2"/>
          <p:cNvSpPr txBox="1"/>
          <p:nvPr/>
        </p:nvSpPr>
        <p:spPr>
          <a:xfrm>
            <a:off x="640080" y="457200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111827"/>
              </a:buClr>
              <a:buSzPts val="2100"/>
              <a:buFont typeface="Calibri"/>
              <a:buNone/>
            </a:pPr>
            <a:r>
              <a:rPr b="0" i="0" lang="en-US" sz="2100" u="none" cap="none" strike="noStrike">
                <a:solidFill>
                  <a:srgbClr val="111827"/>
                </a:solidFill>
                <a:latin typeface="Calibri"/>
                <a:ea typeface="Calibri"/>
                <a:cs typeface="Calibri"/>
                <a:sym typeface="Calibri"/>
              </a:rPr>
              <a:t>The limit was never a shortage of ideas. It was how quickly a person could write the cases down.</a:t>
            </a:r>
            <a:endParaRPr b="0" i="0" sz="2100" u="none" cap="none" strike="noStrike">
              <a:solidFill>
                <a:schemeClr val="dk1"/>
              </a:solidFill>
              <a:latin typeface="Calibri"/>
              <a:ea typeface="Calibri"/>
              <a:cs typeface="Calibri"/>
              <a:sym typeface="Calibri"/>
            </a:endParaRPr>
          </a:p>
        </p:txBody>
      </p:sp>
      <p:sp>
        <p:nvSpPr>
          <p:cNvPr id="43" name="Google Shape;43;p2"/>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 name="Shape 48"/>
        <p:cNvGrpSpPr/>
        <p:nvPr/>
      </p:nvGrpSpPr>
      <p:grpSpPr>
        <a:xfrm>
          <a:off x="0" y="0"/>
          <a:ext cx="0" cy="0"/>
          <a:chOff x="0" y="0"/>
          <a:chExt cx="0" cy="0"/>
        </a:xfrm>
      </p:grpSpPr>
      <p:sp>
        <p:nvSpPr>
          <p:cNvPr id="49" name="Google Shape;49;p3"/>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02 · TDD</a:t>
            </a:r>
            <a:endParaRPr b="0" i="0" sz="1100" u="none" cap="none" strike="noStrike">
              <a:solidFill>
                <a:schemeClr val="dk1"/>
              </a:solidFill>
              <a:latin typeface="Calibri"/>
              <a:ea typeface="Calibri"/>
              <a:cs typeface="Calibri"/>
              <a:sym typeface="Calibri"/>
            </a:endParaRPr>
          </a:p>
        </p:txBody>
      </p:sp>
      <p:sp>
        <p:nvSpPr>
          <p:cNvPr id="50" name="Google Shape;50;p3"/>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51" name="Google Shape;51;p3"/>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TDD is simple to describe, and most teams still do not practise it</a:t>
            </a:r>
            <a:endParaRPr b="0" i="0" sz="3200" u="none" cap="none" strike="noStrike">
              <a:solidFill>
                <a:schemeClr val="dk1"/>
              </a:solidFill>
              <a:latin typeface="Calibri"/>
              <a:ea typeface="Calibri"/>
              <a:cs typeface="Calibri"/>
              <a:sym typeface="Calibri"/>
            </a:endParaRPr>
          </a:p>
        </p:txBody>
      </p:sp>
      <p:sp>
        <p:nvSpPr>
          <p:cNvPr id="52" name="Google Shape;52;p3"/>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Write the empty function, write the tests that fail against it, then write the code that makes them pass.</a:t>
            </a:r>
            <a:endParaRPr b="0" i="0" sz="1600" u="none" cap="none" strike="noStrike">
              <a:solidFill>
                <a:schemeClr val="dk1"/>
              </a:solidFill>
              <a:latin typeface="Calibri"/>
              <a:ea typeface="Calibri"/>
              <a:cs typeface="Calibri"/>
              <a:sym typeface="Calibri"/>
            </a:endParaRPr>
          </a:p>
        </p:txBody>
      </p:sp>
      <p:sp>
        <p:nvSpPr>
          <p:cNvPr id="53" name="Google Shape;53;p3"/>
          <p:cNvSpPr/>
          <p:nvPr/>
        </p:nvSpPr>
        <p:spPr>
          <a:xfrm>
            <a:off x="640080" y="2194560"/>
            <a:ext cx="5257800" cy="1645920"/>
          </a:xfrm>
          <a:prstGeom prst="roundRect">
            <a:avLst>
              <a:gd fmla="val 2778"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txBox="1"/>
          <p:nvPr/>
        </p:nvSpPr>
        <p:spPr>
          <a:xfrm>
            <a:off x="896112" y="239572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600"/>
              <a:buFont typeface="Calibri"/>
              <a:buNone/>
            </a:pPr>
            <a:r>
              <a:rPr b="1" i="0" lang="en-US" sz="1600" u="none" cap="none" strike="noStrike">
                <a:solidFill>
                  <a:srgbClr val="111827"/>
                </a:solidFill>
                <a:latin typeface="Calibri"/>
                <a:ea typeface="Calibri"/>
                <a:cs typeface="Calibri"/>
                <a:sym typeface="Calibri"/>
              </a:rPr>
              <a:t>Writing code is how many of us think</a:t>
            </a:r>
            <a:endParaRPr b="0" i="0" sz="1600" u="none" cap="none" strike="noStrike">
              <a:solidFill>
                <a:schemeClr val="dk1"/>
              </a:solidFill>
              <a:latin typeface="Calibri"/>
              <a:ea typeface="Calibri"/>
              <a:cs typeface="Calibri"/>
              <a:sym typeface="Calibri"/>
            </a:endParaRPr>
          </a:p>
        </p:txBody>
      </p:sp>
      <p:sp>
        <p:nvSpPr>
          <p:cNvPr id="55" name="Google Shape;55;p3"/>
          <p:cNvSpPr txBox="1"/>
          <p:nvPr/>
        </p:nvSpPr>
        <p:spPr>
          <a:xfrm>
            <a:off x="896112" y="2926080"/>
            <a:ext cx="4745736" cy="71323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Developers want to see the path in their head first, so writing the assertions up front can feel like delivering the punch line before the joke.</a:t>
            </a:r>
            <a:endParaRPr b="0" i="0" sz="1400" u="none" cap="none" strike="noStrike">
              <a:solidFill>
                <a:schemeClr val="dk1"/>
              </a:solidFill>
              <a:latin typeface="Calibri"/>
              <a:ea typeface="Calibri"/>
              <a:cs typeface="Calibri"/>
              <a:sym typeface="Calibri"/>
            </a:endParaRPr>
          </a:p>
        </p:txBody>
      </p:sp>
      <p:sp>
        <p:nvSpPr>
          <p:cNvPr id="56" name="Google Shape;56;p3"/>
          <p:cNvSpPr/>
          <p:nvPr/>
        </p:nvSpPr>
        <p:spPr>
          <a:xfrm>
            <a:off x="6172200" y="2194560"/>
            <a:ext cx="5257800" cy="1645920"/>
          </a:xfrm>
          <a:prstGeom prst="roundRect">
            <a:avLst>
              <a:gd fmla="val 2778"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txBox="1"/>
          <p:nvPr/>
        </p:nvSpPr>
        <p:spPr>
          <a:xfrm>
            <a:off x="6428232" y="239572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600"/>
              <a:buFont typeface="Calibri"/>
              <a:buNone/>
            </a:pPr>
            <a:r>
              <a:rPr b="1" i="0" lang="en-US" sz="1600" u="none" cap="none" strike="noStrike">
                <a:solidFill>
                  <a:srgbClr val="111827"/>
                </a:solidFill>
                <a:latin typeface="Calibri"/>
                <a:ea typeface="Calibri"/>
                <a:cs typeface="Calibri"/>
                <a:sym typeface="Calibri"/>
              </a:rPr>
              <a:t>The incentives point somewhere else</a:t>
            </a:r>
            <a:endParaRPr b="0" i="0" sz="1600" u="none" cap="none" strike="noStrike">
              <a:solidFill>
                <a:schemeClr val="dk1"/>
              </a:solidFill>
              <a:latin typeface="Calibri"/>
              <a:ea typeface="Calibri"/>
              <a:cs typeface="Calibri"/>
              <a:sym typeface="Calibri"/>
            </a:endParaRPr>
          </a:p>
        </p:txBody>
      </p:sp>
      <p:sp>
        <p:nvSpPr>
          <p:cNvPr id="58" name="Google Shape;58;p3"/>
          <p:cNvSpPr txBox="1"/>
          <p:nvPr/>
        </p:nvSpPr>
        <p:spPr>
          <a:xfrm>
            <a:off x="6428232" y="2926080"/>
            <a:ext cx="4745736" cy="71323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People are asked whether the feature is finished. They are rarely asked whether the cases are covered.</a:t>
            </a:r>
            <a:endParaRPr b="0" i="0" sz="1400" u="none" cap="none" strike="noStrike">
              <a:solidFill>
                <a:schemeClr val="dk1"/>
              </a:solidFill>
              <a:latin typeface="Calibri"/>
              <a:ea typeface="Calibri"/>
              <a:cs typeface="Calibri"/>
              <a:sym typeface="Calibri"/>
            </a:endParaRPr>
          </a:p>
        </p:txBody>
      </p:sp>
      <p:sp>
        <p:nvSpPr>
          <p:cNvPr id="59" name="Google Shape;59;p3"/>
          <p:cNvSpPr/>
          <p:nvPr/>
        </p:nvSpPr>
        <p:spPr>
          <a:xfrm>
            <a:off x="640080" y="3977640"/>
            <a:ext cx="5257800" cy="1645920"/>
          </a:xfrm>
          <a:prstGeom prst="roundRect">
            <a:avLst>
              <a:gd fmla="val 2778" name="adj"/>
            </a:avLst>
          </a:prstGeom>
          <a:solidFill>
            <a:srgbClr val="FDF0DC"/>
          </a:solidFill>
          <a:ln cap="flat" cmpd="sng" w="13950">
            <a:solidFill>
              <a:srgbClr val="B26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txBox="1"/>
          <p:nvPr/>
        </p:nvSpPr>
        <p:spPr>
          <a:xfrm>
            <a:off x="896112" y="417880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600"/>
              <a:buFont typeface="Calibri"/>
              <a:buNone/>
            </a:pPr>
            <a:r>
              <a:rPr b="1" i="0" lang="en-US" sz="1600" u="none" cap="none" strike="noStrike">
                <a:solidFill>
                  <a:srgbClr val="111827"/>
                </a:solidFill>
                <a:latin typeface="Calibri"/>
                <a:ea typeface="Calibri"/>
                <a:cs typeface="Calibri"/>
                <a:sym typeface="Calibri"/>
              </a:rPr>
              <a:t>There is a QA team down the hall</a:t>
            </a:r>
            <a:endParaRPr b="0" i="0" sz="1600" u="none" cap="none" strike="noStrike">
              <a:solidFill>
                <a:schemeClr val="dk1"/>
              </a:solidFill>
              <a:latin typeface="Calibri"/>
              <a:ea typeface="Calibri"/>
              <a:cs typeface="Calibri"/>
              <a:sym typeface="Calibri"/>
            </a:endParaRPr>
          </a:p>
        </p:txBody>
      </p:sp>
      <p:sp>
        <p:nvSpPr>
          <p:cNvPr id="61" name="Google Shape;61;p3"/>
          <p:cNvSpPr txBox="1"/>
          <p:nvPr/>
        </p:nvSpPr>
        <p:spPr>
          <a:xfrm>
            <a:off x="896112" y="4709160"/>
            <a:ext cx="4745736" cy="71323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When someone else is accountable for testing, careful testing tends to stop and the ticket simply comes back.</a:t>
            </a:r>
            <a:endParaRPr b="0" i="0" sz="1400" u="none" cap="none" strike="noStrike">
              <a:solidFill>
                <a:schemeClr val="dk1"/>
              </a:solidFill>
              <a:latin typeface="Calibri"/>
              <a:ea typeface="Calibri"/>
              <a:cs typeface="Calibri"/>
              <a:sym typeface="Calibri"/>
            </a:endParaRPr>
          </a:p>
        </p:txBody>
      </p:sp>
      <p:sp>
        <p:nvSpPr>
          <p:cNvPr id="62" name="Google Shape;62;p3"/>
          <p:cNvSpPr/>
          <p:nvPr/>
        </p:nvSpPr>
        <p:spPr>
          <a:xfrm>
            <a:off x="6172200" y="3977640"/>
            <a:ext cx="5257800" cy="1645920"/>
          </a:xfrm>
          <a:prstGeom prst="roundRect">
            <a:avLst>
              <a:gd fmla="val 2778" name="adj"/>
            </a:avLst>
          </a:prstGeom>
          <a:solidFill>
            <a:srgbClr val="FDF0DC"/>
          </a:solidFill>
          <a:ln cap="flat" cmpd="sng" w="13950">
            <a:solidFill>
              <a:srgbClr val="B26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txBox="1"/>
          <p:nvPr/>
        </p:nvSpPr>
        <p:spPr>
          <a:xfrm>
            <a:off x="6428232" y="417880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600"/>
              <a:buFont typeface="Calibri"/>
              <a:buNone/>
            </a:pPr>
            <a:r>
              <a:rPr b="1" i="0" lang="en-US" sz="1600" u="none" cap="none" strike="noStrike">
                <a:solidFill>
                  <a:srgbClr val="111827"/>
                </a:solidFill>
                <a:latin typeface="Calibri"/>
                <a:ea typeface="Calibri"/>
                <a:cs typeface="Calibri"/>
                <a:sym typeface="Calibri"/>
              </a:rPr>
              <a:t>Deadlines win in the end</a:t>
            </a:r>
            <a:endParaRPr b="0" i="0" sz="1600" u="none" cap="none" strike="noStrike">
              <a:solidFill>
                <a:schemeClr val="dk1"/>
              </a:solidFill>
              <a:latin typeface="Calibri"/>
              <a:ea typeface="Calibri"/>
              <a:cs typeface="Calibri"/>
              <a:sym typeface="Calibri"/>
            </a:endParaRPr>
          </a:p>
        </p:txBody>
      </p:sp>
      <p:sp>
        <p:nvSpPr>
          <p:cNvPr id="64" name="Google Shape;64;p3"/>
          <p:cNvSpPr txBox="1"/>
          <p:nvPr/>
        </p:nvSpPr>
        <p:spPr>
          <a:xfrm>
            <a:off x="6428232" y="4709160"/>
            <a:ext cx="4745736" cy="71323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The practice holds while the code base is small, and it tends to be set aside once the schedule tightens.</a:t>
            </a:r>
            <a:endParaRPr b="0" i="0" sz="1400" u="none" cap="none" strike="noStrike">
              <a:solidFill>
                <a:schemeClr val="dk1"/>
              </a:solidFill>
              <a:latin typeface="Calibri"/>
              <a:ea typeface="Calibri"/>
              <a:cs typeface="Calibri"/>
              <a:sym typeface="Calibri"/>
            </a:endParaRPr>
          </a:p>
        </p:txBody>
      </p:sp>
      <p:sp>
        <p:nvSpPr>
          <p:cNvPr id="65" name="Google Shape;65;p3"/>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4"/>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02 · TDD</a:t>
            </a:r>
            <a:endParaRPr b="0" i="0" sz="1100" u="none" cap="none" strike="noStrike">
              <a:solidFill>
                <a:schemeClr val="dk1"/>
              </a:solidFill>
              <a:latin typeface="Calibri"/>
              <a:ea typeface="Calibri"/>
              <a:cs typeface="Calibri"/>
              <a:sym typeface="Calibri"/>
            </a:endParaRPr>
          </a:p>
        </p:txBody>
      </p:sp>
      <p:sp>
        <p:nvSpPr>
          <p:cNvPr id="72" name="Google Shape;72;p4"/>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73" name="Google Shape;73;p4"/>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What tends to happen instead</a:t>
            </a:r>
            <a:endParaRPr b="0" i="0" sz="3200" u="none" cap="none" strike="noStrike">
              <a:solidFill>
                <a:schemeClr val="dk1"/>
              </a:solidFill>
              <a:latin typeface="Calibri"/>
              <a:ea typeface="Calibri"/>
              <a:cs typeface="Calibri"/>
              <a:sym typeface="Calibri"/>
            </a:endParaRPr>
          </a:p>
        </p:txBody>
      </p:sp>
      <p:pic>
        <p:nvPicPr>
          <p:cNvPr descr="/home/claude/pdc/img/qa_loop.png" id="74" name="Google Shape;74;p4"/>
          <p:cNvPicPr preferRelativeResize="0"/>
          <p:nvPr/>
        </p:nvPicPr>
        <p:blipFill rotWithShape="1">
          <a:blip r:embed="rId3">
            <a:alphaModFix/>
          </a:blip>
          <a:srcRect b="0" l="0" r="0" t="0"/>
          <a:stretch/>
        </p:blipFill>
        <p:spPr>
          <a:xfrm>
            <a:off x="640080" y="1417320"/>
            <a:ext cx="10881360" cy="4149671"/>
          </a:xfrm>
          <a:prstGeom prst="rect">
            <a:avLst/>
          </a:prstGeom>
          <a:noFill/>
          <a:ln>
            <a:noFill/>
          </a:ln>
        </p:spPr>
      </p:pic>
      <p:sp>
        <p:nvSpPr>
          <p:cNvPr id="75" name="Google Shape;75;p4"/>
          <p:cNvSpPr txBox="1"/>
          <p:nvPr/>
        </p:nvSpPr>
        <p:spPr>
          <a:xfrm>
            <a:off x="640080" y="553212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Each patch made without coverage is another chance to break something nearby, so the ticket comes back. Management then asks for automated testing, and the automation has its own catching up to do.</a:t>
            </a:r>
            <a:endParaRPr b="0" i="0" sz="1600" u="none" cap="none" strike="noStrike">
              <a:solidFill>
                <a:schemeClr val="dk1"/>
              </a:solidFill>
              <a:latin typeface="Calibri"/>
              <a:ea typeface="Calibri"/>
              <a:cs typeface="Calibri"/>
              <a:sym typeface="Calibri"/>
            </a:endParaRPr>
          </a:p>
        </p:txBody>
      </p:sp>
      <p:sp>
        <p:nvSpPr>
          <p:cNvPr id="76" name="Google Shape;76;p4"/>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5"/>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02 · TDD</a:t>
            </a:r>
            <a:endParaRPr b="0" i="0" sz="1100" u="none" cap="none" strike="noStrike">
              <a:solidFill>
                <a:schemeClr val="dk1"/>
              </a:solidFill>
              <a:latin typeface="Calibri"/>
              <a:ea typeface="Calibri"/>
              <a:cs typeface="Calibri"/>
              <a:sym typeface="Calibri"/>
            </a:endParaRPr>
          </a:p>
        </p:txBody>
      </p:sp>
      <p:sp>
        <p:nvSpPr>
          <p:cNvPr id="83" name="Google Shape;83;p5"/>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84" name="Google Shape;84;p5"/>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Even with TDD, quality tends to move in a cycle</a:t>
            </a:r>
            <a:endParaRPr b="0" i="0" sz="3200" u="none" cap="none" strike="noStrike">
              <a:solidFill>
                <a:schemeClr val="dk1"/>
              </a:solidFill>
              <a:latin typeface="Calibri"/>
              <a:ea typeface="Calibri"/>
              <a:cs typeface="Calibri"/>
              <a:sym typeface="Calibri"/>
            </a:endParaRPr>
          </a:p>
        </p:txBody>
      </p:sp>
      <p:sp>
        <p:nvSpPr>
          <p:cNvPr id="85" name="Google Shape;85;p5"/>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A green suite can give a comfortable feeling that everything works, and cases still get missed.</a:t>
            </a:r>
            <a:endParaRPr b="0" i="0" sz="1600" u="none" cap="none" strike="noStrike">
              <a:solidFill>
                <a:schemeClr val="dk1"/>
              </a:solidFill>
              <a:latin typeface="Calibri"/>
              <a:ea typeface="Calibri"/>
              <a:cs typeface="Calibri"/>
              <a:sym typeface="Calibri"/>
            </a:endParaRPr>
          </a:p>
        </p:txBody>
      </p:sp>
      <p:pic>
        <p:nvPicPr>
          <p:cNvPr descr="/home/claude/pdc/img/cycle.png" id="86" name="Google Shape;86;p5"/>
          <p:cNvPicPr preferRelativeResize="0"/>
          <p:nvPr/>
        </p:nvPicPr>
        <p:blipFill rotWithShape="1">
          <a:blip r:embed="rId3">
            <a:alphaModFix/>
          </a:blip>
          <a:srcRect b="0" l="0" r="0" t="0"/>
          <a:stretch/>
        </p:blipFill>
        <p:spPr>
          <a:xfrm>
            <a:off x="1618488" y="1874520"/>
            <a:ext cx="8961120" cy="4252735"/>
          </a:xfrm>
          <a:prstGeom prst="rect">
            <a:avLst/>
          </a:prstGeom>
          <a:noFill/>
          <a:ln>
            <a:noFill/>
          </a:ln>
        </p:spPr>
      </p:pic>
      <p:sp>
        <p:nvSpPr>
          <p:cNvPr id="87" name="Google Shape;87;p5"/>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20"/>
        </a:solidFill>
      </p:bgPr>
    </p:bg>
    <p:spTree>
      <p:nvGrpSpPr>
        <p:cNvPr id="92" name="Shape 92"/>
        <p:cNvGrpSpPr/>
        <p:nvPr/>
      </p:nvGrpSpPr>
      <p:grpSpPr>
        <a:xfrm>
          <a:off x="0" y="0"/>
          <a:ext cx="0" cy="0"/>
          <a:chOff x="0" y="0"/>
          <a:chExt cx="0" cy="0"/>
        </a:xfrm>
      </p:grpSpPr>
      <p:sp>
        <p:nvSpPr>
          <p:cNvPr id="93" name="Google Shape;93;p6"/>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03 · THE CALL WE GET</a:t>
            </a:r>
            <a:endParaRPr b="0" i="0" sz="1100" u="none" cap="none" strike="noStrike">
              <a:solidFill>
                <a:schemeClr val="dk1"/>
              </a:solidFill>
              <a:latin typeface="Calibri"/>
              <a:ea typeface="Calibri"/>
              <a:cs typeface="Calibri"/>
              <a:sym typeface="Calibri"/>
            </a:endParaRPr>
          </a:p>
        </p:txBody>
      </p:sp>
      <p:sp>
        <p:nvSpPr>
          <p:cNvPr id="94" name="Google Shape;94;p6"/>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Calibri"/>
              <a:buNone/>
            </a:pPr>
            <a:r>
              <a:rPr b="0" i="0" lang="en-US" sz="1000" u="none" cap="none" strike="noStrike">
                <a:solidFill>
                  <a:srgbClr val="6B7A90"/>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95" name="Google Shape;95;p6"/>
          <p:cNvSpPr txBox="1"/>
          <p:nvPr/>
        </p:nvSpPr>
        <p:spPr>
          <a:xfrm>
            <a:off x="640080" y="187452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“Our software is like a 1995 Pontiac. It still runs,</a:t>
            </a:r>
            <a:endParaRPr b="0" i="0" sz="3000" u="none" cap="none" strike="noStrike">
              <a:solidFill>
                <a:schemeClr val="dk1"/>
              </a:solidFill>
              <a:latin typeface="Calibri"/>
              <a:ea typeface="Calibri"/>
              <a:cs typeface="Calibri"/>
              <a:sym typeface="Calibri"/>
            </a:endParaRPr>
          </a:p>
        </p:txBody>
      </p:sp>
      <p:sp>
        <p:nvSpPr>
          <p:cNvPr id="96" name="Google Shape;96;p6"/>
          <p:cNvSpPr txBox="1"/>
          <p:nvPr/>
        </p:nvSpPr>
        <p:spPr>
          <a:xfrm>
            <a:off x="640080" y="2487168"/>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but a warning light comes on every time you drive it.”</a:t>
            </a:r>
            <a:endParaRPr b="0" i="0" sz="3000" u="none" cap="none" strike="noStrike">
              <a:solidFill>
                <a:schemeClr val="dk1"/>
              </a:solidFill>
              <a:latin typeface="Calibri"/>
              <a:ea typeface="Calibri"/>
              <a:cs typeface="Calibri"/>
              <a:sym typeface="Calibri"/>
            </a:endParaRPr>
          </a:p>
        </p:txBody>
      </p:sp>
      <p:sp>
        <p:nvSpPr>
          <p:cNvPr id="97" name="Google Shape;97;p6"/>
          <p:cNvSpPr txBox="1"/>
          <p:nvPr/>
        </p:nvSpPr>
        <p:spPr>
          <a:xfrm>
            <a:off x="640080" y="338328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BACB"/>
              </a:buClr>
              <a:buSzPts val="1800"/>
              <a:buFont typeface="Calibri"/>
              <a:buNone/>
            </a:pPr>
            <a:r>
              <a:rPr b="0" i="0" lang="en-US" sz="1800" u="none" cap="none" strike="noStrike">
                <a:solidFill>
                  <a:srgbClr val="AFBACB"/>
                </a:solidFill>
                <a:latin typeface="Calibri"/>
                <a:ea typeface="Calibri"/>
                <a:cs typeface="Calibri"/>
                <a:sym typeface="Calibri"/>
              </a:rPr>
              <a:t>You fix the tail lights and the headlights go out. Then smoke comes out of the engine.</a:t>
            </a:r>
            <a:endParaRPr b="0" i="0" sz="1800" u="none" cap="none" strike="noStrike">
              <a:solidFill>
                <a:schemeClr val="dk1"/>
              </a:solidFill>
              <a:latin typeface="Calibri"/>
              <a:ea typeface="Calibri"/>
              <a:cs typeface="Calibri"/>
              <a:sym typeface="Calibri"/>
            </a:endParaRPr>
          </a:p>
        </p:txBody>
      </p:sp>
      <p:sp>
        <p:nvSpPr>
          <p:cNvPr id="98" name="Google Shape;98;p6"/>
          <p:cNvSpPr txBox="1"/>
          <p:nvPr/>
        </p:nvSpPr>
        <p:spPr>
          <a:xfrm>
            <a:off x="640080" y="397764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9BE8"/>
              </a:buClr>
              <a:buSzPts val="1900"/>
              <a:buFont typeface="Calibri"/>
              <a:buNone/>
            </a:pPr>
            <a:r>
              <a:rPr b="0" i="0" lang="en-US" sz="1900" u="none" cap="none" strike="noStrike">
                <a:solidFill>
                  <a:srgbClr val="4E9BE8"/>
                </a:solidFill>
                <a:latin typeface="Calibri"/>
                <a:ea typeface="Calibri"/>
                <a:cs typeface="Calibri"/>
                <a:sym typeface="Calibri"/>
              </a:rPr>
              <a:t>They wanted a Corvette, and they were quite clear that a second-hand one would do.</a:t>
            </a:r>
            <a:endParaRPr b="0" i="0" sz="1900" u="none" cap="none" strike="noStrike">
              <a:solidFill>
                <a:schemeClr val="dk1"/>
              </a:solidFill>
              <a:latin typeface="Calibri"/>
              <a:ea typeface="Calibri"/>
              <a:cs typeface="Calibri"/>
              <a:sym typeface="Calibri"/>
            </a:endParaRPr>
          </a:p>
        </p:txBody>
      </p:sp>
      <p:sp>
        <p:nvSpPr>
          <p:cNvPr id="99" name="Google Shape;99;p6"/>
          <p:cNvSpPr txBox="1"/>
          <p:nvPr/>
        </p:nvSpPr>
        <p:spPr>
          <a:xfrm>
            <a:off x="640080" y="475488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400"/>
              <a:buFont typeface="Courier New"/>
              <a:buNone/>
            </a:pPr>
            <a:r>
              <a:rPr b="0" i="0" lang="en-US" sz="1400" u="none" cap="none" strike="noStrike">
                <a:solidFill>
                  <a:srgbClr val="6B7A90"/>
                </a:solidFill>
                <a:latin typeface="Courier New"/>
                <a:ea typeface="Courier New"/>
                <a:cs typeface="Courier New"/>
                <a:sym typeface="Courier New"/>
              </a:rPr>
              <a:t>— an executive, at the start of an engagement</a:t>
            </a:r>
            <a:endParaRPr b="0" i="0" sz="1400" u="none" cap="none" strike="noStrike">
              <a:solidFill>
                <a:schemeClr val="dk1"/>
              </a:solidFill>
              <a:latin typeface="Calibri"/>
              <a:ea typeface="Calibri"/>
              <a:cs typeface="Calibri"/>
              <a:sym typeface="Calibri"/>
            </a:endParaRPr>
          </a:p>
        </p:txBody>
      </p:sp>
      <p:sp>
        <p:nvSpPr>
          <p:cNvPr id="100" name="Google Shape;100;p6"/>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6B7A90"/>
                </a:solidFill>
                <a:latin typeface="Calibri"/>
                <a:ea typeface="Calibri"/>
                <a:cs typeface="Calibri"/>
                <a:sym typeface="Calibri"/>
              </a:rPr>
              <a:t>‹#›</a:t>
            </a:fld>
            <a:endParaRPr b="0" i="0" sz="1000" u="none" cap="none" strike="noStrike">
              <a:solidFill>
                <a:srgbClr val="6B7A9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7"/>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03 · THE CALL WE GET</a:t>
            </a:r>
            <a:endParaRPr b="0" i="0" sz="1100" u="none" cap="none" strike="noStrike">
              <a:solidFill>
                <a:schemeClr val="dk1"/>
              </a:solidFill>
              <a:latin typeface="Calibri"/>
              <a:ea typeface="Calibri"/>
              <a:cs typeface="Calibri"/>
              <a:sym typeface="Calibri"/>
            </a:endParaRPr>
          </a:p>
        </p:txBody>
      </p:sp>
      <p:sp>
        <p:nvSpPr>
          <p:cNvPr id="107" name="Google Shape;107;p7"/>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108" name="Google Shape;108;p7"/>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How one of these rescues ran, before we had LLMs</a:t>
            </a:r>
            <a:endParaRPr b="0" i="0" sz="3200" u="none" cap="none" strike="noStrike">
              <a:solidFill>
                <a:schemeClr val="dk1"/>
              </a:solidFill>
              <a:latin typeface="Calibri"/>
              <a:ea typeface="Calibri"/>
              <a:cs typeface="Calibri"/>
              <a:sym typeface="Calibri"/>
            </a:endParaRPr>
          </a:p>
        </p:txBody>
      </p:sp>
      <p:pic>
        <p:nvPicPr>
          <p:cNvPr descr="/home/claude/pdc/img/legacy_timeline.png" id="109" name="Google Shape;109;p7"/>
          <p:cNvPicPr preferRelativeResize="0"/>
          <p:nvPr/>
        </p:nvPicPr>
        <p:blipFill rotWithShape="1">
          <a:blip r:embed="rId3">
            <a:alphaModFix/>
          </a:blip>
          <a:srcRect b="0" l="0" r="0" t="0"/>
          <a:stretch/>
        </p:blipFill>
        <p:spPr>
          <a:xfrm>
            <a:off x="640080" y="1463040"/>
            <a:ext cx="10881360" cy="3780812"/>
          </a:xfrm>
          <a:prstGeom prst="rect">
            <a:avLst/>
          </a:prstGeom>
          <a:noFill/>
          <a:ln>
            <a:noFill/>
          </a:ln>
        </p:spPr>
      </p:pic>
      <p:sp>
        <p:nvSpPr>
          <p:cNvPr id="110" name="Google Shape;110;p7"/>
          <p:cNvSpPr txBox="1"/>
          <p:nvPr/>
        </p:nvSpPr>
        <p:spPr>
          <a:xfrm>
            <a:off x="640080" y="544068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On that engagement the code base was more than ten years old, running on a version of DB2 that had never been upgraded, and the executives wanted to move to Postgres for the licensing and the speed.</a:t>
            </a:r>
            <a:endParaRPr b="0" i="0" sz="1600" u="none" cap="none" strike="noStrike">
              <a:solidFill>
                <a:schemeClr val="dk1"/>
              </a:solidFill>
              <a:latin typeface="Calibri"/>
              <a:ea typeface="Calibri"/>
              <a:cs typeface="Calibri"/>
              <a:sym typeface="Calibri"/>
            </a:endParaRPr>
          </a:p>
        </p:txBody>
      </p:sp>
      <p:sp>
        <p:nvSpPr>
          <p:cNvPr id="111" name="Google Shape;111;p7"/>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8"/>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04 · THEN LLMs ARRIVED</a:t>
            </a:r>
            <a:endParaRPr b="0" i="0" sz="1100" u="none" cap="none" strike="noStrike">
              <a:solidFill>
                <a:schemeClr val="dk1"/>
              </a:solidFill>
              <a:latin typeface="Calibri"/>
              <a:ea typeface="Calibri"/>
              <a:cs typeface="Calibri"/>
              <a:sym typeface="Calibri"/>
            </a:endParaRPr>
          </a:p>
        </p:txBody>
      </p:sp>
      <p:sp>
        <p:nvSpPr>
          <p:cNvPr id="118" name="Google Shape;118;p8"/>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119" name="Google Shape;119;p8"/>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2900"/>
              <a:buFont typeface="Calibri"/>
              <a:buNone/>
            </a:pPr>
            <a:r>
              <a:rPr b="1" i="0" lang="en-US" sz="2900" u="none" cap="none" strike="noStrike">
                <a:solidFill>
                  <a:srgbClr val="111827"/>
                </a:solidFill>
                <a:latin typeface="Calibri"/>
                <a:ea typeface="Calibri"/>
                <a:cs typeface="Calibri"/>
                <a:sym typeface="Calibri"/>
              </a:rPr>
              <a:t>The model took over the writing, and the checking stayed where it was</a:t>
            </a:r>
            <a:endParaRPr b="0" i="0" sz="2900" u="none" cap="none" strike="noStrike">
              <a:solidFill>
                <a:schemeClr val="dk1"/>
              </a:solidFill>
              <a:latin typeface="Calibri"/>
              <a:ea typeface="Calibri"/>
              <a:cs typeface="Calibri"/>
              <a:sym typeface="Calibri"/>
            </a:endParaRPr>
          </a:p>
        </p:txBody>
      </p:sp>
      <p:pic>
        <p:nvPicPr>
          <p:cNvPr descr="/home/claude/pdc/img/evolution.png" id="120" name="Google Shape;120;p8"/>
          <p:cNvPicPr preferRelativeResize="0"/>
          <p:nvPr/>
        </p:nvPicPr>
        <p:blipFill rotWithShape="1">
          <a:blip r:embed="rId3">
            <a:alphaModFix/>
          </a:blip>
          <a:srcRect b="0" l="0" r="0" t="0"/>
          <a:stretch/>
        </p:blipFill>
        <p:spPr>
          <a:xfrm>
            <a:off x="640080" y="1691640"/>
            <a:ext cx="10881360" cy="4149671"/>
          </a:xfrm>
          <a:prstGeom prst="rect">
            <a:avLst/>
          </a:prstGeom>
          <a:noFill/>
          <a:ln>
            <a:noFill/>
          </a:ln>
        </p:spPr>
      </p:pic>
      <p:sp>
        <p:nvSpPr>
          <p:cNvPr id="121" name="Google Shape;121;p8"/>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20"/>
        </a:solidFill>
      </p:bgPr>
    </p:bg>
    <p:spTree>
      <p:nvGrpSpPr>
        <p:cNvPr id="126" name="Shape 126"/>
        <p:cNvGrpSpPr/>
        <p:nvPr/>
      </p:nvGrpSpPr>
      <p:grpSpPr>
        <a:xfrm>
          <a:off x="0" y="0"/>
          <a:ext cx="0" cy="0"/>
          <a:chOff x="0" y="0"/>
          <a:chExt cx="0" cy="0"/>
        </a:xfrm>
      </p:grpSpPr>
      <p:sp>
        <p:nvSpPr>
          <p:cNvPr id="127" name="Google Shape;127;p9"/>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04 · THEN LLMs ARRIVED</a:t>
            </a:r>
            <a:endParaRPr b="0" i="0" sz="1100" u="none" cap="none" strike="noStrike">
              <a:solidFill>
                <a:schemeClr val="dk1"/>
              </a:solidFill>
              <a:latin typeface="Calibri"/>
              <a:ea typeface="Calibri"/>
              <a:cs typeface="Calibri"/>
              <a:sym typeface="Calibri"/>
            </a:endParaRPr>
          </a:p>
        </p:txBody>
      </p:sp>
      <p:sp>
        <p:nvSpPr>
          <p:cNvPr id="128" name="Google Shape;128;p9"/>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Calibri"/>
              <a:buNone/>
            </a:pPr>
            <a:r>
              <a:rPr b="0" i="0" lang="en-US" sz="1000" u="none" cap="none" strike="noStrike">
                <a:solidFill>
                  <a:srgbClr val="6B7A90"/>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129" name="Google Shape;129;p9"/>
          <p:cNvSpPr txBox="1"/>
          <p:nvPr/>
        </p:nvSpPr>
        <p:spPr>
          <a:xfrm>
            <a:off x="640080" y="178308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“How can we be sure the model only writes the code</a:t>
            </a:r>
            <a:endParaRPr b="0" i="0" sz="2900" u="none" cap="none" strike="noStrike">
              <a:solidFill>
                <a:schemeClr val="dk1"/>
              </a:solidFill>
              <a:latin typeface="Calibri"/>
              <a:ea typeface="Calibri"/>
              <a:cs typeface="Calibri"/>
              <a:sym typeface="Calibri"/>
            </a:endParaRPr>
          </a:p>
        </p:txBody>
      </p:sp>
      <p:sp>
        <p:nvSpPr>
          <p:cNvPr id="130" name="Google Shape;130;p9"/>
          <p:cNvSpPr txBox="1"/>
          <p:nvPr/>
        </p:nvSpPr>
        <p:spPr>
          <a:xfrm>
            <a:off x="640080" y="23774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we asked for, and leaves everything else alone?”</a:t>
            </a:r>
            <a:endParaRPr b="0" i="0" sz="2900" u="none" cap="none" strike="noStrike">
              <a:solidFill>
                <a:schemeClr val="dk1"/>
              </a:solidFill>
              <a:latin typeface="Calibri"/>
              <a:ea typeface="Calibri"/>
              <a:cs typeface="Calibri"/>
              <a:sym typeface="Calibri"/>
            </a:endParaRPr>
          </a:p>
        </p:txBody>
      </p:sp>
      <p:sp>
        <p:nvSpPr>
          <p:cNvPr id="131" name="Google Shape;131;p9"/>
          <p:cNvSpPr txBox="1"/>
          <p:nvPr/>
        </p:nvSpPr>
        <p:spPr>
          <a:xfrm>
            <a:off x="640080" y="315468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400"/>
              <a:buFont typeface="Courier New"/>
              <a:buNone/>
            </a:pPr>
            <a:r>
              <a:rPr b="0" i="0" lang="en-US" sz="1400" u="none" cap="none" strike="noStrike">
                <a:solidFill>
                  <a:srgbClr val="6B7A90"/>
                </a:solidFill>
                <a:latin typeface="Courier New"/>
                <a:ea typeface="Courier New"/>
                <a:cs typeface="Courier New"/>
                <a:sym typeface="Courier New"/>
              </a:rPr>
              <a:t>— a developer at one of our clients, asked last month</a:t>
            </a:r>
            <a:endParaRPr b="0" i="0" sz="1400" u="none" cap="none" strike="noStrike">
              <a:solidFill>
                <a:schemeClr val="dk1"/>
              </a:solidFill>
              <a:latin typeface="Calibri"/>
              <a:ea typeface="Calibri"/>
              <a:cs typeface="Calibri"/>
              <a:sym typeface="Calibri"/>
            </a:endParaRPr>
          </a:p>
        </p:txBody>
      </p:sp>
      <p:sp>
        <p:nvSpPr>
          <p:cNvPr id="132" name="Google Shape;132;p9"/>
          <p:cNvSpPr txBox="1"/>
          <p:nvPr/>
        </p:nvSpPr>
        <p:spPr>
          <a:xfrm>
            <a:off x="640080" y="397764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C98C"/>
              </a:buClr>
              <a:buSzPts val="2800"/>
              <a:buFont typeface="Calibri"/>
              <a:buNone/>
            </a:pPr>
            <a:r>
              <a:rPr b="1" i="0" lang="en-US" sz="2800" u="none" cap="none" strike="noStrike">
                <a:solidFill>
                  <a:srgbClr val="5CC98C"/>
                </a:solidFill>
                <a:latin typeface="Calibri"/>
                <a:ea typeface="Calibri"/>
                <a:cs typeface="Calibri"/>
                <a:sym typeface="Calibri"/>
              </a:rPr>
              <a:t>The honest answer we have is a better ability to test.</a:t>
            </a:r>
            <a:endParaRPr b="0" i="0" sz="2800" u="none" cap="none" strike="noStrike">
              <a:solidFill>
                <a:schemeClr val="dk1"/>
              </a:solidFill>
              <a:latin typeface="Calibri"/>
              <a:ea typeface="Calibri"/>
              <a:cs typeface="Calibri"/>
              <a:sym typeface="Calibri"/>
            </a:endParaRPr>
          </a:p>
        </p:txBody>
      </p:sp>
      <p:sp>
        <p:nvSpPr>
          <p:cNvPr id="133" name="Google Shape;133;p9"/>
          <p:cNvSpPr txBox="1"/>
          <p:nvPr/>
        </p:nvSpPr>
        <p:spPr>
          <a:xfrm>
            <a:off x="640080" y="4754880"/>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BACB"/>
              </a:buClr>
              <a:buSzPts val="1700"/>
              <a:buFont typeface="Calibri"/>
              <a:buNone/>
            </a:pPr>
            <a:r>
              <a:rPr b="0" i="0" lang="en-US" sz="1700" u="none" cap="none" strike="noStrike">
                <a:solidFill>
                  <a:srgbClr val="AFBACB"/>
                </a:solidFill>
                <a:latin typeface="Calibri"/>
                <a:ea typeface="Calibri"/>
                <a:cs typeface="Calibri"/>
                <a:sym typeface="Calibri"/>
              </a:rPr>
              <a:t>Pull requests are getting longer, and reviewing them well asks for something most teams have not built yet.</a:t>
            </a:r>
            <a:endParaRPr b="0" i="0" sz="1700" u="none" cap="none" strike="noStrike">
              <a:solidFill>
                <a:schemeClr val="dk1"/>
              </a:solidFill>
              <a:latin typeface="Calibri"/>
              <a:ea typeface="Calibri"/>
              <a:cs typeface="Calibri"/>
              <a:sym typeface="Calibri"/>
            </a:endParaRPr>
          </a:p>
        </p:txBody>
      </p:sp>
      <p:sp>
        <p:nvSpPr>
          <p:cNvPr id="134" name="Google Shape;134;p9"/>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6B7A90"/>
                </a:solidFill>
                <a:latin typeface="Calibri"/>
                <a:ea typeface="Calibri"/>
                <a:cs typeface="Calibri"/>
                <a:sym typeface="Calibri"/>
              </a:rPr>
              <a:t>‹#›</a:t>
            </a:fld>
            <a:endParaRPr b="0" i="0" sz="1000" u="none" cap="none" strike="noStrike">
              <a:solidFill>
                <a:srgbClr val="6B7A9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20"/>
        </a:solidFill>
      </p:bgPr>
    </p:bg>
    <p:spTree>
      <p:nvGrpSpPr>
        <p:cNvPr id="139" name="Shape 139"/>
        <p:cNvGrpSpPr/>
        <p:nvPr/>
      </p:nvGrpSpPr>
      <p:grpSpPr>
        <a:xfrm>
          <a:off x="0" y="0"/>
          <a:ext cx="0" cy="0"/>
          <a:chOff x="0" y="0"/>
          <a:chExt cx="0" cy="0"/>
        </a:xfrm>
      </p:grpSpPr>
      <p:sp>
        <p:nvSpPr>
          <p:cNvPr id="140" name="Google Shape;140;p10"/>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Calibri"/>
              <a:buNone/>
            </a:pPr>
            <a:r>
              <a:rPr b="0" i="0" lang="en-US" sz="1000" u="none" cap="none" strike="noStrike">
                <a:solidFill>
                  <a:srgbClr val="6B7A90"/>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141" name="Google Shape;141;p10"/>
          <p:cNvSpPr txBox="1"/>
          <p:nvPr/>
        </p:nvSpPr>
        <p:spPr>
          <a:xfrm>
            <a:off x="640080" y="228600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So how do we generate thousands of test cases</a:t>
            </a:r>
            <a:endParaRPr b="0" i="0" sz="3400" u="none" cap="none" strike="noStrike">
              <a:solidFill>
                <a:schemeClr val="dk1"/>
              </a:solidFill>
              <a:latin typeface="Calibri"/>
              <a:ea typeface="Calibri"/>
              <a:cs typeface="Calibri"/>
              <a:sym typeface="Calibri"/>
            </a:endParaRPr>
          </a:p>
        </p:txBody>
      </p:sp>
      <p:sp>
        <p:nvSpPr>
          <p:cNvPr id="142" name="Google Shape;142;p10"/>
          <p:cNvSpPr txBox="1"/>
          <p:nvPr/>
        </p:nvSpPr>
        <p:spPr>
          <a:xfrm>
            <a:off x="640080" y="301752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9BE8"/>
              </a:buClr>
              <a:buSzPts val="3400"/>
              <a:buFont typeface="Calibri"/>
              <a:buNone/>
            </a:pPr>
            <a:r>
              <a:rPr b="1" i="0" lang="en-US" sz="3400" u="none" cap="none" strike="noStrike">
                <a:solidFill>
                  <a:srgbClr val="4E9BE8"/>
                </a:solidFill>
                <a:latin typeface="Calibri"/>
                <a:ea typeface="Calibri"/>
                <a:cs typeface="Calibri"/>
                <a:sym typeface="Calibri"/>
              </a:rPr>
              <a:t>against more than 500 endpoints in a few hours?</a:t>
            </a:r>
            <a:endParaRPr b="0" i="0" sz="3400" u="none" cap="none" strike="noStrike">
              <a:solidFill>
                <a:schemeClr val="dk1"/>
              </a:solidFill>
              <a:latin typeface="Calibri"/>
              <a:ea typeface="Calibri"/>
              <a:cs typeface="Calibri"/>
              <a:sym typeface="Calibri"/>
            </a:endParaRPr>
          </a:p>
        </p:txBody>
      </p:sp>
      <p:sp>
        <p:nvSpPr>
          <p:cNvPr id="143" name="Google Shape;143;p10"/>
          <p:cNvSpPr txBox="1"/>
          <p:nvPr/>
        </p:nvSpPr>
        <p:spPr>
          <a:xfrm>
            <a:off x="640080" y="402336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BACB"/>
              </a:buClr>
              <a:buSzPts val="1900"/>
              <a:buFont typeface="Calibri"/>
              <a:buNone/>
            </a:pPr>
            <a:r>
              <a:rPr b="0" i="0" lang="en-US" sz="1900" u="none" cap="none" strike="noStrike">
                <a:solidFill>
                  <a:srgbClr val="AFBACB"/>
                </a:solidFill>
                <a:latin typeface="Calibri"/>
                <a:ea typeface="Calibri"/>
                <a:cs typeface="Calibri"/>
                <a:sym typeface="Calibri"/>
              </a:rPr>
              <a:t>The old answer was to put more developers on it. That answer has run out.</a:t>
            </a:r>
            <a:endParaRPr b="0" i="0" sz="1900" u="none" cap="none" strike="noStrike">
              <a:solidFill>
                <a:schemeClr val="dk1"/>
              </a:solidFill>
              <a:latin typeface="Calibri"/>
              <a:ea typeface="Calibri"/>
              <a:cs typeface="Calibri"/>
              <a:sym typeface="Calibri"/>
            </a:endParaRPr>
          </a:p>
        </p:txBody>
      </p:sp>
      <p:sp>
        <p:nvSpPr>
          <p:cNvPr id="144" name="Google Shape;144;p10"/>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6B7A90"/>
                </a:solidFill>
                <a:latin typeface="Calibri"/>
                <a:ea typeface="Calibri"/>
                <a:cs typeface="Calibri"/>
                <a:sym typeface="Calibri"/>
              </a:rPr>
              <a:t>‹#›</a:t>
            </a:fld>
            <a:endParaRPr b="0" i="0" sz="1000" u="none" cap="none" strike="noStrike">
              <a:solidFill>
                <a:srgbClr val="6B7A9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11"/>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05 · THE BENCH</a:t>
            </a:r>
            <a:endParaRPr b="0" i="0" sz="1100" u="none" cap="none" strike="noStrike">
              <a:solidFill>
                <a:schemeClr val="dk1"/>
              </a:solidFill>
              <a:latin typeface="Calibri"/>
              <a:ea typeface="Calibri"/>
              <a:cs typeface="Calibri"/>
              <a:sym typeface="Calibri"/>
            </a:endParaRPr>
          </a:p>
        </p:txBody>
      </p:sp>
      <p:sp>
        <p:nvSpPr>
          <p:cNvPr id="151" name="Google Shape;151;p11"/>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152" name="Google Shape;152;p11"/>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We built a small API so the benchmark has a ground truth</a:t>
            </a:r>
            <a:endParaRPr b="0" i="0" sz="3200" u="none" cap="none" strike="noStrike">
              <a:solidFill>
                <a:schemeClr val="dk1"/>
              </a:solidFill>
              <a:latin typeface="Calibri"/>
              <a:ea typeface="Calibri"/>
              <a:cs typeface="Calibri"/>
              <a:sym typeface="Calibri"/>
            </a:endParaRPr>
          </a:p>
        </p:txBody>
      </p:sp>
      <p:sp>
        <p:nvSpPr>
          <p:cNvPr id="153" name="Google Shape;153;p11"/>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It is not a real product. It is a simplified banking API with a deliberate mix of easy and awkward endpoints.</a:t>
            </a:r>
            <a:endParaRPr b="0" i="0" sz="1600" u="none" cap="none" strike="noStrike">
              <a:solidFill>
                <a:schemeClr val="dk1"/>
              </a:solidFill>
              <a:latin typeface="Calibri"/>
              <a:ea typeface="Calibri"/>
              <a:cs typeface="Calibri"/>
              <a:sym typeface="Calibri"/>
            </a:endParaRPr>
          </a:p>
        </p:txBody>
      </p:sp>
      <p:sp>
        <p:nvSpPr>
          <p:cNvPr id="154" name="Google Shape;154;p11"/>
          <p:cNvSpPr/>
          <p:nvPr/>
        </p:nvSpPr>
        <p:spPr>
          <a:xfrm>
            <a:off x="640080" y="2057400"/>
            <a:ext cx="10881360" cy="3200400"/>
          </a:xfrm>
          <a:prstGeom prst="roundRect">
            <a:avLst>
              <a:gd fmla="val 1714"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txBox="1"/>
          <p:nvPr/>
        </p:nvSpPr>
        <p:spPr>
          <a:xfrm>
            <a:off x="960120" y="231343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12 ENDPOINTS · A SIMPLIFIED BANKING API</a:t>
            </a:r>
            <a:endParaRPr b="0" i="0" sz="1100" u="none" cap="none" strike="noStrike">
              <a:solidFill>
                <a:schemeClr val="dk1"/>
              </a:solidFill>
              <a:latin typeface="Calibri"/>
              <a:ea typeface="Calibri"/>
              <a:cs typeface="Calibri"/>
              <a:sym typeface="Calibri"/>
            </a:endParaRPr>
          </a:p>
        </p:txBody>
      </p:sp>
      <p:sp>
        <p:nvSpPr>
          <p:cNvPr id="156" name="Google Shape;156;p11"/>
          <p:cNvSpPr txBox="1"/>
          <p:nvPr/>
        </p:nvSpPr>
        <p:spPr>
          <a:xfrm>
            <a:off x="960120" y="2679192"/>
            <a:ext cx="10241280" cy="23774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9AA6B8"/>
              </a:buClr>
              <a:buSzPts val="1250"/>
              <a:buFont typeface="Courier New"/>
              <a:buNone/>
            </a:pPr>
            <a:r>
              <a:rPr b="0" i="0" lang="en-US" sz="1250" u="none" cap="none" strike="noStrike">
                <a:solidFill>
                  <a:srgbClr val="9AA6B8"/>
                </a:solidFill>
                <a:latin typeface="Courier New"/>
                <a:ea typeface="Courier New"/>
                <a:cs typeface="Courier New"/>
                <a:sym typeface="Courier New"/>
              </a:rPr>
              <a:t>GET    /health</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GET    /accounts</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GET    /accounts/:id</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POST   /accounts</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250"/>
              <a:buFont typeface="Courier New"/>
              <a:buNone/>
            </a:pPr>
            <a:r>
              <a:rPr b="0" i="0" lang="en-US" sz="1250" u="none" cap="none" strike="noStrike">
                <a:solidFill>
                  <a:srgbClr val="E8B25C"/>
                </a:solidFill>
                <a:latin typeface="Courier New"/>
                <a:ea typeface="Courier New"/>
                <a:cs typeface="Courier New"/>
                <a:sym typeface="Courier New"/>
              </a:rPr>
              <a:t>DELETE /accounts/:id            // only if balance is zero  — stateful</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250"/>
              <a:buFont typeface="Courier New"/>
              <a:buNone/>
            </a:pPr>
            <a:r>
              <a:rPr b="0" i="0" lang="en-US" sz="1250" u="none" cap="none" strike="noStrike">
                <a:solidFill>
                  <a:srgbClr val="E8B25C"/>
                </a:solidFill>
                <a:latin typeface="Courier New"/>
                <a:ea typeface="Courier New"/>
                <a:cs typeface="Courier New"/>
                <a:sym typeface="Courier New"/>
              </a:rPr>
              <a:t>GET    /transfers               // needs auth</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250"/>
              <a:buFont typeface="Courier New"/>
              <a:buNone/>
            </a:pPr>
            <a:r>
              <a:rPr b="0" i="0" lang="en-US" sz="1250" u="none" cap="none" strike="noStrike">
                <a:solidFill>
                  <a:srgbClr val="E8B25C"/>
                </a:solidFill>
                <a:latin typeface="Courier New"/>
                <a:ea typeface="Courier New"/>
                <a:cs typeface="Courier New"/>
                <a:sym typeface="Courier New"/>
              </a:rPr>
              <a:t>POST   /transfers               // needs funds + limits</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250"/>
              <a:buFont typeface="Courier New"/>
              <a:buNone/>
            </a:pPr>
            <a:r>
              <a:rPr b="0" i="0" lang="en-US" sz="1250" u="none" cap="none" strike="noStrike">
                <a:solidFill>
                  <a:srgbClr val="E8B25C"/>
                </a:solidFill>
                <a:latin typeface="Courier New"/>
                <a:ea typeface="Courier New"/>
                <a:cs typeface="Courier New"/>
                <a:sym typeface="Courier New"/>
              </a:rPr>
              <a:t>POST   /transfers/:id/reverse   // needs a transfer to exist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250"/>
              <a:buFont typeface="Courier New"/>
              <a:buNone/>
            </a:pPr>
            <a:r>
              <a:rPr b="0" i="0" lang="en-US" sz="1250" u="none" cap="none" strike="noStrike">
                <a:solidFill>
                  <a:srgbClr val="F08078"/>
                </a:solidFill>
                <a:latin typeface="Courier New"/>
                <a:ea typeface="Courier New"/>
                <a:cs typeface="Courier New"/>
                <a:sym typeface="Courier New"/>
              </a:rPr>
              <a:t>POST   /transfers/validate      // 200 with { valid: false } — error-shaped</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250"/>
              <a:buFont typeface="Courier New"/>
              <a:buNone/>
            </a:pPr>
            <a:r>
              <a:rPr b="0" i="0" lang="en-US" sz="1250" u="none" cap="none" strike="noStrike">
                <a:solidFill>
                  <a:srgbClr val="F08078"/>
                </a:solidFill>
                <a:latin typeface="Courier New"/>
                <a:ea typeface="Courier New"/>
                <a:cs typeface="Courier New"/>
                <a:sym typeface="Courier New"/>
              </a:rPr>
              <a:t>GET    /accounts/:id/summary    // returns the last transfer, not an aggregate</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GET    /limits                  // needs auth</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PUT    /limits                  // needs auth</a:t>
            </a:r>
            <a:endParaRPr b="0" i="0" sz="1250" u="none" cap="none" strike="noStrike">
              <a:solidFill>
                <a:schemeClr val="dk1"/>
              </a:solidFill>
              <a:latin typeface="Calibri"/>
              <a:ea typeface="Calibri"/>
              <a:cs typeface="Calibri"/>
              <a:sym typeface="Calibri"/>
            </a:endParaRPr>
          </a:p>
        </p:txBody>
      </p:sp>
      <p:sp>
        <p:nvSpPr>
          <p:cNvPr id="157" name="Google Shape;157;p11"/>
          <p:cNvSpPr txBox="1"/>
          <p:nvPr/>
        </p:nvSpPr>
        <p:spPr>
          <a:xfrm>
            <a:off x="640080" y="548640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Some of these have to be chained, since you cannot reverse a transfer before you have created one. In a client system that upstream endpoint often belongs to another team or service, so all you have is OpenAPI or a wiki page.</a:t>
            </a:r>
            <a:endParaRPr b="0" i="0" sz="1500" u="none" cap="none" strike="noStrike">
              <a:solidFill>
                <a:schemeClr val="dk1"/>
              </a:solidFill>
              <a:latin typeface="Calibri"/>
              <a:ea typeface="Calibri"/>
              <a:cs typeface="Calibri"/>
              <a:sym typeface="Calibri"/>
            </a:endParaRPr>
          </a:p>
        </p:txBody>
      </p:sp>
      <p:sp>
        <p:nvSpPr>
          <p:cNvPr id="158" name="Google Shape;158;p11"/>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12"/>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05 · THE BENCH</a:t>
            </a:r>
            <a:endParaRPr b="0" i="0" sz="1100" u="none" cap="none" strike="noStrike">
              <a:solidFill>
                <a:schemeClr val="dk1"/>
              </a:solidFill>
              <a:latin typeface="Calibri"/>
              <a:ea typeface="Calibri"/>
              <a:cs typeface="Calibri"/>
              <a:sym typeface="Calibri"/>
            </a:endParaRPr>
          </a:p>
        </p:txBody>
      </p:sp>
      <p:sp>
        <p:nvSpPr>
          <p:cNvPr id="165" name="Google Shape;165;p12"/>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166" name="Google Shape;166;p12"/>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Asking an agent to “test the endpoint” is asking for a fair amount</a:t>
            </a:r>
            <a:endParaRPr b="0" i="0" sz="3200" u="none" cap="none" strike="noStrike">
              <a:solidFill>
                <a:schemeClr val="dk1"/>
              </a:solidFill>
              <a:latin typeface="Calibri"/>
              <a:ea typeface="Calibri"/>
              <a:cs typeface="Calibri"/>
              <a:sym typeface="Calibri"/>
            </a:endParaRPr>
          </a:p>
        </p:txBody>
      </p:sp>
      <p:sp>
        <p:nvSpPr>
          <p:cNvPr id="167" name="Google Shape;167;p12"/>
          <p:cNvSpPr/>
          <p:nvPr/>
        </p:nvSpPr>
        <p:spPr>
          <a:xfrm>
            <a:off x="640080" y="2057400"/>
            <a:ext cx="5257800" cy="1325880"/>
          </a:xfrm>
          <a:prstGeom prst="roundRect">
            <a:avLst>
              <a:gd fmla="val 3448"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txBox="1"/>
          <p:nvPr/>
        </p:nvSpPr>
        <p:spPr>
          <a:xfrm>
            <a:off x="896112" y="225856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600"/>
              <a:buFont typeface="Calibri"/>
              <a:buNone/>
            </a:pPr>
            <a:r>
              <a:rPr b="1" i="0" lang="en-US" sz="1600" u="none" cap="none" strike="noStrike">
                <a:solidFill>
                  <a:srgbClr val="111827"/>
                </a:solidFill>
                <a:latin typeface="Calibri"/>
                <a:ea typeface="Calibri"/>
                <a:cs typeface="Calibri"/>
                <a:sym typeface="Calibri"/>
              </a:rPr>
              <a:t>The successful path</a:t>
            </a:r>
            <a:endParaRPr b="0" i="0" sz="1600" u="none" cap="none" strike="noStrike">
              <a:solidFill>
                <a:schemeClr val="dk1"/>
              </a:solidFill>
              <a:latin typeface="Calibri"/>
              <a:ea typeface="Calibri"/>
              <a:cs typeface="Calibri"/>
              <a:sym typeface="Calibri"/>
            </a:endParaRPr>
          </a:p>
        </p:txBody>
      </p:sp>
      <p:sp>
        <p:nvSpPr>
          <p:cNvPr id="169" name="Google Shape;169;p12"/>
          <p:cNvSpPr txBox="1"/>
          <p:nvPr/>
        </p:nvSpPr>
        <p:spPr>
          <a:xfrm>
            <a:off x="896112" y="2788920"/>
            <a:ext cx="4745736" cy="39319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A 200, carrying the record you expected to get back.</a:t>
            </a:r>
            <a:endParaRPr b="0" i="0" sz="1400" u="none" cap="none" strike="noStrike">
              <a:solidFill>
                <a:schemeClr val="dk1"/>
              </a:solidFill>
              <a:latin typeface="Calibri"/>
              <a:ea typeface="Calibri"/>
              <a:cs typeface="Calibri"/>
              <a:sym typeface="Calibri"/>
            </a:endParaRPr>
          </a:p>
        </p:txBody>
      </p:sp>
      <p:sp>
        <p:nvSpPr>
          <p:cNvPr id="170" name="Google Shape;170;p12"/>
          <p:cNvSpPr/>
          <p:nvPr/>
        </p:nvSpPr>
        <p:spPr>
          <a:xfrm>
            <a:off x="6172200" y="2057400"/>
            <a:ext cx="5257800" cy="1325880"/>
          </a:xfrm>
          <a:prstGeom prst="roundRect">
            <a:avLst>
              <a:gd fmla="val 3448"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
          <p:cNvSpPr txBox="1"/>
          <p:nvPr/>
        </p:nvSpPr>
        <p:spPr>
          <a:xfrm>
            <a:off x="6428232" y="225856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600"/>
              <a:buFont typeface="Calibri"/>
              <a:buNone/>
            </a:pPr>
            <a:r>
              <a:rPr b="1" i="0" lang="en-US" sz="1600" u="none" cap="none" strike="noStrike">
                <a:solidFill>
                  <a:srgbClr val="111827"/>
                </a:solidFill>
                <a:latin typeface="Calibri"/>
                <a:ea typeface="Calibri"/>
                <a:cs typeface="Calibri"/>
                <a:sym typeface="Calibri"/>
              </a:rPr>
              <a:t>The refusals</a:t>
            </a:r>
            <a:endParaRPr b="0" i="0" sz="1600" u="none" cap="none" strike="noStrike">
              <a:solidFill>
                <a:schemeClr val="dk1"/>
              </a:solidFill>
              <a:latin typeface="Calibri"/>
              <a:ea typeface="Calibri"/>
              <a:cs typeface="Calibri"/>
              <a:sym typeface="Calibri"/>
            </a:endParaRPr>
          </a:p>
        </p:txBody>
      </p:sp>
      <p:sp>
        <p:nvSpPr>
          <p:cNvPr id="172" name="Google Shape;172;p12"/>
          <p:cNvSpPr txBox="1"/>
          <p:nvPr/>
        </p:nvSpPr>
        <p:spPr>
          <a:xfrm>
            <a:off x="6428232" y="2788920"/>
            <a:ext cx="4745736" cy="39319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400, 401 and 403, and a 500 where you can force one.</a:t>
            </a:r>
            <a:endParaRPr b="0" i="0" sz="1400" u="none" cap="none" strike="noStrike">
              <a:solidFill>
                <a:schemeClr val="dk1"/>
              </a:solidFill>
              <a:latin typeface="Calibri"/>
              <a:ea typeface="Calibri"/>
              <a:cs typeface="Calibri"/>
              <a:sym typeface="Calibri"/>
            </a:endParaRPr>
          </a:p>
        </p:txBody>
      </p:sp>
      <p:sp>
        <p:nvSpPr>
          <p:cNvPr id="173" name="Google Shape;173;p12"/>
          <p:cNvSpPr/>
          <p:nvPr/>
        </p:nvSpPr>
        <p:spPr>
          <a:xfrm>
            <a:off x="640080" y="3538728"/>
            <a:ext cx="5257800" cy="1325880"/>
          </a:xfrm>
          <a:prstGeom prst="roundRect">
            <a:avLst>
              <a:gd fmla="val 3448"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
          <p:cNvSpPr txBox="1"/>
          <p:nvPr/>
        </p:nvSpPr>
        <p:spPr>
          <a:xfrm>
            <a:off x="896112" y="3739896"/>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600"/>
              <a:buFont typeface="Calibri"/>
              <a:buNone/>
            </a:pPr>
            <a:r>
              <a:rPr b="1" i="0" lang="en-US" sz="1600" u="none" cap="none" strike="noStrike">
                <a:solidFill>
                  <a:srgbClr val="111827"/>
                </a:solidFill>
                <a:latin typeface="Calibri"/>
                <a:ea typeface="Calibri"/>
                <a:cs typeface="Calibri"/>
                <a:sym typeface="Calibri"/>
              </a:rPr>
              <a:t>The values</a:t>
            </a:r>
            <a:endParaRPr b="0" i="0" sz="1600" u="none" cap="none" strike="noStrike">
              <a:solidFill>
                <a:schemeClr val="dk1"/>
              </a:solidFill>
              <a:latin typeface="Calibri"/>
              <a:ea typeface="Calibri"/>
              <a:cs typeface="Calibri"/>
              <a:sym typeface="Calibri"/>
            </a:endParaRPr>
          </a:p>
        </p:txBody>
      </p:sp>
      <p:sp>
        <p:nvSpPr>
          <p:cNvPr id="175" name="Google Shape;175;p12"/>
          <p:cNvSpPr txBox="1"/>
          <p:nvPr/>
        </p:nvSpPr>
        <p:spPr>
          <a:xfrm>
            <a:off x="896112" y="4270248"/>
            <a:ext cx="4745736" cy="39319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Is the balance the balance you were expecting to see?</a:t>
            </a:r>
            <a:endParaRPr b="0" i="0" sz="1400" u="none" cap="none" strike="noStrike">
              <a:solidFill>
                <a:schemeClr val="dk1"/>
              </a:solidFill>
              <a:latin typeface="Calibri"/>
              <a:ea typeface="Calibri"/>
              <a:cs typeface="Calibri"/>
              <a:sym typeface="Calibri"/>
            </a:endParaRPr>
          </a:p>
        </p:txBody>
      </p:sp>
      <p:sp>
        <p:nvSpPr>
          <p:cNvPr id="176" name="Google Shape;176;p12"/>
          <p:cNvSpPr/>
          <p:nvPr/>
        </p:nvSpPr>
        <p:spPr>
          <a:xfrm>
            <a:off x="6172200" y="3538728"/>
            <a:ext cx="5257800" cy="1325880"/>
          </a:xfrm>
          <a:prstGeom prst="roundRect">
            <a:avLst>
              <a:gd fmla="val 3448"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
          <p:cNvSpPr txBox="1"/>
          <p:nvPr/>
        </p:nvSpPr>
        <p:spPr>
          <a:xfrm>
            <a:off x="6428232" y="3739896"/>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600"/>
              <a:buFont typeface="Calibri"/>
              <a:buNone/>
            </a:pPr>
            <a:r>
              <a:rPr b="1" i="0" lang="en-US" sz="1600" u="none" cap="none" strike="noStrike">
                <a:solidFill>
                  <a:srgbClr val="111827"/>
                </a:solidFill>
                <a:latin typeface="Calibri"/>
                <a:ea typeface="Calibri"/>
                <a:cs typeface="Calibri"/>
                <a:sym typeface="Calibri"/>
              </a:rPr>
              <a:t>The shape</a:t>
            </a:r>
            <a:endParaRPr b="0" i="0" sz="1600" u="none" cap="none" strike="noStrike">
              <a:solidFill>
                <a:schemeClr val="dk1"/>
              </a:solidFill>
              <a:latin typeface="Calibri"/>
              <a:ea typeface="Calibri"/>
              <a:cs typeface="Calibri"/>
              <a:sym typeface="Calibri"/>
            </a:endParaRPr>
          </a:p>
        </p:txBody>
      </p:sp>
      <p:sp>
        <p:nvSpPr>
          <p:cNvPr id="178" name="Google Shape;178;p12"/>
          <p:cNvSpPr txBox="1"/>
          <p:nvPr/>
        </p:nvSpPr>
        <p:spPr>
          <a:xfrm>
            <a:off x="6428232" y="4270248"/>
            <a:ext cx="4745736" cy="39319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Types and structure as specified, so a number arrives as a number.</a:t>
            </a:r>
            <a:endParaRPr b="0" i="0" sz="1400" u="none" cap="none" strike="noStrike">
              <a:solidFill>
                <a:schemeClr val="dk1"/>
              </a:solidFill>
              <a:latin typeface="Calibri"/>
              <a:ea typeface="Calibri"/>
              <a:cs typeface="Calibri"/>
              <a:sym typeface="Calibri"/>
            </a:endParaRPr>
          </a:p>
        </p:txBody>
      </p:sp>
      <p:sp>
        <p:nvSpPr>
          <p:cNvPr id="179" name="Google Shape;179;p12"/>
          <p:cNvSpPr txBox="1"/>
          <p:nvPr/>
        </p:nvSpPr>
        <p:spPr>
          <a:xfrm>
            <a:off x="640080" y="530352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111827"/>
              </a:buClr>
              <a:buSzPts val="1900"/>
              <a:buFont typeface="Calibri"/>
              <a:buNone/>
            </a:pPr>
            <a:r>
              <a:rPr b="0" i="0" lang="en-US" sz="1900" u="none" cap="none" strike="noStrike">
                <a:solidFill>
                  <a:srgbClr val="111827"/>
                </a:solidFill>
                <a:latin typeface="Calibri"/>
                <a:ea typeface="Calibri"/>
                <a:cs typeface="Calibri"/>
                <a:sym typeface="Calibri"/>
              </a:rPr>
              <a:t>You have the source in white box testing, part of it in grey box, and only the URL in black box. We started with the easiest of the three.</a:t>
            </a:r>
            <a:endParaRPr b="0" i="0" sz="1900" u="none" cap="none" strike="noStrike">
              <a:solidFill>
                <a:schemeClr val="dk1"/>
              </a:solidFill>
              <a:latin typeface="Calibri"/>
              <a:ea typeface="Calibri"/>
              <a:cs typeface="Calibri"/>
              <a:sym typeface="Calibri"/>
            </a:endParaRPr>
          </a:p>
        </p:txBody>
      </p:sp>
      <p:sp>
        <p:nvSpPr>
          <p:cNvPr id="180" name="Google Shape;180;p12"/>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3"/>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06 · ROUND ONE</a:t>
            </a:r>
            <a:endParaRPr b="0" i="0" sz="1100" u="none" cap="none" strike="noStrike">
              <a:solidFill>
                <a:schemeClr val="dk1"/>
              </a:solidFill>
              <a:latin typeface="Calibri"/>
              <a:ea typeface="Calibri"/>
              <a:cs typeface="Calibri"/>
              <a:sym typeface="Calibri"/>
            </a:endParaRPr>
          </a:p>
        </p:txBody>
      </p:sp>
      <p:sp>
        <p:nvSpPr>
          <p:cNvPr id="187" name="Google Shape;187;p13"/>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188" name="Google Shape;188;p13"/>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The first thing we tried was simply handing over the code</a:t>
            </a:r>
            <a:endParaRPr b="0" i="0" sz="3200" u="none" cap="none" strike="noStrike">
              <a:solidFill>
                <a:schemeClr val="dk1"/>
              </a:solidFill>
              <a:latin typeface="Calibri"/>
              <a:ea typeface="Calibri"/>
              <a:cs typeface="Calibri"/>
              <a:sym typeface="Calibri"/>
            </a:endParaRPr>
          </a:p>
        </p:txBody>
      </p:sp>
      <p:sp>
        <p:nvSpPr>
          <p:cNvPr id="189" name="Google Shape;189;p13"/>
          <p:cNvSpPr/>
          <p:nvPr/>
        </p:nvSpPr>
        <p:spPr>
          <a:xfrm>
            <a:off x="640080" y="1600200"/>
            <a:ext cx="10881360" cy="3977640"/>
          </a:xfrm>
          <a:prstGeom prst="roundRect">
            <a:avLst>
              <a:gd fmla="val 1379"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
          <p:cNvSpPr txBox="1"/>
          <p:nvPr/>
        </p:nvSpPr>
        <p:spPr>
          <a:xfrm>
            <a:off x="960120" y="185623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THE SIMPLEST ENDPOINT ON THE FIXTURE</a:t>
            </a:r>
            <a:endParaRPr b="0" i="0" sz="1100" u="none" cap="none" strike="noStrike">
              <a:solidFill>
                <a:schemeClr val="dk1"/>
              </a:solidFill>
              <a:latin typeface="Calibri"/>
              <a:ea typeface="Calibri"/>
              <a:cs typeface="Calibri"/>
              <a:sym typeface="Calibri"/>
            </a:endParaRPr>
          </a:p>
        </p:txBody>
      </p:sp>
      <p:sp>
        <p:nvSpPr>
          <p:cNvPr id="191" name="Google Shape;191;p13"/>
          <p:cNvSpPr txBox="1"/>
          <p:nvPr/>
        </p:nvSpPr>
        <p:spPr>
          <a:xfrm>
            <a:off x="960120" y="2221992"/>
            <a:ext cx="10241280" cy="31546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GET /accounts/:id</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Auth:   none            Path params:  id  string  required</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350"/>
              <a:buFont typeface="Courier New"/>
              <a:buNone/>
            </a:pPr>
            <a:r>
              <a:rPr b="0" i="0" lang="en-US" sz="1350" u="none" cap="none" strike="noStrike">
                <a:solidFill>
                  <a:srgbClr val="7FD19A"/>
                </a:solidFill>
                <a:latin typeface="Courier New"/>
                <a:ea typeface="Courier New"/>
                <a:cs typeface="Courier New"/>
                <a:sym typeface="Courier New"/>
              </a:rPr>
              <a:t>Success — 200</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"id": "acc_1",</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"holder": "Ada Lovelace",</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"currency": "CAD",</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350"/>
              <a:buFont typeface="Courier New"/>
              <a:buNone/>
            </a:pPr>
            <a:r>
              <a:rPr b="0" i="0" lang="en-US" sz="1350" u="none" cap="none" strike="noStrike">
                <a:solidFill>
                  <a:srgbClr val="E8B25C"/>
                </a:solidFill>
                <a:latin typeface="Courier New"/>
                <a:ea typeface="Courier New"/>
                <a:cs typeface="Courier New"/>
                <a:sym typeface="Courier New"/>
              </a:rPr>
              <a:t>    "balanceCents": 25000,          // integer</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350"/>
              <a:buFont typeface="Courier New"/>
              <a:buNone/>
            </a:pPr>
            <a:r>
              <a:rPr b="0" i="0" lang="en-US" sz="1350" u="none" cap="none" strike="noStrike">
                <a:solidFill>
                  <a:srgbClr val="E8B25C"/>
                </a:solidFill>
                <a:latin typeface="Courier New"/>
                <a:ea typeface="Courier New"/>
                <a:cs typeface="Courier New"/>
                <a:sym typeface="Courier New"/>
              </a:rPr>
              <a:t>    "closed": false                 // boolean</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350"/>
              <a:buFont typeface="Courier New"/>
              <a:buNone/>
            </a:pPr>
            <a:r>
              <a:rPr b="0" i="0" lang="en-US" sz="1350" u="none" cap="none" strike="noStrike">
                <a:solidFill>
                  <a:srgbClr val="F08078"/>
                </a:solidFill>
                <a:latin typeface="Courier New"/>
                <a:ea typeface="Courier New"/>
                <a:cs typeface="Courier New"/>
                <a:sym typeface="Courier New"/>
              </a:rPr>
              <a:t>Not found — 404    { "error": "not_found" }</a:t>
            </a:r>
            <a:endParaRPr b="0" i="0" sz="1350" u="none" cap="none" strike="noStrike">
              <a:solidFill>
                <a:schemeClr val="dk1"/>
              </a:solidFill>
              <a:latin typeface="Calibri"/>
              <a:ea typeface="Calibri"/>
              <a:cs typeface="Calibri"/>
              <a:sym typeface="Calibri"/>
            </a:endParaRPr>
          </a:p>
        </p:txBody>
      </p:sp>
      <p:sp>
        <p:nvSpPr>
          <p:cNvPr id="192" name="Google Shape;192;p13"/>
          <p:cNvSpPr txBox="1"/>
          <p:nvPr/>
        </p:nvSpPr>
        <p:spPr>
          <a:xfrm>
            <a:off x="640080" y="5760720"/>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The sample data is already seeded, so a model with the source in front of it ought to clear this comfortably.</a:t>
            </a:r>
            <a:endParaRPr b="0" i="0" sz="1500" u="none" cap="none" strike="noStrike">
              <a:solidFill>
                <a:schemeClr val="dk1"/>
              </a:solidFill>
              <a:latin typeface="Calibri"/>
              <a:ea typeface="Calibri"/>
              <a:cs typeface="Calibri"/>
              <a:sym typeface="Calibri"/>
            </a:endParaRPr>
          </a:p>
        </p:txBody>
      </p:sp>
      <p:sp>
        <p:nvSpPr>
          <p:cNvPr id="193" name="Google Shape;193;p13"/>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4"/>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06 · ROUND ONE</a:t>
            </a:r>
            <a:endParaRPr b="0" i="0" sz="1100" u="none" cap="none" strike="noStrike">
              <a:solidFill>
                <a:schemeClr val="dk1"/>
              </a:solidFill>
              <a:latin typeface="Calibri"/>
              <a:ea typeface="Calibri"/>
              <a:cs typeface="Calibri"/>
              <a:sym typeface="Calibri"/>
            </a:endParaRPr>
          </a:p>
        </p:txBody>
      </p:sp>
      <p:sp>
        <p:nvSpPr>
          <p:cNvPr id="200" name="Google Shape;200;p14"/>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201" name="Google Shape;201;p14"/>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000"/>
              <a:buFont typeface="Calibri"/>
              <a:buNone/>
            </a:pPr>
            <a:r>
              <a:rPr b="1" i="0" lang="en-US" sz="3000" u="none" cap="none" strike="noStrike">
                <a:solidFill>
                  <a:srgbClr val="111827"/>
                </a:solidFill>
                <a:latin typeface="Calibri"/>
                <a:ea typeface="Calibri"/>
                <a:cs typeface="Calibri"/>
                <a:sym typeface="Calibri"/>
              </a:rPr>
              <a:t>Most of the models cleared it without much trouble</a:t>
            </a:r>
            <a:endParaRPr b="0" i="0" sz="3000" u="none" cap="none" strike="noStrike">
              <a:solidFill>
                <a:schemeClr val="dk1"/>
              </a:solidFill>
              <a:latin typeface="Calibri"/>
              <a:ea typeface="Calibri"/>
              <a:cs typeface="Calibri"/>
              <a:sym typeface="Calibri"/>
            </a:endParaRPr>
          </a:p>
        </p:txBody>
      </p:sp>
      <p:sp>
        <p:nvSpPr>
          <p:cNvPr id="202" name="Google Shape;202;p14"/>
          <p:cNvSpPr txBox="1"/>
          <p:nvPr/>
        </p:nvSpPr>
        <p:spPr>
          <a:xfrm>
            <a:off x="640080" y="1353312"/>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GET /accounts/:id  ·  first attempt against final pass, median across trials</a:t>
            </a:r>
            <a:endParaRPr b="0" i="0" sz="1500" u="none" cap="none" strike="noStrike">
              <a:solidFill>
                <a:schemeClr val="dk1"/>
              </a:solidFill>
              <a:latin typeface="Calibri"/>
              <a:ea typeface="Calibri"/>
              <a:cs typeface="Calibri"/>
              <a:sym typeface="Calibri"/>
            </a:endParaRPr>
          </a:p>
        </p:txBody>
      </p:sp>
      <p:graphicFrame>
        <p:nvGraphicFramePr>
          <p:cNvPr id="203" name="Google Shape;203;p14"/>
          <p:cNvGraphicFramePr/>
          <p:nvPr/>
        </p:nvGraphicFramePr>
        <p:xfrm>
          <a:off x="640080" y="1874520"/>
          <a:ext cx="5760720" cy="3703320"/>
        </p:xfrm>
        <a:graphic>
          <a:graphicData uri="http://schemas.openxmlformats.org/drawingml/2006/chart">
            <c:chart r:id="rId3"/>
          </a:graphicData>
        </a:graphic>
      </p:graphicFrame>
      <p:graphicFrame>
        <p:nvGraphicFramePr>
          <p:cNvPr id="204" name="Google Shape;204;p14"/>
          <p:cNvGraphicFramePr/>
          <p:nvPr/>
        </p:nvGraphicFramePr>
        <p:xfrm>
          <a:off x="6675120" y="2286000"/>
          <a:ext cx="3000000" cy="3000000"/>
        </p:xfrm>
        <a:graphic>
          <a:graphicData uri="http://schemas.openxmlformats.org/drawingml/2006/table">
            <a:tbl>
              <a:tblPr>
                <a:noFill/>
                <a:tableStyleId>{97874EEE-3C7E-4AF0-8156-FB3C0BBDD827}</a:tableStyleId>
              </a:tblPr>
              <a:tblGrid>
                <a:gridCol w="1828800"/>
                <a:gridCol w="685800"/>
                <a:gridCol w="731525"/>
                <a:gridCol w="914400"/>
                <a:gridCol w="713225"/>
              </a:tblGrid>
              <a:tr h="347475">
                <a:tc>
                  <a:txBody>
                    <a:bodyPr/>
                    <a:lstStyle/>
                    <a:p>
                      <a:pPr indent="0" lvl="0" marL="0" marR="0" rtl="0" algn="l">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Model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1st</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Final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 / trial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Wall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GPT-4.1 Mini</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$0.002</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4s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GPT-4.1</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$0.016</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4s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Claude Sonnet 4.5</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$0.029</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9s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Claude Opus 4.1</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$0.389</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66s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Qwen3 Coder</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b="1"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$0.008</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16s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Gemini 2.5 Pro</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b="1"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$0.014</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12s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Gemini 2.5 Flash</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b="1"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$0.002</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2s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bl>
          </a:graphicData>
        </a:graphic>
      </p:graphicFrame>
      <p:sp>
        <p:nvSpPr>
          <p:cNvPr id="205" name="Google Shape;205;p14"/>
          <p:cNvSpPr txBox="1"/>
          <p:nvPr/>
        </p:nvSpPr>
        <p:spPr>
          <a:xfrm>
            <a:off x="640080" y="58064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Opus 4.1 missed on the first attempt and then repaired to a full pass. Coverage followed the final pass column exactly. The Gemini rows are the ones worth a closer look.</a:t>
            </a:r>
            <a:endParaRPr b="0" i="0" sz="1500" u="none" cap="none" strike="noStrike">
              <a:solidFill>
                <a:schemeClr val="dk1"/>
              </a:solidFill>
              <a:latin typeface="Calibri"/>
              <a:ea typeface="Calibri"/>
              <a:cs typeface="Calibri"/>
              <a:sym typeface="Calibri"/>
            </a:endParaRPr>
          </a:p>
        </p:txBody>
      </p:sp>
      <p:sp>
        <p:nvSpPr>
          <p:cNvPr id="206" name="Google Shape;206;p14"/>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15"/>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06 · ROUND ONE</a:t>
            </a:r>
            <a:endParaRPr b="0" i="0" sz="1100" u="none" cap="none" strike="noStrike">
              <a:solidFill>
                <a:schemeClr val="dk1"/>
              </a:solidFill>
              <a:latin typeface="Calibri"/>
              <a:ea typeface="Calibri"/>
              <a:cs typeface="Calibri"/>
              <a:sym typeface="Calibri"/>
            </a:endParaRPr>
          </a:p>
        </p:txBody>
      </p:sp>
      <p:sp>
        <p:nvSpPr>
          <p:cNvPr id="213" name="Google Shape;213;p15"/>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214" name="Google Shape;214;p15"/>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The same source, the same response, a different assertion</a:t>
            </a:r>
            <a:endParaRPr b="0" i="0" sz="3200" u="none" cap="none" strike="noStrike">
              <a:solidFill>
                <a:schemeClr val="dk1"/>
              </a:solidFill>
              <a:latin typeface="Calibri"/>
              <a:ea typeface="Calibri"/>
              <a:cs typeface="Calibri"/>
              <a:sym typeface="Calibri"/>
            </a:endParaRPr>
          </a:p>
        </p:txBody>
      </p:sp>
      <p:sp>
        <p:nvSpPr>
          <p:cNvPr id="215" name="Google Shape;215;p15"/>
          <p:cNvSpPr/>
          <p:nvPr/>
        </p:nvSpPr>
        <p:spPr>
          <a:xfrm>
            <a:off x="640080" y="1783080"/>
            <a:ext cx="5257800" cy="2697480"/>
          </a:xfrm>
          <a:prstGeom prst="roundRect">
            <a:avLst>
              <a:gd fmla="val 2034"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txBox="1"/>
          <p:nvPr/>
        </p:nvSpPr>
        <p:spPr>
          <a:xfrm>
            <a:off x="960120" y="2039112"/>
            <a:ext cx="4617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WHAT THE API ACTUALLY RETURNS</a:t>
            </a:r>
            <a:endParaRPr b="0" i="0" sz="1100" u="none" cap="none" strike="noStrike">
              <a:solidFill>
                <a:schemeClr val="dk1"/>
              </a:solidFill>
              <a:latin typeface="Calibri"/>
              <a:ea typeface="Calibri"/>
              <a:cs typeface="Calibri"/>
              <a:sym typeface="Calibri"/>
            </a:endParaRPr>
          </a:p>
        </p:txBody>
      </p:sp>
      <p:sp>
        <p:nvSpPr>
          <p:cNvPr id="217" name="Google Shape;217;p15"/>
          <p:cNvSpPr txBox="1"/>
          <p:nvPr/>
        </p:nvSpPr>
        <p:spPr>
          <a:xfrm>
            <a:off x="960120" y="2404872"/>
            <a:ext cx="4617720" cy="18745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"id": "acc_1",</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"holder": "Ada Lovelace",</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  "currency": "CAD",</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350"/>
              <a:buFont typeface="Courier New"/>
              <a:buNone/>
            </a:pPr>
            <a:r>
              <a:rPr b="0" i="0" lang="en-US" sz="1350" u="none" cap="none" strike="noStrike">
                <a:solidFill>
                  <a:srgbClr val="7FD19A"/>
                </a:solidFill>
                <a:latin typeface="Courier New"/>
                <a:ea typeface="Courier New"/>
                <a:cs typeface="Courier New"/>
                <a:sym typeface="Courier New"/>
              </a:rPr>
              <a:t>  "balanceCents": 25000,</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350"/>
              <a:buFont typeface="Courier New"/>
              <a:buNone/>
            </a:pPr>
            <a:r>
              <a:rPr b="0" i="0" lang="en-US" sz="1350" u="none" cap="none" strike="noStrike">
                <a:solidFill>
                  <a:srgbClr val="7FD19A"/>
                </a:solidFill>
                <a:latin typeface="Courier New"/>
                <a:ea typeface="Courier New"/>
                <a:cs typeface="Courier New"/>
                <a:sym typeface="Courier New"/>
              </a:rPr>
              <a:t>  "closed": false</a:t>
            </a:r>
            <a:endParaRPr b="0" i="0" sz="13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350"/>
              <a:buFont typeface="Courier New"/>
              <a:buNone/>
            </a:pPr>
            <a:r>
              <a:rPr b="0" i="0" lang="en-US" sz="1350" u="none" cap="none" strike="noStrike">
                <a:solidFill>
                  <a:srgbClr val="D8DEE9"/>
                </a:solidFill>
                <a:latin typeface="Courier New"/>
                <a:ea typeface="Courier New"/>
                <a:cs typeface="Courier New"/>
                <a:sym typeface="Courier New"/>
              </a:rPr>
              <a:t>}</a:t>
            </a:r>
            <a:endParaRPr b="0" i="0" sz="1350" u="none" cap="none" strike="noStrike">
              <a:solidFill>
                <a:schemeClr val="dk1"/>
              </a:solidFill>
              <a:latin typeface="Calibri"/>
              <a:ea typeface="Calibri"/>
              <a:cs typeface="Calibri"/>
              <a:sym typeface="Calibri"/>
            </a:endParaRPr>
          </a:p>
        </p:txBody>
      </p:sp>
      <p:sp>
        <p:nvSpPr>
          <p:cNvPr id="218" name="Google Shape;218;p15"/>
          <p:cNvSpPr/>
          <p:nvPr/>
        </p:nvSpPr>
        <p:spPr>
          <a:xfrm>
            <a:off x="6263640" y="1783080"/>
            <a:ext cx="5257800" cy="2697480"/>
          </a:xfrm>
          <a:prstGeom prst="roundRect">
            <a:avLst>
              <a:gd fmla="val 2034"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txBox="1"/>
          <p:nvPr/>
        </p:nvSpPr>
        <p:spPr>
          <a:xfrm>
            <a:off x="6583680" y="2039112"/>
            <a:ext cx="4617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WHAT GEMINI 2.5 FLASH ASSERTED</a:t>
            </a:r>
            <a:endParaRPr b="0" i="0" sz="1100" u="none" cap="none" strike="noStrike">
              <a:solidFill>
                <a:schemeClr val="dk1"/>
              </a:solidFill>
              <a:latin typeface="Calibri"/>
              <a:ea typeface="Calibri"/>
              <a:cs typeface="Calibri"/>
              <a:sym typeface="Calibri"/>
            </a:endParaRPr>
          </a:p>
        </p:txBody>
      </p:sp>
      <p:sp>
        <p:nvSpPr>
          <p:cNvPr id="220" name="Google Shape;220;p15"/>
          <p:cNvSpPr txBox="1"/>
          <p:nvPr/>
        </p:nvSpPr>
        <p:spPr>
          <a:xfrm>
            <a:off x="6583680" y="2404872"/>
            <a:ext cx="4617720" cy="18745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 "pointer": "/id",       "equals": "acc_1"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 "pointer": "/holder",   "equals": "Ada..."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 "pointer": "/currency", "equals": "CAD"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250"/>
              <a:buFont typeface="Courier New"/>
              <a:buNone/>
            </a:pPr>
            <a:r>
              <a:rPr b="0" i="0" lang="en-US" sz="1250" u="none" cap="none" strike="noStrike">
                <a:solidFill>
                  <a:srgbClr val="F08078"/>
                </a:solidFill>
                <a:latin typeface="Courier New"/>
                <a:ea typeface="Courier New"/>
                <a:cs typeface="Courier New"/>
                <a:sym typeface="Courier New"/>
              </a:rPr>
              <a:t>  { "pointer": "/balanceCents",</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250"/>
              <a:buFont typeface="Courier New"/>
              <a:buNone/>
            </a:pPr>
            <a:r>
              <a:rPr b="0" i="0" lang="en-US" sz="1250" u="none" cap="none" strike="noStrike">
                <a:solidFill>
                  <a:srgbClr val="F08078"/>
                </a:solidFill>
                <a:latin typeface="Courier New"/>
                <a:ea typeface="Courier New"/>
                <a:cs typeface="Courier New"/>
                <a:sym typeface="Courier New"/>
              </a:rPr>
              <a:t>                      "equals": "25000"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250"/>
              <a:buFont typeface="Courier New"/>
              <a:buNone/>
            </a:pPr>
            <a:r>
              <a:rPr b="0" i="0" lang="en-US" sz="1250" u="none" cap="none" strike="noStrike">
                <a:solidFill>
                  <a:srgbClr val="F08078"/>
                </a:solidFill>
                <a:latin typeface="Courier New"/>
                <a:ea typeface="Courier New"/>
                <a:cs typeface="Courier New"/>
                <a:sym typeface="Courier New"/>
              </a:rPr>
              <a:t>  { "pointer": "/closed", "equals": "False" } ]</a:t>
            </a:r>
            <a:endParaRPr b="0" i="0" sz="1250" u="none" cap="none" strike="noStrike">
              <a:solidFill>
                <a:schemeClr val="dk1"/>
              </a:solidFill>
              <a:latin typeface="Calibri"/>
              <a:ea typeface="Calibri"/>
              <a:cs typeface="Calibri"/>
              <a:sym typeface="Calibri"/>
            </a:endParaRPr>
          </a:p>
        </p:txBody>
      </p:sp>
      <p:sp>
        <p:nvSpPr>
          <p:cNvPr id="221" name="Google Shape;221;p15"/>
          <p:cNvSpPr/>
          <p:nvPr/>
        </p:nvSpPr>
        <p:spPr>
          <a:xfrm>
            <a:off x="640080" y="4709160"/>
            <a:ext cx="10881360" cy="1234440"/>
          </a:xfrm>
          <a:prstGeom prst="roundRect">
            <a:avLst>
              <a:gd fmla="val 3704" name="adj"/>
            </a:avLst>
          </a:prstGeom>
          <a:solidFill>
            <a:srgbClr val="FCE8E6"/>
          </a:solidFill>
          <a:ln cap="flat" cmpd="sng" w="13950">
            <a:solidFill>
              <a:srgbClr val="C52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txBox="1"/>
          <p:nvPr/>
        </p:nvSpPr>
        <p:spPr>
          <a:xfrm>
            <a:off x="896112" y="4910328"/>
            <a:ext cx="1036929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It asserted a string where the API returns an integer, and a Python boolean where the API returns JSON.</a:t>
            </a:r>
            <a:endParaRPr b="0" i="0" sz="1700" u="none" cap="none" strike="noStrike">
              <a:solidFill>
                <a:schemeClr val="dk1"/>
              </a:solidFill>
              <a:latin typeface="Calibri"/>
              <a:ea typeface="Calibri"/>
              <a:cs typeface="Calibri"/>
              <a:sym typeface="Calibri"/>
            </a:endParaRPr>
          </a:p>
        </p:txBody>
      </p:sp>
      <p:sp>
        <p:nvSpPr>
          <p:cNvPr id="223" name="Google Shape;223;p15"/>
          <p:cNvSpPr txBox="1"/>
          <p:nvPr/>
        </p:nvSpPr>
        <p:spPr>
          <a:xfrm>
            <a:off x="896112" y="5440680"/>
            <a:ext cx="10369296" cy="30175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500"/>
              <a:buFont typeface="Calibri"/>
              <a:buNone/>
            </a:pPr>
            <a:r>
              <a:rPr b="0" i="0" lang="en-US" sz="1500" u="none" cap="none" strike="noStrike">
                <a:solidFill>
                  <a:srgbClr val="111827"/>
                </a:solidFill>
                <a:latin typeface="Calibri"/>
                <a:ea typeface="Calibri"/>
                <a:cs typeface="Calibri"/>
                <a:sym typeface="Calibri"/>
              </a:rPr>
              <a:t>The source code was available to it while it did that, and this accounts for the whole of the 0% column.</a:t>
            </a:r>
            <a:endParaRPr b="0" i="0" sz="1500" u="none" cap="none" strike="noStrike">
              <a:solidFill>
                <a:schemeClr val="dk1"/>
              </a:solidFill>
              <a:latin typeface="Calibri"/>
              <a:ea typeface="Calibri"/>
              <a:cs typeface="Calibri"/>
              <a:sym typeface="Calibri"/>
            </a:endParaRPr>
          </a:p>
        </p:txBody>
      </p:sp>
      <p:sp>
        <p:nvSpPr>
          <p:cNvPr id="224" name="Google Shape;224;p15"/>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20"/>
        </a:solidFill>
      </p:bgPr>
    </p:bg>
    <p:spTree>
      <p:nvGrpSpPr>
        <p:cNvPr id="229" name="Shape 229"/>
        <p:cNvGrpSpPr/>
        <p:nvPr/>
      </p:nvGrpSpPr>
      <p:grpSpPr>
        <a:xfrm>
          <a:off x="0" y="0"/>
          <a:ext cx="0" cy="0"/>
          <a:chOff x="0" y="0"/>
          <a:chExt cx="0" cy="0"/>
        </a:xfrm>
      </p:grpSpPr>
      <p:sp>
        <p:nvSpPr>
          <p:cNvPr id="230" name="Google Shape;230;p16"/>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06 · ROUND ONE</a:t>
            </a:r>
            <a:endParaRPr b="0" i="0" sz="1100" u="none" cap="none" strike="noStrike">
              <a:solidFill>
                <a:schemeClr val="dk1"/>
              </a:solidFill>
              <a:latin typeface="Calibri"/>
              <a:ea typeface="Calibri"/>
              <a:cs typeface="Calibri"/>
              <a:sym typeface="Calibri"/>
            </a:endParaRPr>
          </a:p>
        </p:txBody>
      </p:sp>
      <p:sp>
        <p:nvSpPr>
          <p:cNvPr id="231" name="Google Shape;231;p16"/>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Calibri"/>
              <a:buNone/>
            </a:pPr>
            <a:r>
              <a:rPr b="0" i="0" lang="en-US" sz="1000" u="none" cap="none" strike="noStrike">
                <a:solidFill>
                  <a:srgbClr val="6B7A90"/>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232" name="Google Shape;232;p16"/>
          <p:cNvSpPr txBox="1"/>
          <p:nvPr/>
        </p:nvSpPr>
        <p:spPr>
          <a:xfrm>
            <a:off x="640080" y="16916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C98C"/>
              </a:buClr>
              <a:buSzPts val="4000"/>
              <a:buFont typeface="Calibri"/>
              <a:buNone/>
            </a:pPr>
            <a:r>
              <a:rPr b="1" i="0" lang="en-US" sz="4000" u="none" cap="none" strike="noStrike">
                <a:solidFill>
                  <a:srgbClr val="5CC98C"/>
                </a:solidFill>
                <a:latin typeface="Calibri"/>
                <a:ea typeface="Calibri"/>
                <a:cs typeface="Calibri"/>
                <a:sym typeface="Calibri"/>
              </a:rPr>
              <a:t>A green result does not mean a correct one.</a:t>
            </a:r>
            <a:endParaRPr b="0" i="0" sz="4000" u="none" cap="none" strike="noStrike">
              <a:solidFill>
                <a:schemeClr val="dk1"/>
              </a:solidFill>
              <a:latin typeface="Calibri"/>
              <a:ea typeface="Calibri"/>
              <a:cs typeface="Calibri"/>
              <a:sym typeface="Calibri"/>
            </a:endParaRPr>
          </a:p>
        </p:txBody>
      </p:sp>
      <p:sp>
        <p:nvSpPr>
          <p:cNvPr id="233" name="Google Shape;233;p16"/>
          <p:cNvSpPr txBox="1"/>
          <p:nvPr/>
        </p:nvSpPr>
        <p:spPr>
          <a:xfrm>
            <a:off x="640080" y="265176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libri"/>
              <a:buNone/>
            </a:pPr>
            <a:r>
              <a:rPr b="0" i="0" lang="en-US" sz="1900" u="none" cap="none" strike="noStrike">
                <a:solidFill>
                  <a:srgbClr val="FFFFFF"/>
                </a:solidFill>
                <a:latin typeface="Calibri"/>
                <a:ea typeface="Calibri"/>
                <a:cs typeface="Calibri"/>
                <a:sym typeface="Calibri"/>
              </a:rPr>
              <a:t>If you read Gemini's own report and go no further, every test passed.</a:t>
            </a:r>
            <a:endParaRPr b="0" i="0" sz="1900" u="none" cap="none" strike="noStrike">
              <a:solidFill>
                <a:schemeClr val="dk1"/>
              </a:solidFill>
              <a:latin typeface="Calibri"/>
              <a:ea typeface="Calibri"/>
              <a:cs typeface="Calibri"/>
              <a:sym typeface="Calibri"/>
            </a:endParaRPr>
          </a:p>
        </p:txBody>
      </p:sp>
      <p:sp>
        <p:nvSpPr>
          <p:cNvPr id="234" name="Google Shape;234;p16"/>
          <p:cNvSpPr/>
          <p:nvPr/>
        </p:nvSpPr>
        <p:spPr>
          <a:xfrm>
            <a:off x="640080" y="3429000"/>
            <a:ext cx="10881360" cy="1737360"/>
          </a:xfrm>
          <a:prstGeom prst="roundRect">
            <a:avLst>
              <a:gd fmla="val 3158"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6"/>
          <p:cNvSpPr txBox="1"/>
          <p:nvPr/>
        </p:nvSpPr>
        <p:spPr>
          <a:xfrm>
            <a:off x="960120" y="368503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THE OTHER WAY THIS HAPPENS</a:t>
            </a:r>
            <a:endParaRPr b="0" i="0" sz="1100" u="none" cap="none" strike="noStrike">
              <a:solidFill>
                <a:schemeClr val="dk1"/>
              </a:solidFill>
              <a:latin typeface="Calibri"/>
              <a:ea typeface="Calibri"/>
              <a:cs typeface="Calibri"/>
              <a:sym typeface="Calibri"/>
            </a:endParaRPr>
          </a:p>
        </p:txBody>
      </p:sp>
      <p:sp>
        <p:nvSpPr>
          <p:cNvPr id="236" name="Google Shape;236;p16"/>
          <p:cNvSpPr txBox="1"/>
          <p:nvPr/>
        </p:nvSpPr>
        <p:spPr>
          <a:xfrm>
            <a:off x="960120" y="4050792"/>
            <a:ext cx="10241280" cy="9144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8DEE9"/>
              </a:buClr>
              <a:buSzPts val="1400"/>
              <a:buFont typeface="Courier New"/>
              <a:buNone/>
            </a:pPr>
            <a:r>
              <a:rPr b="0" i="0" lang="en-US" sz="1400" u="none" cap="none" strike="noStrike">
                <a:solidFill>
                  <a:srgbClr val="D8DEE9"/>
                </a:solidFill>
                <a:latin typeface="Courier New"/>
                <a:ea typeface="Courier New"/>
                <a:cs typeface="Courier New"/>
                <a:sym typeface="Courier New"/>
              </a:rPr>
              <a:t>POST /transfers/validate   →   HTTP 200</a:t>
            </a:r>
            <a:endParaRPr b="0" i="0" sz="1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400"/>
              <a:buFont typeface="Courier New"/>
              <a:buNone/>
            </a:pPr>
            <a:r>
              <a:rPr b="0" i="0" lang="en-US" sz="1400" u="none" cap="none" strike="noStrike">
                <a:solidFill>
                  <a:srgbClr val="F08078"/>
                </a:solidFill>
                <a:latin typeface="Courier New"/>
                <a:ea typeface="Courier New"/>
                <a:cs typeface="Courier New"/>
                <a:sym typeface="Courier New"/>
              </a:rPr>
              <a:t>{ "valid": false, "reason": "amount_must_be_positive_integer" }</a:t>
            </a:r>
            <a:endParaRPr b="0" i="0" sz="1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400"/>
              <a:buFont typeface="Courier New"/>
              <a:buNone/>
            </a:pPr>
            <a:r>
              <a:rPr b="0" i="0" lang="en-US" sz="1400" u="none" cap="none" strike="noStrike">
                <a:solidFill>
                  <a:srgbClr val="D8DEE9"/>
                </a:solidFill>
                <a:latin typeface="Courier New"/>
                <a:ea typeface="Courier New"/>
                <a:cs typeface="Courier New"/>
                <a:sym typeface="Courier New"/>
              </a:rPr>
              <a:t> </a:t>
            </a:r>
            <a:endParaRPr b="0" i="0" sz="1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400"/>
              <a:buFont typeface="Courier New"/>
              <a:buNone/>
            </a:pPr>
            <a:r>
              <a:rPr b="0" i="0" lang="en-US" sz="1400" u="none" cap="none" strike="noStrike">
                <a:solidFill>
                  <a:srgbClr val="E8B25C"/>
                </a:solidFill>
                <a:latin typeface="Courier New"/>
                <a:ea typeface="Courier New"/>
                <a:cs typeface="Courier New"/>
                <a:sym typeface="Courier New"/>
              </a:rPr>
              <a:t>status == 200   →   the test passes   →   the suite is green</a:t>
            </a:r>
            <a:endParaRPr b="0" i="0" sz="1400" u="none" cap="none" strike="noStrike">
              <a:solidFill>
                <a:schemeClr val="dk1"/>
              </a:solidFill>
              <a:latin typeface="Calibri"/>
              <a:ea typeface="Calibri"/>
              <a:cs typeface="Calibri"/>
              <a:sym typeface="Calibri"/>
            </a:endParaRPr>
          </a:p>
        </p:txBody>
      </p:sp>
      <p:sp>
        <p:nvSpPr>
          <p:cNvPr id="237" name="Google Shape;237;p16"/>
          <p:cNvSpPr txBox="1"/>
          <p:nvPr/>
        </p:nvSpPr>
        <p:spPr>
          <a:xfrm>
            <a:off x="640080" y="539496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AFBACB"/>
              </a:buClr>
              <a:buSzPts val="1600"/>
              <a:buFont typeface="Calibri"/>
              <a:buNone/>
            </a:pPr>
            <a:r>
              <a:rPr b="0" i="0" lang="en-US" sz="1600" u="none" cap="none" strike="noStrike">
                <a:solidFill>
                  <a:srgbClr val="AFBACB"/>
                </a:solidFill>
                <a:latin typeface="Calibri"/>
                <a:ea typeface="Calibri"/>
                <a:cs typeface="Calibri"/>
                <a:sym typeface="Calibri"/>
              </a:rPr>
              <a:t>A negative test that checks only the status code will pass happily on a rejected request, and nobody reads five hundred green rows one at a time.</a:t>
            </a:r>
            <a:endParaRPr b="0" i="0" sz="1600" u="none" cap="none" strike="noStrike">
              <a:solidFill>
                <a:schemeClr val="dk1"/>
              </a:solidFill>
              <a:latin typeface="Calibri"/>
              <a:ea typeface="Calibri"/>
              <a:cs typeface="Calibri"/>
              <a:sym typeface="Calibri"/>
            </a:endParaRPr>
          </a:p>
        </p:txBody>
      </p:sp>
      <p:sp>
        <p:nvSpPr>
          <p:cNvPr id="238" name="Google Shape;238;p16"/>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6B7A90"/>
                </a:solidFill>
                <a:latin typeface="Calibri"/>
                <a:ea typeface="Calibri"/>
                <a:cs typeface="Calibri"/>
                <a:sym typeface="Calibri"/>
              </a:rPr>
              <a:t>‹#›</a:t>
            </a:fld>
            <a:endParaRPr b="0" i="0" sz="1000" u="none" cap="none" strike="noStrike">
              <a:solidFill>
                <a:srgbClr val="6B7A9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7"/>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07 · ROUND TWO</a:t>
            </a:r>
            <a:endParaRPr b="0" i="0" sz="1100" u="none" cap="none" strike="noStrike">
              <a:solidFill>
                <a:schemeClr val="dk1"/>
              </a:solidFill>
              <a:latin typeface="Calibri"/>
              <a:ea typeface="Calibri"/>
              <a:cs typeface="Calibri"/>
              <a:sym typeface="Calibri"/>
            </a:endParaRPr>
          </a:p>
        </p:txBody>
      </p:sp>
      <p:sp>
        <p:nvSpPr>
          <p:cNvPr id="245" name="Google Shape;245;p17"/>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246" name="Google Shape;246;p17"/>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000"/>
              <a:buFont typeface="Calibri"/>
              <a:buNone/>
            </a:pPr>
            <a:r>
              <a:rPr b="1" i="0" lang="en-US" sz="3000" u="none" cap="none" strike="noStrike">
                <a:solidFill>
                  <a:srgbClr val="111827"/>
                </a:solidFill>
                <a:latin typeface="Calibri"/>
                <a:ea typeface="Calibri"/>
                <a:cs typeface="Calibri"/>
                <a:sym typeface="Calibri"/>
              </a:rPr>
              <a:t>We wondered whether the models were simply out of date</a:t>
            </a:r>
            <a:endParaRPr b="0" i="0" sz="3000" u="none" cap="none" strike="noStrike">
              <a:solidFill>
                <a:schemeClr val="dk1"/>
              </a:solidFill>
              <a:latin typeface="Calibri"/>
              <a:ea typeface="Calibri"/>
              <a:cs typeface="Calibri"/>
              <a:sym typeface="Calibri"/>
            </a:endParaRPr>
          </a:p>
        </p:txBody>
      </p:sp>
      <p:sp>
        <p:nvSpPr>
          <p:cNvPr id="247" name="Google Shape;247;p17"/>
          <p:cNvSpPr txBox="1"/>
          <p:nvPr/>
        </p:nvSpPr>
        <p:spPr>
          <a:xfrm>
            <a:off x="640080" y="1353312"/>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The same endpoint and the same harness, run again on current models</a:t>
            </a:r>
            <a:endParaRPr b="0" i="0" sz="1500" u="none" cap="none" strike="noStrike">
              <a:solidFill>
                <a:schemeClr val="dk1"/>
              </a:solidFill>
              <a:latin typeface="Calibri"/>
              <a:ea typeface="Calibri"/>
              <a:cs typeface="Calibri"/>
              <a:sym typeface="Calibri"/>
            </a:endParaRPr>
          </a:p>
        </p:txBody>
      </p:sp>
      <p:graphicFrame>
        <p:nvGraphicFramePr>
          <p:cNvPr id="248" name="Google Shape;248;p17"/>
          <p:cNvGraphicFramePr/>
          <p:nvPr/>
        </p:nvGraphicFramePr>
        <p:xfrm>
          <a:off x="640080" y="1874520"/>
          <a:ext cx="5760720" cy="3703320"/>
        </p:xfrm>
        <a:graphic>
          <a:graphicData uri="http://schemas.openxmlformats.org/drawingml/2006/chart">
            <c:chart r:id="rId3"/>
          </a:graphicData>
        </a:graphic>
      </p:graphicFrame>
      <p:graphicFrame>
        <p:nvGraphicFramePr>
          <p:cNvPr id="249" name="Google Shape;249;p17"/>
          <p:cNvGraphicFramePr/>
          <p:nvPr/>
        </p:nvGraphicFramePr>
        <p:xfrm>
          <a:off x="6675120" y="2286000"/>
          <a:ext cx="3000000" cy="3000000"/>
        </p:xfrm>
        <a:graphic>
          <a:graphicData uri="http://schemas.openxmlformats.org/drawingml/2006/table">
            <a:tbl>
              <a:tblPr>
                <a:noFill/>
                <a:tableStyleId>{97874EEE-3C7E-4AF0-8156-FB3C0BBDD827}</a:tableStyleId>
              </a:tblPr>
              <a:tblGrid>
                <a:gridCol w="1828800"/>
                <a:gridCol w="685800"/>
                <a:gridCol w="731525"/>
                <a:gridCol w="914400"/>
                <a:gridCol w="713225"/>
              </a:tblGrid>
              <a:tr h="347475">
                <a:tc>
                  <a:txBody>
                    <a:bodyPr/>
                    <a:lstStyle/>
                    <a:p>
                      <a:pPr indent="0" lvl="0" marL="0" marR="0" rtl="0" algn="l">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Model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1st</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Final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 / trial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Wall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GPT-5.4 Mini</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$0.008</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5s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Claude Opus 5</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$0.162</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38s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GPT-5.2</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$0.193</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56s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Claude Sonnet 5</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$0.036</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14s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Gemini 3.1 Pro Preview</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b="1"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$0.017</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7s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Gemini 3.5 Flash</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b="1"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$0.036</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12s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bl>
          </a:graphicData>
        </a:graphic>
      </p:graphicFrame>
      <p:sp>
        <p:nvSpPr>
          <p:cNvPr id="250" name="Google Shape;250;p17"/>
          <p:cNvSpPr txBox="1"/>
          <p:nvPr/>
        </p:nvSpPr>
        <p:spPr>
          <a:xfrm>
            <a:off x="640080" y="58064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The Gemini behaviour repeated a generation later. Sonnet 5 also missed on its first attempt and then repaired, which is worth explaining before we go further.</a:t>
            </a:r>
            <a:endParaRPr b="0" i="0" sz="1500" u="none" cap="none" strike="noStrike">
              <a:solidFill>
                <a:schemeClr val="dk1"/>
              </a:solidFill>
              <a:latin typeface="Calibri"/>
              <a:ea typeface="Calibri"/>
              <a:cs typeface="Calibri"/>
              <a:sym typeface="Calibri"/>
            </a:endParaRPr>
          </a:p>
        </p:txBody>
      </p:sp>
      <p:sp>
        <p:nvSpPr>
          <p:cNvPr id="251" name="Google Shape;251;p17"/>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18"/>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07 · ROUND TWO</a:t>
            </a:r>
            <a:endParaRPr b="0" i="0" sz="1100" u="none" cap="none" strike="noStrike">
              <a:solidFill>
                <a:schemeClr val="dk1"/>
              </a:solidFill>
              <a:latin typeface="Calibri"/>
              <a:ea typeface="Calibri"/>
              <a:cs typeface="Calibri"/>
              <a:sym typeface="Calibri"/>
            </a:endParaRPr>
          </a:p>
        </p:txBody>
      </p:sp>
      <p:sp>
        <p:nvSpPr>
          <p:cNvPr id="258" name="Google Shape;258;p18"/>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259" name="Google Shape;259;p18"/>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Why there are two pass-rate columns</a:t>
            </a:r>
            <a:endParaRPr b="0" i="0" sz="3200" u="none" cap="none" strike="noStrike">
              <a:solidFill>
                <a:schemeClr val="dk1"/>
              </a:solidFill>
              <a:latin typeface="Calibri"/>
              <a:ea typeface="Calibri"/>
              <a:cs typeface="Calibri"/>
              <a:sym typeface="Calibri"/>
            </a:endParaRPr>
          </a:p>
        </p:txBody>
      </p:sp>
      <p:pic>
        <p:nvPicPr>
          <p:cNvPr descr="/home/claude/pdc/img/engine.png" id="260" name="Google Shape;260;p18"/>
          <p:cNvPicPr preferRelativeResize="0"/>
          <p:nvPr/>
        </p:nvPicPr>
        <p:blipFill rotWithShape="1">
          <a:blip r:embed="rId3">
            <a:alphaModFix/>
          </a:blip>
          <a:srcRect b="0" l="0" r="0" t="0"/>
          <a:stretch/>
        </p:blipFill>
        <p:spPr>
          <a:xfrm>
            <a:off x="978408" y="1463040"/>
            <a:ext cx="10241280" cy="3731992"/>
          </a:xfrm>
          <a:prstGeom prst="rect">
            <a:avLst/>
          </a:prstGeom>
          <a:noFill/>
          <a:ln>
            <a:noFill/>
          </a:ln>
        </p:spPr>
      </p:pic>
      <p:sp>
        <p:nvSpPr>
          <p:cNvPr id="261" name="Google Shape;261;p18"/>
          <p:cNvSpPr txBox="1"/>
          <p:nvPr/>
        </p:nvSpPr>
        <p:spPr>
          <a:xfrm>
            <a:off x="640080" y="544068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A test cannot be saved until the harness has watched it pass against the live service. Asking a model for tests and shipping the first green suite skips every stage after the first one.</a:t>
            </a:r>
            <a:endParaRPr b="0" i="0" sz="1600" u="none" cap="none" strike="noStrike">
              <a:solidFill>
                <a:schemeClr val="dk1"/>
              </a:solidFill>
              <a:latin typeface="Calibri"/>
              <a:ea typeface="Calibri"/>
              <a:cs typeface="Calibri"/>
              <a:sym typeface="Calibri"/>
            </a:endParaRPr>
          </a:p>
        </p:txBody>
      </p:sp>
      <p:sp>
        <p:nvSpPr>
          <p:cNvPr id="262" name="Google Shape;262;p18"/>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9"/>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08 · ROUND THREE</a:t>
            </a:r>
            <a:endParaRPr b="0" i="0" sz="1100" u="none" cap="none" strike="noStrike">
              <a:solidFill>
                <a:schemeClr val="dk1"/>
              </a:solidFill>
              <a:latin typeface="Calibri"/>
              <a:ea typeface="Calibri"/>
              <a:cs typeface="Calibri"/>
              <a:sym typeface="Calibri"/>
            </a:endParaRPr>
          </a:p>
        </p:txBody>
      </p:sp>
      <p:sp>
        <p:nvSpPr>
          <p:cNvPr id="269" name="Google Shape;269;p19"/>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270" name="Google Shape;270;p19"/>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Then an endpoint you cannot call on its own</a:t>
            </a:r>
            <a:endParaRPr b="0" i="0" sz="3200" u="none" cap="none" strike="noStrike">
              <a:solidFill>
                <a:schemeClr val="dk1"/>
              </a:solidFill>
              <a:latin typeface="Calibri"/>
              <a:ea typeface="Calibri"/>
              <a:cs typeface="Calibri"/>
              <a:sym typeface="Calibri"/>
            </a:endParaRPr>
          </a:p>
        </p:txBody>
      </p:sp>
      <p:pic>
        <p:nvPicPr>
          <p:cNvPr descr="/home/claude/pdc/img/chain.png" id="271" name="Google Shape;271;p19"/>
          <p:cNvPicPr preferRelativeResize="0"/>
          <p:nvPr/>
        </p:nvPicPr>
        <p:blipFill rotWithShape="1">
          <a:blip r:embed="rId3">
            <a:alphaModFix/>
          </a:blip>
          <a:srcRect b="0" l="0" r="0" t="0"/>
          <a:stretch/>
        </p:blipFill>
        <p:spPr>
          <a:xfrm>
            <a:off x="640080" y="1463040"/>
            <a:ext cx="10881360" cy="3688597"/>
          </a:xfrm>
          <a:prstGeom prst="rect">
            <a:avLst/>
          </a:prstGeom>
          <a:noFill/>
          <a:ln>
            <a:noFill/>
          </a:ln>
        </p:spPr>
      </p:pic>
      <p:sp>
        <p:nvSpPr>
          <p:cNvPr id="272" name="Google Shape;272;p19"/>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20"/>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08 · ROUND THREE</a:t>
            </a:r>
            <a:endParaRPr b="0" i="0" sz="1100" u="none" cap="none" strike="noStrike">
              <a:solidFill>
                <a:schemeClr val="dk1"/>
              </a:solidFill>
              <a:latin typeface="Calibri"/>
              <a:ea typeface="Calibri"/>
              <a:cs typeface="Calibri"/>
              <a:sym typeface="Calibri"/>
            </a:endParaRPr>
          </a:p>
        </p:txBody>
      </p:sp>
      <p:sp>
        <p:nvSpPr>
          <p:cNvPr id="279" name="Google Shape;279;p20"/>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280" name="Google Shape;280;p20"/>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000"/>
              <a:buFont typeface="Calibri"/>
              <a:buNone/>
            </a:pPr>
            <a:r>
              <a:rPr b="1" i="0" lang="en-US" sz="3000" u="none" cap="none" strike="noStrike">
                <a:solidFill>
                  <a:srgbClr val="111827"/>
                </a:solidFill>
                <a:latin typeface="Calibri"/>
                <a:ea typeface="Calibri"/>
                <a:cs typeface="Calibri"/>
                <a:sym typeface="Calibri"/>
              </a:rPr>
              <a:t>Chaining the calls turned out not to be the hard part</a:t>
            </a:r>
            <a:endParaRPr b="0" i="0" sz="3000" u="none" cap="none" strike="noStrike">
              <a:solidFill>
                <a:schemeClr val="dk1"/>
              </a:solidFill>
              <a:latin typeface="Calibri"/>
              <a:ea typeface="Calibri"/>
              <a:cs typeface="Calibri"/>
              <a:sym typeface="Calibri"/>
            </a:endParaRPr>
          </a:p>
        </p:txBody>
      </p:sp>
      <p:sp>
        <p:nvSpPr>
          <p:cNvPr id="281" name="Google Shape;281;p20"/>
          <p:cNvSpPr txBox="1"/>
          <p:nvPr/>
        </p:nvSpPr>
        <p:spPr>
          <a:xfrm>
            <a:off x="640080" y="1353312"/>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POST /transfers/:id/reverse  ·  median across trials</a:t>
            </a:r>
            <a:endParaRPr b="0" i="0" sz="1500" u="none" cap="none" strike="noStrike">
              <a:solidFill>
                <a:schemeClr val="dk1"/>
              </a:solidFill>
              <a:latin typeface="Calibri"/>
              <a:ea typeface="Calibri"/>
              <a:cs typeface="Calibri"/>
              <a:sym typeface="Calibri"/>
            </a:endParaRPr>
          </a:p>
        </p:txBody>
      </p:sp>
      <p:graphicFrame>
        <p:nvGraphicFramePr>
          <p:cNvPr id="282" name="Google Shape;282;p20"/>
          <p:cNvGraphicFramePr/>
          <p:nvPr/>
        </p:nvGraphicFramePr>
        <p:xfrm>
          <a:off x="640080" y="1874520"/>
          <a:ext cx="5760720" cy="3703320"/>
        </p:xfrm>
        <a:graphic>
          <a:graphicData uri="http://schemas.openxmlformats.org/drawingml/2006/chart">
            <c:chart r:id="rId3"/>
          </a:graphicData>
        </a:graphic>
      </p:graphicFrame>
      <p:graphicFrame>
        <p:nvGraphicFramePr>
          <p:cNvPr id="283" name="Google Shape;283;p20"/>
          <p:cNvGraphicFramePr/>
          <p:nvPr/>
        </p:nvGraphicFramePr>
        <p:xfrm>
          <a:off x="6675120" y="2286000"/>
          <a:ext cx="3000000" cy="3000000"/>
        </p:xfrm>
        <a:graphic>
          <a:graphicData uri="http://schemas.openxmlformats.org/drawingml/2006/table">
            <a:tbl>
              <a:tblPr>
                <a:noFill/>
                <a:tableStyleId>{97874EEE-3C7E-4AF0-8156-FB3C0BBDD827}</a:tableStyleId>
              </a:tblPr>
              <a:tblGrid>
                <a:gridCol w="1828800"/>
                <a:gridCol w="685800"/>
                <a:gridCol w="731525"/>
                <a:gridCol w="914400"/>
                <a:gridCol w="713225"/>
              </a:tblGrid>
              <a:tr h="347475">
                <a:tc>
                  <a:txBody>
                    <a:bodyPr/>
                    <a:lstStyle/>
                    <a:p>
                      <a:pPr indent="0" lvl="0" marL="0" marR="0" rtl="0" algn="l">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Model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1st</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Final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 / trial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b="1" lang="en-US" sz="1150" u="none" cap="none" strike="noStrike">
                          <a:solidFill>
                            <a:srgbClr val="111827"/>
                          </a:solidFill>
                          <a:latin typeface="Calibri"/>
                          <a:ea typeface="Calibri"/>
                          <a:cs typeface="Calibri"/>
                          <a:sym typeface="Calibri"/>
                        </a:rPr>
                        <a:t>Wall</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GPT-5.4 Mini</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$0.014</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8s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Claude Opus 5</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$0.493</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82s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Claude Sonnet 5</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150"/>
                        <a:buFont typeface="Calibri"/>
                        <a:buNone/>
                      </a:pPr>
                      <a:r>
                        <a:rPr b="1" lang="en-US" sz="1150" u="none" cap="none" strike="noStrike">
                          <a:solidFill>
                            <a:srgbClr val="1E8E3E"/>
                          </a:solidFill>
                          <a:latin typeface="Calibri"/>
                          <a:ea typeface="Calibri"/>
                          <a:cs typeface="Calibri"/>
                          <a:sym typeface="Calibri"/>
                        </a:rPr>
                        <a:t>100%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$0.156</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63s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GPT-5.2</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b="1"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$0.233</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64s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Gemini 3.1 Pro Preview</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b="1"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$0.055</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26s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Gemini 3.5 Flash</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150"/>
                        <a:buFont typeface="Calibri"/>
                        <a:buNone/>
                      </a:pPr>
                      <a:r>
                        <a:rPr b="1" lang="en-US" sz="1150" u="none" cap="none" strike="noStrike">
                          <a:solidFill>
                            <a:srgbClr val="C5221F"/>
                          </a:solidFill>
                          <a:latin typeface="Calibri"/>
                          <a:ea typeface="Calibri"/>
                          <a:cs typeface="Calibri"/>
                          <a:sym typeface="Calibri"/>
                        </a:rPr>
                        <a:t>0%</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$0.097</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150"/>
                        <a:buFont typeface="Calibri"/>
                        <a:buNone/>
                      </a:pPr>
                      <a:r>
                        <a:rPr lang="en-US" sz="1150" u="none" cap="none" strike="noStrike">
                          <a:solidFill>
                            <a:srgbClr val="111827"/>
                          </a:solidFill>
                          <a:latin typeface="Calibri"/>
                          <a:ea typeface="Calibri"/>
                          <a:cs typeface="Calibri"/>
                          <a:sym typeface="Calibri"/>
                        </a:rPr>
                        <a:t>27s</a:t>
                      </a:r>
                      <a:endParaRPr sz="115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bl>
          </a:graphicData>
        </a:graphic>
      </p:graphicFrame>
      <p:sp>
        <p:nvSpPr>
          <p:cNvPr id="284" name="Google Shape;284;p20"/>
          <p:cNvSpPr txBox="1"/>
          <p:nvPr/>
        </p:nvSpPr>
        <p:spPr>
          <a:xfrm>
            <a:off x="640080" y="58064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GPT-5.2 cleared the simple endpoint and did not clear this one. The cheapest model that passed did so at roughly a thirtieth of the cost of the most expensive.</a:t>
            </a:r>
            <a:endParaRPr b="0" i="0" sz="1500" u="none" cap="none" strike="noStrike">
              <a:solidFill>
                <a:schemeClr val="dk1"/>
              </a:solidFill>
              <a:latin typeface="Calibri"/>
              <a:ea typeface="Calibri"/>
              <a:cs typeface="Calibri"/>
              <a:sym typeface="Calibri"/>
            </a:endParaRPr>
          </a:p>
        </p:txBody>
      </p:sp>
      <p:sp>
        <p:nvSpPr>
          <p:cNvPr id="285" name="Google Shape;285;p20"/>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21"/>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08 · ROUND THREE</a:t>
            </a:r>
            <a:endParaRPr b="0" i="0" sz="1100" u="none" cap="none" strike="noStrike">
              <a:solidFill>
                <a:schemeClr val="dk1"/>
              </a:solidFill>
              <a:latin typeface="Calibri"/>
              <a:ea typeface="Calibri"/>
              <a:cs typeface="Calibri"/>
              <a:sym typeface="Calibri"/>
            </a:endParaRPr>
          </a:p>
        </p:txBody>
      </p:sp>
      <p:sp>
        <p:nvSpPr>
          <p:cNvPr id="292" name="Google Shape;292;p21"/>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293" name="Google Shape;293;p21"/>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Everything they needed was in the file we handed them</a:t>
            </a:r>
            <a:endParaRPr b="0" i="0" sz="3200" u="none" cap="none" strike="noStrike">
              <a:solidFill>
                <a:schemeClr val="dk1"/>
              </a:solidFill>
              <a:latin typeface="Calibri"/>
              <a:ea typeface="Calibri"/>
              <a:cs typeface="Calibri"/>
              <a:sym typeface="Calibri"/>
            </a:endParaRPr>
          </a:p>
        </p:txBody>
      </p:sp>
      <p:sp>
        <p:nvSpPr>
          <p:cNvPr id="294" name="Google Shape;294;p21"/>
          <p:cNvSpPr/>
          <p:nvPr/>
        </p:nvSpPr>
        <p:spPr>
          <a:xfrm>
            <a:off x="640080" y="1508760"/>
            <a:ext cx="10881360" cy="4069080"/>
          </a:xfrm>
          <a:prstGeom prst="roundRect">
            <a:avLst>
              <a:gd fmla="val 1348"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
          <p:cNvSpPr txBox="1"/>
          <p:nvPr/>
        </p:nvSpPr>
        <p:spPr>
          <a:xfrm>
            <a:off x="960120" y="176479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THE SOURCE THE AGENT READ</a:t>
            </a:r>
            <a:endParaRPr b="0" i="0" sz="1100" u="none" cap="none" strike="noStrike">
              <a:solidFill>
                <a:schemeClr val="dk1"/>
              </a:solidFill>
              <a:latin typeface="Calibri"/>
              <a:ea typeface="Calibri"/>
              <a:cs typeface="Calibri"/>
              <a:sym typeface="Calibri"/>
            </a:endParaRPr>
          </a:p>
        </p:txBody>
      </p:sp>
      <p:sp>
        <p:nvSpPr>
          <p:cNvPr id="296" name="Google Shape;296;p21"/>
          <p:cNvSpPr txBox="1"/>
          <p:nvPr/>
        </p:nvSpPr>
        <p:spPr>
          <a:xfrm>
            <a:off x="960120" y="2130552"/>
            <a:ext cx="10241280" cy="324612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9AA6B8"/>
              </a:buClr>
              <a:buSzPts val="1100"/>
              <a:buFont typeface="Courier New"/>
              <a:buNone/>
            </a:pPr>
            <a:r>
              <a:rPr b="0" i="0" lang="en-US" sz="1100" u="none" cap="none" strike="noStrike">
                <a:solidFill>
                  <a:srgbClr val="9AA6B8"/>
                </a:solidFill>
                <a:latin typeface="Courier New"/>
                <a:ea typeface="Courier New"/>
                <a:cs typeface="Courier New"/>
                <a:sym typeface="Courier New"/>
              </a:rPr>
              <a:t>function reset()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state =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accounts: [ { id: "acc_1", balanceCents: 250_00, ...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 id: "acc_2", balanceCents: 1_000_00, ... }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100"/>
              <a:buFont typeface="Courier New"/>
              <a:buNone/>
            </a:pPr>
            <a:r>
              <a:rPr b="0" i="0" lang="en-US" sz="1100" u="none" cap="none" strike="noStrike">
                <a:solidFill>
                  <a:srgbClr val="E8B25C"/>
                </a:solidFill>
                <a:latin typeface="Courier New"/>
                <a:ea typeface="Courier New"/>
                <a:cs typeface="Courier New"/>
                <a:sym typeface="Courier New"/>
              </a:rPr>
              <a:t>    transfers: [],                          // ← empty on boot</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limits: { dailyCents: 500_00, perTransferCents: 100_00 } };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AA6B8"/>
              </a:buClr>
              <a:buSzPts val="1100"/>
              <a:buFont typeface="Courier New"/>
              <a:buNone/>
            </a:pPr>
            <a:r>
              <a:rPr b="0" i="0" lang="en-US" sz="1100" u="none" cap="none" strike="noStrike">
                <a:solidFill>
                  <a:srgbClr val="9AA6B8"/>
                </a:solidFill>
                <a:latin typeface="Courier New"/>
                <a:ea typeface="Courier New"/>
                <a:cs typeface="Courier New"/>
                <a:sym typeface="Courier New"/>
              </a:rPr>
              <a:t>app.post("/transfers", (req, res) =&gt;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const t = { id: `trf_${state.seq++}`, fromId, toId, amountCents,</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reversed: false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100"/>
              <a:buFont typeface="Courier New"/>
              <a:buNone/>
            </a:pPr>
            <a:r>
              <a:rPr b="0" i="0" lang="en-US" sz="1100" u="none" cap="none" strike="noStrike">
                <a:solidFill>
                  <a:srgbClr val="7FD19A"/>
                </a:solidFill>
                <a:latin typeface="Courier New"/>
                <a:ea typeface="Courier New"/>
                <a:cs typeface="Courier New"/>
                <a:sym typeface="Courier New"/>
              </a:rPr>
              <a:t>  res.status(201).json(t);                  // ← the id reverse needs</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AA6B8"/>
              </a:buClr>
              <a:buSzPts val="1100"/>
              <a:buFont typeface="Courier New"/>
              <a:buNone/>
            </a:pPr>
            <a:r>
              <a:rPr b="0" i="0" lang="en-US" sz="1100" u="none" cap="none" strike="noStrike">
                <a:solidFill>
                  <a:srgbClr val="9AA6B8"/>
                </a:solidFill>
                <a:latin typeface="Courier New"/>
                <a:ea typeface="Courier New"/>
                <a:cs typeface="Courier New"/>
                <a:sym typeface="Courier New"/>
              </a:rPr>
              <a:t>app.post("/transfers/:id/reverse", (req, res) =&gt;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const t = state.transfers.find(x =&gt; x.id === req.params.id);</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if (!t)        return res.status(404).json({ error: "not_found"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  if (t.reversed) return res.status(409).json({ error: "already_reversed" });</a:t>
            </a:r>
            <a:endParaRPr b="0" i="0" sz="11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100"/>
              <a:buFont typeface="Courier New"/>
              <a:buNone/>
            </a:pPr>
            <a:r>
              <a:rPr b="0" i="0" lang="en-US" sz="1100" u="none" cap="none" strike="noStrike">
                <a:solidFill>
                  <a:srgbClr val="D8DEE9"/>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p:txBody>
      </p:sp>
      <p:sp>
        <p:nvSpPr>
          <p:cNvPr id="297" name="Google Shape;297;p21"/>
          <p:cNvSpPr txBox="1"/>
          <p:nvPr/>
        </p:nvSpPr>
        <p:spPr>
          <a:xfrm>
            <a:off x="640080" y="5806440"/>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Read the seed, read the two handlers, and the call order follows. The models that passed did exactly that.</a:t>
            </a:r>
            <a:endParaRPr b="0" i="0" sz="1500" u="none" cap="none" strike="noStrike">
              <a:solidFill>
                <a:schemeClr val="dk1"/>
              </a:solidFill>
              <a:latin typeface="Calibri"/>
              <a:ea typeface="Calibri"/>
              <a:cs typeface="Calibri"/>
              <a:sym typeface="Calibri"/>
            </a:endParaRPr>
          </a:p>
        </p:txBody>
      </p:sp>
      <p:sp>
        <p:nvSpPr>
          <p:cNvPr id="298" name="Google Shape;298;p21"/>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20"/>
        </a:solidFill>
      </p:bgPr>
    </p:bg>
    <p:spTree>
      <p:nvGrpSpPr>
        <p:cNvPr id="303" name="Shape 303"/>
        <p:cNvGrpSpPr/>
        <p:nvPr/>
      </p:nvGrpSpPr>
      <p:grpSpPr>
        <a:xfrm>
          <a:off x="0" y="0"/>
          <a:ext cx="0" cy="0"/>
          <a:chOff x="0" y="0"/>
          <a:chExt cx="0" cy="0"/>
        </a:xfrm>
      </p:grpSpPr>
      <p:sp>
        <p:nvSpPr>
          <p:cNvPr id="304" name="Google Shape;304;p22"/>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Calibri"/>
              <a:buNone/>
            </a:pPr>
            <a:r>
              <a:rPr b="0" i="0" lang="en-US" sz="1000" u="none" cap="none" strike="noStrike">
                <a:solidFill>
                  <a:srgbClr val="6B7A90"/>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305" name="Google Shape;305;p22"/>
          <p:cNvSpPr txBox="1"/>
          <p:nvPr/>
        </p:nvSpPr>
        <p:spPr>
          <a:xfrm>
            <a:off x="640080" y="205740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BACB"/>
              </a:buClr>
              <a:buSzPts val="2700"/>
              <a:buFont typeface="Calibri"/>
              <a:buNone/>
            </a:pPr>
            <a:r>
              <a:rPr b="1" i="0" lang="en-US" sz="2700" u="none" cap="none" strike="noStrike">
                <a:solidFill>
                  <a:srgbClr val="AFBACB"/>
                </a:solidFill>
                <a:latin typeface="Calibri"/>
                <a:ea typeface="Calibri"/>
                <a:cs typeface="Calibri"/>
                <a:sym typeface="Calibri"/>
              </a:rPr>
              <a:t>All of that works nicely when you already know what to hand the model.</a:t>
            </a:r>
            <a:endParaRPr b="0" i="0" sz="2700" u="none" cap="none" strike="noStrike">
              <a:solidFill>
                <a:schemeClr val="dk1"/>
              </a:solidFill>
              <a:latin typeface="Calibri"/>
              <a:ea typeface="Calibri"/>
              <a:cs typeface="Calibri"/>
              <a:sym typeface="Calibri"/>
            </a:endParaRPr>
          </a:p>
        </p:txBody>
      </p:sp>
      <p:sp>
        <p:nvSpPr>
          <p:cNvPr id="306" name="Google Shape;306;p22"/>
          <p:cNvSpPr txBox="1"/>
          <p:nvPr/>
        </p:nvSpPr>
        <p:spPr>
          <a:xfrm>
            <a:off x="640080" y="297180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Now point it at a million lines</a:t>
            </a:r>
            <a:endParaRPr b="0" i="0" sz="4000" u="none" cap="none" strike="noStrike">
              <a:solidFill>
                <a:schemeClr val="dk1"/>
              </a:solidFill>
              <a:latin typeface="Calibri"/>
              <a:ea typeface="Calibri"/>
              <a:cs typeface="Calibri"/>
              <a:sym typeface="Calibri"/>
            </a:endParaRPr>
          </a:p>
        </p:txBody>
      </p:sp>
      <p:sp>
        <p:nvSpPr>
          <p:cNvPr id="307" name="Google Shape;307;p22"/>
          <p:cNvSpPr txBox="1"/>
          <p:nvPr/>
        </p:nvSpPr>
        <p:spPr>
          <a:xfrm>
            <a:off x="640080" y="370332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9BE8"/>
              </a:buClr>
              <a:buSzPts val="4000"/>
              <a:buFont typeface="Calibri"/>
              <a:buNone/>
            </a:pPr>
            <a:r>
              <a:rPr b="1" i="0" lang="en-US" sz="4000" u="none" cap="none" strike="noStrike">
                <a:solidFill>
                  <a:srgbClr val="4E9BE8"/>
                </a:solidFill>
                <a:latin typeface="Calibri"/>
                <a:ea typeface="Calibri"/>
                <a:cs typeface="Calibri"/>
                <a:sym typeface="Calibri"/>
              </a:rPr>
              <a:t>of a code base nobody in the room has worked on.</a:t>
            </a:r>
            <a:endParaRPr b="0" i="0" sz="4000" u="none" cap="none" strike="noStrike">
              <a:solidFill>
                <a:schemeClr val="dk1"/>
              </a:solidFill>
              <a:latin typeface="Calibri"/>
              <a:ea typeface="Calibri"/>
              <a:cs typeface="Calibri"/>
              <a:sym typeface="Calibri"/>
            </a:endParaRPr>
          </a:p>
        </p:txBody>
      </p:sp>
      <p:sp>
        <p:nvSpPr>
          <p:cNvPr id="308" name="Google Shape;308;p22"/>
          <p:cNvSpPr txBox="1"/>
          <p:nvPr/>
        </p:nvSpPr>
        <p:spPr>
          <a:xfrm>
            <a:off x="640080" y="470916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600"/>
              <a:buFont typeface="Courier New"/>
              <a:buNone/>
            </a:pPr>
            <a:r>
              <a:rPr b="0" i="0" lang="en-US" sz="1600" u="none" cap="none" strike="noStrike">
                <a:solidFill>
                  <a:srgbClr val="7C8AA0"/>
                </a:solidFill>
                <a:latin typeface="Courier New"/>
                <a:ea typeface="Courier New"/>
                <a:cs typeface="Courier New"/>
                <a:sym typeface="Courier New"/>
              </a:rPr>
              <a:t>Apache Fineract   ·   the task: create a client</a:t>
            </a:r>
            <a:endParaRPr b="0" i="0" sz="1600" u="none" cap="none" strike="noStrike">
              <a:solidFill>
                <a:schemeClr val="dk1"/>
              </a:solidFill>
              <a:latin typeface="Calibri"/>
              <a:ea typeface="Calibri"/>
              <a:cs typeface="Calibri"/>
              <a:sym typeface="Calibri"/>
            </a:endParaRPr>
          </a:p>
        </p:txBody>
      </p:sp>
      <p:sp>
        <p:nvSpPr>
          <p:cNvPr id="309" name="Google Shape;309;p22"/>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6B7A90"/>
                </a:solidFill>
                <a:latin typeface="Calibri"/>
                <a:ea typeface="Calibri"/>
                <a:cs typeface="Calibri"/>
                <a:sym typeface="Calibri"/>
              </a:rPr>
              <a:t>‹#›</a:t>
            </a:fld>
            <a:endParaRPr b="0" i="0" sz="1000" u="none" cap="none" strike="noStrike">
              <a:solidFill>
                <a:srgbClr val="6B7A9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23"/>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09 · THE REAL THING</a:t>
            </a:r>
            <a:endParaRPr b="0" i="0" sz="1100" u="none" cap="none" strike="noStrike">
              <a:solidFill>
                <a:schemeClr val="dk1"/>
              </a:solidFill>
              <a:latin typeface="Calibri"/>
              <a:ea typeface="Calibri"/>
              <a:cs typeface="Calibri"/>
              <a:sym typeface="Calibri"/>
            </a:endParaRPr>
          </a:p>
        </p:txBody>
      </p:sp>
      <p:sp>
        <p:nvSpPr>
          <p:cNvPr id="316" name="Google Shape;316;p23"/>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317" name="Google Shape;317;p23"/>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Seven things POST /clients expects you to know</a:t>
            </a:r>
            <a:endParaRPr b="0" i="0" sz="3200" u="none" cap="none" strike="noStrike">
              <a:solidFill>
                <a:schemeClr val="dk1"/>
              </a:solidFill>
              <a:latin typeface="Calibri"/>
              <a:ea typeface="Calibri"/>
              <a:cs typeface="Calibri"/>
              <a:sym typeface="Calibri"/>
            </a:endParaRPr>
          </a:p>
        </p:txBody>
      </p:sp>
      <p:pic>
        <p:nvPicPr>
          <p:cNvPr descr="/home/claude/pdc/img/fineract.png" id="318" name="Google Shape;318;p23"/>
          <p:cNvPicPr preferRelativeResize="0"/>
          <p:nvPr/>
        </p:nvPicPr>
        <p:blipFill rotWithShape="1">
          <a:blip r:embed="rId3">
            <a:alphaModFix/>
          </a:blip>
          <a:srcRect b="0" l="0" r="0" t="0"/>
          <a:stretch/>
        </p:blipFill>
        <p:spPr>
          <a:xfrm>
            <a:off x="640080" y="1463040"/>
            <a:ext cx="10881360" cy="4334101"/>
          </a:xfrm>
          <a:prstGeom prst="rect">
            <a:avLst/>
          </a:prstGeom>
          <a:noFill/>
          <a:ln>
            <a:noFill/>
          </a:ln>
        </p:spPr>
      </p:pic>
      <p:sp>
        <p:nvSpPr>
          <p:cNvPr id="319" name="Google Shape;319;p23"/>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4"/>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09 · THE REAL THING</a:t>
            </a:r>
            <a:endParaRPr b="0" i="0" sz="1100" u="none" cap="none" strike="noStrike">
              <a:solidFill>
                <a:schemeClr val="dk1"/>
              </a:solidFill>
              <a:latin typeface="Calibri"/>
              <a:ea typeface="Calibri"/>
              <a:cs typeface="Calibri"/>
              <a:sym typeface="Calibri"/>
            </a:endParaRPr>
          </a:p>
        </p:txBody>
      </p:sp>
      <p:sp>
        <p:nvSpPr>
          <p:cNvPr id="326" name="Google Shape;326;p24"/>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327" name="Google Shape;327;p24"/>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000"/>
              <a:buFont typeface="Calibri"/>
              <a:buNone/>
            </a:pPr>
            <a:r>
              <a:rPr b="1" i="0" lang="en-US" sz="3000" u="none" cap="none" strike="noStrike">
                <a:solidFill>
                  <a:srgbClr val="111827"/>
                </a:solidFill>
                <a:latin typeface="Calibri"/>
                <a:ea typeface="Calibri"/>
                <a:cs typeface="Calibri"/>
                <a:sym typeface="Calibri"/>
              </a:rPr>
              <a:t>None of the three passed, and the reason is worth a minute</a:t>
            </a:r>
            <a:endParaRPr b="0" i="0" sz="3000" u="none" cap="none" strike="noStrike">
              <a:solidFill>
                <a:schemeClr val="dk1"/>
              </a:solidFill>
              <a:latin typeface="Calibri"/>
              <a:ea typeface="Calibri"/>
              <a:cs typeface="Calibri"/>
              <a:sym typeface="Calibri"/>
            </a:endParaRPr>
          </a:p>
        </p:txBody>
      </p:sp>
      <p:sp>
        <p:nvSpPr>
          <p:cNvPr id="328" name="Google Shape;328;p24"/>
          <p:cNvSpPr txBox="1"/>
          <p:nvPr/>
        </p:nvSpPr>
        <p:spPr>
          <a:xfrm>
            <a:off x="640080" y="1371600"/>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Three trials each, against POST /fineract-provider/api/v1/clients</a:t>
            </a:r>
            <a:endParaRPr b="0" i="0" sz="1500" u="none" cap="none" strike="noStrike">
              <a:solidFill>
                <a:schemeClr val="dk1"/>
              </a:solidFill>
              <a:latin typeface="Calibri"/>
              <a:ea typeface="Calibri"/>
              <a:cs typeface="Calibri"/>
              <a:sym typeface="Calibri"/>
            </a:endParaRPr>
          </a:p>
        </p:txBody>
      </p:sp>
      <p:graphicFrame>
        <p:nvGraphicFramePr>
          <p:cNvPr id="329" name="Google Shape;329;p24"/>
          <p:cNvGraphicFramePr/>
          <p:nvPr/>
        </p:nvGraphicFramePr>
        <p:xfrm>
          <a:off x="640080" y="2194560"/>
          <a:ext cx="3000000" cy="3000000"/>
        </p:xfrm>
        <a:graphic>
          <a:graphicData uri="http://schemas.openxmlformats.org/drawingml/2006/table">
            <a:tbl>
              <a:tblPr>
                <a:noFill/>
                <a:tableStyleId>{97874EEE-3C7E-4AF0-8156-FB3C0BBDD827}</a:tableStyleId>
              </a:tblPr>
              <a:tblGrid>
                <a:gridCol w="2286000"/>
                <a:gridCol w="822950"/>
                <a:gridCol w="2697475"/>
                <a:gridCol w="1828800"/>
                <a:gridCol w="1325875"/>
                <a:gridCol w="1920250"/>
              </a:tblGrid>
              <a:tr h="502925">
                <a:tc>
                  <a:txBody>
                    <a:bodyPr/>
                    <a:lstStyle/>
                    <a:p>
                      <a:pPr indent="0" lvl="0" marL="0" marR="0" rtl="0" algn="l">
                        <a:spcBef>
                          <a:spcPts val="0"/>
                        </a:spcBef>
                        <a:spcAft>
                          <a:spcPts val="0"/>
                        </a:spcAft>
                        <a:buClr>
                          <a:srgbClr val="111827"/>
                        </a:buClr>
                        <a:buSzPts val="1400"/>
                        <a:buFont typeface="Calibri"/>
                        <a:buNone/>
                      </a:pPr>
                      <a:r>
                        <a:rPr b="1" lang="en-US" sz="1400" u="none" cap="none" strike="noStrike">
                          <a:solidFill>
                            <a:srgbClr val="111827"/>
                          </a:solidFill>
                          <a:latin typeface="Calibri"/>
                          <a:ea typeface="Calibri"/>
                          <a:cs typeface="Calibri"/>
                          <a:sym typeface="Calibri"/>
                        </a:rPr>
                        <a:t>Model</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b="1" lang="en-US" sz="1400" u="none" cap="none" strike="noStrike">
                          <a:solidFill>
                            <a:srgbClr val="111827"/>
                          </a:solidFill>
                          <a:latin typeface="Calibri"/>
                          <a:ea typeface="Calibri"/>
                          <a:cs typeface="Calibri"/>
                          <a:sym typeface="Calibri"/>
                        </a:rPr>
                        <a:t>Trials</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b="1" lang="en-US" sz="1400" u="none" cap="none" strike="noStrike">
                          <a:solidFill>
                            <a:srgbClr val="111827"/>
                          </a:solidFill>
                          <a:latin typeface="Calibri"/>
                          <a:ea typeface="Calibri"/>
                          <a:cs typeface="Calibri"/>
                          <a:sym typeface="Calibri"/>
                        </a:rPr>
                        <a:t>Final pass (median, range)</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b="1" lang="en-US" sz="1400" u="none" cap="none" strike="noStrike">
                          <a:solidFill>
                            <a:srgbClr val="111827"/>
                          </a:solidFill>
                          <a:latin typeface="Calibri"/>
                          <a:ea typeface="Calibri"/>
                          <a:cs typeface="Calibri"/>
                          <a:sym typeface="Calibri"/>
                        </a:rPr>
                        <a:t>Assertion strength</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b="1" lang="en-US" sz="1400" u="none" cap="none" strike="noStrike">
                          <a:solidFill>
                            <a:srgbClr val="111827"/>
                          </a:solidFill>
                          <a:latin typeface="Calibri"/>
                          <a:ea typeface="Calibri"/>
                          <a:cs typeface="Calibri"/>
                          <a:sym typeface="Calibri"/>
                        </a:rPr>
                        <a:t>Abandoned</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400"/>
                        <a:buFont typeface="Calibri"/>
                        <a:buNone/>
                      </a:pPr>
                      <a:r>
                        <a:rPr b="1" lang="en-US" sz="1400" u="none" cap="none" strike="noStrike">
                          <a:solidFill>
                            <a:srgbClr val="111827"/>
                          </a:solidFill>
                          <a:latin typeface="Calibri"/>
                          <a:ea typeface="Calibri"/>
                          <a:cs typeface="Calibri"/>
                          <a:sym typeface="Calibri"/>
                        </a:rPr>
                        <a:t>Cost / trial</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Claude Sonnet 5</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3</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400"/>
                        <a:buFont typeface="Calibri"/>
                        <a:buNone/>
                      </a:pPr>
                      <a:r>
                        <a:rPr b="1" lang="en-US" sz="1400" u="none" cap="none" strike="noStrike">
                          <a:solidFill>
                            <a:srgbClr val="C5221F"/>
                          </a:solidFill>
                          <a:latin typeface="Calibri"/>
                          <a:ea typeface="Calibri"/>
                          <a:cs typeface="Calibri"/>
                          <a:sym typeface="Calibri"/>
                        </a:rPr>
                        <a:t>0%  (0–100%)</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0%</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1</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$0.440</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GPT-5.4 Mini</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3</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400"/>
                        <a:buFont typeface="Calibri"/>
                        <a:buNone/>
                      </a:pPr>
                      <a:r>
                        <a:rPr b="1" lang="en-US" sz="1400" u="none" cap="none" strike="noStrike">
                          <a:solidFill>
                            <a:srgbClr val="C5221F"/>
                          </a:solidFill>
                          <a:latin typeface="Calibri"/>
                          <a:ea typeface="Calibri"/>
                          <a:cs typeface="Calibri"/>
                          <a:sym typeface="Calibri"/>
                        </a:rPr>
                        <a:t>0%</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0%</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1</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$0.072</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Gemini 3.5 Flash</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3</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5221F"/>
                        </a:buClr>
                        <a:buSzPts val="1400"/>
                        <a:buFont typeface="Calibri"/>
                        <a:buNone/>
                      </a:pPr>
                      <a:r>
                        <a:rPr b="1" lang="en-US" sz="1400" u="none" cap="none" strike="noStrike">
                          <a:solidFill>
                            <a:srgbClr val="C5221F"/>
                          </a:solidFill>
                          <a:latin typeface="Calibri"/>
                          <a:ea typeface="Calibri"/>
                          <a:cs typeface="Calibri"/>
                          <a:sym typeface="Calibri"/>
                        </a:rPr>
                        <a:t>0%</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0%</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3</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400"/>
                        <a:buFont typeface="Calibri"/>
                        <a:buNone/>
                      </a:pPr>
                      <a:r>
                        <a:rPr lang="en-US" sz="1400" u="none" cap="none" strike="noStrike">
                          <a:solidFill>
                            <a:srgbClr val="111827"/>
                          </a:solidFill>
                          <a:latin typeface="Calibri"/>
                          <a:ea typeface="Calibri"/>
                          <a:cs typeface="Calibri"/>
                          <a:sym typeface="Calibri"/>
                        </a:rPr>
                        <a:t>$0.291</a:t>
                      </a:r>
                      <a:endParaRPr sz="14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bl>
          </a:graphicData>
        </a:graphic>
      </p:graphicFrame>
      <p:sp>
        <p:nvSpPr>
          <p:cNvPr id="330" name="Google Shape;330;p24"/>
          <p:cNvSpPr/>
          <p:nvPr/>
        </p:nvSpPr>
        <p:spPr>
          <a:xfrm>
            <a:off x="640080" y="4526280"/>
            <a:ext cx="10881360" cy="1371600"/>
          </a:xfrm>
          <a:prstGeom prst="roundRect">
            <a:avLst>
              <a:gd fmla="val 3333" name="adj"/>
            </a:avLst>
          </a:prstGeom>
          <a:solidFill>
            <a:srgbClr val="FDF0DC"/>
          </a:solidFill>
          <a:ln cap="flat" cmpd="sng" w="13950">
            <a:solidFill>
              <a:srgbClr val="B26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4"/>
          <p:cNvSpPr txBox="1"/>
          <p:nvPr/>
        </p:nvSpPr>
        <p:spPr>
          <a:xfrm>
            <a:off x="896112" y="4727448"/>
            <a:ext cx="1036929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900"/>
              <a:buFont typeface="Calibri"/>
              <a:buNone/>
            </a:pPr>
            <a:r>
              <a:rPr b="1" i="0" lang="en-US" sz="1900" u="none" cap="none" strike="noStrike">
                <a:solidFill>
                  <a:srgbClr val="111827"/>
                </a:solidFill>
                <a:latin typeface="Calibri"/>
                <a:ea typeface="Calibri"/>
                <a:cs typeface="Calibri"/>
                <a:sym typeface="Calibri"/>
              </a:rPr>
              <a:t>Every one of them did manage to create a client.</a:t>
            </a:r>
            <a:endParaRPr b="0" i="0" sz="1900" u="none" cap="none" strike="noStrike">
              <a:solidFill>
                <a:schemeClr val="dk1"/>
              </a:solidFill>
              <a:latin typeface="Calibri"/>
              <a:ea typeface="Calibri"/>
              <a:cs typeface="Calibri"/>
              <a:sym typeface="Calibri"/>
            </a:endParaRPr>
          </a:p>
        </p:txBody>
      </p:sp>
      <p:sp>
        <p:nvSpPr>
          <p:cNvPr id="332" name="Google Shape;332;p24"/>
          <p:cNvSpPr txBox="1"/>
          <p:nvPr/>
        </p:nvSpPr>
        <p:spPr>
          <a:xfrm>
            <a:off x="896112" y="5257800"/>
            <a:ext cx="10369296" cy="43891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600"/>
              <a:buFont typeface="Calibri"/>
              <a:buNone/>
            </a:pPr>
            <a:r>
              <a:rPr b="0" i="0" lang="en-US" sz="1600" u="none" cap="none" strike="noStrike">
                <a:solidFill>
                  <a:srgbClr val="111827"/>
                </a:solidFill>
                <a:latin typeface="Calibri"/>
                <a:ea typeface="Calibri"/>
                <a:cs typeface="Calibri"/>
                <a:sym typeface="Calibri"/>
              </a:rPr>
              <a:t>What let them down was the assertion they wrote about the response, and that only becomes visible the second time the test is run.</a:t>
            </a:r>
            <a:endParaRPr b="0" i="0" sz="1600" u="none" cap="none" strike="noStrike">
              <a:solidFill>
                <a:schemeClr val="dk1"/>
              </a:solidFill>
              <a:latin typeface="Calibri"/>
              <a:ea typeface="Calibri"/>
              <a:cs typeface="Calibri"/>
              <a:sym typeface="Calibri"/>
            </a:endParaRPr>
          </a:p>
        </p:txBody>
      </p:sp>
      <p:sp>
        <p:nvSpPr>
          <p:cNvPr id="333" name="Google Shape;333;p24"/>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25"/>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09 · THE REAL THING</a:t>
            </a:r>
            <a:endParaRPr b="0" i="0" sz="1100" u="none" cap="none" strike="noStrike">
              <a:solidFill>
                <a:schemeClr val="dk1"/>
              </a:solidFill>
              <a:latin typeface="Calibri"/>
              <a:ea typeface="Calibri"/>
              <a:cs typeface="Calibri"/>
              <a:sym typeface="Calibri"/>
            </a:endParaRPr>
          </a:p>
        </p:txBody>
      </p:sp>
      <p:sp>
        <p:nvSpPr>
          <p:cNvPr id="340" name="Google Shape;340;p25"/>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341" name="Google Shape;341;p25"/>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The same idea, carried out four different ways</a:t>
            </a:r>
            <a:endParaRPr b="0" i="0" sz="3200" u="none" cap="none" strike="noStrike">
              <a:solidFill>
                <a:schemeClr val="dk1"/>
              </a:solidFill>
              <a:latin typeface="Calibri"/>
              <a:ea typeface="Calibri"/>
              <a:cs typeface="Calibri"/>
              <a:sym typeface="Calibri"/>
            </a:endParaRPr>
          </a:p>
        </p:txBody>
      </p:sp>
      <p:sp>
        <p:nvSpPr>
          <p:cNvPr id="342" name="Google Shape;342;p25"/>
          <p:cNvSpPr/>
          <p:nvPr/>
        </p:nvSpPr>
        <p:spPr>
          <a:xfrm>
            <a:off x="640080" y="1554480"/>
            <a:ext cx="10881360" cy="4114800"/>
          </a:xfrm>
          <a:prstGeom prst="roundRect">
            <a:avLst>
              <a:gd fmla="val 1333"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5"/>
          <p:cNvSpPr txBox="1"/>
          <p:nvPr/>
        </p:nvSpPr>
        <p:spPr>
          <a:xfrm>
            <a:off x="960120" y="181051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RAW ASSERTIONS, TAKEN STRAIGHT FROM THE TRIAL FILES</a:t>
            </a:r>
            <a:endParaRPr b="0" i="0" sz="1100" u="none" cap="none" strike="noStrike">
              <a:solidFill>
                <a:schemeClr val="dk1"/>
              </a:solidFill>
              <a:latin typeface="Calibri"/>
              <a:ea typeface="Calibri"/>
              <a:cs typeface="Calibri"/>
              <a:sym typeface="Calibri"/>
            </a:endParaRPr>
          </a:p>
        </p:txBody>
      </p:sp>
      <p:sp>
        <p:nvSpPr>
          <p:cNvPr id="344" name="Google Shape;344;p25"/>
          <p:cNvSpPr txBox="1"/>
          <p:nvPr/>
        </p:nvSpPr>
        <p:spPr>
          <a:xfrm>
            <a:off x="960120" y="2176272"/>
            <a:ext cx="10241280" cy="32918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7FD19A"/>
              </a:buClr>
              <a:buSzPts val="1050"/>
              <a:buFont typeface="Courier New"/>
              <a:buNone/>
            </a:pPr>
            <a:r>
              <a:rPr b="1" i="0" lang="en-US" sz="1050" u="none" cap="none" strike="noStrike">
                <a:solidFill>
                  <a:srgbClr val="7FD19A"/>
                </a:solidFill>
                <a:latin typeface="Courier New"/>
                <a:ea typeface="Courier New"/>
                <a:cs typeface="Courier New"/>
                <a:sym typeface="Courier New"/>
              </a:rPr>
              <a:t>Claude Sonnet 5    SURVIVES REPLAY</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050"/>
              <a:buFont typeface="Courier New"/>
              <a:buNone/>
            </a:pPr>
            <a:r>
              <a:rPr b="0" i="0" lang="en-US" sz="1050" u="none" cap="none" strike="noStrike">
                <a:solidFill>
                  <a:srgbClr val="D8DEE9"/>
                </a:solidFill>
                <a:latin typeface="Courier New"/>
                <a:ea typeface="Courier New"/>
                <a:cs typeface="Courier New"/>
                <a:sym typeface="Courier New"/>
              </a:rPr>
              <a:t>  [{"pointer":"/officeId","equals":1},{"pointer":"/clientId"},{"pointer":"/resourceId"}]</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050"/>
              <a:buFont typeface="Courier New"/>
              <a:buNone/>
            </a:pPr>
            <a:r>
              <a:rPr b="0" i="0" lang="en-US" sz="1050" u="none" cap="none" strike="noStrike">
                <a:solidFill>
                  <a:srgbClr val="7FD19A"/>
                </a:solidFill>
                <a:latin typeface="Courier New"/>
                <a:ea typeface="Courier New"/>
                <a:cs typeface="Courier New"/>
                <a:sym typeface="Courier New"/>
              </a:rPr>
              <a:t>  observed clientId = 4     ← saw a value, and deliberately did not bind it</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050"/>
              <a:buFont typeface="Courier New"/>
              <a:buNone/>
            </a:pPr>
            <a:r>
              <a:rPr b="0" i="0" lang="en-US" sz="1050" u="none" cap="none" strike="noStrike">
                <a:solidFill>
                  <a:srgbClr val="D8DEE9"/>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050"/>
              <a:buFont typeface="Courier New"/>
              <a:buNone/>
            </a:pPr>
            <a:r>
              <a:rPr b="1" i="0" lang="en-US" sz="1050" u="none" cap="none" strike="noStrike">
                <a:solidFill>
                  <a:srgbClr val="F08078"/>
                </a:solidFill>
                <a:latin typeface="Courier New"/>
                <a:ea typeface="Courier New"/>
                <a:cs typeface="Courier New"/>
                <a:sym typeface="Courier New"/>
              </a:rPr>
              <a:t>Claude Sonnet 5    FAILS REPLAY</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050"/>
              <a:buFont typeface="Courier New"/>
              <a:buNone/>
            </a:pPr>
            <a:r>
              <a:rPr b="0" i="0" lang="en-US" sz="1050" u="none" cap="none" strike="noStrike">
                <a:solidFill>
                  <a:srgbClr val="D8DEE9"/>
                </a:solidFill>
                <a:latin typeface="Courier New"/>
                <a:ea typeface="Courier New"/>
                <a:cs typeface="Courier New"/>
                <a:sym typeface="Courier New"/>
              </a:rPr>
              <a:t>  [{"pointer":"/officeId","equals":1},{"pointer":"/clientId","equals":"__same_as_resourceId__"}]</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050"/>
              <a:buFont typeface="Courier New"/>
              <a:buNone/>
            </a:pPr>
            <a:r>
              <a:rPr b="0" i="0" lang="en-US" sz="1050" u="none" cap="none" strike="noStrike">
                <a:solidFill>
                  <a:srgbClr val="F08078"/>
                </a:solidFill>
                <a:latin typeface="Courier New"/>
                <a:ea typeface="Courier New"/>
                <a:cs typeface="Courier New"/>
                <a:sym typeface="Courier New"/>
              </a:rPr>
              <a:t>  observed clientId = 6     ← the right idea, never resolved</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050"/>
              <a:buFont typeface="Courier New"/>
              <a:buNone/>
            </a:pPr>
            <a:r>
              <a:rPr b="0" i="0" lang="en-US" sz="1050" u="none" cap="none" strike="noStrike">
                <a:solidFill>
                  <a:srgbClr val="D8DEE9"/>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050"/>
              <a:buFont typeface="Courier New"/>
              <a:buNone/>
            </a:pPr>
            <a:r>
              <a:rPr b="1" i="0" lang="en-US" sz="1050" u="none" cap="none" strike="noStrike">
                <a:solidFill>
                  <a:srgbClr val="F08078"/>
                </a:solidFill>
                <a:latin typeface="Courier New"/>
                <a:ea typeface="Courier New"/>
                <a:cs typeface="Courier New"/>
                <a:sym typeface="Courier New"/>
              </a:rPr>
              <a:t>GPT-5.4 Mini       FAILS REPLAY</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050"/>
              <a:buFont typeface="Courier New"/>
              <a:buNone/>
            </a:pPr>
            <a:r>
              <a:rPr b="0" i="0" lang="en-US" sz="1050" u="none" cap="none" strike="noStrike">
                <a:solidFill>
                  <a:srgbClr val="D8DEE9"/>
                </a:solidFill>
                <a:latin typeface="Courier New"/>
                <a:ea typeface="Courier New"/>
                <a:cs typeface="Courier New"/>
                <a:sym typeface="Courier New"/>
              </a:rPr>
              <a:t>  [{"pointer":"/officeId","equals":1},{"pointer":"/clientId","equals":1},{"pointer":"/resourceId","equals":1}]</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050"/>
              <a:buFont typeface="Courier New"/>
              <a:buNone/>
            </a:pPr>
            <a:r>
              <a:rPr b="0" i="0" lang="en-US" sz="1050" u="none" cap="none" strike="noStrike">
                <a:solidFill>
                  <a:srgbClr val="F08078"/>
                </a:solidFill>
                <a:latin typeface="Courier New"/>
                <a:ea typeface="Courier New"/>
                <a:cs typeface="Courier New"/>
                <a:sym typeface="Courier New"/>
              </a:rPr>
              <a:t>  observed clientId = 1     ← asserted exactly what it happened to see</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050"/>
              <a:buFont typeface="Courier New"/>
              <a:buNone/>
            </a:pPr>
            <a:r>
              <a:rPr b="0" i="0" lang="en-US" sz="1050" u="none" cap="none" strike="noStrike">
                <a:solidFill>
                  <a:srgbClr val="D8DEE9"/>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050"/>
              <a:buFont typeface="Courier New"/>
              <a:buNone/>
            </a:pPr>
            <a:r>
              <a:rPr b="1" i="0" lang="en-US" sz="1050" u="none" cap="none" strike="noStrike">
                <a:solidFill>
                  <a:srgbClr val="F08078"/>
                </a:solidFill>
                <a:latin typeface="Courier New"/>
                <a:ea typeface="Courier New"/>
                <a:cs typeface="Courier New"/>
                <a:sym typeface="Courier New"/>
              </a:rPr>
              <a:t>GPT-5.4 Mini       FAILS REPLAY</a:t>
            </a:r>
            <a:endParaRPr b="0" i="0" sz="10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050"/>
              <a:buFont typeface="Courier New"/>
              <a:buNone/>
            </a:pPr>
            <a:r>
              <a:rPr b="0" i="0" lang="en-US" sz="1050" u="none" cap="none" strike="noStrike">
                <a:solidFill>
                  <a:srgbClr val="F08078"/>
                </a:solidFill>
                <a:latin typeface="Courier New"/>
                <a:ea typeface="Courier New"/>
                <a:cs typeface="Courier New"/>
                <a:sym typeface="Courier New"/>
              </a:rPr>
              <a:t>  observed clientId = 2     ← asserted exactly what it happened to see</a:t>
            </a:r>
            <a:endParaRPr b="0" i="0" sz="1050" u="none" cap="none" strike="noStrike">
              <a:solidFill>
                <a:schemeClr val="dk1"/>
              </a:solidFill>
              <a:latin typeface="Calibri"/>
              <a:ea typeface="Calibri"/>
              <a:cs typeface="Calibri"/>
              <a:sym typeface="Calibri"/>
            </a:endParaRPr>
          </a:p>
        </p:txBody>
      </p:sp>
      <p:sp>
        <p:nvSpPr>
          <p:cNvPr id="345" name="Google Shape;345;p25"/>
          <p:cNvSpPr txBox="1"/>
          <p:nvPr/>
        </p:nvSpPr>
        <p:spPr>
          <a:xfrm>
            <a:off x="640080" y="5806440"/>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111827"/>
              </a:buClr>
              <a:buSzPts val="1800"/>
              <a:buFont typeface="Calibri"/>
              <a:buNone/>
            </a:pPr>
            <a:r>
              <a:rPr b="0" i="0" lang="en-US" sz="1800" u="none" cap="none" strike="noStrike">
                <a:solidFill>
                  <a:srgbClr val="111827"/>
                </a:solidFill>
                <a:latin typeface="Calibri"/>
                <a:ea typeface="Calibri"/>
                <a:cs typeface="Calibri"/>
                <a:sym typeface="Calibri"/>
              </a:rPr>
              <a:t>The trial that survived was the one that refused to pin the id. The others recorded a value that will be different tomorrow.</a:t>
            </a:r>
            <a:endParaRPr b="0" i="0" sz="1800" u="none" cap="none" strike="noStrike">
              <a:solidFill>
                <a:schemeClr val="dk1"/>
              </a:solidFill>
              <a:latin typeface="Calibri"/>
              <a:ea typeface="Calibri"/>
              <a:cs typeface="Calibri"/>
              <a:sym typeface="Calibri"/>
            </a:endParaRPr>
          </a:p>
        </p:txBody>
      </p:sp>
      <p:sp>
        <p:nvSpPr>
          <p:cNvPr id="346" name="Google Shape;346;p25"/>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1" name="Shape 351"/>
        <p:cNvGrpSpPr/>
        <p:nvPr/>
      </p:nvGrpSpPr>
      <p:grpSpPr>
        <a:xfrm>
          <a:off x="0" y="0"/>
          <a:ext cx="0" cy="0"/>
          <a:chOff x="0" y="0"/>
          <a:chExt cx="0" cy="0"/>
        </a:xfrm>
      </p:grpSpPr>
      <p:sp>
        <p:nvSpPr>
          <p:cNvPr id="352" name="Google Shape;352;p26"/>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10 · GIVING THEM DIRECTION</a:t>
            </a:r>
            <a:endParaRPr b="0" i="0" sz="1100" u="none" cap="none" strike="noStrike">
              <a:solidFill>
                <a:schemeClr val="dk1"/>
              </a:solidFill>
              <a:latin typeface="Calibri"/>
              <a:ea typeface="Calibri"/>
              <a:cs typeface="Calibri"/>
              <a:sym typeface="Calibri"/>
            </a:endParaRPr>
          </a:p>
        </p:txBody>
      </p:sp>
      <p:sp>
        <p:nvSpPr>
          <p:cNvPr id="353" name="Google Shape;353;p26"/>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354" name="Google Shape;354;p26"/>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So we stopped asking for tests first, and asked for the rules</a:t>
            </a:r>
            <a:endParaRPr b="0" i="0" sz="3200" u="none" cap="none" strike="noStrike">
              <a:solidFill>
                <a:schemeClr val="dk1"/>
              </a:solidFill>
              <a:latin typeface="Calibri"/>
              <a:ea typeface="Calibri"/>
              <a:cs typeface="Calibri"/>
              <a:sym typeface="Calibri"/>
            </a:endParaRPr>
          </a:p>
        </p:txBody>
      </p:sp>
      <p:sp>
        <p:nvSpPr>
          <p:cNvPr id="355" name="Google Shape;355;p26"/>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We ask the agent to write down what it had to know in order to make the call work, and only then to write tests from it.</a:t>
            </a:r>
            <a:endParaRPr b="0" i="0" sz="1600" u="none" cap="none" strike="noStrike">
              <a:solidFill>
                <a:schemeClr val="dk1"/>
              </a:solidFill>
              <a:latin typeface="Calibri"/>
              <a:ea typeface="Calibri"/>
              <a:cs typeface="Calibri"/>
              <a:sym typeface="Calibri"/>
            </a:endParaRPr>
          </a:p>
        </p:txBody>
      </p:sp>
      <p:sp>
        <p:nvSpPr>
          <p:cNvPr id="356" name="Google Shape;356;p26"/>
          <p:cNvSpPr/>
          <p:nvPr/>
        </p:nvSpPr>
        <p:spPr>
          <a:xfrm>
            <a:off x="640080" y="2148840"/>
            <a:ext cx="10881360" cy="3291840"/>
          </a:xfrm>
          <a:prstGeom prst="roundRect">
            <a:avLst>
              <a:gd fmla="val 1667"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6"/>
          <p:cNvSpPr txBox="1"/>
          <p:nvPr/>
        </p:nvSpPr>
        <p:spPr>
          <a:xfrm>
            <a:off x="960120" y="240487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THE PLAYBOOK TEMPLATE</a:t>
            </a:r>
            <a:endParaRPr b="0" i="0" sz="1100" u="none" cap="none" strike="noStrike">
              <a:solidFill>
                <a:schemeClr val="dk1"/>
              </a:solidFill>
              <a:latin typeface="Calibri"/>
              <a:ea typeface="Calibri"/>
              <a:cs typeface="Calibri"/>
              <a:sym typeface="Calibri"/>
            </a:endParaRPr>
          </a:p>
        </p:txBody>
      </p:sp>
      <p:sp>
        <p:nvSpPr>
          <p:cNvPr id="358" name="Google Shape;358;p26"/>
          <p:cNvSpPr txBox="1"/>
          <p:nvPr/>
        </p:nvSpPr>
        <p:spPr>
          <a:xfrm>
            <a:off x="960120" y="2770632"/>
            <a:ext cx="10241280" cy="24688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"target": "&lt;target name&gt;", "updatedAt": "&lt;ISO 8601&gt;",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"endpoints":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"&lt;endpointId&gt;":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"method": "&lt;HTTP method&gt;",  "path": "&lt;route template&gt;",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250"/>
              <a:buFont typeface="Courier New"/>
              <a:buNone/>
            </a:pPr>
            <a:r>
              <a:rPr b="0" i="0" lang="en-US" sz="1250" u="none" cap="none" strike="noStrike">
                <a:solidFill>
                  <a:srgbClr val="7FD19A"/>
                </a:solidFill>
                <a:latin typeface="Courier New"/>
                <a:ea typeface="Courier New"/>
                <a:cs typeface="Courier New"/>
                <a:sym typeface="Courier New"/>
              </a:rPr>
              <a:t>      "verifiedStatus": 200,</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"auth": "&lt;auth and tenancy, as observed on a call that worked&gt;",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"requiredFields": ["&lt;field&gt;"],  "optionalFields": ["&lt;field&gt;"],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250"/>
              <a:buFont typeface="Courier New"/>
              <a:buNone/>
            </a:pPr>
            <a:r>
              <a:rPr b="0" i="0" lang="en-US" sz="1250" u="none" cap="none" strike="noStrike">
                <a:solidFill>
                  <a:srgbClr val="E8B25C"/>
                </a:solidFill>
                <a:latin typeface="Courier New"/>
                <a:ea typeface="Courier New"/>
                <a:cs typeface="Courier New"/>
                <a:sym typeface="Courier New"/>
              </a:rPr>
              <a:t>      "responseShape": { "&lt;field&gt;": "&lt;json type&gt;"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250"/>
              <a:buFont typeface="Courier New"/>
              <a:buNone/>
            </a:pPr>
            <a:r>
              <a:rPr b="0" i="0" lang="en-US" sz="1250" u="none" cap="none" strike="noStrike">
                <a:solidFill>
                  <a:srgbClr val="E8B25C"/>
                </a:solidFill>
                <a:latin typeface="Courier New"/>
                <a:ea typeface="Courier New"/>
                <a:cs typeface="Courier New"/>
                <a:sym typeface="Courier New"/>
              </a:rPr>
              <a:t>      "invariants": ["&lt;property true on every call&gt;"],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"dependsOn": [ { "what": "&lt;record that must exist first&gt;",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"endpointId": "&lt;endpoint that creates it&gt;" }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 }</a:t>
            </a:r>
            <a:endParaRPr b="0" i="0" sz="1250" u="none" cap="none" strike="noStrike">
              <a:solidFill>
                <a:schemeClr val="dk1"/>
              </a:solidFill>
              <a:latin typeface="Calibri"/>
              <a:ea typeface="Calibri"/>
              <a:cs typeface="Calibri"/>
              <a:sym typeface="Calibri"/>
            </a:endParaRPr>
          </a:p>
        </p:txBody>
      </p:sp>
      <p:sp>
        <p:nvSpPr>
          <p:cNvPr id="359" name="Google Shape;359;p26"/>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4" name="Shape 364"/>
        <p:cNvGrpSpPr/>
        <p:nvPr/>
      </p:nvGrpSpPr>
      <p:grpSpPr>
        <a:xfrm>
          <a:off x="0" y="0"/>
          <a:ext cx="0" cy="0"/>
          <a:chOff x="0" y="0"/>
          <a:chExt cx="0" cy="0"/>
        </a:xfrm>
      </p:grpSpPr>
      <p:sp>
        <p:nvSpPr>
          <p:cNvPr id="365" name="Google Shape;365;p27"/>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10 · GIVING THEM DIRECTION</a:t>
            </a:r>
            <a:endParaRPr b="0" i="0" sz="1100" u="none" cap="none" strike="noStrike">
              <a:solidFill>
                <a:schemeClr val="dk1"/>
              </a:solidFill>
              <a:latin typeface="Calibri"/>
              <a:ea typeface="Calibri"/>
              <a:cs typeface="Calibri"/>
              <a:sym typeface="Calibri"/>
            </a:endParaRPr>
          </a:p>
        </p:txBody>
      </p:sp>
      <p:sp>
        <p:nvSpPr>
          <p:cNvPr id="366" name="Google Shape;366;p27"/>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367" name="Google Shape;367;p27"/>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What the agent wrote down for Fineract</a:t>
            </a:r>
            <a:endParaRPr b="0" i="0" sz="3200" u="none" cap="none" strike="noStrike">
              <a:solidFill>
                <a:schemeClr val="dk1"/>
              </a:solidFill>
              <a:latin typeface="Calibri"/>
              <a:ea typeface="Calibri"/>
              <a:cs typeface="Calibri"/>
              <a:sym typeface="Calibri"/>
            </a:endParaRPr>
          </a:p>
        </p:txBody>
      </p:sp>
      <p:sp>
        <p:nvSpPr>
          <p:cNvPr id="368" name="Google Shape;368;p27"/>
          <p:cNvSpPr/>
          <p:nvPr/>
        </p:nvSpPr>
        <p:spPr>
          <a:xfrm>
            <a:off x="640080" y="1600200"/>
            <a:ext cx="10881360" cy="3977640"/>
          </a:xfrm>
          <a:prstGeom prst="roundRect">
            <a:avLst>
              <a:gd fmla="val 1379"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txBox="1"/>
          <p:nvPr/>
        </p:nvSpPr>
        <p:spPr>
          <a:xfrm>
            <a:off x="960120" y="185623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PLAYBOOK ENTRY · clients-create</a:t>
            </a:r>
            <a:endParaRPr b="0" i="0" sz="1100" u="none" cap="none" strike="noStrike">
              <a:solidFill>
                <a:schemeClr val="dk1"/>
              </a:solidFill>
              <a:latin typeface="Calibri"/>
              <a:ea typeface="Calibri"/>
              <a:cs typeface="Calibri"/>
              <a:sym typeface="Calibri"/>
            </a:endParaRPr>
          </a:p>
        </p:txBody>
      </p:sp>
      <p:sp>
        <p:nvSpPr>
          <p:cNvPr id="370" name="Google Shape;370;p27"/>
          <p:cNvSpPr txBox="1"/>
          <p:nvPr/>
        </p:nvSpPr>
        <p:spPr>
          <a:xfrm>
            <a:off x="960120" y="2221992"/>
            <a:ext cx="10241280" cy="31546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"target": "fineract", "updatedAt": "2026-09-21T12:15:25.827Z",</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"endpoints": { "clients-create":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"method": "POST",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"path": "/fineract-provider/api/v1/clients",</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"verifiedStatus": 200,</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E8B25C"/>
              </a:buClr>
              <a:buSzPts val="1250"/>
              <a:buFont typeface="Courier New"/>
              <a:buNone/>
            </a:pPr>
            <a:r>
              <a:rPr b="0" i="0" lang="en-US" sz="1250" u="none" cap="none" strike="noStrike">
                <a:solidFill>
                  <a:srgbClr val="E8B25C"/>
                </a:solidFill>
                <a:latin typeface="Courier New"/>
                <a:ea typeface="Courier New"/>
                <a:cs typeface="Courier New"/>
                <a:sym typeface="Courier New"/>
              </a:rPr>
              <a:t>      "auth": "Basic auth with Fineract-Platform-TenantId: default",</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"requiredFields": ["officeId", "legalFormId", "firstname",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"optionalFields": ["middlename", "externalId"],</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250"/>
              <a:buFont typeface="Courier New"/>
              <a:buNone/>
            </a:pPr>
            <a:r>
              <a:rPr b="0" i="0" lang="en-US" sz="1250" u="none" cap="none" strike="noStrike">
                <a:solidFill>
                  <a:srgbClr val="7FD19A"/>
                </a:solidFill>
                <a:latin typeface="Courier New"/>
                <a:ea typeface="Courier New"/>
                <a:cs typeface="Courier New"/>
                <a:sym typeface="Courier New"/>
              </a:rPr>
              <a:t>      "responseShape": { "resourceId": "number", "clientId": "number"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250"/>
              <a:buFont typeface="Courier New"/>
              <a:buNone/>
            </a:pPr>
            <a:r>
              <a:rPr b="0" i="0" lang="en-US" sz="1250" u="none" cap="none" strike="noStrike">
                <a:solidFill>
                  <a:srgbClr val="7FD19A"/>
                </a:solidFill>
                <a:latin typeface="Courier New"/>
                <a:ea typeface="Courier New"/>
                <a:cs typeface="Courier New"/>
                <a:sym typeface="Courier New"/>
              </a:rPr>
              <a:t>      "invariants": ["resourceId equals clientId"],</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"dependsOn": [ { "what": "officeId and legalFormId",</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"endpointId": "GET /.../clients/template",</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"note": "To get valid officeId and legalFormId" } ]</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 }</a:t>
            </a:r>
            <a:endParaRPr b="0" i="0" sz="1250" u="none" cap="none" strike="noStrike">
              <a:solidFill>
                <a:schemeClr val="dk1"/>
              </a:solidFill>
              <a:latin typeface="Calibri"/>
              <a:ea typeface="Calibri"/>
              <a:cs typeface="Calibri"/>
              <a:sym typeface="Calibri"/>
            </a:endParaRPr>
          </a:p>
        </p:txBody>
      </p:sp>
      <p:sp>
        <p:nvSpPr>
          <p:cNvPr id="371" name="Google Shape;371;p27"/>
          <p:cNvSpPr txBox="1"/>
          <p:nvPr/>
        </p:nvSpPr>
        <p:spPr>
          <a:xfrm>
            <a:off x="640080" y="5760720"/>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111827"/>
              </a:buClr>
              <a:buSzPts val="1500"/>
              <a:buFont typeface="Calibri"/>
              <a:buNone/>
            </a:pPr>
            <a:r>
              <a:rPr b="0" i="0" lang="en-US" sz="1500" u="none" cap="none" strike="noStrike">
                <a:solidFill>
                  <a:srgbClr val="111827"/>
                </a:solidFill>
                <a:latin typeface="Calibri"/>
                <a:ea typeface="Calibri"/>
                <a:cs typeface="Calibri"/>
                <a:sym typeface="Calibri"/>
              </a:rPr>
              <a:t>The invariant on that entry is the line that addresses the replay problem: assert that resourceId equals clientId, rather than asserting that clientId equals 4.</a:t>
            </a:r>
            <a:endParaRPr b="0" i="0" sz="1500" u="none" cap="none" strike="noStrike">
              <a:solidFill>
                <a:schemeClr val="dk1"/>
              </a:solidFill>
              <a:latin typeface="Calibri"/>
              <a:ea typeface="Calibri"/>
              <a:cs typeface="Calibri"/>
              <a:sym typeface="Calibri"/>
            </a:endParaRPr>
          </a:p>
        </p:txBody>
      </p:sp>
      <p:sp>
        <p:nvSpPr>
          <p:cNvPr id="372" name="Google Shape;372;p27"/>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28"/>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10 · GIVING THEM DIRECTION</a:t>
            </a:r>
            <a:endParaRPr b="0" i="0" sz="1100" u="none" cap="none" strike="noStrike">
              <a:solidFill>
                <a:schemeClr val="dk1"/>
              </a:solidFill>
              <a:latin typeface="Calibri"/>
              <a:ea typeface="Calibri"/>
              <a:cs typeface="Calibri"/>
              <a:sym typeface="Calibri"/>
            </a:endParaRPr>
          </a:p>
        </p:txBody>
      </p:sp>
      <p:sp>
        <p:nvSpPr>
          <p:cNvPr id="379" name="Google Shape;379;p28"/>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380" name="Google Shape;380;p28"/>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Then we stopped paying to learn the same lesson twice</a:t>
            </a:r>
            <a:endParaRPr b="0" i="0" sz="3200" u="none" cap="none" strike="noStrike">
              <a:solidFill>
                <a:schemeClr val="dk1"/>
              </a:solidFill>
              <a:latin typeface="Calibri"/>
              <a:ea typeface="Calibri"/>
              <a:cs typeface="Calibri"/>
              <a:sym typeface="Calibri"/>
            </a:endParaRPr>
          </a:p>
        </p:txBody>
      </p:sp>
      <p:sp>
        <p:nvSpPr>
          <p:cNvPr id="381" name="Google Shape;381;p28"/>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The playbook records what is true. Memory records what went wrong last time.</a:t>
            </a:r>
            <a:endParaRPr b="0" i="0" sz="1600" u="none" cap="none" strike="noStrike">
              <a:solidFill>
                <a:schemeClr val="dk1"/>
              </a:solidFill>
              <a:latin typeface="Calibri"/>
              <a:ea typeface="Calibri"/>
              <a:cs typeface="Calibri"/>
              <a:sym typeface="Calibri"/>
            </a:endParaRPr>
          </a:p>
        </p:txBody>
      </p:sp>
      <p:sp>
        <p:nvSpPr>
          <p:cNvPr id="382" name="Google Shape;382;p28"/>
          <p:cNvSpPr/>
          <p:nvPr/>
        </p:nvSpPr>
        <p:spPr>
          <a:xfrm>
            <a:off x="640080" y="2377440"/>
            <a:ext cx="6675120" cy="2880360"/>
          </a:xfrm>
          <a:prstGeom prst="roundRect">
            <a:avLst>
              <a:gd fmla="val 1905"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8"/>
          <p:cNvSpPr txBox="1"/>
          <p:nvPr/>
        </p:nvSpPr>
        <p:spPr>
          <a:xfrm>
            <a:off x="960120" y="2633472"/>
            <a:ext cx="6035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MEMORY ENTRY</a:t>
            </a:r>
            <a:endParaRPr b="0" i="0" sz="1100" u="none" cap="none" strike="noStrike">
              <a:solidFill>
                <a:schemeClr val="dk1"/>
              </a:solidFill>
              <a:latin typeface="Calibri"/>
              <a:ea typeface="Calibri"/>
              <a:cs typeface="Calibri"/>
              <a:sym typeface="Calibri"/>
            </a:endParaRPr>
          </a:p>
        </p:txBody>
      </p:sp>
      <p:sp>
        <p:nvSpPr>
          <p:cNvPr id="384" name="Google Shape;384;p28"/>
          <p:cNvSpPr txBox="1"/>
          <p:nvPr/>
        </p:nvSpPr>
        <p:spPr>
          <a:xfrm>
            <a:off x="960120" y="2999232"/>
            <a:ext cx="6035040" cy="20574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8DEE9"/>
              </a:buClr>
              <a:buSzPts val="1200"/>
              <a:buFont typeface="Courier New"/>
              <a:buNone/>
            </a:pPr>
            <a:r>
              <a:rPr b="0" i="0" lang="en-US" sz="1200" u="none" cap="none" strike="noStrike">
                <a:solidFill>
                  <a:srgbClr val="D8DEE9"/>
                </a:solidFill>
                <a:latin typeface="Courier New"/>
                <a:ea typeface="Courier New"/>
                <a:cs typeface="Courier New"/>
                <a:sym typeface="Courier New"/>
              </a:rPr>
              <a:t>{</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00"/>
              <a:buFont typeface="Courier New"/>
              <a:buNone/>
            </a:pPr>
            <a:r>
              <a:rPr b="0" i="0" lang="en-US" sz="1200" u="none" cap="none" strike="noStrike">
                <a:solidFill>
                  <a:srgbClr val="D8DEE9"/>
                </a:solidFill>
                <a:latin typeface="Courier New"/>
                <a:ea typeface="Courier New"/>
                <a:cs typeface="Courier New"/>
                <a:sym typeface="Courier New"/>
              </a:rPr>
              <a:t>  "modelId": "google/gemini-3.5-flash",</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00"/>
              <a:buFont typeface="Courier New"/>
              <a:buNone/>
            </a:pPr>
            <a:r>
              <a:rPr b="0" i="0" lang="en-US" sz="1200" u="none" cap="none" strike="noStrike">
                <a:solidFill>
                  <a:srgbClr val="D8DEE9"/>
                </a:solidFill>
                <a:latin typeface="Courier New"/>
                <a:ea typeface="Courier New"/>
                <a:cs typeface="Courier New"/>
                <a:sym typeface="Courier New"/>
              </a:rPr>
              <a:t>  "endpointId": "clients-create",</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00"/>
              <a:buFont typeface="Courier New"/>
              <a:buNone/>
            </a:pPr>
            <a:r>
              <a:rPr b="0" i="0" lang="en-US" sz="1200" u="none" cap="none" strike="noStrike">
                <a:solidFill>
                  <a:srgbClr val="D8DEE9"/>
                </a:solidFill>
                <a:latin typeface="Courier New"/>
                <a:ea typeface="Courier New"/>
                <a:cs typeface="Courier New"/>
                <a:sym typeface="Courier New"/>
              </a:rPr>
              <a:t>  "trials": 3,</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00"/>
              <a:buFont typeface="Courier New"/>
              <a:buNone/>
            </a:pPr>
            <a:r>
              <a:rPr b="0" i="0" lang="en-US" sz="1200" u="none" cap="none" strike="noStrike">
                <a:solidFill>
                  <a:srgbClr val="D8DEE9"/>
                </a:solidFill>
                <a:latin typeface="Courier New"/>
                <a:ea typeface="Courier New"/>
                <a:cs typeface="Courier New"/>
                <a:sym typeface="Courier New"/>
              </a:rPr>
              <a:t>  "avoid": [</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200"/>
              <a:buFont typeface="Courier New"/>
              <a:buNone/>
            </a:pPr>
            <a:r>
              <a:rPr b="0" i="0" lang="en-US" sz="1200" u="none" cap="none" strike="noStrike">
                <a:solidFill>
                  <a:srgbClr val="F08078"/>
                </a:solidFill>
                <a:latin typeface="Courier New"/>
                <a:ea typeface="Courier New"/>
                <a:cs typeface="Courier New"/>
                <a:sym typeface="Courier New"/>
              </a:rPr>
              <a:t>    "A request omitted the tenant header and the</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200"/>
              <a:buFont typeface="Courier New"/>
              <a:buNone/>
            </a:pPr>
            <a:r>
              <a:rPr b="0" i="0" lang="en-US" sz="1200" u="none" cap="none" strike="noStrike">
                <a:solidFill>
                  <a:srgbClr val="F08078"/>
                </a:solidFill>
                <a:latin typeface="Courier New"/>
                <a:ea typeface="Courier New"/>
                <a:cs typeface="Courier New"/>
                <a:sym typeface="Courier New"/>
              </a:rPr>
              <a:t>     server returned a bare 400 with no detail.</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08078"/>
              </a:buClr>
              <a:buSzPts val="1200"/>
              <a:buFont typeface="Courier New"/>
              <a:buNone/>
            </a:pPr>
            <a:r>
              <a:rPr b="0" i="0" lang="en-US" sz="1200" u="none" cap="none" strike="noStrike">
                <a:solidFill>
                  <a:srgbClr val="F08078"/>
                </a:solidFill>
                <a:latin typeface="Courier New"/>
                <a:ea typeface="Courier New"/>
                <a:cs typeface="Courier New"/>
                <a:sym typeface="Courier New"/>
              </a:rPr>
              <a:t>     Header names use hyphens, not underscores."</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00"/>
              <a:buFont typeface="Courier New"/>
              <a:buNone/>
            </a:pPr>
            <a:r>
              <a:rPr b="0" i="0" lang="en-US" sz="1200" u="none" cap="none" strike="noStrike">
                <a:solidFill>
                  <a:srgbClr val="D8DEE9"/>
                </a:solidFill>
                <a:latin typeface="Courier New"/>
                <a:ea typeface="Courier New"/>
                <a:cs typeface="Courier New"/>
                <a:sym typeface="Courier New"/>
              </a:rPr>
              <a:t>  ]</a:t>
            </a:r>
            <a:endParaRPr b="0" i="0" sz="12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00"/>
              <a:buFont typeface="Courier New"/>
              <a:buNone/>
            </a:pPr>
            <a:r>
              <a:rPr b="0" i="0" lang="en-US" sz="1200" u="none" cap="none" strike="noStrike">
                <a:solidFill>
                  <a:srgbClr val="D8DEE9"/>
                </a:solidFill>
                <a:latin typeface="Courier New"/>
                <a:ea typeface="Courier New"/>
                <a:cs typeface="Courier New"/>
                <a:sym typeface="Courier New"/>
              </a:rPr>
              <a:t>}</a:t>
            </a:r>
            <a:endParaRPr b="0" i="0" sz="1200" u="none" cap="none" strike="noStrike">
              <a:solidFill>
                <a:schemeClr val="dk1"/>
              </a:solidFill>
              <a:latin typeface="Calibri"/>
              <a:ea typeface="Calibri"/>
              <a:cs typeface="Calibri"/>
              <a:sym typeface="Calibri"/>
            </a:endParaRPr>
          </a:p>
        </p:txBody>
      </p:sp>
      <p:sp>
        <p:nvSpPr>
          <p:cNvPr id="385" name="Google Shape;385;p28"/>
          <p:cNvSpPr/>
          <p:nvPr/>
        </p:nvSpPr>
        <p:spPr>
          <a:xfrm>
            <a:off x="7680960" y="2377440"/>
            <a:ext cx="3840480" cy="1280160"/>
          </a:xfrm>
          <a:prstGeom prst="roundRect">
            <a:avLst>
              <a:gd fmla="val 3571" name="adj"/>
            </a:avLst>
          </a:prstGeom>
          <a:solidFill>
            <a:srgbClr val="E6F4EA"/>
          </a:solidFill>
          <a:ln cap="flat" cmpd="sng" w="13950">
            <a:solidFill>
              <a:srgbClr val="1E8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8"/>
          <p:cNvSpPr txBox="1"/>
          <p:nvPr/>
        </p:nvSpPr>
        <p:spPr>
          <a:xfrm>
            <a:off x="7936992" y="2578608"/>
            <a:ext cx="332841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500"/>
              <a:buFont typeface="Calibri"/>
              <a:buNone/>
            </a:pPr>
            <a:r>
              <a:rPr b="1" i="0" lang="en-US" sz="1500" u="none" cap="none" strike="noStrike">
                <a:solidFill>
                  <a:srgbClr val="111827"/>
                </a:solidFill>
                <a:latin typeface="Calibri"/>
                <a:ea typeface="Calibri"/>
                <a:cs typeface="Calibri"/>
                <a:sym typeface="Calibri"/>
              </a:rPr>
              <a:t>Kept per model and endpoint</a:t>
            </a:r>
            <a:endParaRPr b="0" i="0" sz="1500" u="none" cap="none" strike="noStrike">
              <a:solidFill>
                <a:schemeClr val="dk1"/>
              </a:solidFill>
              <a:latin typeface="Calibri"/>
              <a:ea typeface="Calibri"/>
              <a:cs typeface="Calibri"/>
              <a:sym typeface="Calibri"/>
            </a:endParaRPr>
          </a:p>
        </p:txBody>
      </p:sp>
      <p:sp>
        <p:nvSpPr>
          <p:cNvPr id="387" name="Google Shape;387;p28"/>
          <p:cNvSpPr txBox="1"/>
          <p:nvPr/>
        </p:nvSpPr>
        <p:spPr>
          <a:xfrm>
            <a:off x="7936992" y="3108960"/>
            <a:ext cx="3328416" cy="34747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What to avoid, and what worked.</a:t>
            </a:r>
            <a:endParaRPr b="0" i="0" sz="1400" u="none" cap="none" strike="noStrike">
              <a:solidFill>
                <a:schemeClr val="dk1"/>
              </a:solidFill>
              <a:latin typeface="Calibri"/>
              <a:ea typeface="Calibri"/>
              <a:cs typeface="Calibri"/>
              <a:sym typeface="Calibri"/>
            </a:endParaRPr>
          </a:p>
        </p:txBody>
      </p:sp>
      <p:sp>
        <p:nvSpPr>
          <p:cNvPr id="388" name="Google Shape;388;p28"/>
          <p:cNvSpPr/>
          <p:nvPr/>
        </p:nvSpPr>
        <p:spPr>
          <a:xfrm>
            <a:off x="7680960" y="3794760"/>
            <a:ext cx="3840480" cy="1600200"/>
          </a:xfrm>
          <a:prstGeom prst="roundRect">
            <a:avLst>
              <a:gd fmla="val 2857" name="adj"/>
            </a:avLst>
          </a:prstGeom>
          <a:solidFill>
            <a:srgbClr val="E6F4EA"/>
          </a:solidFill>
          <a:ln cap="flat" cmpd="sng" w="13950">
            <a:solidFill>
              <a:srgbClr val="1E8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8"/>
          <p:cNvSpPr txBox="1"/>
          <p:nvPr/>
        </p:nvSpPr>
        <p:spPr>
          <a:xfrm>
            <a:off x="7936992" y="3995928"/>
            <a:ext cx="332841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500"/>
              <a:buFont typeface="Calibri"/>
              <a:buNone/>
            </a:pPr>
            <a:r>
              <a:rPr b="1" i="0" lang="en-US" sz="1500" u="none" cap="none" strike="noStrike">
                <a:solidFill>
                  <a:srgbClr val="111827"/>
                </a:solidFill>
                <a:latin typeface="Calibri"/>
                <a:ea typeface="Calibri"/>
                <a:cs typeface="Calibri"/>
                <a:sym typeface="Calibri"/>
              </a:rPr>
              <a:t>Read before the next run</a:t>
            </a:r>
            <a:endParaRPr b="0" i="0" sz="1500" u="none" cap="none" strike="noStrike">
              <a:solidFill>
                <a:schemeClr val="dk1"/>
              </a:solidFill>
              <a:latin typeface="Calibri"/>
              <a:ea typeface="Calibri"/>
              <a:cs typeface="Calibri"/>
              <a:sym typeface="Calibri"/>
            </a:endParaRPr>
          </a:p>
        </p:txBody>
      </p:sp>
      <p:sp>
        <p:nvSpPr>
          <p:cNvPr id="390" name="Google Shape;390;p28"/>
          <p:cNvSpPr txBox="1"/>
          <p:nvPr/>
        </p:nvSpPr>
        <p:spPr>
          <a:xfrm>
            <a:off x="7936992" y="4526280"/>
            <a:ext cx="3328416" cy="66751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400"/>
              <a:buFont typeface="Calibri"/>
              <a:buNone/>
            </a:pPr>
            <a:r>
              <a:rPr b="0" i="0" lang="en-US" sz="1400" u="none" cap="none" strike="noStrike">
                <a:solidFill>
                  <a:srgbClr val="111827"/>
                </a:solidFill>
                <a:latin typeface="Calibri"/>
                <a:ea typeface="Calibri"/>
                <a:cs typeface="Calibri"/>
                <a:sym typeface="Calibri"/>
              </a:rPr>
              <a:t>Discovery across a million lines is the expensive part, so we would rather pay for it once.</a:t>
            </a:r>
            <a:endParaRPr b="0" i="0" sz="1400" u="none" cap="none" strike="noStrike">
              <a:solidFill>
                <a:schemeClr val="dk1"/>
              </a:solidFill>
              <a:latin typeface="Calibri"/>
              <a:ea typeface="Calibri"/>
              <a:cs typeface="Calibri"/>
              <a:sym typeface="Calibri"/>
            </a:endParaRPr>
          </a:p>
        </p:txBody>
      </p:sp>
      <p:sp>
        <p:nvSpPr>
          <p:cNvPr id="391" name="Google Shape;391;p28"/>
          <p:cNvSpPr txBox="1"/>
          <p:nvPr/>
        </p:nvSpPr>
        <p:spPr>
          <a:xfrm>
            <a:off x="640080" y="5532120"/>
            <a:ext cx="10881360" cy="6400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What we want is a pipeline that improves a little every day on an inexpensive model, rather than one that ran well yesterday and began again from nothing this morning.</a:t>
            </a:r>
            <a:endParaRPr b="0" i="0" sz="1600" u="none" cap="none" strike="noStrike">
              <a:solidFill>
                <a:schemeClr val="dk1"/>
              </a:solidFill>
              <a:latin typeface="Calibri"/>
              <a:ea typeface="Calibri"/>
              <a:cs typeface="Calibri"/>
              <a:sym typeface="Calibri"/>
            </a:endParaRPr>
          </a:p>
        </p:txBody>
      </p:sp>
      <p:sp>
        <p:nvSpPr>
          <p:cNvPr id="392" name="Google Shape;392;p28"/>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29"/>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10 · GIVING THEM DIRECTION</a:t>
            </a:r>
            <a:endParaRPr b="0" i="0" sz="1100" u="none" cap="none" strike="noStrike">
              <a:solidFill>
                <a:schemeClr val="dk1"/>
              </a:solidFill>
              <a:latin typeface="Calibri"/>
              <a:ea typeface="Calibri"/>
              <a:cs typeface="Calibri"/>
              <a:sym typeface="Calibri"/>
            </a:endParaRPr>
          </a:p>
        </p:txBody>
      </p:sp>
      <p:sp>
        <p:nvSpPr>
          <p:cNvPr id="399" name="Google Shape;399;p29"/>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400" name="Google Shape;400;p29"/>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We also give the agents the house rules up front</a:t>
            </a:r>
            <a:endParaRPr b="0" i="0" sz="3200" u="none" cap="none" strike="noStrike">
              <a:solidFill>
                <a:schemeClr val="dk1"/>
              </a:solidFill>
              <a:latin typeface="Calibri"/>
              <a:ea typeface="Calibri"/>
              <a:cs typeface="Calibri"/>
              <a:sym typeface="Calibri"/>
            </a:endParaRPr>
          </a:p>
        </p:txBody>
      </p:sp>
      <p:sp>
        <p:nvSpPr>
          <p:cNvPr id="401" name="Google Shape;401;p29"/>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A general set to begin with, and then whatever the particular stack asks for.</a:t>
            </a:r>
            <a:endParaRPr b="0" i="0" sz="1600" u="none" cap="none" strike="noStrike">
              <a:solidFill>
                <a:schemeClr val="dk1"/>
              </a:solidFill>
              <a:latin typeface="Calibri"/>
              <a:ea typeface="Calibri"/>
              <a:cs typeface="Calibri"/>
              <a:sym typeface="Calibri"/>
            </a:endParaRPr>
          </a:p>
        </p:txBody>
      </p:sp>
      <p:sp>
        <p:nvSpPr>
          <p:cNvPr id="402" name="Google Shape;402;p29"/>
          <p:cNvSpPr txBox="1"/>
          <p:nvPr/>
        </p:nvSpPr>
        <p:spPr>
          <a:xfrm>
            <a:off x="640080" y="2103120"/>
            <a:ext cx="365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FB4"/>
              </a:buClr>
              <a:buSzPts val="1900"/>
              <a:buFont typeface="Courier New"/>
              <a:buNone/>
            </a:pPr>
            <a:r>
              <a:rPr b="1" i="0" lang="en-US" sz="1900" u="none" cap="none" strike="noStrike">
                <a:solidFill>
                  <a:srgbClr val="1A5FB4"/>
                </a:solidFill>
                <a:latin typeface="Courier New"/>
                <a:ea typeface="Courier New"/>
                <a:cs typeface="Courier New"/>
                <a:sym typeface="Courier New"/>
              </a:rPr>
              <a:t>1</a:t>
            </a:r>
            <a:endParaRPr b="0" i="0" sz="1900" u="none" cap="none" strike="noStrike">
              <a:solidFill>
                <a:schemeClr val="dk1"/>
              </a:solidFill>
              <a:latin typeface="Calibri"/>
              <a:ea typeface="Calibri"/>
              <a:cs typeface="Calibri"/>
              <a:sym typeface="Calibri"/>
            </a:endParaRPr>
          </a:p>
        </p:txBody>
      </p:sp>
      <p:sp>
        <p:nvSpPr>
          <p:cNvPr id="403" name="Google Shape;403;p29"/>
          <p:cNvSpPr txBox="1"/>
          <p:nvPr/>
        </p:nvSpPr>
        <p:spPr>
          <a:xfrm>
            <a:off x="1143000" y="2103120"/>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Calibri"/>
              <a:buNone/>
            </a:pPr>
            <a:r>
              <a:rPr b="1" i="0" lang="en-US" sz="1500" u="none" cap="none" strike="noStrike">
                <a:solidFill>
                  <a:srgbClr val="111827"/>
                </a:solidFill>
                <a:latin typeface="Calibri"/>
                <a:ea typeface="Calibri"/>
                <a:cs typeface="Calibri"/>
                <a:sym typeface="Calibri"/>
              </a:rPr>
              <a:t>Do the discovery before you write tests</a:t>
            </a:r>
            <a:endParaRPr b="0" i="0" sz="1500" u="none" cap="none" strike="noStrike">
              <a:solidFill>
                <a:schemeClr val="dk1"/>
              </a:solidFill>
              <a:latin typeface="Calibri"/>
              <a:ea typeface="Calibri"/>
              <a:cs typeface="Calibri"/>
              <a:sym typeface="Calibri"/>
            </a:endParaRPr>
          </a:p>
        </p:txBody>
      </p:sp>
      <p:sp>
        <p:nvSpPr>
          <p:cNvPr id="404" name="Google Shape;404;p29"/>
          <p:cNvSpPr txBox="1"/>
          <p:nvPr/>
        </p:nvSpPr>
        <p:spPr>
          <a:xfrm>
            <a:off x="6126480" y="2121408"/>
            <a:ext cx="539496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478"/>
              </a:buClr>
              <a:buSzPts val="1400"/>
              <a:buFont typeface="Calibri"/>
              <a:buNone/>
            </a:pPr>
            <a:r>
              <a:rPr b="0" i="0" lang="en-US" sz="1400" u="none" cap="none" strike="noStrike">
                <a:solidFill>
                  <a:srgbClr val="5A6478"/>
                </a:solidFill>
                <a:latin typeface="Calibri"/>
                <a:ea typeface="Calibri"/>
                <a:cs typeface="Calibri"/>
                <a:sym typeface="Calibri"/>
              </a:rPr>
              <a:t>Read the docs, read the source and probe the live service, because the documentation is often out of date.</a:t>
            </a:r>
            <a:endParaRPr b="0" i="0" sz="1400" u="none" cap="none" strike="noStrike">
              <a:solidFill>
                <a:schemeClr val="dk1"/>
              </a:solidFill>
              <a:latin typeface="Calibri"/>
              <a:ea typeface="Calibri"/>
              <a:cs typeface="Calibri"/>
              <a:sym typeface="Calibri"/>
            </a:endParaRPr>
          </a:p>
        </p:txBody>
      </p:sp>
      <p:sp>
        <p:nvSpPr>
          <p:cNvPr id="405" name="Google Shape;405;p29"/>
          <p:cNvSpPr txBox="1"/>
          <p:nvPr/>
        </p:nvSpPr>
        <p:spPr>
          <a:xfrm>
            <a:off x="640080" y="2852928"/>
            <a:ext cx="365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FB4"/>
              </a:buClr>
              <a:buSzPts val="1900"/>
              <a:buFont typeface="Courier New"/>
              <a:buNone/>
            </a:pPr>
            <a:r>
              <a:rPr b="1" i="0" lang="en-US" sz="1900" u="none" cap="none" strike="noStrike">
                <a:solidFill>
                  <a:srgbClr val="1A5FB4"/>
                </a:solidFill>
                <a:latin typeface="Courier New"/>
                <a:ea typeface="Courier New"/>
                <a:cs typeface="Courier New"/>
                <a:sym typeface="Courier New"/>
              </a:rPr>
              <a:t>2</a:t>
            </a:r>
            <a:endParaRPr b="0" i="0" sz="1900" u="none" cap="none" strike="noStrike">
              <a:solidFill>
                <a:schemeClr val="dk1"/>
              </a:solidFill>
              <a:latin typeface="Calibri"/>
              <a:ea typeface="Calibri"/>
              <a:cs typeface="Calibri"/>
              <a:sym typeface="Calibri"/>
            </a:endParaRPr>
          </a:p>
        </p:txBody>
      </p:sp>
      <p:sp>
        <p:nvSpPr>
          <p:cNvPr id="406" name="Google Shape;406;p29"/>
          <p:cNvSpPr txBox="1"/>
          <p:nvPr/>
        </p:nvSpPr>
        <p:spPr>
          <a:xfrm>
            <a:off x="1143000" y="2852928"/>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Calibri"/>
              <a:buNone/>
            </a:pPr>
            <a:r>
              <a:rPr b="1" i="0" lang="en-US" sz="1500" u="none" cap="none" strike="noStrike">
                <a:solidFill>
                  <a:srgbClr val="111827"/>
                </a:solidFill>
                <a:latin typeface="Calibri"/>
                <a:ea typeface="Calibri"/>
                <a:cs typeface="Calibri"/>
                <a:sym typeface="Calibri"/>
              </a:rPr>
              <a:t>Get the auth right before debugging anything else</a:t>
            </a:r>
            <a:endParaRPr b="0" i="0" sz="1500" u="none" cap="none" strike="noStrike">
              <a:solidFill>
                <a:schemeClr val="dk1"/>
              </a:solidFill>
              <a:latin typeface="Calibri"/>
              <a:ea typeface="Calibri"/>
              <a:cs typeface="Calibri"/>
              <a:sym typeface="Calibri"/>
            </a:endParaRPr>
          </a:p>
        </p:txBody>
      </p:sp>
      <p:sp>
        <p:nvSpPr>
          <p:cNvPr id="407" name="Google Shape;407;p29"/>
          <p:cNvSpPr txBox="1"/>
          <p:nvPr/>
        </p:nvSpPr>
        <p:spPr>
          <a:xfrm>
            <a:off x="6126480" y="2871216"/>
            <a:ext cx="539496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478"/>
              </a:buClr>
              <a:buSzPts val="1400"/>
              <a:buFont typeface="Calibri"/>
              <a:buNone/>
            </a:pPr>
            <a:r>
              <a:rPr b="0" i="0" lang="en-US" sz="1400" u="none" cap="none" strike="noStrike">
                <a:solidFill>
                  <a:srgbClr val="5A6478"/>
                </a:solidFill>
                <a:latin typeface="Calibri"/>
                <a:ea typeface="Calibri"/>
                <a:cs typeface="Calibri"/>
                <a:sym typeface="Calibri"/>
              </a:rPr>
              <a:t>A good deal of wasted budget is a 401 being read as a logic problem.</a:t>
            </a:r>
            <a:endParaRPr b="0" i="0" sz="1400" u="none" cap="none" strike="noStrike">
              <a:solidFill>
                <a:schemeClr val="dk1"/>
              </a:solidFill>
              <a:latin typeface="Calibri"/>
              <a:ea typeface="Calibri"/>
              <a:cs typeface="Calibri"/>
              <a:sym typeface="Calibri"/>
            </a:endParaRPr>
          </a:p>
        </p:txBody>
      </p:sp>
      <p:sp>
        <p:nvSpPr>
          <p:cNvPr id="408" name="Google Shape;408;p29"/>
          <p:cNvSpPr txBox="1"/>
          <p:nvPr/>
        </p:nvSpPr>
        <p:spPr>
          <a:xfrm>
            <a:off x="640080" y="3602736"/>
            <a:ext cx="365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FB4"/>
              </a:buClr>
              <a:buSzPts val="1900"/>
              <a:buFont typeface="Courier New"/>
              <a:buNone/>
            </a:pPr>
            <a:r>
              <a:rPr b="1" i="0" lang="en-US" sz="1900" u="none" cap="none" strike="noStrike">
                <a:solidFill>
                  <a:srgbClr val="1A5FB4"/>
                </a:solidFill>
                <a:latin typeface="Courier New"/>
                <a:ea typeface="Courier New"/>
                <a:cs typeface="Courier New"/>
                <a:sym typeface="Courier New"/>
              </a:rPr>
              <a:t>3</a:t>
            </a:r>
            <a:endParaRPr b="0" i="0" sz="1900" u="none" cap="none" strike="noStrike">
              <a:solidFill>
                <a:schemeClr val="dk1"/>
              </a:solidFill>
              <a:latin typeface="Calibri"/>
              <a:ea typeface="Calibri"/>
              <a:cs typeface="Calibri"/>
              <a:sym typeface="Calibri"/>
            </a:endParaRPr>
          </a:p>
        </p:txBody>
      </p:sp>
      <p:sp>
        <p:nvSpPr>
          <p:cNvPr id="409" name="Google Shape;409;p29"/>
          <p:cNvSpPr txBox="1"/>
          <p:nvPr/>
        </p:nvSpPr>
        <p:spPr>
          <a:xfrm>
            <a:off x="1143000" y="3602736"/>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Calibri"/>
              <a:buNone/>
            </a:pPr>
            <a:r>
              <a:rPr b="1" i="0" lang="en-US" sz="1500" u="none" cap="none" strike="noStrike">
                <a:solidFill>
                  <a:srgbClr val="111827"/>
                </a:solidFill>
                <a:latin typeface="Calibri"/>
                <a:ea typeface="Calibri"/>
                <a:cs typeface="Calibri"/>
                <a:sym typeface="Calibri"/>
              </a:rPr>
              <a:t>One test, one behaviour</a:t>
            </a:r>
            <a:endParaRPr b="0" i="0" sz="1500" u="none" cap="none" strike="noStrike">
              <a:solidFill>
                <a:schemeClr val="dk1"/>
              </a:solidFill>
              <a:latin typeface="Calibri"/>
              <a:ea typeface="Calibri"/>
              <a:cs typeface="Calibri"/>
              <a:sym typeface="Calibri"/>
            </a:endParaRPr>
          </a:p>
        </p:txBody>
      </p:sp>
      <p:sp>
        <p:nvSpPr>
          <p:cNvPr id="410" name="Google Shape;410;p29"/>
          <p:cNvSpPr txBox="1"/>
          <p:nvPr/>
        </p:nvSpPr>
        <p:spPr>
          <a:xfrm>
            <a:off x="6126480" y="3621024"/>
            <a:ext cx="539496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478"/>
              </a:buClr>
              <a:buSzPts val="1400"/>
              <a:buFont typeface="Calibri"/>
              <a:buNone/>
            </a:pPr>
            <a:r>
              <a:rPr b="0" i="0" lang="en-US" sz="1400" u="none" cap="none" strike="noStrike">
                <a:solidFill>
                  <a:srgbClr val="5A6478"/>
                </a:solidFill>
                <a:latin typeface="Calibri"/>
                <a:ea typeface="Calibri"/>
                <a:cs typeface="Calibri"/>
                <a:sym typeface="Calibri"/>
              </a:rPr>
              <a:t>Straightforward, and routinely ignored by generated suites.</a:t>
            </a:r>
            <a:endParaRPr b="0" i="0" sz="1400" u="none" cap="none" strike="noStrike">
              <a:solidFill>
                <a:schemeClr val="dk1"/>
              </a:solidFill>
              <a:latin typeface="Calibri"/>
              <a:ea typeface="Calibri"/>
              <a:cs typeface="Calibri"/>
              <a:sym typeface="Calibri"/>
            </a:endParaRPr>
          </a:p>
        </p:txBody>
      </p:sp>
      <p:sp>
        <p:nvSpPr>
          <p:cNvPr id="411" name="Google Shape;411;p29"/>
          <p:cNvSpPr txBox="1"/>
          <p:nvPr/>
        </p:nvSpPr>
        <p:spPr>
          <a:xfrm>
            <a:off x="640080" y="4352544"/>
            <a:ext cx="365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FB4"/>
              </a:buClr>
              <a:buSzPts val="1900"/>
              <a:buFont typeface="Courier New"/>
              <a:buNone/>
            </a:pPr>
            <a:r>
              <a:rPr b="1" i="0" lang="en-US" sz="1900" u="none" cap="none" strike="noStrike">
                <a:solidFill>
                  <a:srgbClr val="1A5FB4"/>
                </a:solidFill>
                <a:latin typeface="Courier New"/>
                <a:ea typeface="Courier New"/>
                <a:cs typeface="Courier New"/>
                <a:sym typeface="Courier New"/>
              </a:rPr>
              <a:t>4</a:t>
            </a:r>
            <a:endParaRPr b="0" i="0" sz="1900" u="none" cap="none" strike="noStrike">
              <a:solidFill>
                <a:schemeClr val="dk1"/>
              </a:solidFill>
              <a:latin typeface="Calibri"/>
              <a:ea typeface="Calibri"/>
              <a:cs typeface="Calibri"/>
              <a:sym typeface="Calibri"/>
            </a:endParaRPr>
          </a:p>
        </p:txBody>
      </p:sp>
      <p:sp>
        <p:nvSpPr>
          <p:cNvPr id="412" name="Google Shape;412;p29"/>
          <p:cNvSpPr txBox="1"/>
          <p:nvPr/>
        </p:nvSpPr>
        <p:spPr>
          <a:xfrm>
            <a:off x="1143000" y="4352544"/>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Calibri"/>
              <a:buNone/>
            </a:pPr>
            <a:r>
              <a:rPr b="1" i="0" lang="en-US" sz="1500" u="none" cap="none" strike="noStrike">
                <a:solidFill>
                  <a:srgbClr val="111827"/>
                </a:solidFill>
                <a:latin typeface="Calibri"/>
                <a:ea typeface="Calibri"/>
                <a:cs typeface="Calibri"/>
                <a:sym typeface="Calibri"/>
              </a:rPr>
              <a:t>A test owns the state it depends on</a:t>
            </a:r>
            <a:endParaRPr b="0" i="0" sz="1500" u="none" cap="none" strike="noStrike">
              <a:solidFill>
                <a:schemeClr val="dk1"/>
              </a:solidFill>
              <a:latin typeface="Calibri"/>
              <a:ea typeface="Calibri"/>
              <a:cs typeface="Calibri"/>
              <a:sym typeface="Calibri"/>
            </a:endParaRPr>
          </a:p>
        </p:txBody>
      </p:sp>
      <p:sp>
        <p:nvSpPr>
          <p:cNvPr id="413" name="Google Shape;413;p29"/>
          <p:cNvSpPr txBox="1"/>
          <p:nvPr/>
        </p:nvSpPr>
        <p:spPr>
          <a:xfrm>
            <a:off x="6126480" y="4370832"/>
            <a:ext cx="539496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478"/>
              </a:buClr>
              <a:buSzPts val="1400"/>
              <a:buFont typeface="Calibri"/>
              <a:buNone/>
            </a:pPr>
            <a:r>
              <a:rPr b="0" i="0" lang="en-US" sz="1400" u="none" cap="none" strike="noStrike">
                <a:solidFill>
                  <a:srgbClr val="5A6478"/>
                </a:solidFill>
                <a:latin typeface="Calibri"/>
                <a:ea typeface="Calibri"/>
                <a:cs typeface="Calibri"/>
                <a:sym typeface="Calibri"/>
              </a:rPr>
              <a:t>If it needs a client, it creates a client rather than borrowing one, unless we say otherwise.</a:t>
            </a:r>
            <a:endParaRPr b="0" i="0" sz="1400" u="none" cap="none" strike="noStrike">
              <a:solidFill>
                <a:schemeClr val="dk1"/>
              </a:solidFill>
              <a:latin typeface="Calibri"/>
              <a:ea typeface="Calibri"/>
              <a:cs typeface="Calibri"/>
              <a:sym typeface="Calibri"/>
            </a:endParaRPr>
          </a:p>
        </p:txBody>
      </p:sp>
      <p:sp>
        <p:nvSpPr>
          <p:cNvPr id="414" name="Google Shape;414;p29"/>
          <p:cNvSpPr txBox="1"/>
          <p:nvPr/>
        </p:nvSpPr>
        <p:spPr>
          <a:xfrm>
            <a:off x="640080" y="5102352"/>
            <a:ext cx="3657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FB4"/>
              </a:buClr>
              <a:buSzPts val="1900"/>
              <a:buFont typeface="Courier New"/>
              <a:buNone/>
            </a:pPr>
            <a:r>
              <a:rPr b="1" i="0" lang="en-US" sz="1900" u="none" cap="none" strike="noStrike">
                <a:solidFill>
                  <a:srgbClr val="1A5FB4"/>
                </a:solidFill>
                <a:latin typeface="Courier New"/>
                <a:ea typeface="Courier New"/>
                <a:cs typeface="Courier New"/>
                <a:sym typeface="Courier New"/>
              </a:rPr>
              <a:t>5</a:t>
            </a:r>
            <a:endParaRPr b="0" i="0" sz="1900" u="none" cap="none" strike="noStrike">
              <a:solidFill>
                <a:schemeClr val="dk1"/>
              </a:solidFill>
              <a:latin typeface="Calibri"/>
              <a:ea typeface="Calibri"/>
              <a:cs typeface="Calibri"/>
              <a:sym typeface="Calibri"/>
            </a:endParaRPr>
          </a:p>
        </p:txBody>
      </p:sp>
      <p:sp>
        <p:nvSpPr>
          <p:cNvPr id="415" name="Google Shape;415;p29"/>
          <p:cNvSpPr txBox="1"/>
          <p:nvPr/>
        </p:nvSpPr>
        <p:spPr>
          <a:xfrm>
            <a:off x="1143000" y="5102352"/>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500"/>
              <a:buFont typeface="Calibri"/>
              <a:buNone/>
            </a:pPr>
            <a:r>
              <a:rPr b="1" i="0" lang="en-US" sz="1500" u="none" cap="none" strike="noStrike">
                <a:solidFill>
                  <a:srgbClr val="111827"/>
                </a:solidFill>
                <a:latin typeface="Calibri"/>
                <a:ea typeface="Calibri"/>
                <a:cs typeface="Calibri"/>
                <a:sym typeface="Calibri"/>
              </a:rPr>
              <a:t>A test that cannot run twice is not a test</a:t>
            </a:r>
            <a:endParaRPr b="0" i="0" sz="1500" u="none" cap="none" strike="noStrike">
              <a:solidFill>
                <a:schemeClr val="dk1"/>
              </a:solidFill>
              <a:latin typeface="Calibri"/>
              <a:ea typeface="Calibri"/>
              <a:cs typeface="Calibri"/>
              <a:sym typeface="Calibri"/>
            </a:endParaRPr>
          </a:p>
        </p:txBody>
      </p:sp>
      <p:sp>
        <p:nvSpPr>
          <p:cNvPr id="416" name="Google Shape;416;p29"/>
          <p:cNvSpPr txBox="1"/>
          <p:nvPr/>
        </p:nvSpPr>
        <p:spPr>
          <a:xfrm>
            <a:off x="6126480" y="5120640"/>
            <a:ext cx="5394960"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478"/>
              </a:buClr>
              <a:buSzPts val="1400"/>
              <a:buFont typeface="Calibri"/>
              <a:buNone/>
            </a:pPr>
            <a:r>
              <a:rPr b="0" i="0" lang="en-US" sz="1400" u="none" cap="none" strike="noStrike">
                <a:solidFill>
                  <a:srgbClr val="5A6478"/>
                </a:solidFill>
                <a:latin typeface="Calibri"/>
                <a:ea typeface="Calibri"/>
                <a:cs typeface="Calibri"/>
                <a:sym typeface="Calibri"/>
              </a:rPr>
              <a:t>Bind the ids and assert the invariant rather than the value you happened to see.</a:t>
            </a:r>
            <a:endParaRPr b="0" i="0" sz="1400" u="none" cap="none" strike="noStrike">
              <a:solidFill>
                <a:schemeClr val="dk1"/>
              </a:solidFill>
              <a:latin typeface="Calibri"/>
              <a:ea typeface="Calibri"/>
              <a:cs typeface="Calibri"/>
              <a:sym typeface="Calibri"/>
            </a:endParaRPr>
          </a:p>
        </p:txBody>
      </p:sp>
      <p:sp>
        <p:nvSpPr>
          <p:cNvPr id="417" name="Google Shape;417;p29"/>
          <p:cNvSpPr txBox="1"/>
          <p:nvPr/>
        </p:nvSpPr>
        <p:spPr>
          <a:xfrm>
            <a:off x="640080" y="5852160"/>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400"/>
              <a:buFont typeface="Calibri"/>
              <a:buNone/>
            </a:pPr>
            <a:r>
              <a:rPr b="0" i="0" lang="en-US" sz="1400" u="none" cap="none" strike="noStrike">
                <a:solidFill>
                  <a:srgbClr val="5A6478"/>
                </a:solidFill>
                <a:latin typeface="Calibri"/>
                <a:ea typeface="Calibri"/>
                <a:cs typeface="Calibri"/>
                <a:sym typeface="Calibri"/>
              </a:rPr>
              <a:t>Every team ends up with its own set, and we usually write them together with the client's engineers over the first few weeks.</a:t>
            </a:r>
            <a:endParaRPr b="0" i="0" sz="1400" u="none" cap="none" strike="noStrike">
              <a:solidFill>
                <a:schemeClr val="dk1"/>
              </a:solidFill>
              <a:latin typeface="Calibri"/>
              <a:ea typeface="Calibri"/>
              <a:cs typeface="Calibri"/>
              <a:sym typeface="Calibri"/>
            </a:endParaRPr>
          </a:p>
        </p:txBody>
      </p:sp>
      <p:sp>
        <p:nvSpPr>
          <p:cNvPr id="418" name="Google Shape;418;p29"/>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30"/>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11 · THE QUALITY GATES</a:t>
            </a:r>
            <a:endParaRPr b="0" i="0" sz="1100" u="none" cap="none" strike="noStrike">
              <a:solidFill>
                <a:schemeClr val="dk1"/>
              </a:solidFill>
              <a:latin typeface="Calibri"/>
              <a:ea typeface="Calibri"/>
              <a:cs typeface="Calibri"/>
              <a:sym typeface="Calibri"/>
            </a:endParaRPr>
          </a:p>
        </p:txBody>
      </p:sp>
      <p:sp>
        <p:nvSpPr>
          <p:cNvPr id="425" name="Google Shape;425;p30"/>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426" name="Google Shape;426;p30"/>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Rules ask politely, and agents do not always listen</a:t>
            </a:r>
            <a:endParaRPr b="0" i="0" sz="3200" u="none" cap="none" strike="noStrike">
              <a:solidFill>
                <a:schemeClr val="dk1"/>
              </a:solidFill>
              <a:latin typeface="Calibri"/>
              <a:ea typeface="Calibri"/>
              <a:cs typeface="Calibri"/>
              <a:sym typeface="Calibri"/>
            </a:endParaRPr>
          </a:p>
        </p:txBody>
      </p:sp>
      <p:sp>
        <p:nvSpPr>
          <p:cNvPr id="427" name="Google Shape;427;p30"/>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Models are not deterministic, so some runs follow the rules carefully and some do not.</a:t>
            </a:r>
            <a:endParaRPr b="0" i="0" sz="1600" u="none" cap="none" strike="noStrike">
              <a:solidFill>
                <a:schemeClr val="dk1"/>
              </a:solidFill>
              <a:latin typeface="Calibri"/>
              <a:ea typeface="Calibri"/>
              <a:cs typeface="Calibri"/>
              <a:sym typeface="Calibri"/>
            </a:endParaRPr>
          </a:p>
        </p:txBody>
      </p:sp>
      <p:sp>
        <p:nvSpPr>
          <p:cNvPr id="428" name="Google Shape;428;p30"/>
          <p:cNvSpPr/>
          <p:nvPr/>
        </p:nvSpPr>
        <p:spPr>
          <a:xfrm>
            <a:off x="640080" y="2240280"/>
            <a:ext cx="5257800" cy="1737360"/>
          </a:xfrm>
          <a:prstGeom prst="roundRect">
            <a:avLst>
              <a:gd fmla="val 2632" name="adj"/>
            </a:avLst>
          </a:prstGeom>
          <a:solidFill>
            <a:srgbClr val="FDF0DC"/>
          </a:solidFill>
          <a:ln cap="flat" cmpd="sng" w="13950">
            <a:solidFill>
              <a:srgbClr val="B26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0"/>
          <p:cNvSpPr txBox="1"/>
          <p:nvPr/>
        </p:nvSpPr>
        <p:spPr>
          <a:xfrm>
            <a:off x="896112" y="244144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They behave a little like clever children</a:t>
            </a:r>
            <a:endParaRPr b="0" i="0" sz="1700" u="none" cap="none" strike="noStrike">
              <a:solidFill>
                <a:schemeClr val="dk1"/>
              </a:solidFill>
              <a:latin typeface="Calibri"/>
              <a:ea typeface="Calibri"/>
              <a:cs typeface="Calibri"/>
              <a:sym typeface="Calibri"/>
            </a:endParaRPr>
          </a:p>
        </p:txBody>
      </p:sp>
      <p:sp>
        <p:nvSpPr>
          <p:cNvPr id="430" name="Google Shape;430;p30"/>
          <p:cNvSpPr txBox="1"/>
          <p:nvPr/>
        </p:nvSpPr>
        <p:spPr>
          <a:xfrm>
            <a:off x="896112" y="2971800"/>
            <a:ext cx="4745736" cy="80467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500"/>
              <a:buFont typeface="Calibri"/>
              <a:buNone/>
            </a:pPr>
            <a:r>
              <a:rPr b="0" i="0" lang="en-US" sz="1500" u="none" cap="none" strike="noStrike">
                <a:solidFill>
                  <a:srgbClr val="111827"/>
                </a:solidFill>
                <a:latin typeface="Calibri"/>
                <a:ea typeface="Calibri"/>
                <a:cs typeface="Calibri"/>
                <a:sym typeface="Calibri"/>
              </a:rPr>
              <a:t>They have heard the rule, they can repeat it back to you, and on any given run they may decide it does not apply today.</a:t>
            </a:r>
            <a:endParaRPr b="0" i="0" sz="1500" u="none" cap="none" strike="noStrike">
              <a:solidFill>
                <a:schemeClr val="dk1"/>
              </a:solidFill>
              <a:latin typeface="Calibri"/>
              <a:ea typeface="Calibri"/>
              <a:cs typeface="Calibri"/>
              <a:sym typeface="Calibri"/>
            </a:endParaRPr>
          </a:p>
        </p:txBody>
      </p:sp>
      <p:sp>
        <p:nvSpPr>
          <p:cNvPr id="431" name="Google Shape;431;p30"/>
          <p:cNvSpPr/>
          <p:nvPr/>
        </p:nvSpPr>
        <p:spPr>
          <a:xfrm>
            <a:off x="6172200" y="2240280"/>
            <a:ext cx="5257800" cy="1737360"/>
          </a:xfrm>
          <a:prstGeom prst="roundRect">
            <a:avLst>
              <a:gd fmla="val 2632" name="adj"/>
            </a:avLst>
          </a:prstGeom>
          <a:solidFill>
            <a:srgbClr val="FCE8E6"/>
          </a:solidFill>
          <a:ln cap="flat" cmpd="sng" w="13950">
            <a:solidFill>
              <a:srgbClr val="C522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0"/>
          <p:cNvSpPr txBox="1"/>
          <p:nvPr/>
        </p:nvSpPr>
        <p:spPr>
          <a:xfrm>
            <a:off x="6428232" y="244144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So we added a deterministic check</a:t>
            </a:r>
            <a:endParaRPr b="0" i="0" sz="1700" u="none" cap="none" strike="noStrike">
              <a:solidFill>
                <a:schemeClr val="dk1"/>
              </a:solidFill>
              <a:latin typeface="Calibri"/>
              <a:ea typeface="Calibri"/>
              <a:cs typeface="Calibri"/>
              <a:sym typeface="Calibri"/>
            </a:endParaRPr>
          </a:p>
        </p:txBody>
      </p:sp>
      <p:sp>
        <p:nvSpPr>
          <p:cNvPr id="433" name="Google Shape;433;p30"/>
          <p:cNvSpPr txBox="1"/>
          <p:nvPr/>
        </p:nvSpPr>
        <p:spPr>
          <a:xfrm>
            <a:off x="6428232" y="2971800"/>
            <a:ext cx="4745736" cy="80467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500"/>
              <a:buFont typeface="Calibri"/>
              <a:buNone/>
            </a:pPr>
            <a:r>
              <a:rPr b="0" i="0" lang="en-US" sz="1500" u="none" cap="none" strike="noStrike">
                <a:solidFill>
                  <a:srgbClr val="111827"/>
                </a:solidFill>
                <a:latin typeface="Calibri"/>
                <a:ea typeface="Calibri"/>
                <a:cs typeface="Calibri"/>
                <a:sym typeface="Calibri"/>
              </a:rPr>
              <a:t>At the end of every run, something that answers yes or no, and sends the work back when the answer is no.</a:t>
            </a:r>
            <a:endParaRPr b="0" i="0" sz="1500" u="none" cap="none" strike="noStrike">
              <a:solidFill>
                <a:schemeClr val="dk1"/>
              </a:solidFill>
              <a:latin typeface="Calibri"/>
              <a:ea typeface="Calibri"/>
              <a:cs typeface="Calibri"/>
              <a:sym typeface="Calibri"/>
            </a:endParaRPr>
          </a:p>
        </p:txBody>
      </p:sp>
      <p:sp>
        <p:nvSpPr>
          <p:cNvPr id="434" name="Google Shape;434;p30"/>
          <p:cNvSpPr txBox="1"/>
          <p:nvPr/>
        </p:nvSpPr>
        <p:spPr>
          <a:xfrm>
            <a:off x="640080" y="44348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111827"/>
              </a:buClr>
              <a:buSzPts val="2100"/>
              <a:buFont typeface="Calibri"/>
              <a:buNone/>
            </a:pPr>
            <a:r>
              <a:rPr b="0" i="0" lang="en-US" sz="2100" u="none" cap="none" strike="noStrike">
                <a:solidFill>
                  <a:srgbClr val="111827"/>
                </a:solidFill>
                <a:latin typeface="Calibri"/>
                <a:ea typeface="Calibri"/>
                <a:cs typeface="Calibri"/>
                <a:sym typeface="Calibri"/>
              </a:rPr>
              <a:t>The rules and the playbook improve the odds. The gates are what make the outcome dependable.</a:t>
            </a:r>
            <a:endParaRPr b="0" i="0" sz="2100" u="none" cap="none" strike="noStrike">
              <a:solidFill>
                <a:schemeClr val="dk1"/>
              </a:solidFill>
              <a:latin typeface="Calibri"/>
              <a:ea typeface="Calibri"/>
              <a:cs typeface="Calibri"/>
              <a:sym typeface="Calibri"/>
            </a:endParaRPr>
          </a:p>
        </p:txBody>
      </p:sp>
      <p:sp>
        <p:nvSpPr>
          <p:cNvPr id="435" name="Google Shape;435;p30"/>
          <p:cNvSpPr txBox="1"/>
          <p:nvPr/>
        </p:nvSpPr>
        <p:spPr>
          <a:xfrm>
            <a:off x="640080" y="5120640"/>
            <a:ext cx="10881360" cy="45720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This was the change that moved the Fineract results, and it is the part most teams leave out.</a:t>
            </a:r>
            <a:endParaRPr b="0" i="0" sz="1600" u="none" cap="none" strike="noStrike">
              <a:solidFill>
                <a:schemeClr val="dk1"/>
              </a:solidFill>
              <a:latin typeface="Calibri"/>
              <a:ea typeface="Calibri"/>
              <a:cs typeface="Calibri"/>
              <a:sym typeface="Calibri"/>
            </a:endParaRPr>
          </a:p>
        </p:txBody>
      </p:sp>
      <p:sp>
        <p:nvSpPr>
          <p:cNvPr id="436" name="Google Shape;436;p30"/>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31"/>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11 · THE QUALITY GATES</a:t>
            </a:r>
            <a:endParaRPr b="0" i="0" sz="1100" u="none" cap="none" strike="noStrike">
              <a:solidFill>
                <a:schemeClr val="dk1"/>
              </a:solidFill>
              <a:latin typeface="Calibri"/>
              <a:ea typeface="Calibri"/>
              <a:cs typeface="Calibri"/>
              <a:sym typeface="Calibri"/>
            </a:endParaRPr>
          </a:p>
        </p:txBody>
      </p:sp>
      <p:sp>
        <p:nvSpPr>
          <p:cNvPr id="443" name="Google Shape;443;p31"/>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444" name="Google Shape;444;p31"/>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The gates are ordinary code</a:t>
            </a:r>
            <a:endParaRPr b="0" i="0" sz="3200" u="none" cap="none" strike="noStrike">
              <a:solidFill>
                <a:schemeClr val="dk1"/>
              </a:solidFill>
              <a:latin typeface="Calibri"/>
              <a:ea typeface="Calibri"/>
              <a:cs typeface="Calibri"/>
              <a:sym typeface="Calibri"/>
            </a:endParaRPr>
          </a:p>
        </p:txBody>
      </p:sp>
      <p:sp>
        <p:nvSpPr>
          <p:cNvPr id="445" name="Google Shape;445;p31"/>
          <p:cNvSpPr/>
          <p:nvPr/>
        </p:nvSpPr>
        <p:spPr>
          <a:xfrm>
            <a:off x="640080" y="1920240"/>
            <a:ext cx="10881360" cy="1600200"/>
          </a:xfrm>
          <a:prstGeom prst="roundRect">
            <a:avLst>
              <a:gd fmla="val 3429"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1"/>
          <p:cNvSpPr txBox="1"/>
          <p:nvPr/>
        </p:nvSpPr>
        <p:spPr>
          <a:xfrm>
            <a:off x="960120" y="217627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THE GATE KEEPS THE VALUES FROM THE RUN IT JUST WATCHED</a:t>
            </a:r>
            <a:endParaRPr b="0" i="0" sz="1100" u="none" cap="none" strike="noStrike">
              <a:solidFill>
                <a:schemeClr val="dk1"/>
              </a:solidFill>
              <a:latin typeface="Calibri"/>
              <a:ea typeface="Calibri"/>
              <a:cs typeface="Calibri"/>
              <a:sym typeface="Calibri"/>
            </a:endParaRPr>
          </a:p>
        </p:txBody>
      </p:sp>
      <p:sp>
        <p:nvSpPr>
          <p:cNvPr id="447" name="Google Shape;447;p31"/>
          <p:cNvSpPr txBox="1"/>
          <p:nvPr/>
        </p:nvSpPr>
        <p:spPr>
          <a:xfrm>
            <a:off x="960120" y="2542032"/>
            <a:ext cx="10241280" cy="7772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9AA6B8"/>
              </a:buClr>
              <a:buSzPts val="1400"/>
              <a:buFont typeface="Courier New"/>
              <a:buNone/>
            </a:pPr>
            <a:r>
              <a:rPr b="0" i="0" lang="en-US" sz="1400" u="none" cap="none" strike="noStrike">
                <a:solidFill>
                  <a:srgbClr val="9AA6B8"/>
                </a:solidFill>
                <a:latin typeface="Courier New"/>
                <a:ea typeface="Courier New"/>
                <a:cs typeface="Courier New"/>
                <a:sym typeface="Courier New"/>
              </a:rPr>
              <a:t>const assertions = args.assertions as AssertionSpec[];</a:t>
            </a:r>
            <a:endParaRPr b="0" i="0" sz="1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AA6B8"/>
              </a:buClr>
              <a:buSzPts val="1400"/>
              <a:buFont typeface="Courier New"/>
              <a:buNone/>
            </a:pPr>
            <a:r>
              <a:rPr b="0" i="0" lang="en-US" sz="1400" u="none" cap="none" strike="noStrike">
                <a:solidFill>
                  <a:srgbClr val="9AA6B8"/>
                </a:solidFill>
                <a:latin typeface="Courier New"/>
                <a:ea typeface="Courier New"/>
                <a:cs typeface="Courier New"/>
                <a:sym typeface="Courier New"/>
              </a:rPr>
              <a:t>const setup: SetupStep[] = Array.isArray(args.setup) ? ... ;</a:t>
            </a:r>
            <a:endParaRPr b="0" i="0" sz="140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AA6B8"/>
              </a:buClr>
              <a:buSzPts val="1400"/>
              <a:buFont typeface="Courier New"/>
              <a:buNone/>
            </a:pPr>
            <a:r>
              <a:rPr b="0" i="0" lang="en-US" sz="1400" u="none" cap="none" strike="noStrike">
                <a:solidFill>
                  <a:srgbClr val="9AA6B8"/>
                </a:solidFill>
                <a:latin typeface="Courier New"/>
                <a:ea typeface="Courier New"/>
                <a:cs typeface="Courier New"/>
                <a:sym typeface="Courier New"/>
              </a:rPr>
              <a:t>args.request ?? this.lastRequest</a:t>
            </a:r>
            <a:endParaRPr b="0" i="0" sz="1400" u="none" cap="none" strike="noStrike">
              <a:solidFill>
                <a:schemeClr val="dk1"/>
              </a:solidFill>
              <a:latin typeface="Calibri"/>
              <a:ea typeface="Calibri"/>
              <a:cs typeface="Calibri"/>
              <a:sym typeface="Calibri"/>
            </a:endParaRPr>
          </a:p>
        </p:txBody>
      </p:sp>
      <p:sp>
        <p:nvSpPr>
          <p:cNvPr id="448" name="Google Shape;448;p31"/>
          <p:cNvSpPr txBox="1"/>
          <p:nvPr/>
        </p:nvSpPr>
        <p:spPr>
          <a:xfrm>
            <a:off x="640080" y="3840480"/>
            <a:ext cx="10881360" cy="109728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111827"/>
              </a:buClr>
              <a:buSzPts val="1700"/>
              <a:buFont typeface="Calibri"/>
              <a:buNone/>
            </a:pPr>
            <a:r>
              <a:rPr b="0" i="0" lang="en-US" sz="1700" u="none" cap="none" strike="noStrike">
                <a:solidFill>
                  <a:srgbClr val="111827"/>
                </a:solidFill>
                <a:latin typeface="Calibri"/>
                <a:ea typeface="Calibri"/>
                <a:cs typeface="Calibri"/>
                <a:sym typeface="Calibri"/>
              </a:rPr>
              <a:t>When the agent reports a green result, the gate asks it to prove the claim. It keeps the values from the previous run and runs the test again. If the agent pinned an id it happened to see in the response, the second run will not match, the gate fails it, and the agent is asked to correct the test until it holds or the budget runs out.</a:t>
            </a:r>
            <a:endParaRPr b="0" i="0" sz="1700" u="none" cap="none" strike="noStrike">
              <a:solidFill>
                <a:schemeClr val="dk1"/>
              </a:solidFill>
              <a:latin typeface="Calibri"/>
              <a:ea typeface="Calibri"/>
              <a:cs typeface="Calibri"/>
              <a:sym typeface="Calibri"/>
            </a:endParaRPr>
          </a:p>
        </p:txBody>
      </p:sp>
      <p:sp>
        <p:nvSpPr>
          <p:cNvPr id="449" name="Google Shape;449;p31"/>
          <p:cNvSpPr/>
          <p:nvPr/>
        </p:nvSpPr>
        <p:spPr>
          <a:xfrm>
            <a:off x="640080" y="5120640"/>
            <a:ext cx="10881360" cy="868680"/>
          </a:xfrm>
          <a:prstGeom prst="roundRect">
            <a:avLst>
              <a:gd fmla="val 5263" name="adj"/>
            </a:avLst>
          </a:prstGeom>
          <a:solidFill>
            <a:srgbClr val="E6F4EA"/>
          </a:solidFill>
          <a:ln cap="flat" cmpd="sng" w="13950">
            <a:solidFill>
              <a:srgbClr val="1E8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1"/>
          <p:cNvSpPr txBox="1"/>
          <p:nvPr/>
        </p:nvSpPr>
        <p:spPr>
          <a:xfrm>
            <a:off x="896112" y="5321808"/>
            <a:ext cx="1036929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A test that survives its own replay is a test you can put in CI tomorrow morning.</a:t>
            </a:r>
            <a:endParaRPr b="0" i="0" sz="1700" u="none" cap="none" strike="noStrike">
              <a:solidFill>
                <a:schemeClr val="dk1"/>
              </a:solidFill>
              <a:latin typeface="Calibri"/>
              <a:ea typeface="Calibri"/>
              <a:cs typeface="Calibri"/>
              <a:sym typeface="Calibri"/>
            </a:endParaRPr>
          </a:p>
        </p:txBody>
      </p:sp>
      <p:sp>
        <p:nvSpPr>
          <p:cNvPr id="451" name="Google Shape;451;p31"/>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 name="Shape 456"/>
        <p:cNvGrpSpPr/>
        <p:nvPr/>
      </p:nvGrpSpPr>
      <p:grpSpPr>
        <a:xfrm>
          <a:off x="0" y="0"/>
          <a:ext cx="0" cy="0"/>
          <a:chOff x="0" y="0"/>
          <a:chExt cx="0" cy="0"/>
        </a:xfrm>
      </p:grpSpPr>
      <p:sp>
        <p:nvSpPr>
          <p:cNvPr id="457" name="Google Shape;457;p32"/>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11 · THE QUALITY GATES</a:t>
            </a:r>
            <a:endParaRPr b="0" i="0" sz="1100" u="none" cap="none" strike="noStrike">
              <a:solidFill>
                <a:schemeClr val="dk1"/>
              </a:solidFill>
              <a:latin typeface="Calibri"/>
              <a:ea typeface="Calibri"/>
              <a:cs typeface="Calibri"/>
              <a:sym typeface="Calibri"/>
            </a:endParaRPr>
          </a:p>
        </p:txBody>
      </p:sp>
      <p:sp>
        <p:nvSpPr>
          <p:cNvPr id="458" name="Google Shape;458;p32"/>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459" name="Google Shape;459;p32"/>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How the gate and the agent negotiate</a:t>
            </a:r>
            <a:endParaRPr b="0" i="0" sz="3200" u="none" cap="none" strike="noStrike">
              <a:solidFill>
                <a:schemeClr val="dk1"/>
              </a:solidFill>
              <a:latin typeface="Calibri"/>
              <a:ea typeface="Calibri"/>
              <a:cs typeface="Calibri"/>
              <a:sym typeface="Calibri"/>
            </a:endParaRPr>
          </a:p>
        </p:txBody>
      </p:sp>
      <p:pic>
        <p:nvPicPr>
          <p:cNvPr descr="/home/claude/pdc/img/gates.png" id="460" name="Google Shape;460;p32"/>
          <p:cNvPicPr preferRelativeResize="0"/>
          <p:nvPr/>
        </p:nvPicPr>
        <p:blipFill rotWithShape="1">
          <a:blip r:embed="rId3">
            <a:alphaModFix/>
          </a:blip>
          <a:srcRect b="0" l="0" r="0" t="0"/>
          <a:stretch/>
        </p:blipFill>
        <p:spPr>
          <a:xfrm>
            <a:off x="1161288" y="1600200"/>
            <a:ext cx="9875520" cy="4561151"/>
          </a:xfrm>
          <a:prstGeom prst="rect">
            <a:avLst/>
          </a:prstGeom>
          <a:noFill/>
          <a:ln>
            <a:noFill/>
          </a:ln>
        </p:spPr>
      </p:pic>
      <p:sp>
        <p:nvSpPr>
          <p:cNvPr id="461" name="Google Shape;461;p32"/>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6" name="Shape 466"/>
        <p:cNvGrpSpPr/>
        <p:nvPr/>
      </p:nvGrpSpPr>
      <p:grpSpPr>
        <a:xfrm>
          <a:off x="0" y="0"/>
          <a:ext cx="0" cy="0"/>
          <a:chOff x="0" y="0"/>
          <a:chExt cx="0" cy="0"/>
        </a:xfrm>
      </p:grpSpPr>
      <p:sp>
        <p:nvSpPr>
          <p:cNvPr id="467" name="Google Shape;467;p33"/>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11 · THE QUALITY GATES</a:t>
            </a:r>
            <a:endParaRPr b="0" i="0" sz="1100" u="none" cap="none" strike="noStrike">
              <a:solidFill>
                <a:schemeClr val="dk1"/>
              </a:solidFill>
              <a:latin typeface="Calibri"/>
              <a:ea typeface="Calibri"/>
              <a:cs typeface="Calibri"/>
              <a:sym typeface="Calibri"/>
            </a:endParaRPr>
          </a:p>
        </p:txBody>
      </p:sp>
      <p:sp>
        <p:nvSpPr>
          <p:cNvPr id="468" name="Google Shape;468;p33"/>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469" name="Google Shape;469;p33"/>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What the gates actually check</a:t>
            </a:r>
            <a:endParaRPr b="0" i="0" sz="3200" u="none" cap="none" strike="noStrike">
              <a:solidFill>
                <a:schemeClr val="dk1"/>
              </a:solidFill>
              <a:latin typeface="Calibri"/>
              <a:ea typeface="Calibri"/>
              <a:cs typeface="Calibri"/>
              <a:sym typeface="Calibri"/>
            </a:endParaRPr>
          </a:p>
        </p:txBody>
      </p:sp>
      <p:sp>
        <p:nvSpPr>
          <p:cNvPr id="470" name="Google Shape;470;p33"/>
          <p:cNvSpPr/>
          <p:nvPr/>
        </p:nvSpPr>
        <p:spPr>
          <a:xfrm>
            <a:off x="640080" y="1828800"/>
            <a:ext cx="5257800" cy="3383280"/>
          </a:xfrm>
          <a:prstGeom prst="roundRect">
            <a:avLst>
              <a:gd fmla="val 1351" name="adj"/>
            </a:avLst>
          </a:prstGeom>
          <a:solidFill>
            <a:srgbClr val="E8F0FB"/>
          </a:solidFill>
          <a:ln cap="flat" cmpd="sng" w="13950">
            <a:solidFill>
              <a:srgbClr val="1A5FB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3"/>
          <p:cNvSpPr txBox="1"/>
          <p:nvPr/>
        </p:nvSpPr>
        <p:spPr>
          <a:xfrm>
            <a:off x="914400" y="2011680"/>
            <a:ext cx="4709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FB4"/>
              </a:buClr>
              <a:buSzPts val="1400"/>
              <a:buFont typeface="Courier New"/>
              <a:buNone/>
            </a:pPr>
            <a:r>
              <a:rPr b="1" i="0" lang="en-US" sz="1400" u="none" cap="none" strike="noStrike">
                <a:solidFill>
                  <a:srgbClr val="1A5FB4"/>
                </a:solidFill>
                <a:latin typeface="Courier New"/>
                <a:ea typeface="Courier New"/>
                <a:cs typeface="Courier New"/>
                <a:sym typeface="Courier New"/>
              </a:rPr>
              <a:t>STRUCTURAL</a:t>
            </a:r>
            <a:endParaRPr b="0" i="0" sz="1400" u="none" cap="none" strike="noStrike">
              <a:solidFill>
                <a:schemeClr val="dk1"/>
              </a:solidFill>
              <a:latin typeface="Calibri"/>
              <a:ea typeface="Calibri"/>
              <a:cs typeface="Calibri"/>
              <a:sym typeface="Calibri"/>
            </a:endParaRPr>
          </a:p>
        </p:txBody>
      </p:sp>
      <p:sp>
        <p:nvSpPr>
          <p:cNvPr id="472" name="Google Shape;472;p33"/>
          <p:cNvSpPr txBox="1"/>
          <p:nvPr/>
        </p:nvSpPr>
        <p:spPr>
          <a:xfrm>
            <a:off x="932688" y="2468880"/>
            <a:ext cx="4663440" cy="25603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the assertions hold on the response just watched</a:t>
            </a:r>
            <a:endParaRPr b="0" i="0" sz="14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the claimed status matches the observed status</a:t>
            </a:r>
            <a:endParaRPr b="0" i="0" sz="14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captured values are substituted downstream</a:t>
            </a:r>
            <a:endParaRPr b="0" i="0" sz="14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any {{name}} referenced is produced by a setup step</a:t>
            </a:r>
            <a:endParaRPr b="0" i="0" sz="14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a catalog dependency has not been ignored</a:t>
            </a:r>
            <a:endParaRPr b="0" i="0" sz="1450" u="none" cap="none" strike="noStrike">
              <a:solidFill>
                <a:schemeClr val="dk1"/>
              </a:solidFill>
              <a:latin typeface="Calibri"/>
              <a:ea typeface="Calibri"/>
              <a:cs typeface="Calibri"/>
              <a:sym typeface="Calibri"/>
            </a:endParaRPr>
          </a:p>
        </p:txBody>
      </p:sp>
      <p:sp>
        <p:nvSpPr>
          <p:cNvPr id="473" name="Google Shape;473;p33"/>
          <p:cNvSpPr/>
          <p:nvPr/>
        </p:nvSpPr>
        <p:spPr>
          <a:xfrm>
            <a:off x="6172200" y="1828800"/>
            <a:ext cx="5257800" cy="3383280"/>
          </a:xfrm>
          <a:prstGeom prst="roundRect">
            <a:avLst>
              <a:gd fmla="val 1351" name="adj"/>
            </a:avLst>
          </a:prstGeom>
          <a:solidFill>
            <a:srgbClr val="E6F4EA"/>
          </a:solidFill>
          <a:ln cap="flat" cmpd="sng" w="13950">
            <a:solidFill>
              <a:srgbClr val="1E8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3"/>
          <p:cNvSpPr txBox="1"/>
          <p:nvPr/>
        </p:nvSpPr>
        <p:spPr>
          <a:xfrm>
            <a:off x="6446520" y="2011680"/>
            <a:ext cx="4709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8E3E"/>
              </a:buClr>
              <a:buSzPts val="1400"/>
              <a:buFont typeface="Courier New"/>
              <a:buNone/>
            </a:pPr>
            <a:r>
              <a:rPr b="1" i="0" lang="en-US" sz="1400" u="none" cap="none" strike="noStrike">
                <a:solidFill>
                  <a:srgbClr val="1E8E3E"/>
                </a:solidFill>
                <a:latin typeface="Courier New"/>
                <a:ea typeface="Courier New"/>
                <a:cs typeface="Courier New"/>
                <a:sym typeface="Courier New"/>
              </a:rPr>
              <a:t>EXECUTION</a:t>
            </a:r>
            <a:endParaRPr b="0" i="0" sz="1400" u="none" cap="none" strike="noStrike">
              <a:solidFill>
                <a:schemeClr val="dk1"/>
              </a:solidFill>
              <a:latin typeface="Calibri"/>
              <a:ea typeface="Calibri"/>
              <a:cs typeface="Calibri"/>
              <a:sym typeface="Calibri"/>
            </a:endParaRPr>
          </a:p>
        </p:txBody>
      </p:sp>
      <p:sp>
        <p:nvSpPr>
          <p:cNvPr id="475" name="Google Shape;475;p33"/>
          <p:cNvSpPr txBox="1"/>
          <p:nvPr/>
        </p:nvSpPr>
        <p:spPr>
          <a:xfrm>
            <a:off x="6464808" y="2468880"/>
            <a:ext cx="4663440" cy="25603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the setup chain runs from a clean start</a:t>
            </a:r>
            <a:endParaRPr b="0" i="0" sz="14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the test passes a second time</a:t>
            </a:r>
            <a:endParaRPr b="0" i="0" sz="14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the test passes after the target is reset   STRICT_ISOLATION=1</a:t>
            </a:r>
            <a:endParaRPr b="0" i="0" sz="14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11827"/>
              </a:buClr>
              <a:buSzPts val="1450"/>
              <a:buFont typeface="Calibri"/>
              <a:buChar char="•"/>
            </a:pPr>
            <a:r>
              <a:rPr b="0" i="0" lang="en-US" sz="1450" u="none" cap="none" strike="noStrike">
                <a:solidFill>
                  <a:srgbClr val="111827"/>
                </a:solidFill>
                <a:latin typeface="Calibri"/>
                <a:ea typeface="Calibri"/>
                <a:cs typeface="Calibri"/>
                <a:sym typeface="Calibri"/>
              </a:rPr>
              <a:t>the assertions catch at least 70% of mutations   MUTATION_THRESHOLD</a:t>
            </a:r>
            <a:endParaRPr b="0" i="0" sz="1450" u="none" cap="none" strike="noStrike">
              <a:solidFill>
                <a:schemeClr val="dk1"/>
              </a:solidFill>
              <a:latin typeface="Calibri"/>
              <a:ea typeface="Calibri"/>
              <a:cs typeface="Calibri"/>
              <a:sym typeface="Calibri"/>
            </a:endParaRPr>
          </a:p>
        </p:txBody>
      </p:sp>
      <p:sp>
        <p:nvSpPr>
          <p:cNvPr id="476" name="Google Shape;476;p33"/>
          <p:cNvSpPr txBox="1"/>
          <p:nvPr/>
        </p:nvSpPr>
        <p:spPr>
          <a:xfrm>
            <a:off x="640080" y="5440680"/>
            <a:ext cx="10881360" cy="45720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The mutation check is the one that catches an assertion which technically passes while testing nothing of consequence.</a:t>
            </a:r>
            <a:endParaRPr b="0" i="0" sz="1600" u="none" cap="none" strike="noStrike">
              <a:solidFill>
                <a:schemeClr val="dk1"/>
              </a:solidFill>
              <a:latin typeface="Calibri"/>
              <a:ea typeface="Calibri"/>
              <a:cs typeface="Calibri"/>
              <a:sym typeface="Calibri"/>
            </a:endParaRPr>
          </a:p>
        </p:txBody>
      </p:sp>
      <p:sp>
        <p:nvSpPr>
          <p:cNvPr id="477" name="Google Shape;477;p33"/>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2" name="Shape 482"/>
        <p:cNvGrpSpPr/>
        <p:nvPr/>
      </p:nvGrpSpPr>
      <p:grpSpPr>
        <a:xfrm>
          <a:off x="0" y="0"/>
          <a:ext cx="0" cy="0"/>
          <a:chOff x="0" y="0"/>
          <a:chExt cx="0" cy="0"/>
        </a:xfrm>
      </p:grpSpPr>
      <p:sp>
        <p:nvSpPr>
          <p:cNvPr id="483" name="Google Shape;483;p34"/>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12 · THE PIPELINE</a:t>
            </a:r>
            <a:endParaRPr b="0" i="0" sz="1100" u="none" cap="none" strike="noStrike">
              <a:solidFill>
                <a:schemeClr val="dk1"/>
              </a:solidFill>
              <a:latin typeface="Calibri"/>
              <a:ea typeface="Calibri"/>
              <a:cs typeface="Calibri"/>
              <a:sym typeface="Calibri"/>
            </a:endParaRPr>
          </a:p>
        </p:txBody>
      </p:sp>
      <p:sp>
        <p:nvSpPr>
          <p:cNvPr id="484" name="Google Shape;484;p34"/>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485" name="Google Shape;485;p34"/>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Putting the four pieces together</a:t>
            </a:r>
            <a:endParaRPr b="0" i="0" sz="3200" u="none" cap="none" strike="noStrike">
              <a:solidFill>
                <a:schemeClr val="dk1"/>
              </a:solidFill>
              <a:latin typeface="Calibri"/>
              <a:ea typeface="Calibri"/>
              <a:cs typeface="Calibri"/>
              <a:sym typeface="Calibri"/>
            </a:endParaRPr>
          </a:p>
        </p:txBody>
      </p:sp>
      <p:pic>
        <p:nvPicPr>
          <p:cNvPr descr="/home/claude/pdc/img/architecture.png" id="486" name="Google Shape;486;p34"/>
          <p:cNvPicPr preferRelativeResize="0"/>
          <p:nvPr/>
        </p:nvPicPr>
        <p:blipFill rotWithShape="1">
          <a:blip r:embed="rId3">
            <a:alphaModFix/>
          </a:blip>
          <a:srcRect b="0" l="0" r="0" t="0"/>
          <a:stretch/>
        </p:blipFill>
        <p:spPr>
          <a:xfrm>
            <a:off x="1252728" y="1572768"/>
            <a:ext cx="9692640" cy="4476685"/>
          </a:xfrm>
          <a:prstGeom prst="rect">
            <a:avLst/>
          </a:prstGeom>
          <a:noFill/>
          <a:ln>
            <a:noFill/>
          </a:ln>
        </p:spPr>
      </p:pic>
      <p:sp>
        <p:nvSpPr>
          <p:cNvPr id="487" name="Google Shape;487;p34"/>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35"/>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12 · THE PIPELINE</a:t>
            </a:r>
            <a:endParaRPr b="0" i="0" sz="1100" u="none" cap="none" strike="noStrike">
              <a:solidFill>
                <a:schemeClr val="dk1"/>
              </a:solidFill>
              <a:latin typeface="Calibri"/>
              <a:ea typeface="Calibri"/>
              <a:cs typeface="Calibri"/>
              <a:sym typeface="Calibri"/>
            </a:endParaRPr>
          </a:p>
        </p:txBody>
      </p:sp>
      <p:sp>
        <p:nvSpPr>
          <p:cNvPr id="494" name="Google Shape;494;p35"/>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495" name="Google Shape;495;p35"/>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The same endpoint, with the rules and gates in place</a:t>
            </a:r>
            <a:endParaRPr b="0" i="0" sz="3200" u="none" cap="none" strike="noStrike">
              <a:solidFill>
                <a:schemeClr val="dk1"/>
              </a:solidFill>
              <a:latin typeface="Calibri"/>
              <a:ea typeface="Calibri"/>
              <a:cs typeface="Calibri"/>
              <a:sym typeface="Calibri"/>
            </a:endParaRPr>
          </a:p>
        </p:txBody>
      </p:sp>
      <p:sp>
        <p:nvSpPr>
          <p:cNvPr id="496" name="Google Shape;496;p35"/>
          <p:cNvSpPr txBox="1"/>
          <p:nvPr/>
        </p:nvSpPr>
        <p:spPr>
          <a:xfrm>
            <a:off x="640080" y="1463040"/>
            <a:ext cx="10881360" cy="54864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No hand-written hints. The agents worked it out and the tests survived the gates.</a:t>
            </a:r>
            <a:endParaRPr b="0" i="0" sz="1600" u="none" cap="none" strike="noStrike">
              <a:solidFill>
                <a:schemeClr val="dk1"/>
              </a:solidFill>
              <a:latin typeface="Calibri"/>
              <a:ea typeface="Calibri"/>
              <a:cs typeface="Calibri"/>
              <a:sym typeface="Calibri"/>
            </a:endParaRPr>
          </a:p>
        </p:txBody>
      </p:sp>
      <p:graphicFrame>
        <p:nvGraphicFramePr>
          <p:cNvPr id="497" name="Google Shape;497;p35"/>
          <p:cNvGraphicFramePr/>
          <p:nvPr/>
        </p:nvGraphicFramePr>
        <p:xfrm>
          <a:off x="640080" y="2286000"/>
          <a:ext cx="3000000" cy="3000000"/>
        </p:xfrm>
        <a:graphic>
          <a:graphicData uri="http://schemas.openxmlformats.org/drawingml/2006/table">
            <a:tbl>
              <a:tblPr>
                <a:noFill/>
                <a:tableStyleId>{97874EEE-3C7E-4AF0-8156-FB3C0BBDD827}</a:tableStyleId>
              </a:tblPr>
              <a:tblGrid>
                <a:gridCol w="3017525"/>
                <a:gridCol w="731525"/>
                <a:gridCol w="1371600"/>
                <a:gridCol w="1005850"/>
                <a:gridCol w="1463050"/>
                <a:gridCol w="1005850"/>
                <a:gridCol w="1097275"/>
                <a:gridCol w="1188725"/>
              </a:tblGrid>
              <a:tr h="548650">
                <a:tc>
                  <a:txBody>
                    <a:bodyPr/>
                    <a:lstStyle/>
                    <a:p>
                      <a:pPr indent="0" lvl="0" marL="0" marR="0" rtl="0" algn="l">
                        <a:spcBef>
                          <a:spcPts val="0"/>
                        </a:spcBef>
                        <a:spcAft>
                          <a:spcPts val="0"/>
                        </a:spcAft>
                        <a:buClr>
                          <a:srgbClr val="111827"/>
                        </a:buClr>
                        <a:buSzPts val="1300"/>
                        <a:buFont typeface="Calibri"/>
                        <a:buNone/>
                      </a:pPr>
                      <a:r>
                        <a:rPr b="1" lang="en-US" sz="1300" u="none" cap="none" strike="noStrike">
                          <a:solidFill>
                            <a:srgbClr val="111827"/>
                          </a:solidFill>
                          <a:latin typeface="Calibri"/>
                          <a:ea typeface="Calibri"/>
                          <a:cs typeface="Calibri"/>
                          <a:sym typeface="Calibri"/>
                        </a:rPr>
                        <a:t>Manifest</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b="1" lang="en-US" sz="1300" u="none" cap="none" strike="noStrike">
                          <a:solidFill>
                            <a:srgbClr val="111827"/>
                          </a:solidFill>
                          <a:latin typeface="Calibri"/>
                          <a:ea typeface="Calibri"/>
                          <a:cs typeface="Calibri"/>
                          <a:sym typeface="Calibri"/>
                        </a:rPr>
                        <a:t>Trials</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b="1" lang="en-US" sz="1300" u="none" cap="none" strike="noStrike">
                          <a:solidFill>
                            <a:srgbClr val="111827"/>
                          </a:solidFill>
                          <a:latin typeface="Calibri"/>
                          <a:ea typeface="Calibri"/>
                          <a:cs typeface="Calibri"/>
                          <a:sym typeface="Calibri"/>
                        </a:rPr>
                        <a:t>First-attempt pass</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b="1" lang="en-US" sz="1300" u="none" cap="none" strike="noStrike">
                          <a:solidFill>
                            <a:srgbClr val="111827"/>
                          </a:solidFill>
                          <a:latin typeface="Calibri"/>
                          <a:ea typeface="Calibri"/>
                          <a:cs typeface="Calibri"/>
                          <a:sym typeface="Calibri"/>
                        </a:rPr>
                        <a:t>Final pass</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b="1" lang="en-US" sz="1300" u="none" cap="none" strike="noStrike">
                          <a:solidFill>
                            <a:srgbClr val="111827"/>
                          </a:solidFill>
                          <a:latin typeface="Calibri"/>
                          <a:ea typeface="Calibri"/>
                          <a:cs typeface="Calibri"/>
                          <a:sym typeface="Calibri"/>
                        </a:rPr>
                        <a:t>Assertion strength</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b="1" lang="en-US" sz="1300" u="none" cap="none" strike="noStrike">
                          <a:solidFill>
                            <a:srgbClr val="111827"/>
                          </a:solidFill>
                          <a:latin typeface="Calibri"/>
                          <a:ea typeface="Calibri"/>
                          <a:cs typeface="Calibri"/>
                          <a:sym typeface="Calibri"/>
                        </a:rPr>
                        <a:t>Coverage</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b="1" lang="en-US" sz="1300" u="none" cap="none" strike="noStrike">
                          <a:solidFill>
                            <a:srgbClr val="111827"/>
                          </a:solidFill>
                          <a:latin typeface="Calibri"/>
                          <a:ea typeface="Calibri"/>
                          <a:cs typeface="Calibri"/>
                          <a:sym typeface="Calibri"/>
                        </a:rPr>
                        <a:t>Abandoned</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300"/>
                        <a:buFont typeface="Calibri"/>
                        <a:buNone/>
                      </a:pPr>
                      <a:r>
                        <a:rPr b="1" lang="en-US" sz="1300" u="none" cap="none" strike="noStrike">
                          <a:solidFill>
                            <a:srgbClr val="111827"/>
                          </a:solidFill>
                          <a:latin typeface="Calibri"/>
                          <a:ea typeface="Calibri"/>
                          <a:cs typeface="Calibri"/>
                          <a:sym typeface="Calibri"/>
                        </a:rPr>
                        <a:t>Cost / trial</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11827"/>
                        </a:buClr>
                        <a:buSzPts val="1300"/>
                        <a:buFont typeface="Calibri"/>
                        <a:buNone/>
                      </a:pPr>
                      <a:r>
                        <a:rPr lang="en-US" sz="1300" u="none" cap="none" strike="noStrike">
                          <a:solidFill>
                            <a:srgbClr val="111827"/>
                          </a:solidFill>
                          <a:latin typeface="Calibri"/>
                          <a:ea typeface="Calibri"/>
                          <a:cs typeface="Calibri"/>
                          <a:sym typeface="Calibri"/>
                        </a:rPr>
                        <a:t>POST /clients + GET /clients/{id}</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lang="en-US" sz="1300" u="none" cap="none" strike="noStrike">
                          <a:solidFill>
                            <a:srgbClr val="111827"/>
                          </a:solidFill>
                          <a:latin typeface="Calibri"/>
                          <a:ea typeface="Calibri"/>
                          <a:cs typeface="Calibri"/>
                          <a:sym typeface="Calibri"/>
                        </a:rPr>
                        <a:t>2</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lang="en-US" sz="1300" u="none" cap="none" strike="noStrike">
                          <a:solidFill>
                            <a:srgbClr val="111827"/>
                          </a:solidFill>
                          <a:latin typeface="Calibri"/>
                          <a:ea typeface="Calibri"/>
                          <a:cs typeface="Calibri"/>
                          <a:sym typeface="Calibri"/>
                        </a:rPr>
                        <a:t>2/4</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300"/>
                        <a:buFont typeface="Calibri"/>
                        <a:buNone/>
                      </a:pPr>
                      <a:r>
                        <a:rPr b="1" lang="en-US" sz="1300" u="none" cap="none" strike="noStrike">
                          <a:solidFill>
                            <a:srgbClr val="1E8E3E"/>
                          </a:solidFill>
                          <a:latin typeface="Calibri"/>
                          <a:ea typeface="Calibri"/>
                          <a:cs typeface="Calibri"/>
                          <a:sym typeface="Calibri"/>
                        </a:rPr>
                        <a:t>3/3</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E8E3E"/>
                        </a:buClr>
                        <a:buSzPts val="1300"/>
                        <a:buFont typeface="Calibri"/>
                        <a:buNone/>
                      </a:pPr>
                      <a:r>
                        <a:rPr b="1" lang="en-US" sz="1300" u="none" cap="none" strike="noStrike">
                          <a:solidFill>
                            <a:srgbClr val="1E8E3E"/>
                          </a:solidFill>
                          <a:latin typeface="Calibri"/>
                          <a:ea typeface="Calibri"/>
                          <a:cs typeface="Calibri"/>
                          <a:sym typeface="Calibri"/>
                        </a:rPr>
                        <a:t>98%</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lang="en-US" sz="1300" u="none" cap="none" strike="noStrike">
                          <a:solidFill>
                            <a:srgbClr val="111827"/>
                          </a:solidFill>
                          <a:latin typeface="Calibri"/>
                          <a:ea typeface="Calibri"/>
                          <a:cs typeface="Calibri"/>
                          <a:sym typeface="Calibri"/>
                        </a:rPr>
                        <a:t>3/4</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11827"/>
                        </a:buClr>
                        <a:buSzPts val="1300"/>
                        <a:buFont typeface="Calibri"/>
                        <a:buNone/>
                      </a:pPr>
                      <a:r>
                        <a:rPr lang="en-US" sz="1300" u="none" cap="none" strike="noStrike">
                          <a:solidFill>
                            <a:srgbClr val="111827"/>
                          </a:solidFill>
                          <a:latin typeface="Calibri"/>
                          <a:ea typeface="Calibri"/>
                          <a:cs typeface="Calibri"/>
                          <a:sym typeface="Calibri"/>
                        </a:rPr>
                        <a:t>1</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11827"/>
                        </a:buClr>
                        <a:buSzPts val="1300"/>
                        <a:buFont typeface="Calibri"/>
                        <a:buNone/>
                      </a:pPr>
                      <a:r>
                        <a:rPr lang="en-US" sz="1300" u="none" cap="none" strike="noStrike">
                          <a:solidFill>
                            <a:srgbClr val="111827"/>
                          </a:solidFill>
                          <a:latin typeface="Calibri"/>
                          <a:ea typeface="Calibri"/>
                          <a:cs typeface="Calibri"/>
                          <a:sym typeface="Calibri"/>
                        </a:rPr>
                        <a:t>$1.17</a:t>
                      </a:r>
                      <a:endParaRPr sz="1300" u="none" cap="none" strike="noStrike">
                        <a:latin typeface="Calibri"/>
                        <a:ea typeface="Calibri"/>
                        <a:cs typeface="Calibri"/>
                        <a:sym typeface="Calibri"/>
                      </a:endParaRPr>
                    </a:p>
                  </a:txBody>
                  <a:tcPr marT="45725" marB="45725" marR="91450" marL="91450" anchor="ctr">
                    <a:lnL cap="flat" cmpd="sng" w="9525">
                      <a:solidFill>
                        <a:srgbClr val="C9D2E0"/>
                      </a:solidFill>
                      <a:prstDash val="solid"/>
                      <a:round/>
                      <a:headEnd len="sm" w="sm" type="none"/>
                      <a:tailEnd len="sm" w="sm" type="none"/>
                    </a:lnL>
                    <a:lnR cap="flat" cmpd="sng" w="9525">
                      <a:solidFill>
                        <a:srgbClr val="C9D2E0"/>
                      </a:solidFill>
                      <a:prstDash val="solid"/>
                      <a:round/>
                      <a:headEnd len="sm" w="sm" type="none"/>
                      <a:tailEnd len="sm" w="sm" type="none"/>
                    </a:lnR>
                    <a:lnT cap="flat" cmpd="sng" w="9525">
                      <a:solidFill>
                        <a:srgbClr val="C9D2E0"/>
                      </a:solidFill>
                      <a:prstDash val="solid"/>
                      <a:round/>
                      <a:headEnd len="sm" w="sm" type="none"/>
                      <a:tailEnd len="sm" w="sm" type="none"/>
                    </a:lnT>
                    <a:lnB cap="flat" cmpd="sng" w="9525">
                      <a:solidFill>
                        <a:srgbClr val="C9D2E0"/>
                      </a:solidFill>
                      <a:prstDash val="solid"/>
                      <a:round/>
                      <a:headEnd len="sm" w="sm" type="none"/>
                      <a:tailEnd len="sm" w="sm" type="none"/>
                    </a:lnB>
                    <a:solidFill>
                      <a:srgbClr val="FFFFFF"/>
                    </a:solidFill>
                  </a:tcPr>
                </a:tc>
              </a:tr>
            </a:tbl>
          </a:graphicData>
        </a:graphic>
      </p:graphicFrame>
      <p:sp>
        <p:nvSpPr>
          <p:cNvPr id="498" name="Google Shape;498;p35"/>
          <p:cNvSpPr/>
          <p:nvPr/>
        </p:nvSpPr>
        <p:spPr>
          <a:xfrm>
            <a:off x="640080" y="3794760"/>
            <a:ext cx="5257800" cy="1371600"/>
          </a:xfrm>
          <a:prstGeom prst="roundRect">
            <a:avLst>
              <a:gd fmla="val 3333" name="adj"/>
            </a:avLst>
          </a:prstGeom>
          <a:solidFill>
            <a:srgbClr val="E6F4EA"/>
          </a:solidFill>
          <a:ln cap="flat" cmpd="sng" w="13950">
            <a:solidFill>
              <a:srgbClr val="1E8E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5"/>
          <p:cNvSpPr txBox="1"/>
          <p:nvPr/>
        </p:nvSpPr>
        <p:spPr>
          <a:xfrm>
            <a:off x="896112" y="399592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Three out of three on the final pass</a:t>
            </a:r>
            <a:endParaRPr b="0" i="0" sz="1700" u="none" cap="none" strike="noStrike">
              <a:solidFill>
                <a:schemeClr val="dk1"/>
              </a:solidFill>
              <a:latin typeface="Calibri"/>
              <a:ea typeface="Calibri"/>
              <a:cs typeface="Calibri"/>
              <a:sym typeface="Calibri"/>
            </a:endParaRPr>
          </a:p>
        </p:txBody>
      </p:sp>
      <p:sp>
        <p:nvSpPr>
          <p:cNvPr id="500" name="Google Shape;500;p35"/>
          <p:cNvSpPr txBox="1"/>
          <p:nvPr/>
        </p:nvSpPr>
        <p:spPr>
          <a:xfrm>
            <a:off x="896112" y="4526280"/>
            <a:ext cx="4745736" cy="43891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500"/>
              <a:buFont typeface="Calibri"/>
              <a:buNone/>
            </a:pPr>
            <a:r>
              <a:rPr b="0" i="0" lang="en-US" sz="1500" u="none" cap="none" strike="noStrike">
                <a:solidFill>
                  <a:srgbClr val="111827"/>
                </a:solidFill>
                <a:latin typeface="Calibri"/>
                <a:ea typeface="Calibri"/>
                <a:cs typeface="Calibri"/>
                <a:sym typeface="Calibri"/>
              </a:rPr>
              <a:t>The same endpoint that produced nothing but zeros earlier in this talk.</a:t>
            </a:r>
            <a:endParaRPr b="0" i="0" sz="1500" u="none" cap="none" strike="noStrike">
              <a:solidFill>
                <a:schemeClr val="dk1"/>
              </a:solidFill>
              <a:latin typeface="Calibri"/>
              <a:ea typeface="Calibri"/>
              <a:cs typeface="Calibri"/>
              <a:sym typeface="Calibri"/>
            </a:endParaRPr>
          </a:p>
        </p:txBody>
      </p:sp>
      <p:sp>
        <p:nvSpPr>
          <p:cNvPr id="501" name="Google Shape;501;p35"/>
          <p:cNvSpPr/>
          <p:nvPr/>
        </p:nvSpPr>
        <p:spPr>
          <a:xfrm>
            <a:off x="6172200" y="3794760"/>
            <a:ext cx="5257800" cy="1371600"/>
          </a:xfrm>
          <a:prstGeom prst="roundRect">
            <a:avLst>
              <a:gd fmla="val 3333" name="adj"/>
            </a:avLst>
          </a:prstGeom>
          <a:solidFill>
            <a:srgbClr val="FDF0DC"/>
          </a:solidFill>
          <a:ln cap="flat" cmpd="sng" w="13950">
            <a:solidFill>
              <a:srgbClr val="B26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5"/>
          <p:cNvSpPr txBox="1"/>
          <p:nvPr/>
        </p:nvSpPr>
        <p:spPr>
          <a:xfrm>
            <a:off x="6428232" y="3995928"/>
            <a:ext cx="4745736"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827"/>
              </a:buClr>
              <a:buSzPts val="1700"/>
              <a:buFont typeface="Calibri"/>
              <a:buNone/>
            </a:pPr>
            <a:r>
              <a:rPr b="1" i="0" lang="en-US" sz="1700" u="none" cap="none" strike="noStrike">
                <a:solidFill>
                  <a:srgbClr val="111827"/>
                </a:solidFill>
                <a:latin typeface="Calibri"/>
                <a:ea typeface="Calibri"/>
                <a:cs typeface="Calibri"/>
                <a:sym typeface="Calibri"/>
              </a:rPr>
              <a:t>One trial was still abandoned</a:t>
            </a:r>
            <a:endParaRPr b="0" i="0" sz="1700" u="none" cap="none" strike="noStrike">
              <a:solidFill>
                <a:schemeClr val="dk1"/>
              </a:solidFill>
              <a:latin typeface="Calibri"/>
              <a:ea typeface="Calibri"/>
              <a:cs typeface="Calibri"/>
              <a:sym typeface="Calibri"/>
            </a:endParaRPr>
          </a:p>
        </p:txBody>
      </p:sp>
      <p:sp>
        <p:nvSpPr>
          <p:cNvPr id="503" name="Google Shape;503;p35"/>
          <p:cNvSpPr txBox="1"/>
          <p:nvPr/>
        </p:nvSpPr>
        <p:spPr>
          <a:xfrm>
            <a:off x="6428232" y="4526280"/>
            <a:ext cx="4745736" cy="438912"/>
          </a:xfrm>
          <a:prstGeom prst="rect">
            <a:avLst/>
          </a:prstGeom>
          <a:noFill/>
          <a:ln>
            <a:noFill/>
          </a:ln>
        </p:spPr>
        <p:txBody>
          <a:bodyPr anchorCtr="0" anchor="t" bIns="0" lIns="0" spcFirstLastPara="1" rIns="0" wrap="square" tIns="0">
            <a:noAutofit/>
          </a:bodyPr>
          <a:lstStyle/>
          <a:p>
            <a:pPr indent="0" lvl="0" marL="0" marR="0" rtl="0" algn="l">
              <a:lnSpc>
                <a:spcPct val="114000"/>
              </a:lnSpc>
              <a:spcBef>
                <a:spcPts val="0"/>
              </a:spcBef>
              <a:spcAft>
                <a:spcPts val="0"/>
              </a:spcAft>
              <a:buClr>
                <a:srgbClr val="111827"/>
              </a:buClr>
              <a:buSzPts val="1500"/>
              <a:buFont typeface="Calibri"/>
              <a:buNone/>
            </a:pPr>
            <a:r>
              <a:rPr b="0" i="0" lang="en-US" sz="1500" u="none" cap="none" strike="noStrike">
                <a:solidFill>
                  <a:srgbClr val="111827"/>
                </a:solidFill>
                <a:latin typeface="Calibri"/>
                <a:ea typeface="Calibri"/>
                <a:cs typeface="Calibri"/>
                <a:sym typeface="Calibri"/>
              </a:rPr>
              <a:t>We report that number next to the pass rate, because a leaderboard without it is not telling you much.</a:t>
            </a:r>
            <a:endParaRPr b="0" i="0" sz="1500" u="none" cap="none" strike="noStrike">
              <a:solidFill>
                <a:schemeClr val="dk1"/>
              </a:solidFill>
              <a:latin typeface="Calibri"/>
              <a:ea typeface="Calibri"/>
              <a:cs typeface="Calibri"/>
              <a:sym typeface="Calibri"/>
            </a:endParaRPr>
          </a:p>
        </p:txBody>
      </p:sp>
      <p:sp>
        <p:nvSpPr>
          <p:cNvPr id="504" name="Google Shape;504;p35"/>
          <p:cNvSpPr txBox="1"/>
          <p:nvPr/>
        </p:nvSpPr>
        <p:spPr>
          <a:xfrm>
            <a:off x="640080" y="5440680"/>
            <a:ext cx="10881360" cy="45720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Assertion strength of 98% means the kept tests failed on almost every mutation we threw at the response, which is the number we care about most.</a:t>
            </a:r>
            <a:endParaRPr b="0" i="0" sz="1600" u="none" cap="none" strike="noStrike">
              <a:solidFill>
                <a:schemeClr val="dk1"/>
              </a:solidFill>
              <a:latin typeface="Calibri"/>
              <a:ea typeface="Calibri"/>
              <a:cs typeface="Calibri"/>
              <a:sym typeface="Calibri"/>
            </a:endParaRPr>
          </a:p>
        </p:txBody>
      </p:sp>
      <p:sp>
        <p:nvSpPr>
          <p:cNvPr id="505" name="Google Shape;505;p35"/>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0" name="Shape 510"/>
        <p:cNvGrpSpPr/>
        <p:nvPr/>
      </p:nvGrpSpPr>
      <p:grpSpPr>
        <a:xfrm>
          <a:off x="0" y="0"/>
          <a:ext cx="0" cy="0"/>
          <a:chOff x="0" y="0"/>
          <a:chExt cx="0" cy="0"/>
        </a:xfrm>
      </p:grpSpPr>
      <p:sp>
        <p:nvSpPr>
          <p:cNvPr id="511" name="Google Shape;511;p36"/>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13 · THE HARNESS</a:t>
            </a:r>
            <a:endParaRPr b="0" i="0" sz="1100" u="none" cap="none" strike="noStrike">
              <a:solidFill>
                <a:schemeClr val="dk1"/>
              </a:solidFill>
              <a:latin typeface="Calibri"/>
              <a:ea typeface="Calibri"/>
              <a:cs typeface="Calibri"/>
              <a:sym typeface="Calibri"/>
            </a:endParaRPr>
          </a:p>
        </p:txBody>
      </p:sp>
      <p:sp>
        <p:nvSpPr>
          <p:cNvPr id="512" name="Google Shape;512;p36"/>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513" name="Google Shape;513;p36"/>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Three passes, and an artifact from each one</a:t>
            </a:r>
            <a:endParaRPr b="0" i="0" sz="3200" u="none" cap="none" strike="noStrike">
              <a:solidFill>
                <a:schemeClr val="dk1"/>
              </a:solidFill>
              <a:latin typeface="Calibri"/>
              <a:ea typeface="Calibri"/>
              <a:cs typeface="Calibri"/>
              <a:sym typeface="Calibri"/>
            </a:endParaRPr>
          </a:p>
        </p:txBody>
      </p:sp>
      <p:pic>
        <p:nvPicPr>
          <p:cNvPr descr="/home/claude/pdc/img/harness.png" id="514" name="Google Shape;514;p36"/>
          <p:cNvPicPr preferRelativeResize="0"/>
          <p:nvPr/>
        </p:nvPicPr>
        <p:blipFill rotWithShape="1">
          <a:blip r:embed="rId3">
            <a:alphaModFix/>
          </a:blip>
          <a:srcRect b="0" l="0" r="0" t="0"/>
          <a:stretch/>
        </p:blipFill>
        <p:spPr>
          <a:xfrm>
            <a:off x="1161288" y="1508760"/>
            <a:ext cx="9875520" cy="3933470"/>
          </a:xfrm>
          <a:prstGeom prst="rect">
            <a:avLst/>
          </a:prstGeom>
          <a:noFill/>
          <a:ln>
            <a:noFill/>
          </a:ln>
        </p:spPr>
      </p:pic>
      <p:sp>
        <p:nvSpPr>
          <p:cNvPr id="515" name="Google Shape;515;p36"/>
          <p:cNvSpPr txBox="1"/>
          <p:nvPr/>
        </p:nvSpPr>
        <p:spPr>
          <a:xfrm>
            <a:off x="640080" y="5577840"/>
            <a:ext cx="10881360" cy="45720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600"/>
              <a:buFont typeface="Calibri"/>
              <a:buNone/>
            </a:pPr>
            <a:r>
              <a:rPr b="0" i="0" lang="en-US" sz="1600" u="none" cap="none" strike="noStrike">
                <a:solidFill>
                  <a:srgbClr val="5A6478"/>
                </a:solidFill>
                <a:latin typeface="Calibri"/>
                <a:ea typeface="Calibri"/>
                <a:cs typeface="Calibri"/>
                <a:sym typeface="Calibri"/>
              </a:rPr>
              <a:t>The report refuses to publish a cell with fewer than three trials, which has saved us from reading a good deal of noise as a result.</a:t>
            </a:r>
            <a:endParaRPr b="0" i="0" sz="1600" u="none" cap="none" strike="noStrike">
              <a:solidFill>
                <a:schemeClr val="dk1"/>
              </a:solidFill>
              <a:latin typeface="Calibri"/>
              <a:ea typeface="Calibri"/>
              <a:cs typeface="Calibri"/>
              <a:sym typeface="Calibri"/>
            </a:endParaRPr>
          </a:p>
        </p:txBody>
      </p:sp>
      <p:sp>
        <p:nvSpPr>
          <p:cNvPr id="516" name="Google Shape;516;p36"/>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37"/>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13 · THE HARNESS</a:t>
            </a:r>
            <a:endParaRPr b="0" i="0" sz="1100" u="none" cap="none" strike="noStrike">
              <a:solidFill>
                <a:schemeClr val="dk1"/>
              </a:solidFill>
              <a:latin typeface="Calibri"/>
              <a:ea typeface="Calibri"/>
              <a:cs typeface="Calibri"/>
              <a:sym typeface="Calibri"/>
            </a:endParaRPr>
          </a:p>
        </p:txBody>
      </p:sp>
      <p:sp>
        <p:nvSpPr>
          <p:cNvPr id="523" name="Google Shape;523;p37"/>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524" name="Google Shape;524;p37"/>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What the agent is given to work with</a:t>
            </a:r>
            <a:endParaRPr b="0" i="0" sz="3200" u="none" cap="none" strike="noStrike">
              <a:solidFill>
                <a:schemeClr val="dk1"/>
              </a:solidFill>
              <a:latin typeface="Calibri"/>
              <a:ea typeface="Calibri"/>
              <a:cs typeface="Calibri"/>
              <a:sym typeface="Calibri"/>
            </a:endParaRPr>
          </a:p>
        </p:txBody>
      </p:sp>
      <p:sp>
        <p:nvSpPr>
          <p:cNvPr id="525" name="Google Shape;525;p37"/>
          <p:cNvSpPr/>
          <p:nvPr/>
        </p:nvSpPr>
        <p:spPr>
          <a:xfrm>
            <a:off x="640080" y="1783080"/>
            <a:ext cx="10881360" cy="2103120"/>
          </a:xfrm>
          <a:prstGeom prst="roundRect">
            <a:avLst>
              <a:gd fmla="val 2609"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7"/>
          <p:cNvSpPr txBox="1"/>
          <p:nvPr/>
        </p:nvSpPr>
        <p:spPr>
          <a:xfrm>
            <a:off x="960120" y="203911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THE AGENT'S TOOLS</a:t>
            </a:r>
            <a:endParaRPr b="0" i="0" sz="1100" u="none" cap="none" strike="noStrike">
              <a:solidFill>
                <a:schemeClr val="dk1"/>
              </a:solidFill>
              <a:latin typeface="Calibri"/>
              <a:ea typeface="Calibri"/>
              <a:cs typeface="Calibri"/>
              <a:sym typeface="Calibri"/>
            </a:endParaRPr>
          </a:p>
        </p:txBody>
      </p:sp>
      <p:sp>
        <p:nvSpPr>
          <p:cNvPr id="527" name="Google Shape;527;p37"/>
          <p:cNvSpPr txBox="1"/>
          <p:nvPr/>
        </p:nvSpPr>
        <p:spPr>
          <a:xfrm>
            <a:off x="960120" y="2404872"/>
            <a:ext cx="10241280" cy="12801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9AA6B8"/>
              </a:buClr>
              <a:buSzPts val="1250"/>
              <a:buFont typeface="Courier New"/>
              <a:buNone/>
            </a:pPr>
            <a:r>
              <a:rPr b="0" i="0" lang="en-US" sz="1250" u="none" cap="none" strike="noStrike">
                <a:solidFill>
                  <a:srgbClr val="9AA6B8"/>
                </a:solidFill>
                <a:latin typeface="Courier New"/>
                <a:ea typeface="Courier New"/>
                <a:cs typeface="Courier New"/>
                <a:sym typeface="Courier New"/>
              </a:rPr>
              <a:t>query_source, query_source_graph, list_sources, search_sources    discovery</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AA6B8"/>
              </a:buClr>
              <a:buSzPts val="1250"/>
              <a:buFont typeface="Courier New"/>
              <a:buNone/>
            </a:pPr>
            <a:r>
              <a:rPr b="0" i="0" lang="en-US" sz="1250" u="none" cap="none" strike="noStrike">
                <a:solidFill>
                  <a:srgbClr val="9AA6B8"/>
                </a:solidFill>
                <a:latin typeface="Courier New"/>
                <a:ea typeface="Courier New"/>
                <a:cs typeface="Courier New"/>
                <a:sym typeface="Courier New"/>
              </a:rPr>
              <a:t>safe_http_request (method, path, headers, body, capture)          probing</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AA6B8"/>
              </a:buClr>
              <a:buSzPts val="1250"/>
              <a:buFont typeface="Courier New"/>
              <a:buNone/>
            </a:pPr>
            <a:r>
              <a:rPr b="0" i="0" lang="en-US" sz="1250" u="none" cap="none" strike="noStrike">
                <a:solidFill>
                  <a:srgbClr val="9AA6B8"/>
                </a:solidFill>
                <a:latin typeface="Courier New"/>
                <a:ea typeface="Courier New"/>
                <a:cs typeface="Courier New"/>
                <a:sym typeface="Courier New"/>
              </a:rPr>
              <a:t>write_playbook_entry                                              catalog</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9AA6B8"/>
              </a:buClr>
              <a:buSzPts val="1250"/>
              <a:buFont typeface="Courier New"/>
              <a:buNone/>
            </a:pPr>
            <a:r>
              <a:rPr b="0" i="0" lang="en-US" sz="1250" u="none" cap="none" strike="noStrike">
                <a:solidFill>
                  <a:srgbClr val="9AA6B8"/>
                </a:solidFill>
                <a:latin typeface="Courier New"/>
                <a:ea typeface="Courier New"/>
                <a:cs typeface="Courier New"/>
                <a:sym typeface="Courier New"/>
              </a:rPr>
              <a:t>search_notes                                                      catalog + lessons</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7FD19A"/>
              </a:buClr>
              <a:buSzPts val="1250"/>
              <a:buFont typeface="Courier New"/>
              <a:buNone/>
            </a:pPr>
            <a:r>
              <a:rPr b="0" i="0" lang="en-US" sz="1250" u="none" cap="none" strike="noStrike">
                <a:solidFill>
                  <a:srgbClr val="7FD19A"/>
                </a:solidFill>
                <a:latin typeface="Courier New"/>
                <a:ea typeface="Courier New"/>
                <a:cs typeface="Courier New"/>
                <a:sym typeface="Courier New"/>
              </a:rPr>
              <a:t>record_discovery, save_test                                       notes, commit</a:t>
            </a:r>
            <a:endParaRPr b="0" i="0" sz="1250" u="none" cap="none" strike="noStrike">
              <a:solidFill>
                <a:schemeClr val="dk1"/>
              </a:solidFill>
              <a:latin typeface="Calibri"/>
              <a:ea typeface="Calibri"/>
              <a:cs typeface="Calibri"/>
              <a:sym typeface="Calibri"/>
            </a:endParaRPr>
          </a:p>
        </p:txBody>
      </p:sp>
      <p:sp>
        <p:nvSpPr>
          <p:cNvPr id="528" name="Google Shape;528;p37"/>
          <p:cNvSpPr/>
          <p:nvPr/>
        </p:nvSpPr>
        <p:spPr>
          <a:xfrm>
            <a:off x="640080" y="4069080"/>
            <a:ext cx="10881360" cy="1691640"/>
          </a:xfrm>
          <a:prstGeom prst="roundRect">
            <a:avLst>
              <a:gd fmla="val 3243" name="adj"/>
            </a:avLst>
          </a:prstGeom>
          <a:solidFill>
            <a:srgbClr val="0E1420"/>
          </a:solidFill>
          <a:ln cap="flat" cmpd="sng" w="12700">
            <a:solidFill>
              <a:srgbClr val="0E14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7"/>
          <p:cNvSpPr txBox="1"/>
          <p:nvPr/>
        </p:nvSpPr>
        <p:spPr>
          <a:xfrm>
            <a:off x="960120" y="4325112"/>
            <a:ext cx="10241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THE TARGET CONFIGURATION</a:t>
            </a:r>
            <a:endParaRPr b="0" i="0" sz="1100" u="none" cap="none" strike="noStrike">
              <a:solidFill>
                <a:schemeClr val="dk1"/>
              </a:solidFill>
              <a:latin typeface="Calibri"/>
              <a:ea typeface="Calibri"/>
              <a:cs typeface="Calibri"/>
              <a:sym typeface="Calibri"/>
            </a:endParaRPr>
          </a:p>
        </p:txBody>
      </p:sp>
      <p:sp>
        <p:nvSpPr>
          <p:cNvPr id="530" name="Google Shape;530;p37"/>
          <p:cNvSpPr txBox="1"/>
          <p:nvPr/>
        </p:nvSpPr>
        <p:spPr>
          <a:xfrm>
            <a:off x="960120" y="4690872"/>
            <a:ext cx="10241280" cy="8686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"name", "baseUrl", "sourceRoot", "manifest", "healthPath",</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"connectionFacts": [...], "tlsInsecure",</a:t>
            </a:r>
            <a:endParaRPr b="0" i="0" sz="125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D8DEE9"/>
              </a:buClr>
              <a:buSzPts val="1250"/>
              <a:buFont typeface="Courier New"/>
              <a:buNone/>
            </a:pPr>
            <a:r>
              <a:rPr b="0" i="0" lang="en-US" sz="1250" u="none" cap="none" strike="noStrike">
                <a:solidFill>
                  <a:srgbClr val="D8DEE9"/>
                </a:solidFill>
                <a:latin typeface="Courier New"/>
                <a:ea typeface="Courier New"/>
                <a:cs typeface="Courier New"/>
                <a:sym typeface="Courier New"/>
              </a:rPr>
              <a:t>  "reset": { "kind": "none" | "http" | "command", ... } }</a:t>
            </a:r>
            <a:endParaRPr b="0" i="0" sz="1250" u="none" cap="none" strike="noStrike">
              <a:solidFill>
                <a:schemeClr val="dk1"/>
              </a:solidFill>
              <a:latin typeface="Calibri"/>
              <a:ea typeface="Calibri"/>
              <a:cs typeface="Calibri"/>
              <a:sym typeface="Calibri"/>
            </a:endParaRPr>
          </a:p>
        </p:txBody>
      </p:sp>
      <p:sp>
        <p:nvSpPr>
          <p:cNvPr id="531" name="Google Shape;531;p37"/>
          <p:cNvSpPr txBox="1"/>
          <p:nvPr/>
        </p:nvSpPr>
        <p:spPr>
          <a:xfrm>
            <a:off x="640080" y="5897880"/>
            <a:ext cx="10881360" cy="365760"/>
          </a:xfrm>
          <a:prstGeom prst="rect">
            <a:avLst/>
          </a:prstGeom>
          <a:noFill/>
          <a:ln>
            <a:noFill/>
          </a:ln>
        </p:spPr>
        <p:txBody>
          <a:bodyPr anchorCtr="0" anchor="ctr" bIns="0" lIns="0" spcFirstLastPara="1" rIns="0" wrap="square" tIns="0">
            <a:noAutofit/>
          </a:bodyPr>
          <a:lstStyle/>
          <a:p>
            <a:pPr indent="0" lvl="0" marL="0" marR="0" rtl="0" algn="l">
              <a:lnSpc>
                <a:spcPct val="114000"/>
              </a:lnSpc>
              <a:spcBef>
                <a:spcPts val="0"/>
              </a:spcBef>
              <a:spcAft>
                <a:spcPts val="0"/>
              </a:spcAft>
              <a:buClr>
                <a:srgbClr val="5A6478"/>
              </a:buClr>
              <a:buSzPts val="1500"/>
              <a:buFont typeface="Calibri"/>
              <a:buNone/>
            </a:pPr>
            <a:r>
              <a:rPr b="0" i="0" lang="en-US" sz="1500" u="none" cap="none" strike="noStrike">
                <a:solidFill>
                  <a:srgbClr val="5A6478"/>
                </a:solidFill>
                <a:latin typeface="Calibri"/>
                <a:ea typeface="Calibri"/>
                <a:cs typeface="Calibri"/>
                <a:sym typeface="Calibri"/>
              </a:rPr>
              <a:t>save_test sits at the end of that list for a reason. It stays out of reach until the gates have finished with the test.</a:t>
            </a:r>
            <a:endParaRPr b="0" i="0" sz="1500" u="none" cap="none" strike="noStrike">
              <a:solidFill>
                <a:schemeClr val="dk1"/>
              </a:solidFill>
              <a:latin typeface="Calibri"/>
              <a:ea typeface="Calibri"/>
              <a:cs typeface="Calibri"/>
              <a:sym typeface="Calibri"/>
            </a:endParaRPr>
          </a:p>
        </p:txBody>
      </p:sp>
      <p:sp>
        <p:nvSpPr>
          <p:cNvPr id="532" name="Google Shape;532;p37"/>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38"/>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14 · IN PRODUCTION</a:t>
            </a:r>
            <a:endParaRPr b="0" i="0" sz="1100" u="none" cap="none" strike="noStrike">
              <a:solidFill>
                <a:schemeClr val="dk1"/>
              </a:solidFill>
              <a:latin typeface="Calibri"/>
              <a:ea typeface="Calibri"/>
              <a:cs typeface="Calibri"/>
              <a:sym typeface="Calibri"/>
            </a:endParaRPr>
          </a:p>
        </p:txBody>
      </p:sp>
      <p:sp>
        <p:nvSpPr>
          <p:cNvPr id="539" name="Google Shape;539;p38"/>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540" name="Google Shape;540;p38"/>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Generating the tests once was never the goal</a:t>
            </a:r>
            <a:endParaRPr b="0" i="0" sz="3200" u="none" cap="none" strike="noStrike">
              <a:solidFill>
                <a:schemeClr val="dk1"/>
              </a:solidFill>
              <a:latin typeface="Calibri"/>
              <a:ea typeface="Calibri"/>
              <a:cs typeface="Calibri"/>
              <a:sym typeface="Calibri"/>
            </a:endParaRPr>
          </a:p>
        </p:txBody>
      </p:sp>
      <p:pic>
        <p:nvPicPr>
          <p:cNvPr descr="/home/claude/pdc/img/devpipeline.png" id="541" name="Google Shape;541;p38"/>
          <p:cNvPicPr preferRelativeResize="0"/>
          <p:nvPr/>
        </p:nvPicPr>
        <p:blipFill rotWithShape="1">
          <a:blip r:embed="rId3">
            <a:alphaModFix/>
          </a:blip>
          <a:srcRect b="0" l="0" r="0" t="0"/>
          <a:stretch/>
        </p:blipFill>
        <p:spPr>
          <a:xfrm>
            <a:off x="1527048" y="1554480"/>
            <a:ext cx="9144000" cy="4223288"/>
          </a:xfrm>
          <a:prstGeom prst="rect">
            <a:avLst/>
          </a:prstGeom>
          <a:noFill/>
          <a:ln>
            <a:noFill/>
          </a:ln>
        </p:spPr>
      </p:pic>
      <p:sp>
        <p:nvSpPr>
          <p:cNvPr id="542" name="Google Shape;542;p38"/>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7" name="Shape 547"/>
        <p:cNvGrpSpPr/>
        <p:nvPr/>
      </p:nvGrpSpPr>
      <p:grpSpPr>
        <a:xfrm>
          <a:off x="0" y="0"/>
          <a:ext cx="0" cy="0"/>
          <a:chOff x="0" y="0"/>
          <a:chExt cx="0" cy="0"/>
        </a:xfrm>
      </p:grpSpPr>
      <p:sp>
        <p:nvSpPr>
          <p:cNvPr id="548" name="Google Shape;548;p39"/>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ourier New"/>
              <a:buNone/>
            </a:pPr>
            <a:r>
              <a:rPr b="1" i="0" lang="en-US" sz="1100" u="none" cap="none" strike="noStrike">
                <a:solidFill>
                  <a:srgbClr val="5A6478"/>
                </a:solidFill>
                <a:latin typeface="Courier New"/>
                <a:ea typeface="Courier New"/>
                <a:cs typeface="Courier New"/>
                <a:sym typeface="Courier New"/>
              </a:rPr>
              <a:t>14 · IN PRODUCTION</a:t>
            </a:r>
            <a:endParaRPr b="0" i="0" sz="1100" u="none" cap="none" strike="noStrike">
              <a:solidFill>
                <a:schemeClr val="dk1"/>
              </a:solidFill>
              <a:latin typeface="Calibri"/>
              <a:ea typeface="Calibri"/>
              <a:cs typeface="Calibri"/>
              <a:sym typeface="Calibri"/>
            </a:endParaRPr>
          </a:p>
        </p:txBody>
      </p:sp>
      <p:sp>
        <p:nvSpPr>
          <p:cNvPr id="549" name="Google Shape;549;p39"/>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00"/>
              <a:buFont typeface="Calibri"/>
              <a:buNone/>
            </a:pPr>
            <a:r>
              <a:rPr b="0" i="0" lang="en-US" sz="1000" u="none" cap="none" strike="noStrike">
                <a:solidFill>
                  <a:srgbClr val="5A6478"/>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550" name="Google Shape;550;p39"/>
          <p:cNvSpPr txBox="1"/>
          <p:nvPr/>
        </p:nvSpPr>
        <p:spPr>
          <a:xfrm>
            <a:off x="640080" y="713232"/>
            <a:ext cx="10881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827"/>
              </a:buClr>
              <a:buSzPts val="3200"/>
              <a:buFont typeface="Calibri"/>
              <a:buNone/>
            </a:pPr>
            <a:r>
              <a:rPr b="1" i="0" lang="en-US" sz="3200" u="none" cap="none" strike="noStrike">
                <a:solidFill>
                  <a:srgbClr val="111827"/>
                </a:solidFill>
                <a:latin typeface="Calibri"/>
                <a:ea typeface="Calibri"/>
                <a:cs typeface="Calibri"/>
                <a:sym typeface="Calibri"/>
              </a:rPr>
              <a:t>Every developer works with agents on a machine of their own</a:t>
            </a:r>
            <a:endParaRPr b="0" i="0" sz="3200" u="none" cap="none" strike="noStrike">
              <a:solidFill>
                <a:schemeClr val="dk1"/>
              </a:solidFill>
              <a:latin typeface="Calibri"/>
              <a:ea typeface="Calibri"/>
              <a:cs typeface="Calibri"/>
              <a:sym typeface="Calibri"/>
            </a:endParaRPr>
          </a:p>
        </p:txBody>
      </p:sp>
      <p:pic>
        <p:nvPicPr>
          <p:cNvPr descr="/home/claude/pdc/img/humanloop.png" id="551" name="Google Shape;551;p39"/>
          <p:cNvPicPr preferRelativeResize="0"/>
          <p:nvPr/>
        </p:nvPicPr>
        <p:blipFill rotWithShape="1">
          <a:blip r:embed="rId3">
            <a:alphaModFix/>
          </a:blip>
          <a:srcRect b="0" l="0" r="0" t="0"/>
          <a:stretch/>
        </p:blipFill>
        <p:spPr>
          <a:xfrm>
            <a:off x="1618488" y="1554480"/>
            <a:ext cx="8961120" cy="4556502"/>
          </a:xfrm>
          <a:prstGeom prst="rect">
            <a:avLst/>
          </a:prstGeom>
          <a:noFill/>
          <a:ln>
            <a:noFill/>
          </a:ln>
        </p:spPr>
      </p:pic>
      <p:sp>
        <p:nvSpPr>
          <p:cNvPr id="552" name="Google Shape;552;p39"/>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478"/>
                </a:solidFill>
                <a:latin typeface="Calibri"/>
                <a:ea typeface="Calibri"/>
                <a:cs typeface="Calibri"/>
                <a:sym typeface="Calibri"/>
              </a:rPr>
              <a:t>‹#›</a:t>
            </a:fld>
            <a:endParaRPr b="0" i="0" sz="1000" u="none" cap="none" strike="noStrike">
              <a:solidFill>
                <a:srgbClr val="5A6478"/>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20"/>
        </a:solidFill>
      </p:bgPr>
    </p:bg>
    <p:spTree>
      <p:nvGrpSpPr>
        <p:cNvPr id="557" name="Shape 557"/>
        <p:cNvGrpSpPr/>
        <p:nvPr/>
      </p:nvGrpSpPr>
      <p:grpSpPr>
        <a:xfrm>
          <a:off x="0" y="0"/>
          <a:ext cx="0" cy="0"/>
          <a:chOff x="0" y="0"/>
          <a:chExt cx="0" cy="0"/>
        </a:xfrm>
      </p:grpSpPr>
      <p:sp>
        <p:nvSpPr>
          <p:cNvPr id="558" name="Google Shape;558;p40"/>
          <p:cNvSpPr txBox="1"/>
          <p:nvPr/>
        </p:nvSpPr>
        <p:spPr>
          <a:xfrm>
            <a:off x="640080" y="329184"/>
            <a:ext cx="9144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100"/>
              <a:buFont typeface="Courier New"/>
              <a:buNone/>
            </a:pPr>
            <a:r>
              <a:rPr b="1" i="0" lang="en-US" sz="1100" u="none" cap="none" strike="noStrike">
                <a:solidFill>
                  <a:srgbClr val="7C8AA0"/>
                </a:solidFill>
                <a:latin typeface="Courier New"/>
                <a:ea typeface="Courier New"/>
                <a:cs typeface="Courier New"/>
                <a:sym typeface="Courier New"/>
              </a:rPr>
              <a:t>14 · IN PRODUCTION</a:t>
            </a:r>
            <a:endParaRPr b="0" i="0" sz="1100" u="none" cap="none" strike="noStrike">
              <a:solidFill>
                <a:schemeClr val="dk1"/>
              </a:solidFill>
              <a:latin typeface="Calibri"/>
              <a:ea typeface="Calibri"/>
              <a:cs typeface="Calibri"/>
              <a:sym typeface="Calibri"/>
            </a:endParaRPr>
          </a:p>
        </p:txBody>
      </p:sp>
      <p:sp>
        <p:nvSpPr>
          <p:cNvPr id="559" name="Google Shape;559;p40"/>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Calibri"/>
              <a:buNone/>
            </a:pPr>
            <a:r>
              <a:rPr b="0" i="0" lang="en-US" sz="1000" u="none" cap="none" strike="noStrike">
                <a:solidFill>
                  <a:srgbClr val="6B7A90"/>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560" name="Google Shape;560;p40"/>
          <p:cNvSpPr txBox="1"/>
          <p:nvPr/>
        </p:nvSpPr>
        <p:spPr>
          <a:xfrm>
            <a:off x="640080" y="160020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Will the agents replace developers?</a:t>
            </a:r>
            <a:endParaRPr b="0" i="0" sz="3400" u="none" cap="none" strike="noStrike">
              <a:solidFill>
                <a:schemeClr val="dk1"/>
              </a:solidFill>
              <a:latin typeface="Calibri"/>
              <a:ea typeface="Calibri"/>
              <a:cs typeface="Calibri"/>
              <a:sym typeface="Calibri"/>
            </a:endParaRPr>
          </a:p>
        </p:txBody>
      </p:sp>
      <p:sp>
        <p:nvSpPr>
          <p:cNvPr id="561" name="Google Shape;561;p40"/>
          <p:cNvSpPr txBox="1"/>
          <p:nvPr/>
        </p:nvSpPr>
        <p:spPr>
          <a:xfrm>
            <a:off x="640080" y="2423160"/>
            <a:ext cx="10972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C98C"/>
              </a:buClr>
              <a:buSzPts val="2400"/>
              <a:buFont typeface="Calibri"/>
              <a:buNone/>
            </a:pPr>
            <a:r>
              <a:rPr b="1" i="0" lang="en-US" sz="2400" u="none" cap="none" strike="noStrike">
                <a:solidFill>
                  <a:srgbClr val="5CC98C"/>
                </a:solidFill>
                <a:latin typeface="Calibri"/>
                <a:ea typeface="Calibri"/>
                <a:cs typeface="Calibri"/>
                <a:sym typeface="Calibri"/>
              </a:rPr>
              <a:t>No. They take on the volume, and the people keep the judgement.</a:t>
            </a:r>
            <a:endParaRPr b="0" i="0" sz="2400" u="none" cap="none" strike="noStrike">
              <a:solidFill>
                <a:schemeClr val="dk1"/>
              </a:solidFill>
              <a:latin typeface="Calibri"/>
              <a:ea typeface="Calibri"/>
              <a:cs typeface="Calibri"/>
              <a:sym typeface="Calibri"/>
            </a:endParaRPr>
          </a:p>
        </p:txBody>
      </p:sp>
      <p:sp>
        <p:nvSpPr>
          <p:cNvPr id="562" name="Google Shape;562;p40"/>
          <p:cNvSpPr txBox="1"/>
          <p:nvPr/>
        </p:nvSpPr>
        <p:spPr>
          <a:xfrm>
            <a:off x="640080" y="3200400"/>
            <a:ext cx="10607040" cy="914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AFBACB"/>
              </a:buClr>
              <a:buSzPts val="1700"/>
              <a:buFont typeface="Calibri"/>
              <a:buNone/>
            </a:pPr>
            <a:r>
              <a:rPr b="0" i="0" lang="en-US" sz="1700" u="none" cap="none" strike="noStrike">
                <a:solidFill>
                  <a:srgbClr val="AFBACB"/>
                </a:solidFill>
                <a:latin typeface="Calibri"/>
                <a:ea typeface="Calibri"/>
                <a:cs typeface="Calibri"/>
                <a:sym typeface="Calibri"/>
              </a:rPr>
              <a:t>Since we moved the agents onto cloud machines and started talking to them in Slack, our productivity has risen noticeably. The people still set the rules, write the gates, keep the shared knowledge honest and sign off on what ships.</a:t>
            </a:r>
            <a:endParaRPr b="0" i="0" sz="1700" u="none" cap="none" strike="noStrike">
              <a:solidFill>
                <a:schemeClr val="dk1"/>
              </a:solidFill>
              <a:latin typeface="Calibri"/>
              <a:ea typeface="Calibri"/>
              <a:cs typeface="Calibri"/>
              <a:sym typeface="Calibri"/>
            </a:endParaRPr>
          </a:p>
        </p:txBody>
      </p:sp>
      <p:sp>
        <p:nvSpPr>
          <p:cNvPr id="563" name="Google Shape;563;p40"/>
          <p:cNvSpPr/>
          <p:nvPr/>
        </p:nvSpPr>
        <p:spPr>
          <a:xfrm>
            <a:off x="640080" y="4343400"/>
            <a:ext cx="10881360" cy="1371600"/>
          </a:xfrm>
          <a:prstGeom prst="roundRect">
            <a:avLst>
              <a:gd fmla="val 3333" name="adj"/>
            </a:avLst>
          </a:prstGeom>
          <a:solidFill>
            <a:srgbClr val="162030"/>
          </a:solidFill>
          <a:ln cap="flat" cmpd="sng" w="13950">
            <a:solidFill>
              <a:srgbClr val="2A36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0"/>
          <p:cNvSpPr txBox="1"/>
          <p:nvPr/>
        </p:nvSpPr>
        <p:spPr>
          <a:xfrm>
            <a:off x="960120" y="4526280"/>
            <a:ext cx="10241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I keep a clone of myself, so my team can ask it questions while I am in a meeting.</a:t>
            </a:r>
            <a:endParaRPr b="0" i="0" sz="1700" u="none" cap="none" strike="noStrike">
              <a:solidFill>
                <a:schemeClr val="dk1"/>
              </a:solidFill>
              <a:latin typeface="Calibri"/>
              <a:ea typeface="Calibri"/>
              <a:cs typeface="Calibri"/>
              <a:sym typeface="Calibri"/>
            </a:endParaRPr>
          </a:p>
        </p:txBody>
      </p:sp>
      <p:sp>
        <p:nvSpPr>
          <p:cNvPr id="565" name="Google Shape;565;p40"/>
          <p:cNvSpPr txBox="1"/>
          <p:nvPr/>
        </p:nvSpPr>
        <p:spPr>
          <a:xfrm>
            <a:off x="960120" y="4937760"/>
            <a:ext cx="1024128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AFBACB"/>
              </a:buClr>
              <a:buSzPts val="1600"/>
              <a:buFont typeface="Calibri"/>
              <a:buNone/>
            </a:pPr>
            <a:r>
              <a:rPr b="0" i="0" lang="en-US" sz="1600" u="none" cap="none" strike="noStrike">
                <a:solidFill>
                  <a:srgbClr val="AFBACB"/>
                </a:solidFill>
                <a:latin typeface="Calibri"/>
                <a:ea typeface="Calibri"/>
                <a:cs typeface="Calibri"/>
                <a:sym typeface="Calibri"/>
              </a:rPr>
              <a:t>Our developers have theirs as well, which means that when a question comes up about a feature and the person who wrote it is on holiday, we can ask their clone instead.</a:t>
            </a:r>
            <a:endParaRPr b="0" i="0" sz="1600" u="none" cap="none" strike="noStrike">
              <a:solidFill>
                <a:schemeClr val="dk1"/>
              </a:solidFill>
              <a:latin typeface="Calibri"/>
              <a:ea typeface="Calibri"/>
              <a:cs typeface="Calibri"/>
              <a:sym typeface="Calibri"/>
            </a:endParaRPr>
          </a:p>
        </p:txBody>
      </p:sp>
      <p:sp>
        <p:nvSpPr>
          <p:cNvPr id="566" name="Google Shape;566;p40"/>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6B7A90"/>
                </a:solidFill>
                <a:latin typeface="Calibri"/>
                <a:ea typeface="Calibri"/>
                <a:cs typeface="Calibri"/>
                <a:sym typeface="Calibri"/>
              </a:rPr>
              <a:t>‹#›</a:t>
            </a:fld>
            <a:endParaRPr b="0" i="0" sz="1000" u="none" cap="none" strike="noStrike">
              <a:solidFill>
                <a:srgbClr val="6B7A90"/>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420"/>
        </a:solidFill>
      </p:bgPr>
    </p:bg>
    <p:spTree>
      <p:nvGrpSpPr>
        <p:cNvPr id="571" name="Shape 571"/>
        <p:cNvGrpSpPr/>
        <p:nvPr/>
      </p:nvGrpSpPr>
      <p:grpSpPr>
        <a:xfrm>
          <a:off x="0" y="0"/>
          <a:ext cx="0" cy="0"/>
          <a:chOff x="0" y="0"/>
          <a:chExt cx="0" cy="0"/>
        </a:xfrm>
      </p:grpSpPr>
      <p:sp>
        <p:nvSpPr>
          <p:cNvPr id="572" name="Google Shape;572;p41"/>
          <p:cNvSpPr txBox="1"/>
          <p:nvPr/>
        </p:nvSpPr>
        <p:spPr>
          <a:xfrm>
            <a:off x="640080" y="6345936"/>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Calibri"/>
              <a:buNone/>
            </a:pPr>
            <a:r>
              <a:rPr b="0" i="0" lang="en-US" sz="1000" u="none" cap="none" strike="noStrike">
                <a:solidFill>
                  <a:srgbClr val="6B7A90"/>
                </a:solidFill>
                <a:latin typeface="Calibri"/>
                <a:ea typeface="Calibri"/>
                <a:cs typeface="Calibri"/>
                <a:sym typeface="Calibri"/>
              </a:rPr>
              <a:t>Prairie Dev Con 2026  ·  Tri Ho, Futurify</a:t>
            </a:r>
            <a:endParaRPr b="0" i="0" sz="1000" u="none" cap="none" strike="noStrike">
              <a:solidFill>
                <a:schemeClr val="dk1"/>
              </a:solidFill>
              <a:latin typeface="Calibri"/>
              <a:ea typeface="Calibri"/>
              <a:cs typeface="Calibri"/>
              <a:sym typeface="Calibri"/>
            </a:endParaRPr>
          </a:p>
        </p:txBody>
      </p:sp>
      <p:sp>
        <p:nvSpPr>
          <p:cNvPr id="573" name="Google Shape;573;p41"/>
          <p:cNvSpPr txBox="1"/>
          <p:nvPr/>
        </p:nvSpPr>
        <p:spPr>
          <a:xfrm>
            <a:off x="640080" y="1234440"/>
            <a:ext cx="109728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400"/>
              <a:buFont typeface="Calibri"/>
              <a:buNone/>
            </a:pPr>
            <a:r>
              <a:rPr b="1" i="0" lang="en-US" sz="3400" u="none" cap="none" strike="noStrike">
                <a:solidFill>
                  <a:srgbClr val="FFFFFF"/>
                </a:solidFill>
                <a:latin typeface="Calibri"/>
                <a:ea typeface="Calibri"/>
                <a:cs typeface="Calibri"/>
                <a:sym typeface="Calibri"/>
              </a:rPr>
              <a:t>Three things I would take home</a:t>
            </a:r>
            <a:endParaRPr b="0" i="0" sz="3400" u="none" cap="none" strike="noStrike">
              <a:solidFill>
                <a:schemeClr val="dk1"/>
              </a:solidFill>
              <a:latin typeface="Calibri"/>
              <a:ea typeface="Calibri"/>
              <a:cs typeface="Calibri"/>
              <a:sym typeface="Calibri"/>
            </a:endParaRPr>
          </a:p>
        </p:txBody>
      </p:sp>
      <p:sp>
        <p:nvSpPr>
          <p:cNvPr id="574" name="Google Shape;574;p41"/>
          <p:cNvSpPr txBox="1"/>
          <p:nvPr/>
        </p:nvSpPr>
        <p:spPr>
          <a:xfrm>
            <a:off x="640080" y="224028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C98C"/>
              </a:buClr>
              <a:buSzPts val="2400"/>
              <a:buFont typeface="Courier New"/>
              <a:buNone/>
            </a:pPr>
            <a:r>
              <a:rPr b="1" i="0" lang="en-US" sz="2400" u="none" cap="none" strike="noStrike">
                <a:solidFill>
                  <a:srgbClr val="5CC98C"/>
                </a:solidFill>
                <a:latin typeface="Courier New"/>
                <a:ea typeface="Courier New"/>
                <a:cs typeface="Courier New"/>
                <a:sym typeface="Courier New"/>
              </a:rPr>
              <a:t>1</a:t>
            </a:r>
            <a:endParaRPr b="0" i="0" sz="2400" u="none" cap="none" strike="noStrike">
              <a:solidFill>
                <a:schemeClr val="dk1"/>
              </a:solidFill>
              <a:latin typeface="Calibri"/>
              <a:ea typeface="Calibri"/>
              <a:cs typeface="Calibri"/>
              <a:sym typeface="Calibri"/>
            </a:endParaRPr>
          </a:p>
        </p:txBody>
      </p:sp>
      <p:sp>
        <p:nvSpPr>
          <p:cNvPr id="575" name="Google Shape;575;p41"/>
          <p:cNvSpPr txBox="1"/>
          <p:nvPr/>
        </p:nvSpPr>
        <p:spPr>
          <a:xfrm>
            <a:off x="1280160" y="2240280"/>
            <a:ext cx="10241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 green result tells you the assertions ran, not that they were the right assertions.</a:t>
            </a:r>
            <a:endParaRPr b="0" i="0" sz="1800" u="none" cap="none" strike="noStrike">
              <a:solidFill>
                <a:schemeClr val="dk1"/>
              </a:solidFill>
              <a:latin typeface="Calibri"/>
              <a:ea typeface="Calibri"/>
              <a:cs typeface="Calibri"/>
              <a:sym typeface="Calibri"/>
            </a:endParaRPr>
          </a:p>
        </p:txBody>
      </p:sp>
      <p:sp>
        <p:nvSpPr>
          <p:cNvPr id="576" name="Google Shape;576;p41"/>
          <p:cNvSpPr txBox="1"/>
          <p:nvPr/>
        </p:nvSpPr>
        <p:spPr>
          <a:xfrm>
            <a:off x="1280160" y="2651760"/>
            <a:ext cx="10241280" cy="6400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FBACB"/>
              </a:buClr>
              <a:buSzPts val="1500"/>
              <a:buFont typeface="Calibri"/>
              <a:buNone/>
            </a:pPr>
            <a:r>
              <a:rPr b="0" i="0" lang="en-US" sz="1500" u="none" cap="none" strike="noStrike">
                <a:solidFill>
                  <a:srgbClr val="AFBACB"/>
                </a:solidFill>
                <a:latin typeface="Calibri"/>
                <a:ea typeface="Calibri"/>
                <a:cs typeface="Calibri"/>
                <a:sym typeface="Calibri"/>
              </a:rPr>
              <a:t>Gemini asserted a string against an integer with the source code in front of it, and reported a full pass.</a:t>
            </a:r>
            <a:endParaRPr b="0" i="0" sz="1500" u="none" cap="none" strike="noStrike">
              <a:solidFill>
                <a:schemeClr val="dk1"/>
              </a:solidFill>
              <a:latin typeface="Calibri"/>
              <a:ea typeface="Calibri"/>
              <a:cs typeface="Calibri"/>
              <a:sym typeface="Calibri"/>
            </a:endParaRPr>
          </a:p>
        </p:txBody>
      </p:sp>
      <p:sp>
        <p:nvSpPr>
          <p:cNvPr id="577" name="Google Shape;577;p41"/>
          <p:cNvSpPr txBox="1"/>
          <p:nvPr/>
        </p:nvSpPr>
        <p:spPr>
          <a:xfrm>
            <a:off x="640080" y="342900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C98C"/>
              </a:buClr>
              <a:buSzPts val="2400"/>
              <a:buFont typeface="Courier New"/>
              <a:buNone/>
            </a:pPr>
            <a:r>
              <a:rPr b="1" i="0" lang="en-US" sz="2400" u="none" cap="none" strike="noStrike">
                <a:solidFill>
                  <a:srgbClr val="5CC98C"/>
                </a:solidFill>
                <a:latin typeface="Courier New"/>
                <a:ea typeface="Courier New"/>
                <a:cs typeface="Courier New"/>
                <a:sym typeface="Courier New"/>
              </a:rPr>
              <a:t>2</a:t>
            </a:r>
            <a:endParaRPr b="0" i="0" sz="2400" u="none" cap="none" strike="noStrike">
              <a:solidFill>
                <a:schemeClr val="dk1"/>
              </a:solidFill>
              <a:latin typeface="Calibri"/>
              <a:ea typeface="Calibri"/>
              <a:cs typeface="Calibri"/>
              <a:sym typeface="Calibri"/>
            </a:endParaRPr>
          </a:p>
        </p:txBody>
      </p:sp>
      <p:sp>
        <p:nvSpPr>
          <p:cNvPr id="578" name="Google Shape;578;p41"/>
          <p:cNvSpPr txBox="1"/>
          <p:nvPr/>
        </p:nvSpPr>
        <p:spPr>
          <a:xfrm>
            <a:off x="1280160" y="3429000"/>
            <a:ext cx="10241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Bind the ids and assert the invariant, so the test still works tomorrow.</a:t>
            </a:r>
            <a:endParaRPr b="0" i="0" sz="1800" u="none" cap="none" strike="noStrike">
              <a:solidFill>
                <a:schemeClr val="dk1"/>
              </a:solidFill>
              <a:latin typeface="Calibri"/>
              <a:ea typeface="Calibri"/>
              <a:cs typeface="Calibri"/>
              <a:sym typeface="Calibri"/>
            </a:endParaRPr>
          </a:p>
        </p:txBody>
      </p:sp>
      <p:sp>
        <p:nvSpPr>
          <p:cNvPr id="579" name="Google Shape;579;p41"/>
          <p:cNvSpPr txBox="1"/>
          <p:nvPr/>
        </p:nvSpPr>
        <p:spPr>
          <a:xfrm>
            <a:off x="1280160" y="3840480"/>
            <a:ext cx="10241280" cy="6400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FBACB"/>
              </a:buClr>
              <a:buSzPts val="1500"/>
              <a:buFont typeface="Calibri"/>
              <a:buNone/>
            </a:pPr>
            <a:r>
              <a:rPr b="0" i="0" lang="en-US" sz="1500" u="none" cap="none" strike="noStrike">
                <a:solidFill>
                  <a:srgbClr val="AFBACB"/>
                </a:solidFill>
                <a:latin typeface="Calibri"/>
                <a:ea typeface="Calibri"/>
                <a:cs typeface="Calibri"/>
                <a:sym typeface="Calibri"/>
              </a:rPr>
              <a:t>The one trial that survived replay was the one that saw a value and chose not to pin it.</a:t>
            </a:r>
            <a:endParaRPr b="0" i="0" sz="1500" u="none" cap="none" strike="noStrike">
              <a:solidFill>
                <a:schemeClr val="dk1"/>
              </a:solidFill>
              <a:latin typeface="Calibri"/>
              <a:ea typeface="Calibri"/>
              <a:cs typeface="Calibri"/>
              <a:sym typeface="Calibri"/>
            </a:endParaRPr>
          </a:p>
        </p:txBody>
      </p:sp>
      <p:sp>
        <p:nvSpPr>
          <p:cNvPr id="580" name="Google Shape;580;p41"/>
          <p:cNvSpPr txBox="1"/>
          <p:nvPr/>
        </p:nvSpPr>
        <p:spPr>
          <a:xfrm>
            <a:off x="640080" y="461772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C98C"/>
              </a:buClr>
              <a:buSzPts val="2400"/>
              <a:buFont typeface="Courier New"/>
              <a:buNone/>
            </a:pPr>
            <a:r>
              <a:rPr b="1" i="0" lang="en-US" sz="2400" u="none" cap="none" strike="noStrike">
                <a:solidFill>
                  <a:srgbClr val="5CC98C"/>
                </a:solidFill>
                <a:latin typeface="Courier New"/>
                <a:ea typeface="Courier New"/>
                <a:cs typeface="Courier New"/>
                <a:sym typeface="Courier New"/>
              </a:rPr>
              <a:t>3</a:t>
            </a:r>
            <a:endParaRPr b="0" i="0" sz="2400" u="none" cap="none" strike="noStrike">
              <a:solidFill>
                <a:schemeClr val="dk1"/>
              </a:solidFill>
              <a:latin typeface="Calibri"/>
              <a:ea typeface="Calibri"/>
              <a:cs typeface="Calibri"/>
              <a:sym typeface="Calibri"/>
            </a:endParaRPr>
          </a:p>
        </p:txBody>
      </p:sp>
      <p:sp>
        <p:nvSpPr>
          <p:cNvPr id="581" name="Google Shape;581;p41"/>
          <p:cNvSpPr txBox="1"/>
          <p:nvPr/>
        </p:nvSpPr>
        <p:spPr>
          <a:xfrm>
            <a:off x="1280160" y="4617720"/>
            <a:ext cx="102412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Discovery is the expensive part, so pay for it once and write down what you learn.</a:t>
            </a:r>
            <a:endParaRPr b="0" i="0" sz="1800" u="none" cap="none" strike="noStrike">
              <a:solidFill>
                <a:schemeClr val="dk1"/>
              </a:solidFill>
              <a:latin typeface="Calibri"/>
              <a:ea typeface="Calibri"/>
              <a:cs typeface="Calibri"/>
              <a:sym typeface="Calibri"/>
            </a:endParaRPr>
          </a:p>
        </p:txBody>
      </p:sp>
      <p:sp>
        <p:nvSpPr>
          <p:cNvPr id="582" name="Google Shape;582;p41"/>
          <p:cNvSpPr txBox="1"/>
          <p:nvPr/>
        </p:nvSpPr>
        <p:spPr>
          <a:xfrm>
            <a:off x="1280160" y="5029200"/>
            <a:ext cx="10241280" cy="6400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AFBACB"/>
              </a:buClr>
              <a:buSzPts val="1500"/>
              <a:buFont typeface="Calibri"/>
              <a:buNone/>
            </a:pPr>
            <a:r>
              <a:rPr b="0" i="0" lang="en-US" sz="1500" u="none" cap="none" strike="noStrike">
                <a:solidFill>
                  <a:srgbClr val="AFBACB"/>
                </a:solidFill>
                <a:latin typeface="Calibri"/>
                <a:ea typeface="Calibri"/>
                <a:cs typeface="Calibri"/>
                <a:sym typeface="Calibri"/>
              </a:rPr>
              <a:t>Rules, then a playbook, then memory. That is what makes an inexpensive model dependable enough to run every day.</a:t>
            </a:r>
            <a:endParaRPr b="0" i="0" sz="1500" u="none" cap="none" strike="noStrike">
              <a:solidFill>
                <a:schemeClr val="dk1"/>
              </a:solidFill>
              <a:latin typeface="Calibri"/>
              <a:ea typeface="Calibri"/>
              <a:cs typeface="Calibri"/>
              <a:sym typeface="Calibri"/>
            </a:endParaRPr>
          </a:p>
        </p:txBody>
      </p:sp>
      <p:sp>
        <p:nvSpPr>
          <p:cNvPr id="583" name="Google Shape;583;p41"/>
          <p:cNvSpPr txBox="1"/>
          <p:nvPr/>
        </p:nvSpPr>
        <p:spPr>
          <a:xfrm>
            <a:off x="640080" y="5715000"/>
            <a:ext cx="10607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8AA0"/>
              </a:buClr>
              <a:buSzPts val="1600"/>
              <a:buFont typeface="Calibri"/>
              <a:buNone/>
            </a:pPr>
            <a:r>
              <a:rPr b="0" i="0" lang="en-US" sz="1600" u="none" cap="none" strike="noStrike">
                <a:solidFill>
                  <a:srgbClr val="7C8AA0"/>
                </a:solidFill>
                <a:latin typeface="Calibri"/>
                <a:ea typeface="Calibri"/>
                <a:cs typeface="Calibri"/>
                <a:sym typeface="Calibri"/>
              </a:rPr>
              <a:t>And none of it works without a deterministic gate at the end, and a person at the beginning. Thank you — I am happy to take questions.</a:t>
            </a:r>
            <a:endParaRPr b="0" i="0" sz="1600" u="none" cap="none" strike="noStrike">
              <a:solidFill>
                <a:schemeClr val="dk1"/>
              </a:solidFill>
              <a:latin typeface="Calibri"/>
              <a:ea typeface="Calibri"/>
              <a:cs typeface="Calibri"/>
              <a:sym typeface="Calibri"/>
            </a:endParaRPr>
          </a:p>
        </p:txBody>
      </p:sp>
      <p:sp>
        <p:nvSpPr>
          <p:cNvPr id="584" name="Google Shape;584;p41"/>
          <p:cNvSpPr txBox="1"/>
          <p:nvPr>
            <p:ph idx="4294967295" type="sldNum"/>
          </p:nvPr>
        </p:nvSpPr>
        <p:spPr>
          <a:xfrm>
            <a:off x="10454335" y="6345936"/>
            <a:ext cx="109728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6B7A90"/>
                </a:solidFill>
                <a:latin typeface="Calibri"/>
                <a:ea typeface="Calibri"/>
                <a:cs typeface="Calibri"/>
                <a:sym typeface="Calibri"/>
              </a:rPr>
              <a:t>‹#›</a:t>
            </a:fld>
            <a:endParaRPr b="0" i="0" sz="1000" u="none" cap="none" strike="noStrike">
              <a:solidFill>
                <a:srgbClr val="6B7A9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2026-09-21T16:59:47Z</dcterms:created>
  <dc:creator>Tri Ho</dc:creator>
</cp:coreProperties>
</file>